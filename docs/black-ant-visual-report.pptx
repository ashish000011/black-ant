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4.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E1 · Power source</c:v>
                </c:pt>
              </c:strCache>
            </c:strRef>
          </c:tx>
          <c:spPr>
            <a:solidFill>
              <a:schemeClr val="accent1"/>
            </a:solidFill>
            <a:ln w="9525" cap="flat">
              <a:solidFill>
                <a:srgbClr val="F9F9F9"/>
              </a:solidFill>
              <a:prstDash val="solid"/>
              <a:round/>
            </a:ln>
            <a:effectLst/>
          </c:spPr>
          <c:dPt>
            <c:idx val="0"/>
            <c:bubble3D val="0"/>
            <c:spPr>
              <a:solidFill>
                <a:srgbClr val="F2A541"/>
              </a:solidFill>
              <a:ln w="6350" cap="flat">
                <a:solidFill>
                  <a:srgbClr val="FFFFFF"/>
                </a:solidFill>
                <a:prstDash val="solid"/>
                <a:round/>
              </a:ln>
              <a:effectLst/>
            </c:spPr>
          </c:dPt>
          <c:dPt>
            <c:idx val="1"/>
            <c:bubble3D val="0"/>
            <c:spPr>
              <a:solidFill>
                <a:srgbClr val="E6EAF0"/>
              </a:solidFill>
              <a:ln w="63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used</c:v>
                </c:pt>
                <c:pt idx="1">
                  <c:v>spare</c:v>
                </c:pt>
              </c:strCache>
            </c:strRef>
          </c:cat>
          <c:val>
            <c:numRef>
              <c:f>Sheet1!$B$2:$B$3</c:f>
              <c:numCache>
                <c:ptCount val="2"/>
                <c:pt idx="0">
                  <c:v>0.9270690508535032</c:v>
                </c:pt>
                <c:pt idx="1">
                  <c:v>0.07293094914649678</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E2 · Super-mirror material</c:v>
                </c:pt>
              </c:strCache>
            </c:strRef>
          </c:tx>
          <c:spPr>
            <a:solidFill>
              <a:schemeClr val="accent1"/>
            </a:solidFill>
            <a:ln w="9525" cap="flat">
              <a:solidFill>
                <a:srgbClr val="F9F9F9"/>
              </a:solidFill>
              <a:prstDash val="solid"/>
              <a:round/>
            </a:ln>
            <a:effectLst/>
          </c:spPr>
          <c:dPt>
            <c:idx val="0"/>
            <c:bubble3D val="0"/>
            <c:spPr>
              <a:solidFill>
                <a:srgbClr val="2A9D8F"/>
              </a:solidFill>
              <a:ln w="6350" cap="flat">
                <a:solidFill>
                  <a:srgbClr val="FFFFFF"/>
                </a:solidFill>
                <a:prstDash val="solid"/>
                <a:round/>
              </a:ln>
              <a:effectLst/>
            </c:spPr>
          </c:dPt>
          <c:dPt>
            <c:idx val="1"/>
            <c:bubble3D val="0"/>
            <c:spPr>
              <a:solidFill>
                <a:srgbClr val="E6EAF0"/>
              </a:solidFill>
              <a:ln w="63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used</c:v>
                </c:pt>
                <c:pt idx="1">
                  <c:v>spare</c:v>
                </c:pt>
              </c:strCache>
            </c:strRef>
          </c:cat>
          <c:val>
            <c:numRef>
              <c:f>Sheet1!$B$2:$B$3</c:f>
              <c:numCache>
                <c:ptCount val="2"/>
                <c:pt idx="0">
                  <c:v>0.9770427048062756</c:v>
                </c:pt>
                <c:pt idx="1">
                  <c:v>0.02295729519372436</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E3 · Planet-scale manufacturing</c:v>
                </c:pt>
              </c:strCache>
            </c:strRef>
          </c:tx>
          <c:spPr>
            <a:solidFill>
              <a:schemeClr val="accent1"/>
            </a:solidFill>
            <a:ln w="9525" cap="flat">
              <a:solidFill>
                <a:srgbClr val="F9F9F9"/>
              </a:solidFill>
              <a:prstDash val="solid"/>
              <a:round/>
            </a:ln>
            <a:effectLst/>
          </c:spPr>
          <c:dPt>
            <c:idx val="0"/>
            <c:bubble3D val="0"/>
            <c:spPr>
              <a:solidFill>
                <a:srgbClr val="6C7A89"/>
              </a:solidFill>
              <a:ln w="6350" cap="flat">
                <a:solidFill>
                  <a:srgbClr val="FFFFFF"/>
                </a:solidFill>
                <a:prstDash val="solid"/>
                <a:round/>
              </a:ln>
              <a:effectLst/>
            </c:spPr>
          </c:dPt>
          <c:dPt>
            <c:idx val="1"/>
            <c:bubble3D val="0"/>
            <c:spPr>
              <a:solidFill>
                <a:srgbClr val="E6EAF0"/>
              </a:solidFill>
              <a:ln w="63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used</c:v>
                </c:pt>
                <c:pt idx="1">
                  <c:v>spare</c:v>
                </c:pt>
              </c:strCache>
            </c:strRef>
          </c:cat>
          <c:val>
            <c:numRef>
              <c:f>Sheet1!$B$2:$B$3</c:f>
              <c:numCache>
                <c:ptCount val="2"/>
                <c:pt idx="0">
                  <c:v>0.850345744265371</c:v>
                </c:pt>
                <c:pt idx="1">
                  <c:v>0.14965425573462898</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31"/>
          <c:y val="0.13"/>
          <c:w val="0.63"/>
          <c:h val="0.62"/>
        </c:manualLayout>
      </c:layout>
      <c:barChart>
        <c:barDir val="bar"/>
        <c:grouping val="clustered"/>
        <c:varyColors val="0"/>
        <c:ser>
          <c:idx val="0"/>
          <c:order val="0"/>
          <c:tx>
            <c:strRef>
              <c:f>Sheet1!$B$1</c:f>
              <c:strCache>
                <c:ptCount val="1"/>
                <c:pt idx="0">
                  <c:v>Curled as drawn</c:v>
                </c:pt>
              </c:strCache>
            </c:strRef>
          </c:tx>
          <c:spPr>
            <a:solidFill>
              <a:srgbClr val="C8553D"/>
            </a:solidFill>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Graphene, ideal</c:v>
                  </c:pt>
                  <c:pt idx="1">
                    <c:v>Nanotube, ideal</c:v>
                  </c:pt>
                  <c:pt idx="2">
                    <c:v>Aramid (Kevlar 49)</c:v>
                  </c:pt>
                  <c:pt idx="3">
                    <c:v>CFRP</c:v>
                  </c:pt>
                  <c:pt idx="4">
                    <c:v>Aluminium 7075-T6</c:v>
                  </c:pt>
                  <c:pt idx="5">
                    <c:v>Titanium Ti-6Al-4V</c:v>
                  </c:pt>
                  <c:pt idx="6">
                    <c:v>Maraging steel 300</c:v>
                  </c:pt>
                  <c:pt idx="7">
                    <c:v>Steel S355</c:v>
                  </c:pt>
                </c:lvl>
              </c:multiLvlStrCache>
            </c:multiLvlStrRef>
          </c:cat>
          <c:val>
            <c:numRef>
              <c:f>Sheet1!$B$2:$B$9</c:f>
              <c:numCache>
                <c:formatCode>General</c:formatCode>
                <c:ptCount val="8"/>
                <c:pt idx="0">
                  <c:v>699.4249517539189</c:v>
                </c:pt>
                <c:pt idx="1">
                  <c:v>637.2426183836351</c:v>
                </c:pt>
                <c:pt idx="2">
                  <c:v>62.43717829304212</c:v>
                </c:pt>
                <c:pt idx="3">
                  <c:v>72.02168182127873</c:v>
                </c:pt>
                <c:pt idx="4">
                  <c:v>16.45765671332844</c:v>
                </c:pt>
                <c:pt idx="5">
                  <c:v>17.969274158000275</c:v>
                </c:pt>
                <c:pt idx="6">
                  <c:v>21.74143400720925</c:v>
                </c:pt>
                <c:pt idx="7">
                  <c:v>4.762814096989088</c:v>
                </c:pt>
              </c:numCache>
            </c:numRef>
          </c:val>
        </c:ser>
        <c:ser>
          <c:idx val="1"/>
          <c:order val="1"/>
          <c:tx>
            <c:strRef>
              <c:f>Sheet1!$C$1</c:f>
              <c:strCache>
                <c:ptCount val="1"/>
                <c:pt idx="0">
                  <c:v>Standing straight up</c:v>
                </c:pt>
              </c:strCache>
            </c:strRef>
          </c:tx>
          <c:spPr>
            <a:solidFill>
              <a:srgbClr val="8A94A6"/>
            </a:solidFill>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Graphene, ideal</c:v>
                  </c:pt>
                  <c:pt idx="1">
                    <c:v>Nanotube, ideal</c:v>
                  </c:pt>
                  <c:pt idx="2">
                    <c:v>Aramid (Kevlar 49)</c:v>
                  </c:pt>
                  <c:pt idx="3">
                    <c:v>CFRP</c:v>
                  </c:pt>
                  <c:pt idx="4">
                    <c:v>Aluminium 7075-T6</c:v>
                  </c:pt>
                  <c:pt idx="5">
                    <c:v>Titanium Ti-6Al-4V</c:v>
                  </c:pt>
                  <c:pt idx="6">
                    <c:v>Maraging steel 300</c:v>
                  </c:pt>
                  <c:pt idx="7">
                    <c:v>Steel S355</c:v>
                  </c:pt>
                </c:lvl>
              </c:multiLvlStrCache>
            </c:multiLvlStrRef>
          </c:cat>
          <c:val>
            <c:numRef>
              <c:f>Sheet1!$C$2:$C$9</c:f>
              <c:numCache>
                <c:formatCode>General</c:formatCode>
                <c:ptCount val="8"/>
                <c:pt idx="0">
                  <c:v>10454.410266825947</c:v>
                </c:pt>
                <c:pt idx="1">
                  <c:v>6963.557751684577</c:v>
                </c:pt>
                <c:pt idx="2">
                  <c:v>69.87112979990755</c:v>
                </c:pt>
                <c:pt idx="3">
                  <c:v>86.31213655887404</c:v>
                </c:pt>
                <c:pt idx="4">
                  <c:v>12.21757528835302</c:v>
                </c:pt>
                <c:pt idx="5">
                  <c:v>13.561076910399366</c:v>
                </c:pt>
                <c:pt idx="6">
                  <c:v>17.07636942525161</c:v>
                </c:pt>
                <c:pt idx="7">
                  <c:v>3.0821717031919396</c:v>
                </c:pt>
              </c:numCache>
            </c:numRef>
          </c:val>
        </c:ser>
        <c:ser>
          <c:idx val="2"/>
          <c:order val="2"/>
          <c:tx>
            <c:strRef>
              <c:f>Sheet1!$D$1</c:f>
              <c:strCache>
                <c:ptCount val="1"/>
                <c:pt idx="0">
                  <c:v>Standing, before it buckles</c:v>
                </c:pt>
              </c:strCache>
            </c:strRef>
          </c:tx>
          <c:spPr>
            <a:solidFill>
              <a:srgbClr val="C9D3E0"/>
            </a:solidFill>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Graphene, ideal</c:v>
                  </c:pt>
                  <c:pt idx="1">
                    <c:v>Nanotube, ideal</c:v>
                  </c:pt>
                  <c:pt idx="2">
                    <c:v>Aramid (Kevlar 49)</c:v>
                  </c:pt>
                  <c:pt idx="3">
                    <c:v>CFRP</c:v>
                  </c:pt>
                  <c:pt idx="4">
                    <c:v>Aluminium 7075-T6</c:v>
                  </c:pt>
                  <c:pt idx="5">
                    <c:v>Titanium Ti-6Al-4V</c:v>
                  </c:pt>
                  <c:pt idx="6">
                    <c:v>Maraging steel 300</c:v>
                  </c:pt>
                  <c:pt idx="7">
                    <c:v>Steel S355</c:v>
                  </c:pt>
                </c:lvl>
              </c:multiLvlStrCache>
            </c:multiLvlStrRef>
          </c:cat>
          <c:val>
            <c:numRef>
              <c:f>Sheet1!$D$2:$D$9</c:f>
              <c:numCache>
                <c:formatCode>General</c:formatCode>
                <c:ptCount val="8"/>
                <c:pt idx="0">
                  <c:v>1199.7884420562868</c:v>
                </c:pt>
                <c:pt idx="1">
                  <c:v>1444.13367945332</c:v>
                </c:pt>
                <c:pt idx="2">
                  <c:v>599.6530071461852</c:v>
                </c:pt>
                <c:pt idx="3">
                  <c:v>691.2892062929393</c:v>
                </c:pt>
                <c:pt idx="4">
                  <c:v>464.6549550610667</c:v>
                </c:pt>
                <c:pt idx="5">
                  <c:v>465.3241103257257</c:v>
                </c:pt>
                <c:pt idx="6">
                  <c:v>453.04678409059346</c:v>
                </c:pt>
                <c:pt idx="7">
                  <c:v>471.38062362728505</c:v>
                </c:pt>
              </c:numCache>
            </c:numRef>
          </c:val>
        </c:ser>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5DCE6"/>
            </a:solidFill>
            <a:prstDash val="solid"/>
            <a:round/>
          </a:ln>
        </c:spPr>
        <c:txPr>
          <a:bodyPr/>
          <a:lstStyle/>
          <a:p>
            <a:pPr>
              <a:defRPr sz="1000" b="0" i="0" u="none" strike="noStrike">
                <a:solidFill>
                  <a:srgbClr val="566173"/>
                </a:solidFill>
                <a:latin typeface="Calibri"/>
              </a:defRPr>
            </a:pPr>
            <a:endParaRPr lang="en-US"/>
          </a:p>
        </c:txPr>
        <c:crossAx val="2094734552"/>
        <c:crosses val="autoZero"/>
        <c:auto val="1"/>
        <c:lblAlgn val="ctr"/>
        <c:noMultiLvlLbl val="1"/>
      </c:catAx>
      <c:valAx>
        <c:axId val="2094734552"/>
        <c:scaling>
          <c:logBase val="10"/>
          <c:orientation val="minMax"/>
          <c:max val="100000"/>
          <c:min val="1"/>
        </c:scaling>
        <c:delete val="0"/>
        <c:axPos val="b"/>
        <c:majorGridlines>
          <c:spPr>
            <a:ln w="6350" cap="flat">
              <a:solidFill>
                <a:srgbClr val="D5DCE6"/>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56617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6617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05"/>
          <c:w val="0.9"/>
          <c:h val="0.76"/>
        </c:manualLayout>
      </c:layout>
      <c:lineChart>
        <c:varyColors val="0"/>
        <c:ser>
          <c:idx val="0"/>
          <c:order val="0"/>
          <c:tx>
            <c:strRef>
              <c:f>Sheet1!$B$1</c:f>
              <c:strCache>
                <c:ptCount val="1"/>
                <c:pt idx="0">
                  <c:v>Earth's orbit (AU)</c:v>
                </c:pt>
              </c:strCache>
            </c:strRef>
          </c:tx>
          <c:spPr>
            <a:solidFill>
              <a:srgbClr val="2A9D8F"/>
            </a:solidFill>
            <a:ln w="28575" cap="flat">
              <a:solidFill>
                <a:srgbClr val="2A9D8F"/>
              </a:solidFill>
              <a:prstDash val="solid"/>
              <a:round/>
            </a:ln>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c:symbol val="none"/>
            <c:size val="6"/>
            <c:spPr>
              <a:solidFill>
                <a:srgbClr val="2A9D8F"/>
              </a:solidFill>
              <a:ln w="9525" cap="flat">
                <a:solidFill>
                  <a:srgbClr val="2A9D8F"/>
                </a:solidFill>
                <a:prstDash val="solid"/>
                <a:round/>
              </a:ln>
              <a:effectLst/>
            </c:spPr>
          </c:marker>
          <c:cat>
            <c:multiLvlStrRef>
              <c:f>Sheet1!$A$2:$A$181</c:f>
              <c:multiLvlStrCache>
                <c:ptCount val="180"/>
                <c:lvl>
                  <c:pt idx="0">
                    <c:v>0</c:v>
                  </c:pt>
                  <c:pt idx="1">
                    <c:v>100</c:v>
                  </c:pt>
                  <c:pt idx="2">
                    <c:v>100</c:v>
                  </c:pt>
                  <c:pt idx="3">
                    <c:v>200</c:v>
                  </c:pt>
                  <c:pt idx="4">
                    <c:v>200</c:v>
                  </c:pt>
                  <c:pt idx="5">
                    <c:v>300</c:v>
                  </c:pt>
                  <c:pt idx="6">
                    <c:v>300</c:v>
                  </c:pt>
                  <c:pt idx="7">
                    <c:v>400</c:v>
                  </c:pt>
                  <c:pt idx="8">
                    <c:v>400</c:v>
                  </c:pt>
                  <c:pt idx="9">
                    <c:v>500</c:v>
                  </c:pt>
                  <c:pt idx="10">
                    <c:v>500</c:v>
                  </c:pt>
                  <c:pt idx="11">
                    <c:v>600</c:v>
                  </c:pt>
                  <c:pt idx="12">
                    <c:v>600</c:v>
                  </c:pt>
                  <c:pt idx="13">
                    <c:v>700</c:v>
                  </c:pt>
                  <c:pt idx="14">
                    <c:v>700</c:v>
                  </c:pt>
                  <c:pt idx="15">
                    <c:v>700</c:v>
                  </c:pt>
                  <c:pt idx="16">
                    <c:v>800</c:v>
                  </c:pt>
                  <c:pt idx="17">
                    <c:v>900</c:v>
                  </c:pt>
                  <c:pt idx="18">
                    <c:v>900</c:v>
                  </c:pt>
                  <c:pt idx="19">
                    <c:v>1,000</c:v>
                  </c:pt>
                  <c:pt idx="20">
                    <c:v>1,000</c:v>
                  </c:pt>
                  <c:pt idx="21">
                    <c:v>1,100</c:v>
                  </c:pt>
                  <c:pt idx="22">
                    <c:v>1,100</c:v>
                  </c:pt>
                  <c:pt idx="23">
                    <c:v>1,100</c:v>
                  </c:pt>
                  <c:pt idx="24">
                    <c:v>1,200</c:v>
                  </c:pt>
                  <c:pt idx="25">
                    <c:v>1,200</c:v>
                  </c:pt>
                  <c:pt idx="26">
                    <c:v>1,300</c:v>
                  </c:pt>
                  <c:pt idx="27">
                    <c:v>1,400</c:v>
                  </c:pt>
                  <c:pt idx="28">
                    <c:v>1,400</c:v>
                  </c:pt>
                  <c:pt idx="29">
                    <c:v>1,500</c:v>
                  </c:pt>
                  <c:pt idx="30">
                    <c:v>1,500</c:v>
                  </c:pt>
                  <c:pt idx="31">
                    <c:v>1,500</c:v>
                  </c:pt>
                  <c:pt idx="32">
                    <c:v>1,600</c:v>
                  </c:pt>
                  <c:pt idx="33">
                    <c:v>1,600</c:v>
                  </c:pt>
                  <c:pt idx="34">
                    <c:v>1,700</c:v>
                  </c:pt>
                  <c:pt idx="35">
                    <c:v>1,700</c:v>
                  </c:pt>
                  <c:pt idx="36">
                    <c:v>1,800</c:v>
                  </c:pt>
                  <c:pt idx="37">
                    <c:v>1,900</c:v>
                  </c:pt>
                  <c:pt idx="38">
                    <c:v>1,900</c:v>
                  </c:pt>
                  <c:pt idx="39">
                    <c:v>1,900</c:v>
                  </c:pt>
                  <c:pt idx="40">
                    <c:v>2,000</c:v>
                  </c:pt>
                  <c:pt idx="41">
                    <c:v>2,000</c:v>
                  </c:pt>
                  <c:pt idx="42">
                    <c:v>2,100</c:v>
                  </c:pt>
                  <c:pt idx="43">
                    <c:v>2,100</c:v>
                  </c:pt>
                  <c:pt idx="44">
                    <c:v>2,200</c:v>
                  </c:pt>
                  <c:pt idx="45">
                    <c:v>2,200</c:v>
                  </c:pt>
                  <c:pt idx="46">
                    <c:v>2,300</c:v>
                  </c:pt>
                  <c:pt idx="47">
                    <c:v>2,300</c:v>
                  </c:pt>
                  <c:pt idx="48">
                    <c:v>2,400</c:v>
                  </c:pt>
                  <c:pt idx="49">
                    <c:v>2,400</c:v>
                  </c:pt>
                  <c:pt idx="50">
                    <c:v>2,500</c:v>
                  </c:pt>
                  <c:pt idx="51">
                    <c:v>2,500</c:v>
                  </c:pt>
                  <c:pt idx="52">
                    <c:v>2,600</c:v>
                  </c:pt>
                  <c:pt idx="53">
                    <c:v>2,600</c:v>
                  </c:pt>
                  <c:pt idx="54">
                    <c:v>2,700</c:v>
                  </c:pt>
                  <c:pt idx="55">
                    <c:v>2,700</c:v>
                  </c:pt>
                  <c:pt idx="56">
                    <c:v>2,800</c:v>
                  </c:pt>
                  <c:pt idx="57">
                    <c:v>2,800</c:v>
                  </c:pt>
                  <c:pt idx="58">
                    <c:v>2,900</c:v>
                  </c:pt>
                  <c:pt idx="59">
                    <c:v>2,900</c:v>
                  </c:pt>
                  <c:pt idx="60">
                    <c:v>3,000</c:v>
                  </c:pt>
                  <c:pt idx="61">
                    <c:v>3,000</c:v>
                  </c:pt>
                  <c:pt idx="62">
                    <c:v>3,100</c:v>
                  </c:pt>
                  <c:pt idx="63">
                    <c:v>3,100</c:v>
                  </c:pt>
                  <c:pt idx="64">
                    <c:v>3,200</c:v>
                  </c:pt>
                  <c:pt idx="65">
                    <c:v>3,200</c:v>
                  </c:pt>
                  <c:pt idx="66">
                    <c:v>3,300</c:v>
                  </c:pt>
                  <c:pt idx="67">
                    <c:v>3,300</c:v>
                  </c:pt>
                  <c:pt idx="68">
                    <c:v>3,400</c:v>
                  </c:pt>
                  <c:pt idx="69">
                    <c:v>3,400</c:v>
                  </c:pt>
                  <c:pt idx="70">
                    <c:v>3,500</c:v>
                  </c:pt>
                  <c:pt idx="71">
                    <c:v>3,500</c:v>
                  </c:pt>
                  <c:pt idx="72">
                    <c:v>3,600</c:v>
                  </c:pt>
                  <c:pt idx="73">
                    <c:v>3,600</c:v>
                  </c:pt>
                  <c:pt idx="74">
                    <c:v>3,700</c:v>
                  </c:pt>
                  <c:pt idx="75">
                    <c:v>3,700</c:v>
                  </c:pt>
                  <c:pt idx="76">
                    <c:v>3,800</c:v>
                  </c:pt>
                  <c:pt idx="77">
                    <c:v>3,800</c:v>
                  </c:pt>
                  <c:pt idx="78">
                    <c:v>3,900</c:v>
                  </c:pt>
                  <c:pt idx="79">
                    <c:v>3,900</c:v>
                  </c:pt>
                  <c:pt idx="80">
                    <c:v>4,000</c:v>
                  </c:pt>
                  <c:pt idx="81">
                    <c:v>4,000</c:v>
                  </c:pt>
                  <c:pt idx="82">
                    <c:v>4,100</c:v>
                  </c:pt>
                  <c:pt idx="83">
                    <c:v>4,100</c:v>
                  </c:pt>
                  <c:pt idx="84">
                    <c:v>4,200</c:v>
                  </c:pt>
                  <c:pt idx="85">
                    <c:v>4,200</c:v>
                  </c:pt>
                  <c:pt idx="86">
                    <c:v>4,300</c:v>
                  </c:pt>
                  <c:pt idx="87">
                    <c:v>4,300</c:v>
                  </c:pt>
                  <c:pt idx="88">
                    <c:v>4,400</c:v>
                  </c:pt>
                  <c:pt idx="89">
                    <c:v>4,400</c:v>
                  </c:pt>
                  <c:pt idx="90">
                    <c:v>4,500</c:v>
                  </c:pt>
                  <c:pt idx="91">
                    <c:v>4,500</c:v>
                  </c:pt>
                  <c:pt idx="92">
                    <c:v>4,600</c:v>
                  </c:pt>
                  <c:pt idx="93">
                    <c:v>4,600</c:v>
                  </c:pt>
                  <c:pt idx="94">
                    <c:v>4,700</c:v>
                  </c:pt>
                  <c:pt idx="95">
                    <c:v>4,700</c:v>
                  </c:pt>
                  <c:pt idx="96">
                    <c:v>4,800</c:v>
                  </c:pt>
                  <c:pt idx="97">
                    <c:v>4,800</c:v>
                  </c:pt>
                  <c:pt idx="98">
                    <c:v>4,900</c:v>
                  </c:pt>
                  <c:pt idx="99">
                    <c:v>4,900</c:v>
                  </c:pt>
                  <c:pt idx="100">
                    <c:v>5,000</c:v>
                  </c:pt>
                  <c:pt idx="101">
                    <c:v>5,000</c:v>
                  </c:pt>
                  <c:pt idx="102">
                    <c:v>5,100</c:v>
                  </c:pt>
                  <c:pt idx="103">
                    <c:v>5,100</c:v>
                  </c:pt>
                  <c:pt idx="104">
                    <c:v>5,200</c:v>
                  </c:pt>
                  <c:pt idx="105">
                    <c:v>5,200</c:v>
                  </c:pt>
                  <c:pt idx="106">
                    <c:v>5,300</c:v>
                  </c:pt>
                  <c:pt idx="107">
                    <c:v>5,300</c:v>
                  </c:pt>
                  <c:pt idx="108">
                    <c:v>5,400</c:v>
                  </c:pt>
                  <c:pt idx="109">
                    <c:v>5,400</c:v>
                  </c:pt>
                  <c:pt idx="110">
                    <c:v>5,500</c:v>
                  </c:pt>
                  <c:pt idx="111">
                    <c:v>5,500</c:v>
                  </c:pt>
                  <c:pt idx="112">
                    <c:v>5,600</c:v>
                  </c:pt>
                  <c:pt idx="113">
                    <c:v>5,600</c:v>
                  </c:pt>
                  <c:pt idx="114">
                    <c:v>5,700</c:v>
                  </c:pt>
                  <c:pt idx="115">
                    <c:v>5,700</c:v>
                  </c:pt>
                  <c:pt idx="116">
                    <c:v>5,800</c:v>
                  </c:pt>
                  <c:pt idx="117">
                    <c:v>5,800</c:v>
                  </c:pt>
                  <c:pt idx="118">
                    <c:v>5,900</c:v>
                  </c:pt>
                  <c:pt idx="119">
                    <c:v>5,900</c:v>
                  </c:pt>
                  <c:pt idx="120">
                    <c:v>6,000</c:v>
                  </c:pt>
                  <c:pt idx="121">
                    <c:v>6,000</c:v>
                  </c:pt>
                  <c:pt idx="122">
                    <c:v>6,100</c:v>
                  </c:pt>
                  <c:pt idx="123">
                    <c:v>6,100</c:v>
                  </c:pt>
                  <c:pt idx="124">
                    <c:v>6,200</c:v>
                  </c:pt>
                  <c:pt idx="125">
                    <c:v>6,200</c:v>
                  </c:pt>
                  <c:pt idx="126">
                    <c:v>6,300</c:v>
                  </c:pt>
                  <c:pt idx="127">
                    <c:v>6,300</c:v>
                  </c:pt>
                  <c:pt idx="128">
                    <c:v>6,400</c:v>
                  </c:pt>
                  <c:pt idx="129">
                    <c:v>6,400</c:v>
                  </c:pt>
                  <c:pt idx="130">
                    <c:v>6,500</c:v>
                  </c:pt>
                  <c:pt idx="131">
                    <c:v>6,500</c:v>
                  </c:pt>
                  <c:pt idx="132">
                    <c:v>6,600</c:v>
                  </c:pt>
                  <c:pt idx="133">
                    <c:v>6,600</c:v>
                  </c:pt>
                  <c:pt idx="134">
                    <c:v>6,700</c:v>
                  </c:pt>
                  <c:pt idx="135">
                    <c:v>6,700</c:v>
                  </c:pt>
                  <c:pt idx="136">
                    <c:v>6,800</c:v>
                  </c:pt>
                  <c:pt idx="137">
                    <c:v>6,800</c:v>
                  </c:pt>
                  <c:pt idx="138">
                    <c:v>6,900</c:v>
                  </c:pt>
                  <c:pt idx="139">
                    <c:v>6,900</c:v>
                  </c:pt>
                  <c:pt idx="140">
                    <c:v>7,000</c:v>
                  </c:pt>
                  <c:pt idx="141">
                    <c:v>7,000</c:v>
                  </c:pt>
                  <c:pt idx="142">
                    <c:v>7,100</c:v>
                  </c:pt>
                  <c:pt idx="143">
                    <c:v>7,100</c:v>
                  </c:pt>
                  <c:pt idx="144">
                    <c:v>7,200</c:v>
                  </c:pt>
                  <c:pt idx="145">
                    <c:v>7,200</c:v>
                  </c:pt>
                  <c:pt idx="146">
                    <c:v>7,300</c:v>
                  </c:pt>
                  <c:pt idx="147">
                    <c:v>7,300</c:v>
                  </c:pt>
                  <c:pt idx="148">
                    <c:v>7,400</c:v>
                  </c:pt>
                  <c:pt idx="149">
                    <c:v>7,400</c:v>
                  </c:pt>
                  <c:pt idx="150">
                    <c:v>7,500</c:v>
                  </c:pt>
                  <c:pt idx="151">
                    <c:v>7,500</c:v>
                  </c:pt>
                  <c:pt idx="152">
                    <c:v>7,600</c:v>
                  </c:pt>
                  <c:pt idx="153">
                    <c:v>7,600</c:v>
                  </c:pt>
                  <c:pt idx="154">
                    <c:v>7,700</c:v>
                  </c:pt>
                  <c:pt idx="155">
                    <c:v>7,700</c:v>
                  </c:pt>
                  <c:pt idx="156">
                    <c:v>7,800</c:v>
                  </c:pt>
                  <c:pt idx="157">
                    <c:v>7,800</c:v>
                  </c:pt>
                  <c:pt idx="158">
                    <c:v>7,900</c:v>
                  </c:pt>
                  <c:pt idx="159">
                    <c:v>7,900</c:v>
                  </c:pt>
                  <c:pt idx="160">
                    <c:v>8,000</c:v>
                  </c:pt>
                  <c:pt idx="161">
                    <c:v>8,000</c:v>
                  </c:pt>
                  <c:pt idx="162">
                    <c:v>8,100</c:v>
                  </c:pt>
                  <c:pt idx="163">
                    <c:v>8,100</c:v>
                  </c:pt>
                  <c:pt idx="164">
                    <c:v>8,200</c:v>
                  </c:pt>
                  <c:pt idx="165">
                    <c:v>8,200</c:v>
                  </c:pt>
                  <c:pt idx="166">
                    <c:v>8,300</c:v>
                  </c:pt>
                  <c:pt idx="167">
                    <c:v>8,300</c:v>
                  </c:pt>
                  <c:pt idx="168">
                    <c:v>8,400</c:v>
                  </c:pt>
                  <c:pt idx="169">
                    <c:v>8,400</c:v>
                  </c:pt>
                  <c:pt idx="170">
                    <c:v>8,500</c:v>
                  </c:pt>
                  <c:pt idx="171">
                    <c:v>8,500</c:v>
                  </c:pt>
                  <c:pt idx="172">
                    <c:v>8,600</c:v>
                  </c:pt>
                  <c:pt idx="173">
                    <c:v>8,600</c:v>
                  </c:pt>
                  <c:pt idx="174">
                    <c:v>8,700</c:v>
                  </c:pt>
                  <c:pt idx="175">
                    <c:v>8,700</c:v>
                  </c:pt>
                  <c:pt idx="176">
                    <c:v>8,800</c:v>
                  </c:pt>
                  <c:pt idx="177">
                    <c:v>8,800</c:v>
                  </c:pt>
                  <c:pt idx="178">
                    <c:v>8,900</c:v>
                  </c:pt>
                  <c:pt idx="179">
                    <c:v>8,900</c:v>
                  </c:pt>
                </c:lvl>
              </c:multiLvlStrCache>
            </c:multiLvlStrRef>
          </c:cat>
          <c:val>
            <c:numRef>
              <c:f>Sheet1!$B$2:$B$181</c:f>
              <c:numCache>
                <c:formatCode>General</c:formatCode>
                <c:ptCount val="180"/>
                <c:pt idx="0">
                  <c:v>1</c:v>
                </c:pt>
                <c:pt idx="1">
                  <c:v>1.00493</c:v>
                </c:pt>
                <c:pt idx="2">
                  <c:v>1.00988</c:v>
                </c:pt>
                <c:pt idx="3">
                  <c:v>1.01487</c:v>
                </c:pt>
                <c:pt idx="4">
                  <c:v>1.01992</c:v>
                </c:pt>
                <c:pt idx="5">
                  <c:v>1.02496</c:v>
                </c:pt>
                <c:pt idx="6">
                  <c:v>1.03005</c:v>
                </c:pt>
                <c:pt idx="7">
                  <c:v>1.03521</c:v>
                </c:pt>
                <c:pt idx="8">
                  <c:v>1.04036</c:v>
                </c:pt>
                <c:pt idx="9">
                  <c:v>1.04559</c:v>
                </c:pt>
                <c:pt idx="10">
                  <c:v>1.05081</c:v>
                </c:pt>
                <c:pt idx="11">
                  <c:v>1.05614</c:v>
                </c:pt>
                <c:pt idx="12">
                  <c:v>1.06144</c:v>
                </c:pt>
                <c:pt idx="13">
                  <c:v>1.06683</c:v>
                </c:pt>
                <c:pt idx="14">
                  <c:v>1.07226</c:v>
                </c:pt>
                <c:pt idx="15">
                  <c:v>1.07768</c:v>
                </c:pt>
                <c:pt idx="16">
                  <c:v>1.08318</c:v>
                </c:pt>
                <c:pt idx="17">
                  <c:v>1.08874</c:v>
                </c:pt>
                <c:pt idx="18">
                  <c:v>1.09428</c:v>
                </c:pt>
                <c:pt idx="19">
                  <c:v>1.09991</c:v>
                </c:pt>
                <c:pt idx="20">
                  <c:v>1.10558</c:v>
                </c:pt>
                <c:pt idx="21">
                  <c:v>1.11129</c:v>
                </c:pt>
                <c:pt idx="22">
                  <c:v>1.11706</c:v>
                </c:pt>
                <c:pt idx="23">
                  <c:v>1.12285</c:v>
                </c:pt>
                <c:pt idx="24">
                  <c:v>1.1287</c:v>
                </c:pt>
                <c:pt idx="25">
                  <c:v>1.13457</c:v>
                </c:pt>
                <c:pt idx="26">
                  <c:v>1.14055</c:v>
                </c:pt>
                <c:pt idx="27">
                  <c:v>1.14649</c:v>
                </c:pt>
                <c:pt idx="28">
                  <c:v>1.15253</c:v>
                </c:pt>
                <c:pt idx="29">
                  <c:v>1.15863</c:v>
                </c:pt>
                <c:pt idx="30">
                  <c:v>1.16472</c:v>
                </c:pt>
                <c:pt idx="31">
                  <c:v>1.1709</c:v>
                </c:pt>
                <c:pt idx="32">
                  <c:v>1.17712</c:v>
                </c:pt>
                <c:pt idx="33">
                  <c:v>1.1834</c:v>
                </c:pt>
                <c:pt idx="34">
                  <c:v>1.18973</c:v>
                </c:pt>
                <c:pt idx="35">
                  <c:v>1.1961</c:v>
                </c:pt>
                <c:pt idx="36">
                  <c:v>1.20253</c:v>
                </c:pt>
                <c:pt idx="37">
                  <c:v>1.20905</c:v>
                </c:pt>
                <c:pt idx="38">
                  <c:v>1.21554</c:v>
                </c:pt>
                <c:pt idx="39">
                  <c:v>1.22213</c:v>
                </c:pt>
                <c:pt idx="40">
                  <c:v>1.22872</c:v>
                </c:pt>
                <c:pt idx="41">
                  <c:v>1.23547</c:v>
                </c:pt>
                <c:pt idx="42">
                  <c:v>1.24221</c:v>
                </c:pt>
                <c:pt idx="43">
                  <c:v>1.24897</c:v>
                </c:pt>
                <c:pt idx="44">
                  <c:v>1.25585</c:v>
                </c:pt>
                <c:pt idx="45">
                  <c:v>1.26275</c:v>
                </c:pt>
                <c:pt idx="46">
                  <c:v>1.26971</c:v>
                </c:pt>
                <c:pt idx="47">
                  <c:v>1.27678</c:v>
                </c:pt>
                <c:pt idx="48">
                  <c:v>1.28385</c:v>
                </c:pt>
                <c:pt idx="49">
                  <c:v>1.29098</c:v>
                </c:pt>
                <c:pt idx="50">
                  <c:v>1.29817</c:v>
                </c:pt>
                <c:pt idx="51">
                  <c:v>1.30544</c:v>
                </c:pt>
                <c:pt idx="52">
                  <c:v>1.31285</c:v>
                </c:pt>
                <c:pt idx="53">
                  <c:v>1.32017</c:v>
                </c:pt>
                <c:pt idx="54">
                  <c:v>1.32765</c:v>
                </c:pt>
                <c:pt idx="55">
                  <c:v>1.3351</c:v>
                </c:pt>
                <c:pt idx="56">
                  <c:v>1.3427</c:v>
                </c:pt>
                <c:pt idx="57">
                  <c:v>1.35036</c:v>
                </c:pt>
                <c:pt idx="58">
                  <c:v>1.35809</c:v>
                </c:pt>
                <c:pt idx="59">
                  <c:v>1.36587</c:v>
                </c:pt>
                <c:pt idx="60">
                  <c:v>1.37363</c:v>
                </c:pt>
                <c:pt idx="61">
                  <c:v>1.38168</c:v>
                </c:pt>
                <c:pt idx="62">
                  <c:v>1.38963</c:v>
                </c:pt>
                <c:pt idx="63">
                  <c:v>1.39761</c:v>
                </c:pt>
                <c:pt idx="64">
                  <c:v>1.40577</c:v>
                </c:pt>
                <c:pt idx="65">
                  <c:v>1.41393</c:v>
                </c:pt>
                <c:pt idx="66">
                  <c:v>1.42222</c:v>
                </c:pt>
                <c:pt idx="67">
                  <c:v>1.4305</c:v>
                </c:pt>
                <c:pt idx="68">
                  <c:v>1.43894</c:v>
                </c:pt>
                <c:pt idx="69">
                  <c:v>1.44737</c:v>
                </c:pt>
                <c:pt idx="70">
                  <c:v>1.45598</c:v>
                </c:pt>
                <c:pt idx="71">
                  <c:v>1.46459</c:v>
                </c:pt>
                <c:pt idx="72">
                  <c:v>1.47336</c:v>
                </c:pt>
                <c:pt idx="73">
                  <c:v>1.48209</c:v>
                </c:pt>
                <c:pt idx="74">
                  <c:v>1.49104</c:v>
                </c:pt>
                <c:pt idx="75">
                  <c:v>1.49992</c:v>
                </c:pt>
                <c:pt idx="76">
                  <c:v>1.50898</c:v>
                </c:pt>
                <c:pt idx="77">
                  <c:v>1.51799</c:v>
                </c:pt>
                <c:pt idx="78">
                  <c:v>1.52729</c:v>
                </c:pt>
                <c:pt idx="79">
                  <c:v>1.53649</c:v>
                </c:pt>
                <c:pt idx="80">
                  <c:v>1.5459</c:v>
                </c:pt>
                <c:pt idx="81">
                  <c:v>1.55524</c:v>
                </c:pt>
                <c:pt idx="82">
                  <c:v>1.56479</c:v>
                </c:pt>
                <c:pt idx="83">
                  <c:v>1.57441</c:v>
                </c:pt>
                <c:pt idx="84">
                  <c:v>1.58415</c:v>
                </c:pt>
                <c:pt idx="85">
                  <c:v>1.59399</c:v>
                </c:pt>
                <c:pt idx="86">
                  <c:v>1.60383</c:v>
                </c:pt>
                <c:pt idx="87">
                  <c:v>1.61389</c:v>
                </c:pt>
                <c:pt idx="88">
                  <c:v>1.62394</c:v>
                </c:pt>
                <c:pt idx="89">
                  <c:v>1.63399</c:v>
                </c:pt>
                <c:pt idx="90">
                  <c:v>1.64426</c:v>
                </c:pt>
                <c:pt idx="91">
                  <c:v>1.6546</c:v>
                </c:pt>
                <c:pt idx="92">
                  <c:v>1.6634</c:v>
                </c:pt>
                <c:pt idx="93">
                  <c:v>1.66926</c:v>
                </c:pt>
                <c:pt idx="94">
                  <c:v>1.67516</c:v>
                </c:pt>
                <c:pt idx="95">
                  <c:v>1.68118</c:v>
                </c:pt>
                <c:pt idx="96">
                  <c:v>1.68707</c:v>
                </c:pt>
                <c:pt idx="97">
                  <c:v>1.69319</c:v>
                </c:pt>
                <c:pt idx="98">
                  <c:v>1.69921</c:v>
                </c:pt>
                <c:pt idx="99">
                  <c:v>1.70552</c:v>
                </c:pt>
                <c:pt idx="100">
                  <c:v>1.71142</c:v>
                </c:pt>
                <c:pt idx="101">
                  <c:v>1.71756</c:v>
                </c:pt>
                <c:pt idx="102">
                  <c:v>1.72378</c:v>
                </c:pt>
                <c:pt idx="103">
                  <c:v>1.73103</c:v>
                </c:pt>
                <c:pt idx="104">
                  <c:v>1.74211</c:v>
                </c:pt>
                <c:pt idx="105">
                  <c:v>1.7536</c:v>
                </c:pt>
                <c:pt idx="106">
                  <c:v>1.76469</c:v>
                </c:pt>
                <c:pt idx="107">
                  <c:v>1.77626</c:v>
                </c:pt>
                <c:pt idx="108">
                  <c:v>1.78817</c:v>
                </c:pt>
                <c:pt idx="109">
                  <c:v>1.79972</c:v>
                </c:pt>
                <c:pt idx="110">
                  <c:v>1.81182</c:v>
                </c:pt>
                <c:pt idx="111">
                  <c:v>1.82345</c:v>
                </c:pt>
                <c:pt idx="112">
                  <c:v>1.83559</c:v>
                </c:pt>
                <c:pt idx="113">
                  <c:v>1.84799</c:v>
                </c:pt>
                <c:pt idx="114">
                  <c:v>1.86035</c:v>
                </c:pt>
                <c:pt idx="115">
                  <c:v>1.87273</c:v>
                </c:pt>
                <c:pt idx="116">
                  <c:v>1.88539</c:v>
                </c:pt>
                <c:pt idx="117">
                  <c:v>1.89806</c:v>
                </c:pt>
                <c:pt idx="118">
                  <c:v>1.9109</c:v>
                </c:pt>
                <c:pt idx="119">
                  <c:v>1.92401</c:v>
                </c:pt>
                <c:pt idx="120">
                  <c:v>1.93707</c:v>
                </c:pt>
                <c:pt idx="121">
                  <c:v>1.95014</c:v>
                </c:pt>
                <c:pt idx="122">
                  <c:v>1.96351</c:v>
                </c:pt>
                <c:pt idx="123">
                  <c:v>1.97733</c:v>
                </c:pt>
                <c:pt idx="124">
                  <c:v>1.99066</c:v>
                </c:pt>
                <c:pt idx="125">
                  <c:v>2.00418</c:v>
                </c:pt>
                <c:pt idx="126">
                  <c:v>2.01595</c:v>
                </c:pt>
                <c:pt idx="127">
                  <c:v>2.02665</c:v>
                </c:pt>
                <c:pt idx="128">
                  <c:v>2.03755</c:v>
                </c:pt>
                <c:pt idx="129">
                  <c:v>2.04871</c:v>
                </c:pt>
                <c:pt idx="130">
                  <c:v>2.05999</c:v>
                </c:pt>
                <c:pt idx="131">
                  <c:v>2.07165</c:v>
                </c:pt>
                <c:pt idx="132">
                  <c:v>2.08271</c:v>
                </c:pt>
                <c:pt idx="133">
                  <c:v>2.09398</c:v>
                </c:pt>
                <c:pt idx="134">
                  <c:v>2.10569</c:v>
                </c:pt>
                <c:pt idx="135">
                  <c:v>2.11718</c:v>
                </c:pt>
                <c:pt idx="136">
                  <c:v>2.12911</c:v>
                </c:pt>
                <c:pt idx="137">
                  <c:v>2.14141</c:v>
                </c:pt>
                <c:pt idx="138">
                  <c:v>2.1532</c:v>
                </c:pt>
                <c:pt idx="139">
                  <c:v>2.16504</c:v>
                </c:pt>
                <c:pt idx="140">
                  <c:v>2.17735</c:v>
                </c:pt>
                <c:pt idx="141">
                  <c:v>2.18926</c:v>
                </c:pt>
                <c:pt idx="142">
                  <c:v>2.20244</c:v>
                </c:pt>
                <c:pt idx="143">
                  <c:v>2.21491</c:v>
                </c:pt>
                <c:pt idx="144">
                  <c:v>2.22659</c:v>
                </c:pt>
                <c:pt idx="145">
                  <c:v>2.23952</c:v>
                </c:pt>
                <c:pt idx="146">
                  <c:v>2.25193</c:v>
                </c:pt>
                <c:pt idx="147">
                  <c:v>2.26471</c:v>
                </c:pt>
                <c:pt idx="148">
                  <c:v>2.27783</c:v>
                </c:pt>
                <c:pt idx="149">
                  <c:v>2.29125</c:v>
                </c:pt>
                <c:pt idx="150">
                  <c:v>2.30451</c:v>
                </c:pt>
                <c:pt idx="151">
                  <c:v>2.31788</c:v>
                </c:pt>
                <c:pt idx="152">
                  <c:v>2.33158</c:v>
                </c:pt>
                <c:pt idx="153">
                  <c:v>2.3442</c:v>
                </c:pt>
                <c:pt idx="154">
                  <c:v>2.3582</c:v>
                </c:pt>
                <c:pt idx="155">
                  <c:v>2.37216</c:v>
                </c:pt>
                <c:pt idx="156">
                  <c:v>2.38596</c:v>
                </c:pt>
                <c:pt idx="157">
                  <c:v>2.40121</c:v>
                </c:pt>
                <c:pt idx="158">
                  <c:v>2.41504</c:v>
                </c:pt>
                <c:pt idx="159">
                  <c:v>2.43056</c:v>
                </c:pt>
                <c:pt idx="160">
                  <c:v>2.44604</c:v>
                </c:pt>
                <c:pt idx="161">
                  <c:v>2.46347</c:v>
                </c:pt>
                <c:pt idx="162">
                  <c:v>2.47797</c:v>
                </c:pt>
                <c:pt idx="163">
                  <c:v>2.49249</c:v>
                </c:pt>
                <c:pt idx="164">
                  <c:v>2.50787</c:v>
                </c:pt>
                <c:pt idx="165">
                  <c:v>2.52241</c:v>
                </c:pt>
                <c:pt idx="166">
                  <c:v>2.53821</c:v>
                </c:pt>
                <c:pt idx="167">
                  <c:v>2.553</c:v>
                </c:pt>
                <c:pt idx="168">
                  <c:v>2.56949</c:v>
                </c:pt>
                <c:pt idx="169">
                  <c:v>2.5878</c:v>
                </c:pt>
                <c:pt idx="170">
                  <c:v>2.60278</c:v>
                </c:pt>
                <c:pt idx="171">
                  <c:v>2.62124</c:v>
                </c:pt>
                <c:pt idx="172">
                  <c:v>2.63885</c:v>
                </c:pt>
                <c:pt idx="173">
                  <c:v>2.65681</c:v>
                </c:pt>
                <c:pt idx="174">
                  <c:v>2.67692</c:v>
                </c:pt>
                <c:pt idx="175">
                  <c:v>2.69578</c:v>
                </c:pt>
                <c:pt idx="176">
                  <c:v>2.69901</c:v>
                </c:pt>
                <c:pt idx="177">
                  <c:v>2.69882</c:v>
                </c:pt>
                <c:pt idx="178">
                  <c:v>2.69883</c:v>
                </c:pt>
                <c:pt idx="179">
                  <c:v>2.69905</c:v>
                </c:pt>
              </c:numCache>
            </c:numRef>
          </c:val>
          <c:smooth val="0"/>
        </c:ser>
        <c:ser>
          <c:idx val="1"/>
          <c:order val="1"/>
          <c:tx>
            <c:strRef>
              <c:f>Sheet1!$C$1</c:f>
              <c:strCache>
                <c:ptCount val="1"/>
                <c:pt idx="0">
                  <c:v>Mars's orbit (AU)</c:v>
                </c:pt>
              </c:strCache>
            </c:strRef>
          </c:tx>
          <c:spPr>
            <a:solidFill>
              <a:srgbClr val="C8553D"/>
            </a:solidFill>
            <a:ln w="28575" cap="flat">
              <a:solidFill>
                <a:srgbClr val="C8553D"/>
              </a:solidFill>
              <a:prstDash val="solid"/>
              <a:round/>
            </a:ln>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c:symbol val="none"/>
            <c:size val="6"/>
            <c:spPr>
              <a:solidFill>
                <a:srgbClr val="C8553D"/>
              </a:solidFill>
              <a:ln w="9525" cap="flat">
                <a:solidFill>
                  <a:srgbClr val="C8553D"/>
                </a:solidFill>
                <a:prstDash val="solid"/>
                <a:round/>
              </a:ln>
              <a:effectLst/>
            </c:spPr>
          </c:marker>
          <c:cat>
            <c:multiLvlStrRef>
              <c:f>Sheet1!$A$2:$A$181</c:f>
              <c:multiLvlStrCache>
                <c:ptCount val="180"/>
                <c:lvl>
                  <c:pt idx="0">
                    <c:v>0</c:v>
                  </c:pt>
                  <c:pt idx="1">
                    <c:v>100</c:v>
                  </c:pt>
                  <c:pt idx="2">
                    <c:v>100</c:v>
                  </c:pt>
                  <c:pt idx="3">
                    <c:v>200</c:v>
                  </c:pt>
                  <c:pt idx="4">
                    <c:v>200</c:v>
                  </c:pt>
                  <c:pt idx="5">
                    <c:v>300</c:v>
                  </c:pt>
                  <c:pt idx="6">
                    <c:v>300</c:v>
                  </c:pt>
                  <c:pt idx="7">
                    <c:v>400</c:v>
                  </c:pt>
                  <c:pt idx="8">
                    <c:v>400</c:v>
                  </c:pt>
                  <c:pt idx="9">
                    <c:v>500</c:v>
                  </c:pt>
                  <c:pt idx="10">
                    <c:v>500</c:v>
                  </c:pt>
                  <c:pt idx="11">
                    <c:v>600</c:v>
                  </c:pt>
                  <c:pt idx="12">
                    <c:v>600</c:v>
                  </c:pt>
                  <c:pt idx="13">
                    <c:v>700</c:v>
                  </c:pt>
                  <c:pt idx="14">
                    <c:v>700</c:v>
                  </c:pt>
                  <c:pt idx="15">
                    <c:v>700</c:v>
                  </c:pt>
                  <c:pt idx="16">
                    <c:v>800</c:v>
                  </c:pt>
                  <c:pt idx="17">
                    <c:v>900</c:v>
                  </c:pt>
                  <c:pt idx="18">
                    <c:v>900</c:v>
                  </c:pt>
                  <c:pt idx="19">
                    <c:v>1,000</c:v>
                  </c:pt>
                  <c:pt idx="20">
                    <c:v>1,000</c:v>
                  </c:pt>
                  <c:pt idx="21">
                    <c:v>1,100</c:v>
                  </c:pt>
                  <c:pt idx="22">
                    <c:v>1,100</c:v>
                  </c:pt>
                  <c:pt idx="23">
                    <c:v>1,100</c:v>
                  </c:pt>
                  <c:pt idx="24">
                    <c:v>1,200</c:v>
                  </c:pt>
                  <c:pt idx="25">
                    <c:v>1,200</c:v>
                  </c:pt>
                  <c:pt idx="26">
                    <c:v>1,300</c:v>
                  </c:pt>
                  <c:pt idx="27">
                    <c:v>1,400</c:v>
                  </c:pt>
                  <c:pt idx="28">
                    <c:v>1,400</c:v>
                  </c:pt>
                  <c:pt idx="29">
                    <c:v>1,500</c:v>
                  </c:pt>
                  <c:pt idx="30">
                    <c:v>1,500</c:v>
                  </c:pt>
                  <c:pt idx="31">
                    <c:v>1,500</c:v>
                  </c:pt>
                  <c:pt idx="32">
                    <c:v>1,600</c:v>
                  </c:pt>
                  <c:pt idx="33">
                    <c:v>1,600</c:v>
                  </c:pt>
                  <c:pt idx="34">
                    <c:v>1,700</c:v>
                  </c:pt>
                  <c:pt idx="35">
                    <c:v>1,700</c:v>
                  </c:pt>
                  <c:pt idx="36">
                    <c:v>1,800</c:v>
                  </c:pt>
                  <c:pt idx="37">
                    <c:v>1,900</c:v>
                  </c:pt>
                  <c:pt idx="38">
                    <c:v>1,900</c:v>
                  </c:pt>
                  <c:pt idx="39">
                    <c:v>1,900</c:v>
                  </c:pt>
                  <c:pt idx="40">
                    <c:v>2,000</c:v>
                  </c:pt>
                  <c:pt idx="41">
                    <c:v>2,000</c:v>
                  </c:pt>
                  <c:pt idx="42">
                    <c:v>2,100</c:v>
                  </c:pt>
                  <c:pt idx="43">
                    <c:v>2,100</c:v>
                  </c:pt>
                  <c:pt idx="44">
                    <c:v>2,200</c:v>
                  </c:pt>
                  <c:pt idx="45">
                    <c:v>2,200</c:v>
                  </c:pt>
                  <c:pt idx="46">
                    <c:v>2,300</c:v>
                  </c:pt>
                  <c:pt idx="47">
                    <c:v>2,300</c:v>
                  </c:pt>
                  <c:pt idx="48">
                    <c:v>2,400</c:v>
                  </c:pt>
                  <c:pt idx="49">
                    <c:v>2,400</c:v>
                  </c:pt>
                  <c:pt idx="50">
                    <c:v>2,500</c:v>
                  </c:pt>
                  <c:pt idx="51">
                    <c:v>2,500</c:v>
                  </c:pt>
                  <c:pt idx="52">
                    <c:v>2,600</c:v>
                  </c:pt>
                  <c:pt idx="53">
                    <c:v>2,600</c:v>
                  </c:pt>
                  <c:pt idx="54">
                    <c:v>2,700</c:v>
                  </c:pt>
                  <c:pt idx="55">
                    <c:v>2,700</c:v>
                  </c:pt>
                  <c:pt idx="56">
                    <c:v>2,800</c:v>
                  </c:pt>
                  <c:pt idx="57">
                    <c:v>2,800</c:v>
                  </c:pt>
                  <c:pt idx="58">
                    <c:v>2,900</c:v>
                  </c:pt>
                  <c:pt idx="59">
                    <c:v>2,900</c:v>
                  </c:pt>
                  <c:pt idx="60">
                    <c:v>3,000</c:v>
                  </c:pt>
                  <c:pt idx="61">
                    <c:v>3,000</c:v>
                  </c:pt>
                  <c:pt idx="62">
                    <c:v>3,100</c:v>
                  </c:pt>
                  <c:pt idx="63">
                    <c:v>3,100</c:v>
                  </c:pt>
                  <c:pt idx="64">
                    <c:v>3,200</c:v>
                  </c:pt>
                  <c:pt idx="65">
                    <c:v>3,200</c:v>
                  </c:pt>
                  <c:pt idx="66">
                    <c:v>3,300</c:v>
                  </c:pt>
                  <c:pt idx="67">
                    <c:v>3,300</c:v>
                  </c:pt>
                  <c:pt idx="68">
                    <c:v>3,400</c:v>
                  </c:pt>
                  <c:pt idx="69">
                    <c:v>3,400</c:v>
                  </c:pt>
                  <c:pt idx="70">
                    <c:v>3,500</c:v>
                  </c:pt>
                  <c:pt idx="71">
                    <c:v>3,500</c:v>
                  </c:pt>
                  <c:pt idx="72">
                    <c:v>3,600</c:v>
                  </c:pt>
                  <c:pt idx="73">
                    <c:v>3,600</c:v>
                  </c:pt>
                  <c:pt idx="74">
                    <c:v>3,700</c:v>
                  </c:pt>
                  <c:pt idx="75">
                    <c:v>3,700</c:v>
                  </c:pt>
                  <c:pt idx="76">
                    <c:v>3,800</c:v>
                  </c:pt>
                  <c:pt idx="77">
                    <c:v>3,800</c:v>
                  </c:pt>
                  <c:pt idx="78">
                    <c:v>3,900</c:v>
                  </c:pt>
                  <c:pt idx="79">
                    <c:v>3,900</c:v>
                  </c:pt>
                  <c:pt idx="80">
                    <c:v>4,000</c:v>
                  </c:pt>
                  <c:pt idx="81">
                    <c:v>4,000</c:v>
                  </c:pt>
                  <c:pt idx="82">
                    <c:v>4,100</c:v>
                  </c:pt>
                  <c:pt idx="83">
                    <c:v>4,100</c:v>
                  </c:pt>
                  <c:pt idx="84">
                    <c:v>4,200</c:v>
                  </c:pt>
                  <c:pt idx="85">
                    <c:v>4,200</c:v>
                  </c:pt>
                  <c:pt idx="86">
                    <c:v>4,300</c:v>
                  </c:pt>
                  <c:pt idx="87">
                    <c:v>4,300</c:v>
                  </c:pt>
                  <c:pt idx="88">
                    <c:v>4,400</c:v>
                  </c:pt>
                  <c:pt idx="89">
                    <c:v>4,400</c:v>
                  </c:pt>
                  <c:pt idx="90">
                    <c:v>4,500</c:v>
                  </c:pt>
                  <c:pt idx="91">
                    <c:v>4,500</c:v>
                  </c:pt>
                  <c:pt idx="92">
                    <c:v>4,600</c:v>
                  </c:pt>
                  <c:pt idx="93">
                    <c:v>4,600</c:v>
                  </c:pt>
                  <c:pt idx="94">
                    <c:v>4,700</c:v>
                  </c:pt>
                  <c:pt idx="95">
                    <c:v>4,700</c:v>
                  </c:pt>
                  <c:pt idx="96">
                    <c:v>4,800</c:v>
                  </c:pt>
                  <c:pt idx="97">
                    <c:v>4,800</c:v>
                  </c:pt>
                  <c:pt idx="98">
                    <c:v>4,900</c:v>
                  </c:pt>
                  <c:pt idx="99">
                    <c:v>4,900</c:v>
                  </c:pt>
                  <c:pt idx="100">
                    <c:v>5,000</c:v>
                  </c:pt>
                  <c:pt idx="101">
                    <c:v>5,000</c:v>
                  </c:pt>
                  <c:pt idx="102">
                    <c:v>5,100</c:v>
                  </c:pt>
                  <c:pt idx="103">
                    <c:v>5,100</c:v>
                  </c:pt>
                  <c:pt idx="104">
                    <c:v>5,200</c:v>
                  </c:pt>
                  <c:pt idx="105">
                    <c:v>5,200</c:v>
                  </c:pt>
                  <c:pt idx="106">
                    <c:v>5,300</c:v>
                  </c:pt>
                  <c:pt idx="107">
                    <c:v>5,300</c:v>
                  </c:pt>
                  <c:pt idx="108">
                    <c:v>5,400</c:v>
                  </c:pt>
                  <c:pt idx="109">
                    <c:v>5,400</c:v>
                  </c:pt>
                  <c:pt idx="110">
                    <c:v>5,500</c:v>
                  </c:pt>
                  <c:pt idx="111">
                    <c:v>5,500</c:v>
                  </c:pt>
                  <c:pt idx="112">
                    <c:v>5,600</c:v>
                  </c:pt>
                  <c:pt idx="113">
                    <c:v>5,600</c:v>
                  </c:pt>
                  <c:pt idx="114">
                    <c:v>5,700</c:v>
                  </c:pt>
                  <c:pt idx="115">
                    <c:v>5,700</c:v>
                  </c:pt>
                  <c:pt idx="116">
                    <c:v>5,800</c:v>
                  </c:pt>
                  <c:pt idx="117">
                    <c:v>5,800</c:v>
                  </c:pt>
                  <c:pt idx="118">
                    <c:v>5,900</c:v>
                  </c:pt>
                  <c:pt idx="119">
                    <c:v>5,900</c:v>
                  </c:pt>
                  <c:pt idx="120">
                    <c:v>6,000</c:v>
                  </c:pt>
                  <c:pt idx="121">
                    <c:v>6,000</c:v>
                  </c:pt>
                  <c:pt idx="122">
                    <c:v>6,100</c:v>
                  </c:pt>
                  <c:pt idx="123">
                    <c:v>6,100</c:v>
                  </c:pt>
                  <c:pt idx="124">
                    <c:v>6,200</c:v>
                  </c:pt>
                  <c:pt idx="125">
                    <c:v>6,200</c:v>
                  </c:pt>
                  <c:pt idx="126">
                    <c:v>6,300</c:v>
                  </c:pt>
                  <c:pt idx="127">
                    <c:v>6,300</c:v>
                  </c:pt>
                  <c:pt idx="128">
                    <c:v>6,400</c:v>
                  </c:pt>
                  <c:pt idx="129">
                    <c:v>6,400</c:v>
                  </c:pt>
                  <c:pt idx="130">
                    <c:v>6,500</c:v>
                  </c:pt>
                  <c:pt idx="131">
                    <c:v>6,500</c:v>
                  </c:pt>
                  <c:pt idx="132">
                    <c:v>6,600</c:v>
                  </c:pt>
                  <c:pt idx="133">
                    <c:v>6,600</c:v>
                  </c:pt>
                  <c:pt idx="134">
                    <c:v>6,700</c:v>
                  </c:pt>
                  <c:pt idx="135">
                    <c:v>6,700</c:v>
                  </c:pt>
                  <c:pt idx="136">
                    <c:v>6,800</c:v>
                  </c:pt>
                  <c:pt idx="137">
                    <c:v>6,800</c:v>
                  </c:pt>
                  <c:pt idx="138">
                    <c:v>6,900</c:v>
                  </c:pt>
                  <c:pt idx="139">
                    <c:v>6,900</c:v>
                  </c:pt>
                  <c:pt idx="140">
                    <c:v>7,000</c:v>
                  </c:pt>
                  <c:pt idx="141">
                    <c:v>7,000</c:v>
                  </c:pt>
                  <c:pt idx="142">
                    <c:v>7,100</c:v>
                  </c:pt>
                  <c:pt idx="143">
                    <c:v>7,100</c:v>
                  </c:pt>
                  <c:pt idx="144">
                    <c:v>7,200</c:v>
                  </c:pt>
                  <c:pt idx="145">
                    <c:v>7,200</c:v>
                  </c:pt>
                  <c:pt idx="146">
                    <c:v>7,300</c:v>
                  </c:pt>
                  <c:pt idx="147">
                    <c:v>7,300</c:v>
                  </c:pt>
                  <c:pt idx="148">
                    <c:v>7,400</c:v>
                  </c:pt>
                  <c:pt idx="149">
                    <c:v>7,400</c:v>
                  </c:pt>
                  <c:pt idx="150">
                    <c:v>7,500</c:v>
                  </c:pt>
                  <c:pt idx="151">
                    <c:v>7,500</c:v>
                  </c:pt>
                  <c:pt idx="152">
                    <c:v>7,600</c:v>
                  </c:pt>
                  <c:pt idx="153">
                    <c:v>7,600</c:v>
                  </c:pt>
                  <c:pt idx="154">
                    <c:v>7,700</c:v>
                  </c:pt>
                  <c:pt idx="155">
                    <c:v>7,700</c:v>
                  </c:pt>
                  <c:pt idx="156">
                    <c:v>7,800</c:v>
                  </c:pt>
                  <c:pt idx="157">
                    <c:v>7,800</c:v>
                  </c:pt>
                  <c:pt idx="158">
                    <c:v>7,900</c:v>
                  </c:pt>
                  <c:pt idx="159">
                    <c:v>7,900</c:v>
                  </c:pt>
                  <c:pt idx="160">
                    <c:v>8,000</c:v>
                  </c:pt>
                  <c:pt idx="161">
                    <c:v>8,000</c:v>
                  </c:pt>
                  <c:pt idx="162">
                    <c:v>8,100</c:v>
                  </c:pt>
                  <c:pt idx="163">
                    <c:v>8,100</c:v>
                  </c:pt>
                  <c:pt idx="164">
                    <c:v>8,200</c:v>
                  </c:pt>
                  <c:pt idx="165">
                    <c:v>8,200</c:v>
                  </c:pt>
                  <c:pt idx="166">
                    <c:v>8,300</c:v>
                  </c:pt>
                  <c:pt idx="167">
                    <c:v>8,300</c:v>
                  </c:pt>
                  <c:pt idx="168">
                    <c:v>8,400</c:v>
                  </c:pt>
                  <c:pt idx="169">
                    <c:v>8,400</c:v>
                  </c:pt>
                  <c:pt idx="170">
                    <c:v>8,500</c:v>
                  </c:pt>
                  <c:pt idx="171">
                    <c:v>8,500</c:v>
                  </c:pt>
                  <c:pt idx="172">
                    <c:v>8,600</c:v>
                  </c:pt>
                  <c:pt idx="173">
                    <c:v>8,600</c:v>
                  </c:pt>
                  <c:pt idx="174">
                    <c:v>8,700</c:v>
                  </c:pt>
                  <c:pt idx="175">
                    <c:v>8,700</c:v>
                  </c:pt>
                  <c:pt idx="176">
                    <c:v>8,800</c:v>
                  </c:pt>
                  <c:pt idx="177">
                    <c:v>8,800</c:v>
                  </c:pt>
                  <c:pt idx="178">
                    <c:v>8,900</c:v>
                  </c:pt>
                  <c:pt idx="179">
                    <c:v>8,900</c:v>
                  </c:pt>
                </c:lvl>
              </c:multiLvlStrCache>
            </c:multiLvlStrRef>
          </c:cat>
          <c:val>
            <c:numRef>
              <c:f>Sheet1!$C$2:$C$181</c:f>
              <c:numCache>
                <c:formatCode>General</c:formatCode>
                <c:ptCount val="180"/>
                <c:pt idx="0">
                  <c:v>1.52371</c:v>
                </c:pt>
                <c:pt idx="1">
                  <c:v>1.53289</c:v>
                </c:pt>
                <c:pt idx="2">
                  <c:v>1.54218</c:v>
                </c:pt>
                <c:pt idx="3">
                  <c:v>1.55162</c:v>
                </c:pt>
                <c:pt idx="4">
                  <c:v>1.56116</c:v>
                </c:pt>
                <c:pt idx="5">
                  <c:v>1.57052</c:v>
                </c:pt>
                <c:pt idx="6">
                  <c:v>1.58019</c:v>
                </c:pt>
                <c:pt idx="7">
                  <c:v>1.58991</c:v>
                </c:pt>
                <c:pt idx="8">
                  <c:v>1.59966</c:v>
                </c:pt>
                <c:pt idx="9">
                  <c:v>1.60967</c:v>
                </c:pt>
                <c:pt idx="10">
                  <c:v>1.61959</c:v>
                </c:pt>
                <c:pt idx="11">
                  <c:v>1.6297</c:v>
                </c:pt>
                <c:pt idx="12">
                  <c:v>1.64003</c:v>
                </c:pt>
                <c:pt idx="13">
                  <c:v>1.65018</c:v>
                </c:pt>
                <c:pt idx="14">
                  <c:v>1.66049</c:v>
                </c:pt>
                <c:pt idx="15">
                  <c:v>1.671</c:v>
                </c:pt>
                <c:pt idx="16">
                  <c:v>1.68182</c:v>
                </c:pt>
                <c:pt idx="17">
                  <c:v>1.69228</c:v>
                </c:pt>
                <c:pt idx="18">
                  <c:v>1.70319</c:v>
                </c:pt>
                <c:pt idx="19">
                  <c:v>1.7139</c:v>
                </c:pt>
                <c:pt idx="20">
                  <c:v>1.72511</c:v>
                </c:pt>
                <c:pt idx="21">
                  <c:v>1.73598</c:v>
                </c:pt>
                <c:pt idx="22">
                  <c:v>1.7474</c:v>
                </c:pt>
                <c:pt idx="23">
                  <c:v>1.75855</c:v>
                </c:pt>
                <c:pt idx="24">
                  <c:v>1.76993</c:v>
                </c:pt>
                <c:pt idx="25">
                  <c:v>1.78136</c:v>
                </c:pt>
                <c:pt idx="26">
                  <c:v>1.79322</c:v>
                </c:pt>
                <c:pt idx="27">
                  <c:v>1.80508</c:v>
                </c:pt>
                <c:pt idx="28">
                  <c:v>1.81658</c:v>
                </c:pt>
                <c:pt idx="29">
                  <c:v>1.8287</c:v>
                </c:pt>
                <c:pt idx="30">
                  <c:v>1.84089</c:v>
                </c:pt>
                <c:pt idx="31">
                  <c:v>1.85316</c:v>
                </c:pt>
                <c:pt idx="32">
                  <c:v>1.86551</c:v>
                </c:pt>
                <c:pt idx="33">
                  <c:v>1.87768</c:v>
                </c:pt>
                <c:pt idx="34">
                  <c:v>1.89042</c:v>
                </c:pt>
                <c:pt idx="35">
                  <c:v>1.90293</c:v>
                </c:pt>
                <c:pt idx="36">
                  <c:v>1.91594</c:v>
                </c:pt>
                <c:pt idx="37">
                  <c:v>1.929</c:v>
                </c:pt>
                <c:pt idx="38">
                  <c:v>1.94191</c:v>
                </c:pt>
                <c:pt idx="39">
                  <c:v>1.95529</c:v>
                </c:pt>
                <c:pt idx="40">
                  <c:v>1.96876</c:v>
                </c:pt>
                <c:pt idx="41">
                  <c:v>1.98211</c:v>
                </c:pt>
                <c:pt idx="42">
                  <c:v>1.99617</c:v>
                </c:pt>
                <c:pt idx="43">
                  <c:v>2.00951</c:v>
                </c:pt>
                <c:pt idx="44">
                  <c:v>2.02367</c:v>
                </c:pt>
                <c:pt idx="45">
                  <c:v>2.03781</c:v>
                </c:pt>
                <c:pt idx="46">
                  <c:v>2.0523</c:v>
                </c:pt>
                <c:pt idx="47">
                  <c:v>2.06621</c:v>
                </c:pt>
                <c:pt idx="48">
                  <c:v>2.08089</c:v>
                </c:pt>
                <c:pt idx="49">
                  <c:v>2.09603</c:v>
                </c:pt>
                <c:pt idx="50">
                  <c:v>2.11035</c:v>
                </c:pt>
                <c:pt idx="51">
                  <c:v>2.12529</c:v>
                </c:pt>
                <c:pt idx="52">
                  <c:v>2.14127</c:v>
                </c:pt>
                <c:pt idx="53">
                  <c:v>2.15603</c:v>
                </c:pt>
                <c:pt idx="54">
                  <c:v>2.17155</c:v>
                </c:pt>
                <c:pt idx="55">
                  <c:v>2.18774</c:v>
                </c:pt>
                <c:pt idx="56">
                  <c:v>2.20333</c:v>
                </c:pt>
                <c:pt idx="57">
                  <c:v>2.21919</c:v>
                </c:pt>
                <c:pt idx="58">
                  <c:v>2.23561</c:v>
                </c:pt>
                <c:pt idx="59">
                  <c:v>2.25181</c:v>
                </c:pt>
                <c:pt idx="60">
                  <c:v>2.26873</c:v>
                </c:pt>
                <c:pt idx="61">
                  <c:v>2.28603</c:v>
                </c:pt>
                <c:pt idx="62">
                  <c:v>2.30221</c:v>
                </c:pt>
                <c:pt idx="63">
                  <c:v>2.31931</c:v>
                </c:pt>
                <c:pt idx="64">
                  <c:v>2.33742</c:v>
                </c:pt>
                <c:pt idx="65">
                  <c:v>2.35422</c:v>
                </c:pt>
                <c:pt idx="66">
                  <c:v>2.37148</c:v>
                </c:pt>
                <c:pt idx="67">
                  <c:v>2.38981</c:v>
                </c:pt>
                <c:pt idx="68">
                  <c:v>2.40763</c:v>
                </c:pt>
                <c:pt idx="69">
                  <c:v>2.42689</c:v>
                </c:pt>
                <c:pt idx="70">
                  <c:v>2.44479</c:v>
                </c:pt>
                <c:pt idx="71">
                  <c:v>2.46313</c:v>
                </c:pt>
                <c:pt idx="72">
                  <c:v>2.4821</c:v>
                </c:pt>
                <c:pt idx="73">
                  <c:v>2.50107</c:v>
                </c:pt>
                <c:pt idx="74">
                  <c:v>2.52111</c:v>
                </c:pt>
                <c:pt idx="75">
                  <c:v>2.54033</c:v>
                </c:pt>
                <c:pt idx="76">
                  <c:v>2.56031</c:v>
                </c:pt>
                <c:pt idx="77">
                  <c:v>2.581</c:v>
                </c:pt>
                <c:pt idx="78">
                  <c:v>2.60208</c:v>
                </c:pt>
                <c:pt idx="79">
                  <c:v>2.62169</c:v>
                </c:pt>
                <c:pt idx="80">
                  <c:v>2.6421</c:v>
                </c:pt>
                <c:pt idx="81">
                  <c:v>2.66378</c:v>
                </c:pt>
                <c:pt idx="82">
                  <c:v>2.68422</c:v>
                </c:pt>
                <c:pt idx="83">
                  <c:v>2.7057</c:v>
                </c:pt>
                <c:pt idx="84">
                  <c:v>2.72812</c:v>
                </c:pt>
                <c:pt idx="85">
                  <c:v>2.75073</c:v>
                </c:pt>
                <c:pt idx="86">
                  <c:v>2.77261</c:v>
                </c:pt>
                <c:pt idx="87">
                  <c:v>2.79453</c:v>
                </c:pt>
                <c:pt idx="88">
                  <c:v>2.81724</c:v>
                </c:pt>
                <c:pt idx="89">
                  <c:v>2.84201</c:v>
                </c:pt>
                <c:pt idx="90">
                  <c:v>2.8651</c:v>
                </c:pt>
                <c:pt idx="91">
                  <c:v>2.88881</c:v>
                </c:pt>
                <c:pt idx="92">
                  <c:v>2.91483</c:v>
                </c:pt>
                <c:pt idx="93">
                  <c:v>2.93617</c:v>
                </c:pt>
                <c:pt idx="94">
                  <c:v>2.96473</c:v>
                </c:pt>
                <c:pt idx="95">
                  <c:v>2.98732</c:v>
                </c:pt>
                <c:pt idx="96">
                  <c:v>3.02485</c:v>
                </c:pt>
                <c:pt idx="97">
                  <c:v>3.13002</c:v>
                </c:pt>
                <c:pt idx="98">
                  <c:v>3.24446</c:v>
                </c:pt>
                <c:pt idx="99">
                  <c:v>3.3636</c:v>
                </c:pt>
                <c:pt idx="100">
                  <c:v>3.47829</c:v>
                </c:pt>
                <c:pt idx="101">
                  <c:v>3.54669</c:v>
                </c:pt>
                <c:pt idx="102">
                  <c:v>3.57165</c:v>
                </c:pt>
                <c:pt idx="103">
                  <c:v>3.60545</c:v>
                </c:pt>
                <c:pt idx="104">
                  <c:v>3.62526</c:v>
                </c:pt>
                <c:pt idx="105">
                  <c:v>3.62769</c:v>
                </c:pt>
                <c:pt idx="106">
                  <c:v>3.63413</c:v>
                </c:pt>
                <c:pt idx="107">
                  <c:v>3.63318</c:v>
                </c:pt>
                <c:pt idx="108">
                  <c:v>3.62726</c:v>
                </c:pt>
                <c:pt idx="109">
                  <c:v>3.63596</c:v>
                </c:pt>
                <c:pt idx="110">
                  <c:v>3.64099</c:v>
                </c:pt>
                <c:pt idx="111">
                  <c:v>3.6446</c:v>
                </c:pt>
                <c:pt idx="112">
                  <c:v>3.64362</c:v>
                </c:pt>
                <c:pt idx="113">
                  <c:v>3.63777</c:v>
                </c:pt>
                <c:pt idx="114">
                  <c:v>3.62985</c:v>
                </c:pt>
                <c:pt idx="115">
                  <c:v>3.62864</c:v>
                </c:pt>
                <c:pt idx="116">
                  <c:v>3.62374</c:v>
                </c:pt>
                <c:pt idx="117">
                  <c:v>3.62251</c:v>
                </c:pt>
                <c:pt idx="118">
                  <c:v>3.62356</c:v>
                </c:pt>
                <c:pt idx="119">
                  <c:v>3.62178</c:v>
                </c:pt>
                <c:pt idx="120">
                  <c:v>3.6247</c:v>
                </c:pt>
                <c:pt idx="121">
                  <c:v>3.62212</c:v>
                </c:pt>
                <c:pt idx="122">
                  <c:v>3.61828</c:v>
                </c:pt>
                <c:pt idx="123">
                  <c:v>3.61962</c:v>
                </c:pt>
                <c:pt idx="124">
                  <c:v>3.62249</c:v>
                </c:pt>
                <c:pt idx="125">
                  <c:v>3.62577</c:v>
                </c:pt>
                <c:pt idx="126">
                  <c:v>3.62602</c:v>
                </c:pt>
                <c:pt idx="127">
                  <c:v>3.62098</c:v>
                </c:pt>
                <c:pt idx="128">
                  <c:v>3.61998</c:v>
                </c:pt>
                <c:pt idx="129">
                  <c:v>3.62388</c:v>
                </c:pt>
                <c:pt idx="130">
                  <c:v>3.62741</c:v>
                </c:pt>
                <c:pt idx="131">
                  <c:v>3.62949</c:v>
                </c:pt>
                <c:pt idx="132">
                  <c:v>3.62593</c:v>
                </c:pt>
                <c:pt idx="133">
                  <c:v>3.62178</c:v>
                </c:pt>
                <c:pt idx="134">
                  <c:v>3.62362</c:v>
                </c:pt>
                <c:pt idx="135">
                  <c:v>3.62835</c:v>
                </c:pt>
                <c:pt idx="136">
                  <c:v>3.6314</c:v>
                </c:pt>
                <c:pt idx="137">
                  <c:v>3.62923</c:v>
                </c:pt>
                <c:pt idx="138">
                  <c:v>3.62375</c:v>
                </c:pt>
                <c:pt idx="139">
                  <c:v>3.62244</c:v>
                </c:pt>
                <c:pt idx="140">
                  <c:v>3.62733</c:v>
                </c:pt>
                <c:pt idx="141">
                  <c:v>3.63086</c:v>
                </c:pt>
                <c:pt idx="142">
                  <c:v>3.62955</c:v>
                </c:pt>
                <c:pt idx="143">
                  <c:v>3.62482</c:v>
                </c:pt>
                <c:pt idx="144">
                  <c:v>3.6209</c:v>
                </c:pt>
                <c:pt idx="145">
                  <c:v>3.62373</c:v>
                </c:pt>
                <c:pt idx="146">
                  <c:v>3.62763</c:v>
                </c:pt>
                <c:pt idx="147">
                  <c:v>3.6278</c:v>
                </c:pt>
                <c:pt idx="148">
                  <c:v>3.62414</c:v>
                </c:pt>
                <c:pt idx="149">
                  <c:v>3.61902</c:v>
                </c:pt>
                <c:pt idx="150">
                  <c:v>3.61925</c:v>
                </c:pt>
                <c:pt idx="151">
                  <c:v>3.62355</c:v>
                </c:pt>
                <c:pt idx="152">
                  <c:v>3.62548</c:v>
                </c:pt>
                <c:pt idx="153">
                  <c:v>3.62253</c:v>
                </c:pt>
                <c:pt idx="154">
                  <c:v>3.61878</c:v>
                </c:pt>
                <c:pt idx="155">
                  <c:v>3.61799</c:v>
                </c:pt>
                <c:pt idx="156">
                  <c:v>3.6218</c:v>
                </c:pt>
                <c:pt idx="157">
                  <c:v>3.62534</c:v>
                </c:pt>
                <c:pt idx="158">
                  <c:v>3.62386</c:v>
                </c:pt>
                <c:pt idx="159">
                  <c:v>3.62494</c:v>
                </c:pt>
                <c:pt idx="160">
                  <c:v>3.62636</c:v>
                </c:pt>
                <c:pt idx="161">
                  <c:v>3.63017</c:v>
                </c:pt>
                <c:pt idx="162">
                  <c:v>3.63544</c:v>
                </c:pt>
                <c:pt idx="163">
                  <c:v>3.63799</c:v>
                </c:pt>
                <c:pt idx="164">
                  <c:v>3.63976</c:v>
                </c:pt>
                <c:pt idx="165">
                  <c:v>3.64454</c:v>
                </c:pt>
                <c:pt idx="166">
                  <c:v>3.64638</c:v>
                </c:pt>
                <c:pt idx="167">
                  <c:v>3.63787</c:v>
                </c:pt>
                <c:pt idx="168">
                  <c:v>3.63266</c:v>
                </c:pt>
                <c:pt idx="169">
                  <c:v>3.62367</c:v>
                </c:pt>
                <c:pt idx="170">
                  <c:v>3.62172</c:v>
                </c:pt>
                <c:pt idx="171">
                  <c:v>3.62497</c:v>
                </c:pt>
                <c:pt idx="172">
                  <c:v>3.62706</c:v>
                </c:pt>
                <c:pt idx="173">
                  <c:v>3.62469</c:v>
                </c:pt>
                <c:pt idx="174">
                  <c:v>3.62001</c:v>
                </c:pt>
                <c:pt idx="175">
                  <c:v>3.61439</c:v>
                </c:pt>
                <c:pt idx="176">
                  <c:v>3.61892</c:v>
                </c:pt>
                <c:pt idx="177">
                  <c:v>3.62682</c:v>
                </c:pt>
                <c:pt idx="178">
                  <c:v>3.62493</c:v>
                </c:pt>
                <c:pt idx="179">
                  <c:v>3.62348</c:v>
                </c:pt>
              </c:numCache>
            </c:numRef>
          </c:val>
          <c:smooth val="0"/>
        </c:ser>
        <c:ser>
          <c:idx val="2"/>
          <c:order val="2"/>
          <c:tx>
            <c:strRef>
              <c:f>Sheet1!$D$1</c:f>
              <c:strCache>
                <c:ptCount val="1"/>
                <c:pt idx="0">
                  <c:v>Target 2.7 AU</c:v>
                </c:pt>
              </c:strCache>
            </c:strRef>
          </c:tx>
          <c:spPr>
            <a:solidFill>
              <a:srgbClr val="F2A541"/>
            </a:solidFill>
            <a:ln w="28575" cap="flat">
              <a:solidFill>
                <a:srgbClr val="F2A541"/>
              </a:solidFill>
              <a:prstDash val="solid"/>
              <a:round/>
            </a:ln>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c:symbol val="none"/>
            <c:size val="6"/>
            <c:spPr>
              <a:solidFill>
                <a:srgbClr val="F2A541"/>
              </a:solidFill>
              <a:ln w="9525" cap="flat">
                <a:solidFill>
                  <a:srgbClr val="F2A541"/>
                </a:solidFill>
                <a:prstDash val="solid"/>
                <a:round/>
              </a:ln>
              <a:effectLst/>
            </c:spPr>
          </c:marker>
          <c:cat>
            <c:multiLvlStrRef>
              <c:f>Sheet1!$A$2:$A$181</c:f>
              <c:multiLvlStrCache>
                <c:ptCount val="180"/>
                <c:lvl>
                  <c:pt idx="0">
                    <c:v>0</c:v>
                  </c:pt>
                  <c:pt idx="1">
                    <c:v>100</c:v>
                  </c:pt>
                  <c:pt idx="2">
                    <c:v>100</c:v>
                  </c:pt>
                  <c:pt idx="3">
                    <c:v>200</c:v>
                  </c:pt>
                  <c:pt idx="4">
                    <c:v>200</c:v>
                  </c:pt>
                  <c:pt idx="5">
                    <c:v>300</c:v>
                  </c:pt>
                  <c:pt idx="6">
                    <c:v>300</c:v>
                  </c:pt>
                  <c:pt idx="7">
                    <c:v>400</c:v>
                  </c:pt>
                  <c:pt idx="8">
                    <c:v>400</c:v>
                  </c:pt>
                  <c:pt idx="9">
                    <c:v>500</c:v>
                  </c:pt>
                  <c:pt idx="10">
                    <c:v>500</c:v>
                  </c:pt>
                  <c:pt idx="11">
                    <c:v>600</c:v>
                  </c:pt>
                  <c:pt idx="12">
                    <c:v>600</c:v>
                  </c:pt>
                  <c:pt idx="13">
                    <c:v>700</c:v>
                  </c:pt>
                  <c:pt idx="14">
                    <c:v>700</c:v>
                  </c:pt>
                  <c:pt idx="15">
                    <c:v>700</c:v>
                  </c:pt>
                  <c:pt idx="16">
                    <c:v>800</c:v>
                  </c:pt>
                  <c:pt idx="17">
                    <c:v>900</c:v>
                  </c:pt>
                  <c:pt idx="18">
                    <c:v>900</c:v>
                  </c:pt>
                  <c:pt idx="19">
                    <c:v>1,000</c:v>
                  </c:pt>
                  <c:pt idx="20">
                    <c:v>1,000</c:v>
                  </c:pt>
                  <c:pt idx="21">
                    <c:v>1,100</c:v>
                  </c:pt>
                  <c:pt idx="22">
                    <c:v>1,100</c:v>
                  </c:pt>
                  <c:pt idx="23">
                    <c:v>1,100</c:v>
                  </c:pt>
                  <c:pt idx="24">
                    <c:v>1,200</c:v>
                  </c:pt>
                  <c:pt idx="25">
                    <c:v>1,200</c:v>
                  </c:pt>
                  <c:pt idx="26">
                    <c:v>1,300</c:v>
                  </c:pt>
                  <c:pt idx="27">
                    <c:v>1,400</c:v>
                  </c:pt>
                  <c:pt idx="28">
                    <c:v>1,400</c:v>
                  </c:pt>
                  <c:pt idx="29">
                    <c:v>1,500</c:v>
                  </c:pt>
                  <c:pt idx="30">
                    <c:v>1,500</c:v>
                  </c:pt>
                  <c:pt idx="31">
                    <c:v>1,500</c:v>
                  </c:pt>
                  <c:pt idx="32">
                    <c:v>1,600</c:v>
                  </c:pt>
                  <c:pt idx="33">
                    <c:v>1,600</c:v>
                  </c:pt>
                  <c:pt idx="34">
                    <c:v>1,700</c:v>
                  </c:pt>
                  <c:pt idx="35">
                    <c:v>1,700</c:v>
                  </c:pt>
                  <c:pt idx="36">
                    <c:v>1,800</c:v>
                  </c:pt>
                  <c:pt idx="37">
                    <c:v>1,900</c:v>
                  </c:pt>
                  <c:pt idx="38">
                    <c:v>1,900</c:v>
                  </c:pt>
                  <c:pt idx="39">
                    <c:v>1,900</c:v>
                  </c:pt>
                  <c:pt idx="40">
                    <c:v>2,000</c:v>
                  </c:pt>
                  <c:pt idx="41">
                    <c:v>2,000</c:v>
                  </c:pt>
                  <c:pt idx="42">
                    <c:v>2,100</c:v>
                  </c:pt>
                  <c:pt idx="43">
                    <c:v>2,100</c:v>
                  </c:pt>
                  <c:pt idx="44">
                    <c:v>2,200</c:v>
                  </c:pt>
                  <c:pt idx="45">
                    <c:v>2,200</c:v>
                  </c:pt>
                  <c:pt idx="46">
                    <c:v>2,300</c:v>
                  </c:pt>
                  <c:pt idx="47">
                    <c:v>2,300</c:v>
                  </c:pt>
                  <c:pt idx="48">
                    <c:v>2,400</c:v>
                  </c:pt>
                  <c:pt idx="49">
                    <c:v>2,400</c:v>
                  </c:pt>
                  <c:pt idx="50">
                    <c:v>2,500</c:v>
                  </c:pt>
                  <c:pt idx="51">
                    <c:v>2,500</c:v>
                  </c:pt>
                  <c:pt idx="52">
                    <c:v>2,600</c:v>
                  </c:pt>
                  <c:pt idx="53">
                    <c:v>2,600</c:v>
                  </c:pt>
                  <c:pt idx="54">
                    <c:v>2,700</c:v>
                  </c:pt>
                  <c:pt idx="55">
                    <c:v>2,700</c:v>
                  </c:pt>
                  <c:pt idx="56">
                    <c:v>2,800</c:v>
                  </c:pt>
                  <c:pt idx="57">
                    <c:v>2,800</c:v>
                  </c:pt>
                  <c:pt idx="58">
                    <c:v>2,900</c:v>
                  </c:pt>
                  <c:pt idx="59">
                    <c:v>2,900</c:v>
                  </c:pt>
                  <c:pt idx="60">
                    <c:v>3,000</c:v>
                  </c:pt>
                  <c:pt idx="61">
                    <c:v>3,000</c:v>
                  </c:pt>
                  <c:pt idx="62">
                    <c:v>3,100</c:v>
                  </c:pt>
                  <c:pt idx="63">
                    <c:v>3,100</c:v>
                  </c:pt>
                  <c:pt idx="64">
                    <c:v>3,200</c:v>
                  </c:pt>
                  <c:pt idx="65">
                    <c:v>3,200</c:v>
                  </c:pt>
                  <c:pt idx="66">
                    <c:v>3,300</c:v>
                  </c:pt>
                  <c:pt idx="67">
                    <c:v>3,300</c:v>
                  </c:pt>
                  <c:pt idx="68">
                    <c:v>3,400</c:v>
                  </c:pt>
                  <c:pt idx="69">
                    <c:v>3,400</c:v>
                  </c:pt>
                  <c:pt idx="70">
                    <c:v>3,500</c:v>
                  </c:pt>
                  <c:pt idx="71">
                    <c:v>3,500</c:v>
                  </c:pt>
                  <c:pt idx="72">
                    <c:v>3,600</c:v>
                  </c:pt>
                  <c:pt idx="73">
                    <c:v>3,600</c:v>
                  </c:pt>
                  <c:pt idx="74">
                    <c:v>3,700</c:v>
                  </c:pt>
                  <c:pt idx="75">
                    <c:v>3,700</c:v>
                  </c:pt>
                  <c:pt idx="76">
                    <c:v>3,800</c:v>
                  </c:pt>
                  <c:pt idx="77">
                    <c:v>3,800</c:v>
                  </c:pt>
                  <c:pt idx="78">
                    <c:v>3,900</c:v>
                  </c:pt>
                  <c:pt idx="79">
                    <c:v>3,900</c:v>
                  </c:pt>
                  <c:pt idx="80">
                    <c:v>4,000</c:v>
                  </c:pt>
                  <c:pt idx="81">
                    <c:v>4,000</c:v>
                  </c:pt>
                  <c:pt idx="82">
                    <c:v>4,100</c:v>
                  </c:pt>
                  <c:pt idx="83">
                    <c:v>4,100</c:v>
                  </c:pt>
                  <c:pt idx="84">
                    <c:v>4,200</c:v>
                  </c:pt>
                  <c:pt idx="85">
                    <c:v>4,200</c:v>
                  </c:pt>
                  <c:pt idx="86">
                    <c:v>4,300</c:v>
                  </c:pt>
                  <c:pt idx="87">
                    <c:v>4,300</c:v>
                  </c:pt>
                  <c:pt idx="88">
                    <c:v>4,400</c:v>
                  </c:pt>
                  <c:pt idx="89">
                    <c:v>4,400</c:v>
                  </c:pt>
                  <c:pt idx="90">
                    <c:v>4,500</c:v>
                  </c:pt>
                  <c:pt idx="91">
                    <c:v>4,500</c:v>
                  </c:pt>
                  <c:pt idx="92">
                    <c:v>4,600</c:v>
                  </c:pt>
                  <c:pt idx="93">
                    <c:v>4,600</c:v>
                  </c:pt>
                  <c:pt idx="94">
                    <c:v>4,700</c:v>
                  </c:pt>
                  <c:pt idx="95">
                    <c:v>4,700</c:v>
                  </c:pt>
                  <c:pt idx="96">
                    <c:v>4,800</c:v>
                  </c:pt>
                  <c:pt idx="97">
                    <c:v>4,800</c:v>
                  </c:pt>
                  <c:pt idx="98">
                    <c:v>4,900</c:v>
                  </c:pt>
                  <c:pt idx="99">
                    <c:v>4,900</c:v>
                  </c:pt>
                  <c:pt idx="100">
                    <c:v>5,000</c:v>
                  </c:pt>
                  <c:pt idx="101">
                    <c:v>5,000</c:v>
                  </c:pt>
                  <c:pt idx="102">
                    <c:v>5,100</c:v>
                  </c:pt>
                  <c:pt idx="103">
                    <c:v>5,100</c:v>
                  </c:pt>
                  <c:pt idx="104">
                    <c:v>5,200</c:v>
                  </c:pt>
                  <c:pt idx="105">
                    <c:v>5,200</c:v>
                  </c:pt>
                  <c:pt idx="106">
                    <c:v>5,300</c:v>
                  </c:pt>
                  <c:pt idx="107">
                    <c:v>5,300</c:v>
                  </c:pt>
                  <c:pt idx="108">
                    <c:v>5,400</c:v>
                  </c:pt>
                  <c:pt idx="109">
                    <c:v>5,400</c:v>
                  </c:pt>
                  <c:pt idx="110">
                    <c:v>5,500</c:v>
                  </c:pt>
                  <c:pt idx="111">
                    <c:v>5,500</c:v>
                  </c:pt>
                  <c:pt idx="112">
                    <c:v>5,600</c:v>
                  </c:pt>
                  <c:pt idx="113">
                    <c:v>5,600</c:v>
                  </c:pt>
                  <c:pt idx="114">
                    <c:v>5,700</c:v>
                  </c:pt>
                  <c:pt idx="115">
                    <c:v>5,700</c:v>
                  </c:pt>
                  <c:pt idx="116">
                    <c:v>5,800</c:v>
                  </c:pt>
                  <c:pt idx="117">
                    <c:v>5,800</c:v>
                  </c:pt>
                  <c:pt idx="118">
                    <c:v>5,900</c:v>
                  </c:pt>
                  <c:pt idx="119">
                    <c:v>5,900</c:v>
                  </c:pt>
                  <c:pt idx="120">
                    <c:v>6,000</c:v>
                  </c:pt>
                  <c:pt idx="121">
                    <c:v>6,000</c:v>
                  </c:pt>
                  <c:pt idx="122">
                    <c:v>6,100</c:v>
                  </c:pt>
                  <c:pt idx="123">
                    <c:v>6,100</c:v>
                  </c:pt>
                  <c:pt idx="124">
                    <c:v>6,200</c:v>
                  </c:pt>
                  <c:pt idx="125">
                    <c:v>6,200</c:v>
                  </c:pt>
                  <c:pt idx="126">
                    <c:v>6,300</c:v>
                  </c:pt>
                  <c:pt idx="127">
                    <c:v>6,300</c:v>
                  </c:pt>
                  <c:pt idx="128">
                    <c:v>6,400</c:v>
                  </c:pt>
                  <c:pt idx="129">
                    <c:v>6,400</c:v>
                  </c:pt>
                  <c:pt idx="130">
                    <c:v>6,500</c:v>
                  </c:pt>
                  <c:pt idx="131">
                    <c:v>6,500</c:v>
                  </c:pt>
                  <c:pt idx="132">
                    <c:v>6,600</c:v>
                  </c:pt>
                  <c:pt idx="133">
                    <c:v>6,600</c:v>
                  </c:pt>
                  <c:pt idx="134">
                    <c:v>6,700</c:v>
                  </c:pt>
                  <c:pt idx="135">
                    <c:v>6,700</c:v>
                  </c:pt>
                  <c:pt idx="136">
                    <c:v>6,800</c:v>
                  </c:pt>
                  <c:pt idx="137">
                    <c:v>6,800</c:v>
                  </c:pt>
                  <c:pt idx="138">
                    <c:v>6,900</c:v>
                  </c:pt>
                  <c:pt idx="139">
                    <c:v>6,900</c:v>
                  </c:pt>
                  <c:pt idx="140">
                    <c:v>7,000</c:v>
                  </c:pt>
                  <c:pt idx="141">
                    <c:v>7,000</c:v>
                  </c:pt>
                  <c:pt idx="142">
                    <c:v>7,100</c:v>
                  </c:pt>
                  <c:pt idx="143">
                    <c:v>7,100</c:v>
                  </c:pt>
                  <c:pt idx="144">
                    <c:v>7,200</c:v>
                  </c:pt>
                  <c:pt idx="145">
                    <c:v>7,200</c:v>
                  </c:pt>
                  <c:pt idx="146">
                    <c:v>7,300</c:v>
                  </c:pt>
                  <c:pt idx="147">
                    <c:v>7,300</c:v>
                  </c:pt>
                  <c:pt idx="148">
                    <c:v>7,400</c:v>
                  </c:pt>
                  <c:pt idx="149">
                    <c:v>7,400</c:v>
                  </c:pt>
                  <c:pt idx="150">
                    <c:v>7,500</c:v>
                  </c:pt>
                  <c:pt idx="151">
                    <c:v>7,500</c:v>
                  </c:pt>
                  <c:pt idx="152">
                    <c:v>7,600</c:v>
                  </c:pt>
                  <c:pt idx="153">
                    <c:v>7,600</c:v>
                  </c:pt>
                  <c:pt idx="154">
                    <c:v>7,700</c:v>
                  </c:pt>
                  <c:pt idx="155">
                    <c:v>7,700</c:v>
                  </c:pt>
                  <c:pt idx="156">
                    <c:v>7,800</c:v>
                  </c:pt>
                  <c:pt idx="157">
                    <c:v>7,800</c:v>
                  </c:pt>
                  <c:pt idx="158">
                    <c:v>7,900</c:v>
                  </c:pt>
                  <c:pt idx="159">
                    <c:v>7,900</c:v>
                  </c:pt>
                  <c:pt idx="160">
                    <c:v>8,000</c:v>
                  </c:pt>
                  <c:pt idx="161">
                    <c:v>8,000</c:v>
                  </c:pt>
                  <c:pt idx="162">
                    <c:v>8,100</c:v>
                  </c:pt>
                  <c:pt idx="163">
                    <c:v>8,100</c:v>
                  </c:pt>
                  <c:pt idx="164">
                    <c:v>8,200</c:v>
                  </c:pt>
                  <c:pt idx="165">
                    <c:v>8,200</c:v>
                  </c:pt>
                  <c:pt idx="166">
                    <c:v>8,300</c:v>
                  </c:pt>
                  <c:pt idx="167">
                    <c:v>8,300</c:v>
                  </c:pt>
                  <c:pt idx="168">
                    <c:v>8,400</c:v>
                  </c:pt>
                  <c:pt idx="169">
                    <c:v>8,400</c:v>
                  </c:pt>
                  <c:pt idx="170">
                    <c:v>8,500</c:v>
                  </c:pt>
                  <c:pt idx="171">
                    <c:v>8,500</c:v>
                  </c:pt>
                  <c:pt idx="172">
                    <c:v>8,600</c:v>
                  </c:pt>
                  <c:pt idx="173">
                    <c:v>8,600</c:v>
                  </c:pt>
                  <c:pt idx="174">
                    <c:v>8,700</c:v>
                  </c:pt>
                  <c:pt idx="175">
                    <c:v>8,700</c:v>
                  </c:pt>
                  <c:pt idx="176">
                    <c:v>8,800</c:v>
                  </c:pt>
                  <c:pt idx="177">
                    <c:v>8,800</c:v>
                  </c:pt>
                  <c:pt idx="178">
                    <c:v>8,900</c:v>
                  </c:pt>
                  <c:pt idx="179">
                    <c:v>8,900</c:v>
                  </c:pt>
                </c:lvl>
              </c:multiLvlStrCache>
            </c:multiLvlStrRef>
          </c:cat>
          <c:val>
            <c:numRef>
              <c:f>Sheet1!$D$2:$D$181</c:f>
              <c:numCache>
                <c:formatCode>General</c:formatCode>
                <c:ptCount val="180"/>
                <c:pt idx="0">
                  <c:v>2.7</c:v>
                </c:pt>
                <c:pt idx="1">
                  <c:v>2.7</c:v>
                </c:pt>
                <c:pt idx="2">
                  <c:v>2.7</c:v>
                </c:pt>
                <c:pt idx="3">
                  <c:v>2.7</c:v>
                </c:pt>
                <c:pt idx="4">
                  <c:v>2.7</c:v>
                </c:pt>
                <c:pt idx="5">
                  <c:v>2.7</c:v>
                </c:pt>
                <c:pt idx="6">
                  <c:v>2.7</c:v>
                </c:pt>
                <c:pt idx="7">
                  <c:v>2.7</c:v>
                </c:pt>
                <c:pt idx="8">
                  <c:v>2.7</c:v>
                </c:pt>
                <c:pt idx="9">
                  <c:v>2.7</c:v>
                </c:pt>
                <c:pt idx="10">
                  <c:v>2.7</c:v>
                </c:pt>
                <c:pt idx="11">
                  <c:v>2.7</c:v>
                </c:pt>
                <c:pt idx="12">
                  <c:v>2.7</c:v>
                </c:pt>
                <c:pt idx="13">
                  <c:v>2.7</c:v>
                </c:pt>
                <c:pt idx="14">
                  <c:v>2.7</c:v>
                </c:pt>
                <c:pt idx="15">
                  <c:v>2.7</c:v>
                </c:pt>
                <c:pt idx="16">
                  <c:v>2.7</c:v>
                </c:pt>
                <c:pt idx="17">
                  <c:v>2.7</c:v>
                </c:pt>
                <c:pt idx="18">
                  <c:v>2.7</c:v>
                </c:pt>
                <c:pt idx="19">
                  <c:v>2.7</c:v>
                </c:pt>
                <c:pt idx="20">
                  <c:v>2.7</c:v>
                </c:pt>
                <c:pt idx="21">
                  <c:v>2.7</c:v>
                </c:pt>
                <c:pt idx="22">
                  <c:v>2.7</c:v>
                </c:pt>
                <c:pt idx="23">
                  <c:v>2.7</c:v>
                </c:pt>
                <c:pt idx="24">
                  <c:v>2.7</c:v>
                </c:pt>
                <c:pt idx="25">
                  <c:v>2.7</c:v>
                </c:pt>
                <c:pt idx="26">
                  <c:v>2.7</c:v>
                </c:pt>
                <c:pt idx="27">
                  <c:v>2.7</c:v>
                </c:pt>
                <c:pt idx="28">
                  <c:v>2.7</c:v>
                </c:pt>
                <c:pt idx="29">
                  <c:v>2.7</c:v>
                </c:pt>
                <c:pt idx="30">
                  <c:v>2.7</c:v>
                </c:pt>
                <c:pt idx="31">
                  <c:v>2.7</c:v>
                </c:pt>
                <c:pt idx="32">
                  <c:v>2.7</c:v>
                </c:pt>
                <c:pt idx="33">
                  <c:v>2.7</c:v>
                </c:pt>
                <c:pt idx="34">
                  <c:v>2.7</c:v>
                </c:pt>
                <c:pt idx="35">
                  <c:v>2.7</c:v>
                </c:pt>
                <c:pt idx="36">
                  <c:v>2.7</c:v>
                </c:pt>
                <c:pt idx="37">
                  <c:v>2.7</c:v>
                </c:pt>
                <c:pt idx="38">
                  <c:v>2.7</c:v>
                </c:pt>
                <c:pt idx="39">
                  <c:v>2.7</c:v>
                </c:pt>
                <c:pt idx="40">
                  <c:v>2.7</c:v>
                </c:pt>
                <c:pt idx="41">
                  <c:v>2.7</c:v>
                </c:pt>
                <c:pt idx="42">
                  <c:v>2.7</c:v>
                </c:pt>
                <c:pt idx="43">
                  <c:v>2.7</c:v>
                </c:pt>
                <c:pt idx="44">
                  <c:v>2.7</c:v>
                </c:pt>
                <c:pt idx="45">
                  <c:v>2.7</c:v>
                </c:pt>
                <c:pt idx="46">
                  <c:v>2.7</c:v>
                </c:pt>
                <c:pt idx="47">
                  <c:v>2.7</c:v>
                </c:pt>
                <c:pt idx="48">
                  <c:v>2.7</c:v>
                </c:pt>
                <c:pt idx="49">
                  <c:v>2.7</c:v>
                </c:pt>
                <c:pt idx="50">
                  <c:v>2.7</c:v>
                </c:pt>
                <c:pt idx="51">
                  <c:v>2.7</c:v>
                </c:pt>
                <c:pt idx="52">
                  <c:v>2.7</c:v>
                </c:pt>
                <c:pt idx="53">
                  <c:v>2.7</c:v>
                </c:pt>
                <c:pt idx="54">
                  <c:v>2.7</c:v>
                </c:pt>
                <c:pt idx="55">
                  <c:v>2.7</c:v>
                </c:pt>
                <c:pt idx="56">
                  <c:v>2.7</c:v>
                </c:pt>
                <c:pt idx="57">
                  <c:v>2.7</c:v>
                </c:pt>
                <c:pt idx="58">
                  <c:v>2.7</c:v>
                </c:pt>
                <c:pt idx="59">
                  <c:v>2.7</c:v>
                </c:pt>
                <c:pt idx="60">
                  <c:v>2.7</c:v>
                </c:pt>
                <c:pt idx="61">
                  <c:v>2.7</c:v>
                </c:pt>
                <c:pt idx="62">
                  <c:v>2.7</c:v>
                </c:pt>
                <c:pt idx="63">
                  <c:v>2.7</c:v>
                </c:pt>
                <c:pt idx="64">
                  <c:v>2.7</c:v>
                </c:pt>
                <c:pt idx="65">
                  <c:v>2.7</c:v>
                </c:pt>
                <c:pt idx="66">
                  <c:v>2.7</c:v>
                </c:pt>
                <c:pt idx="67">
                  <c:v>2.7</c:v>
                </c:pt>
                <c:pt idx="68">
                  <c:v>2.7</c:v>
                </c:pt>
                <c:pt idx="69">
                  <c:v>2.7</c:v>
                </c:pt>
                <c:pt idx="70">
                  <c:v>2.7</c:v>
                </c:pt>
                <c:pt idx="71">
                  <c:v>2.7</c:v>
                </c:pt>
                <c:pt idx="72">
                  <c:v>2.7</c:v>
                </c:pt>
                <c:pt idx="73">
                  <c:v>2.7</c:v>
                </c:pt>
                <c:pt idx="74">
                  <c:v>2.7</c:v>
                </c:pt>
                <c:pt idx="75">
                  <c:v>2.7</c:v>
                </c:pt>
                <c:pt idx="76">
                  <c:v>2.7</c:v>
                </c:pt>
                <c:pt idx="77">
                  <c:v>2.7</c:v>
                </c:pt>
                <c:pt idx="78">
                  <c:v>2.7</c:v>
                </c:pt>
                <c:pt idx="79">
                  <c:v>2.7</c:v>
                </c:pt>
                <c:pt idx="80">
                  <c:v>2.7</c:v>
                </c:pt>
                <c:pt idx="81">
                  <c:v>2.7</c:v>
                </c:pt>
                <c:pt idx="82">
                  <c:v>2.7</c:v>
                </c:pt>
                <c:pt idx="83">
                  <c:v>2.7</c:v>
                </c:pt>
                <c:pt idx="84">
                  <c:v>2.7</c:v>
                </c:pt>
                <c:pt idx="85">
                  <c:v>2.7</c:v>
                </c:pt>
                <c:pt idx="86">
                  <c:v>2.7</c:v>
                </c:pt>
                <c:pt idx="87">
                  <c:v>2.7</c:v>
                </c:pt>
                <c:pt idx="88">
                  <c:v>2.7</c:v>
                </c:pt>
                <c:pt idx="89">
                  <c:v>2.7</c:v>
                </c:pt>
                <c:pt idx="90">
                  <c:v>2.7</c:v>
                </c:pt>
                <c:pt idx="91">
                  <c:v>2.7</c:v>
                </c:pt>
                <c:pt idx="92">
                  <c:v>2.7</c:v>
                </c:pt>
                <c:pt idx="93">
                  <c:v>2.7</c:v>
                </c:pt>
                <c:pt idx="94">
                  <c:v>2.7</c:v>
                </c:pt>
                <c:pt idx="95">
                  <c:v>2.7</c:v>
                </c:pt>
                <c:pt idx="96">
                  <c:v>2.7</c:v>
                </c:pt>
                <c:pt idx="97">
                  <c:v>2.7</c:v>
                </c:pt>
                <c:pt idx="98">
                  <c:v>2.7</c:v>
                </c:pt>
                <c:pt idx="99">
                  <c:v>2.7</c:v>
                </c:pt>
                <c:pt idx="100">
                  <c:v>2.7</c:v>
                </c:pt>
                <c:pt idx="101">
                  <c:v>2.7</c:v>
                </c:pt>
                <c:pt idx="102">
                  <c:v>2.7</c:v>
                </c:pt>
                <c:pt idx="103">
                  <c:v>2.7</c:v>
                </c:pt>
                <c:pt idx="104">
                  <c:v>2.7</c:v>
                </c:pt>
                <c:pt idx="105">
                  <c:v>2.7</c:v>
                </c:pt>
                <c:pt idx="106">
                  <c:v>2.7</c:v>
                </c:pt>
                <c:pt idx="107">
                  <c:v>2.7</c:v>
                </c:pt>
                <c:pt idx="108">
                  <c:v>2.7</c:v>
                </c:pt>
                <c:pt idx="109">
                  <c:v>2.7</c:v>
                </c:pt>
                <c:pt idx="110">
                  <c:v>2.7</c:v>
                </c:pt>
                <c:pt idx="111">
                  <c:v>2.7</c:v>
                </c:pt>
                <c:pt idx="112">
                  <c:v>2.7</c:v>
                </c:pt>
                <c:pt idx="113">
                  <c:v>2.7</c:v>
                </c:pt>
                <c:pt idx="114">
                  <c:v>2.7</c:v>
                </c:pt>
                <c:pt idx="115">
                  <c:v>2.7</c:v>
                </c:pt>
                <c:pt idx="116">
                  <c:v>2.7</c:v>
                </c:pt>
                <c:pt idx="117">
                  <c:v>2.7</c:v>
                </c:pt>
                <c:pt idx="118">
                  <c:v>2.7</c:v>
                </c:pt>
                <c:pt idx="119">
                  <c:v>2.7</c:v>
                </c:pt>
                <c:pt idx="120">
                  <c:v>2.7</c:v>
                </c:pt>
                <c:pt idx="121">
                  <c:v>2.7</c:v>
                </c:pt>
                <c:pt idx="122">
                  <c:v>2.7</c:v>
                </c:pt>
                <c:pt idx="123">
                  <c:v>2.7</c:v>
                </c:pt>
                <c:pt idx="124">
                  <c:v>2.7</c:v>
                </c:pt>
                <c:pt idx="125">
                  <c:v>2.7</c:v>
                </c:pt>
                <c:pt idx="126">
                  <c:v>2.7</c:v>
                </c:pt>
                <c:pt idx="127">
                  <c:v>2.7</c:v>
                </c:pt>
                <c:pt idx="128">
                  <c:v>2.7</c:v>
                </c:pt>
                <c:pt idx="129">
                  <c:v>2.7</c:v>
                </c:pt>
                <c:pt idx="130">
                  <c:v>2.7</c:v>
                </c:pt>
                <c:pt idx="131">
                  <c:v>2.7</c:v>
                </c:pt>
                <c:pt idx="132">
                  <c:v>2.7</c:v>
                </c:pt>
                <c:pt idx="133">
                  <c:v>2.7</c:v>
                </c:pt>
                <c:pt idx="134">
                  <c:v>2.7</c:v>
                </c:pt>
                <c:pt idx="135">
                  <c:v>2.7</c:v>
                </c:pt>
                <c:pt idx="136">
                  <c:v>2.7</c:v>
                </c:pt>
                <c:pt idx="137">
                  <c:v>2.7</c:v>
                </c:pt>
                <c:pt idx="138">
                  <c:v>2.7</c:v>
                </c:pt>
                <c:pt idx="139">
                  <c:v>2.7</c:v>
                </c:pt>
                <c:pt idx="140">
                  <c:v>2.7</c:v>
                </c:pt>
                <c:pt idx="141">
                  <c:v>2.7</c:v>
                </c:pt>
                <c:pt idx="142">
                  <c:v>2.7</c:v>
                </c:pt>
                <c:pt idx="143">
                  <c:v>2.7</c:v>
                </c:pt>
                <c:pt idx="144">
                  <c:v>2.7</c:v>
                </c:pt>
                <c:pt idx="145">
                  <c:v>2.7</c:v>
                </c:pt>
                <c:pt idx="146">
                  <c:v>2.7</c:v>
                </c:pt>
                <c:pt idx="147">
                  <c:v>2.7</c:v>
                </c:pt>
                <c:pt idx="148">
                  <c:v>2.7</c:v>
                </c:pt>
                <c:pt idx="149">
                  <c:v>2.7</c:v>
                </c:pt>
                <c:pt idx="150">
                  <c:v>2.7</c:v>
                </c:pt>
                <c:pt idx="151">
                  <c:v>2.7</c:v>
                </c:pt>
                <c:pt idx="152">
                  <c:v>2.7</c:v>
                </c:pt>
                <c:pt idx="153">
                  <c:v>2.7</c:v>
                </c:pt>
                <c:pt idx="154">
                  <c:v>2.7</c:v>
                </c:pt>
                <c:pt idx="155">
                  <c:v>2.7</c:v>
                </c:pt>
                <c:pt idx="156">
                  <c:v>2.7</c:v>
                </c:pt>
                <c:pt idx="157">
                  <c:v>2.7</c:v>
                </c:pt>
                <c:pt idx="158">
                  <c:v>2.7</c:v>
                </c:pt>
                <c:pt idx="159">
                  <c:v>2.7</c:v>
                </c:pt>
                <c:pt idx="160">
                  <c:v>2.7</c:v>
                </c:pt>
                <c:pt idx="161">
                  <c:v>2.7</c:v>
                </c:pt>
                <c:pt idx="162">
                  <c:v>2.7</c:v>
                </c:pt>
                <c:pt idx="163">
                  <c:v>2.7</c:v>
                </c:pt>
                <c:pt idx="164">
                  <c:v>2.7</c:v>
                </c:pt>
                <c:pt idx="165">
                  <c:v>2.7</c:v>
                </c:pt>
                <c:pt idx="166">
                  <c:v>2.7</c:v>
                </c:pt>
                <c:pt idx="167">
                  <c:v>2.7</c:v>
                </c:pt>
                <c:pt idx="168">
                  <c:v>2.7</c:v>
                </c:pt>
                <c:pt idx="169">
                  <c:v>2.7</c:v>
                </c:pt>
                <c:pt idx="170">
                  <c:v>2.7</c:v>
                </c:pt>
                <c:pt idx="171">
                  <c:v>2.7</c:v>
                </c:pt>
                <c:pt idx="172">
                  <c:v>2.7</c:v>
                </c:pt>
                <c:pt idx="173">
                  <c:v>2.7</c:v>
                </c:pt>
                <c:pt idx="174">
                  <c:v>2.7</c:v>
                </c:pt>
                <c:pt idx="175">
                  <c:v>2.7</c:v>
                </c:pt>
                <c:pt idx="176">
                  <c:v>2.7</c:v>
                </c:pt>
                <c:pt idx="177">
                  <c:v>2.7</c:v>
                </c:pt>
                <c:pt idx="178">
                  <c:v>2.7</c:v>
                </c:pt>
                <c:pt idx="179">
                  <c:v>2.7</c:v>
                </c:pt>
              </c:numCache>
            </c:numRef>
          </c:val>
          <c:smooth val="0"/>
        </c:ser>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CE6"/>
            </a:solidFill>
            <a:prstDash val="solid"/>
            <a:round/>
          </a:ln>
        </c:spPr>
        <c:txPr>
          <a:bodyPr/>
          <a:lstStyle/>
          <a:p>
            <a:pPr>
              <a:defRPr sz="1000" b="0" i="0" u="none" strike="noStrike">
                <a:solidFill>
                  <a:srgbClr val="566173"/>
                </a:solidFill>
                <a:latin typeface="Calibri"/>
              </a:defRPr>
            </a:pPr>
            <a:endParaRPr lang="en-US"/>
          </a:p>
        </c:txPr>
        <c:crossAx val="2094734552"/>
        <c:crosses val="autoZero"/>
        <c:auto val="1"/>
        <c:lblAlgn val="ctr"/>
        <c:noMultiLvlLbl val="1"/>
        <c:tickLblSkip val="20"/>
      </c:catAx>
      <c:valAx>
        <c:axId val="2094734552"/>
        <c:scaling>
          <c:orientation val="minMax"/>
          <c:max val="4"/>
          <c:min val="0.5"/>
        </c:scaling>
        <c:delete val="0"/>
        <c:axPos val="l"/>
        <c:majorGridlines>
          <c:spPr>
            <a:ln w="6350" cap="flat">
              <a:solidFill>
                <a:srgbClr val="D5DCE6"/>
              </a:solidFill>
              <a:prstDash val="solid"/>
              <a:round/>
            </a:ln>
          </c:spPr>
        </c:majorGridlines>
        <c:title>
          <c:tx>
            <c:rich>
              <a:bodyPr/>
              <a:lstStyle/>
              <a:p>
                <a:pPr>
                  <a:defRPr sz="1000" b="0" i="0" u="none" strike="noStrike">
                    <a:solidFill>
                      <a:srgbClr val="566173"/>
                    </a:solidFill>
                    <a:latin typeface="Calibri"/>
                  </a:defRPr>
                </a:pPr>
                <a:r>
                  <a:rPr sz="1000" b="0" i="0" u="none" strike="noStrike">
                    <a:solidFill>
                      <a:srgbClr val="566173"/>
                    </a:solidFill>
                    <a:latin typeface="Calibri"/>
                  </a:rPr>
                  <a:t>orbit size (AU)</a:t>
                </a:r>
              </a:p>
            </c:rich>
          </c:tx>
          <c:layout/>
          <c:overlay val="0"/>
        </c:title>
        <c:numFmt formatCode="0.0" sourceLinked="0"/>
        <c:majorTickMark val="out"/>
        <c:minorTickMark val="none"/>
        <c:tickLblPos val="nextTo"/>
        <c:spPr>
          <a:ln w="12700" cap="flat">
            <a:noFill/>
            <a:prstDash val="solid"/>
            <a:round/>
          </a:ln>
        </c:spPr>
        <c:txPr>
          <a:bodyPr/>
          <a:lstStyle/>
          <a:p>
            <a:pPr>
              <a:defRPr sz="1000" b="0" i="0" u="none" strike="noStrike">
                <a:solidFill>
                  <a:srgbClr val="566173"/>
                </a:solidFill>
                <a:latin typeface="Calibri"/>
              </a:defRPr>
            </a:pPr>
            <a:endParaRPr lang="en-US"/>
          </a:p>
        </c:txPr>
        <c:crossAx val="2094734554"/>
        <c:crosses val="autoZero"/>
        <c:crossBetween val="between"/>
        <c:majorUnit val="0.5"/>
      </c:valAx>
      <c:spPr>
        <a:noFill/>
        <a:ln>
          <a:noFill/>
        </a:ln>
        <a:effectLst/>
      </c:spPr>
    </c:plotArea>
    <c:legend>
      <c:legendPos val="b"/>
      <c:overlay val="0"/>
      <c:txPr>
        <a:bodyPr/>
        <a:lstStyle/>
        <a:p>
          <a:pPr>
            <a:defRPr sz="1000">
              <a:solidFill>
                <a:srgbClr val="56617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16"/>
          <c:w val="0.87"/>
          <c:h val="0.66"/>
        </c:manualLayout>
      </c:layout>
      <c:lineChart>
        <c:varyColors val="0"/>
        <c:ser>
          <c:idx val="0"/>
          <c:order val="0"/>
          <c:tx>
            <c:strRef>
              <c:f>Sheet1!$B$1</c:f>
              <c:strCache>
                <c:ptCount val="1"/>
                <c:pt idx="0">
                  <c:v>With the sunlight optics (the run)</c:v>
                </c:pt>
              </c:strCache>
            </c:strRef>
          </c:tx>
          <c:spPr>
            <a:solidFill>
              <a:srgbClr val="2A9D8F"/>
            </a:solidFill>
            <a:ln w="28575" cap="flat">
              <a:solidFill>
                <a:srgbClr val="2A9D8F"/>
              </a:solidFill>
              <a:prstDash val="solid"/>
              <a:round/>
            </a:ln>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c:symbol val="none"/>
            <c:size val="6"/>
            <c:spPr>
              <a:solidFill>
                <a:srgbClr val="2A9D8F"/>
              </a:solidFill>
              <a:ln w="9525" cap="flat">
                <a:solidFill>
                  <a:srgbClr val="2A9D8F"/>
                </a:solidFill>
                <a:prstDash val="solid"/>
                <a:round/>
              </a:ln>
              <a:effectLst/>
            </c:spPr>
          </c:marker>
          <c:cat>
            <c:multiLvlStrRef>
              <c:f>Sheet1!$A$2:$A$181</c:f>
              <c:multiLvlStrCache>
                <c:ptCount val="180"/>
                <c:lvl>
                  <c:pt idx="0">
                    <c:v>0</c:v>
                  </c:pt>
                  <c:pt idx="1">
                    <c:v>100</c:v>
                  </c:pt>
                  <c:pt idx="2">
                    <c:v>100</c:v>
                  </c:pt>
                  <c:pt idx="3">
                    <c:v>200</c:v>
                  </c:pt>
                  <c:pt idx="4">
                    <c:v>200</c:v>
                  </c:pt>
                  <c:pt idx="5">
                    <c:v>300</c:v>
                  </c:pt>
                  <c:pt idx="6">
                    <c:v>300</c:v>
                  </c:pt>
                  <c:pt idx="7">
                    <c:v>400</c:v>
                  </c:pt>
                  <c:pt idx="8">
                    <c:v>400</c:v>
                  </c:pt>
                  <c:pt idx="9">
                    <c:v>500</c:v>
                  </c:pt>
                  <c:pt idx="10">
                    <c:v>500</c:v>
                  </c:pt>
                  <c:pt idx="11">
                    <c:v>600</c:v>
                  </c:pt>
                  <c:pt idx="12">
                    <c:v>600</c:v>
                  </c:pt>
                  <c:pt idx="13">
                    <c:v>700</c:v>
                  </c:pt>
                  <c:pt idx="14">
                    <c:v>700</c:v>
                  </c:pt>
                  <c:pt idx="15">
                    <c:v>700</c:v>
                  </c:pt>
                  <c:pt idx="16">
                    <c:v>800</c:v>
                  </c:pt>
                  <c:pt idx="17">
                    <c:v>900</c:v>
                  </c:pt>
                  <c:pt idx="18">
                    <c:v>900</c:v>
                  </c:pt>
                  <c:pt idx="19">
                    <c:v>1,000</c:v>
                  </c:pt>
                  <c:pt idx="20">
                    <c:v>1,000</c:v>
                  </c:pt>
                  <c:pt idx="21">
                    <c:v>1,100</c:v>
                  </c:pt>
                  <c:pt idx="22">
                    <c:v>1,100</c:v>
                  </c:pt>
                  <c:pt idx="23">
                    <c:v>1,100</c:v>
                  </c:pt>
                  <c:pt idx="24">
                    <c:v>1,200</c:v>
                  </c:pt>
                  <c:pt idx="25">
                    <c:v>1,200</c:v>
                  </c:pt>
                  <c:pt idx="26">
                    <c:v>1,300</c:v>
                  </c:pt>
                  <c:pt idx="27">
                    <c:v>1,400</c:v>
                  </c:pt>
                  <c:pt idx="28">
                    <c:v>1,400</c:v>
                  </c:pt>
                  <c:pt idx="29">
                    <c:v>1,500</c:v>
                  </c:pt>
                  <c:pt idx="30">
                    <c:v>1,500</c:v>
                  </c:pt>
                  <c:pt idx="31">
                    <c:v>1,500</c:v>
                  </c:pt>
                  <c:pt idx="32">
                    <c:v>1,600</c:v>
                  </c:pt>
                  <c:pt idx="33">
                    <c:v>1,600</c:v>
                  </c:pt>
                  <c:pt idx="34">
                    <c:v>1,700</c:v>
                  </c:pt>
                  <c:pt idx="35">
                    <c:v>1,700</c:v>
                  </c:pt>
                  <c:pt idx="36">
                    <c:v>1,800</c:v>
                  </c:pt>
                  <c:pt idx="37">
                    <c:v>1,900</c:v>
                  </c:pt>
                  <c:pt idx="38">
                    <c:v>1,900</c:v>
                  </c:pt>
                  <c:pt idx="39">
                    <c:v>1,900</c:v>
                  </c:pt>
                  <c:pt idx="40">
                    <c:v>2,000</c:v>
                  </c:pt>
                  <c:pt idx="41">
                    <c:v>2,000</c:v>
                  </c:pt>
                  <c:pt idx="42">
                    <c:v>2,100</c:v>
                  </c:pt>
                  <c:pt idx="43">
                    <c:v>2,100</c:v>
                  </c:pt>
                  <c:pt idx="44">
                    <c:v>2,200</c:v>
                  </c:pt>
                  <c:pt idx="45">
                    <c:v>2,200</c:v>
                  </c:pt>
                  <c:pt idx="46">
                    <c:v>2,300</c:v>
                  </c:pt>
                  <c:pt idx="47">
                    <c:v>2,300</c:v>
                  </c:pt>
                  <c:pt idx="48">
                    <c:v>2,400</c:v>
                  </c:pt>
                  <c:pt idx="49">
                    <c:v>2,400</c:v>
                  </c:pt>
                  <c:pt idx="50">
                    <c:v>2,500</c:v>
                  </c:pt>
                  <c:pt idx="51">
                    <c:v>2,500</c:v>
                  </c:pt>
                  <c:pt idx="52">
                    <c:v>2,600</c:v>
                  </c:pt>
                  <c:pt idx="53">
                    <c:v>2,600</c:v>
                  </c:pt>
                  <c:pt idx="54">
                    <c:v>2,700</c:v>
                  </c:pt>
                  <c:pt idx="55">
                    <c:v>2,700</c:v>
                  </c:pt>
                  <c:pt idx="56">
                    <c:v>2,800</c:v>
                  </c:pt>
                  <c:pt idx="57">
                    <c:v>2,800</c:v>
                  </c:pt>
                  <c:pt idx="58">
                    <c:v>2,900</c:v>
                  </c:pt>
                  <c:pt idx="59">
                    <c:v>2,900</c:v>
                  </c:pt>
                  <c:pt idx="60">
                    <c:v>3,000</c:v>
                  </c:pt>
                  <c:pt idx="61">
                    <c:v>3,000</c:v>
                  </c:pt>
                  <c:pt idx="62">
                    <c:v>3,100</c:v>
                  </c:pt>
                  <c:pt idx="63">
                    <c:v>3,100</c:v>
                  </c:pt>
                  <c:pt idx="64">
                    <c:v>3,200</c:v>
                  </c:pt>
                  <c:pt idx="65">
                    <c:v>3,200</c:v>
                  </c:pt>
                  <c:pt idx="66">
                    <c:v>3,300</c:v>
                  </c:pt>
                  <c:pt idx="67">
                    <c:v>3,300</c:v>
                  </c:pt>
                  <c:pt idx="68">
                    <c:v>3,400</c:v>
                  </c:pt>
                  <c:pt idx="69">
                    <c:v>3,400</c:v>
                  </c:pt>
                  <c:pt idx="70">
                    <c:v>3,500</c:v>
                  </c:pt>
                  <c:pt idx="71">
                    <c:v>3,500</c:v>
                  </c:pt>
                  <c:pt idx="72">
                    <c:v>3,600</c:v>
                  </c:pt>
                  <c:pt idx="73">
                    <c:v>3,600</c:v>
                  </c:pt>
                  <c:pt idx="74">
                    <c:v>3,700</c:v>
                  </c:pt>
                  <c:pt idx="75">
                    <c:v>3,700</c:v>
                  </c:pt>
                  <c:pt idx="76">
                    <c:v>3,800</c:v>
                  </c:pt>
                  <c:pt idx="77">
                    <c:v>3,800</c:v>
                  </c:pt>
                  <c:pt idx="78">
                    <c:v>3,900</c:v>
                  </c:pt>
                  <c:pt idx="79">
                    <c:v>3,900</c:v>
                  </c:pt>
                  <c:pt idx="80">
                    <c:v>4,000</c:v>
                  </c:pt>
                  <c:pt idx="81">
                    <c:v>4,000</c:v>
                  </c:pt>
                  <c:pt idx="82">
                    <c:v>4,100</c:v>
                  </c:pt>
                  <c:pt idx="83">
                    <c:v>4,100</c:v>
                  </c:pt>
                  <c:pt idx="84">
                    <c:v>4,200</c:v>
                  </c:pt>
                  <c:pt idx="85">
                    <c:v>4,200</c:v>
                  </c:pt>
                  <c:pt idx="86">
                    <c:v>4,300</c:v>
                  </c:pt>
                  <c:pt idx="87">
                    <c:v>4,300</c:v>
                  </c:pt>
                  <c:pt idx="88">
                    <c:v>4,400</c:v>
                  </c:pt>
                  <c:pt idx="89">
                    <c:v>4,400</c:v>
                  </c:pt>
                  <c:pt idx="90">
                    <c:v>4,500</c:v>
                  </c:pt>
                  <c:pt idx="91">
                    <c:v>4,500</c:v>
                  </c:pt>
                  <c:pt idx="92">
                    <c:v>4,600</c:v>
                  </c:pt>
                  <c:pt idx="93">
                    <c:v>4,600</c:v>
                  </c:pt>
                  <c:pt idx="94">
                    <c:v>4,700</c:v>
                  </c:pt>
                  <c:pt idx="95">
                    <c:v>4,700</c:v>
                  </c:pt>
                  <c:pt idx="96">
                    <c:v>4,800</c:v>
                  </c:pt>
                  <c:pt idx="97">
                    <c:v>4,800</c:v>
                  </c:pt>
                  <c:pt idx="98">
                    <c:v>4,900</c:v>
                  </c:pt>
                  <c:pt idx="99">
                    <c:v>4,900</c:v>
                  </c:pt>
                  <c:pt idx="100">
                    <c:v>5,000</c:v>
                  </c:pt>
                  <c:pt idx="101">
                    <c:v>5,000</c:v>
                  </c:pt>
                  <c:pt idx="102">
                    <c:v>5,100</c:v>
                  </c:pt>
                  <c:pt idx="103">
                    <c:v>5,100</c:v>
                  </c:pt>
                  <c:pt idx="104">
                    <c:v>5,200</c:v>
                  </c:pt>
                  <c:pt idx="105">
                    <c:v>5,200</c:v>
                  </c:pt>
                  <c:pt idx="106">
                    <c:v>5,300</c:v>
                  </c:pt>
                  <c:pt idx="107">
                    <c:v>5,300</c:v>
                  </c:pt>
                  <c:pt idx="108">
                    <c:v>5,400</c:v>
                  </c:pt>
                  <c:pt idx="109">
                    <c:v>5,400</c:v>
                  </c:pt>
                  <c:pt idx="110">
                    <c:v>5,500</c:v>
                  </c:pt>
                  <c:pt idx="111">
                    <c:v>5,500</c:v>
                  </c:pt>
                  <c:pt idx="112">
                    <c:v>5,600</c:v>
                  </c:pt>
                  <c:pt idx="113">
                    <c:v>5,600</c:v>
                  </c:pt>
                  <c:pt idx="114">
                    <c:v>5,700</c:v>
                  </c:pt>
                  <c:pt idx="115">
                    <c:v>5,700</c:v>
                  </c:pt>
                  <c:pt idx="116">
                    <c:v>5,800</c:v>
                  </c:pt>
                  <c:pt idx="117">
                    <c:v>5,800</c:v>
                  </c:pt>
                  <c:pt idx="118">
                    <c:v>5,900</c:v>
                  </c:pt>
                  <c:pt idx="119">
                    <c:v>5,900</c:v>
                  </c:pt>
                  <c:pt idx="120">
                    <c:v>6,000</c:v>
                  </c:pt>
                  <c:pt idx="121">
                    <c:v>6,000</c:v>
                  </c:pt>
                  <c:pt idx="122">
                    <c:v>6,100</c:v>
                  </c:pt>
                  <c:pt idx="123">
                    <c:v>6,100</c:v>
                  </c:pt>
                  <c:pt idx="124">
                    <c:v>6,200</c:v>
                  </c:pt>
                  <c:pt idx="125">
                    <c:v>6,200</c:v>
                  </c:pt>
                  <c:pt idx="126">
                    <c:v>6,300</c:v>
                  </c:pt>
                  <c:pt idx="127">
                    <c:v>6,300</c:v>
                  </c:pt>
                  <c:pt idx="128">
                    <c:v>6,400</c:v>
                  </c:pt>
                  <c:pt idx="129">
                    <c:v>6,400</c:v>
                  </c:pt>
                  <c:pt idx="130">
                    <c:v>6,500</c:v>
                  </c:pt>
                  <c:pt idx="131">
                    <c:v>6,500</c:v>
                  </c:pt>
                  <c:pt idx="132">
                    <c:v>6,600</c:v>
                  </c:pt>
                  <c:pt idx="133">
                    <c:v>6,600</c:v>
                  </c:pt>
                  <c:pt idx="134">
                    <c:v>6,700</c:v>
                  </c:pt>
                  <c:pt idx="135">
                    <c:v>6,700</c:v>
                  </c:pt>
                  <c:pt idx="136">
                    <c:v>6,800</c:v>
                  </c:pt>
                  <c:pt idx="137">
                    <c:v>6,800</c:v>
                  </c:pt>
                  <c:pt idx="138">
                    <c:v>6,900</c:v>
                  </c:pt>
                  <c:pt idx="139">
                    <c:v>6,900</c:v>
                  </c:pt>
                  <c:pt idx="140">
                    <c:v>7,000</c:v>
                  </c:pt>
                  <c:pt idx="141">
                    <c:v>7,000</c:v>
                  </c:pt>
                  <c:pt idx="142">
                    <c:v>7,100</c:v>
                  </c:pt>
                  <c:pt idx="143">
                    <c:v>7,100</c:v>
                  </c:pt>
                  <c:pt idx="144">
                    <c:v>7,200</c:v>
                  </c:pt>
                  <c:pt idx="145">
                    <c:v>7,200</c:v>
                  </c:pt>
                  <c:pt idx="146">
                    <c:v>7,300</c:v>
                  </c:pt>
                  <c:pt idx="147">
                    <c:v>7,300</c:v>
                  </c:pt>
                  <c:pt idx="148">
                    <c:v>7,400</c:v>
                  </c:pt>
                  <c:pt idx="149">
                    <c:v>7,400</c:v>
                  </c:pt>
                  <c:pt idx="150">
                    <c:v>7,500</c:v>
                  </c:pt>
                  <c:pt idx="151">
                    <c:v>7,500</c:v>
                  </c:pt>
                  <c:pt idx="152">
                    <c:v>7,600</c:v>
                  </c:pt>
                  <c:pt idx="153">
                    <c:v>7,600</c:v>
                  </c:pt>
                  <c:pt idx="154">
                    <c:v>7,700</c:v>
                  </c:pt>
                  <c:pt idx="155">
                    <c:v>7,700</c:v>
                  </c:pt>
                  <c:pt idx="156">
                    <c:v>7,800</c:v>
                  </c:pt>
                  <c:pt idx="157">
                    <c:v>7,800</c:v>
                  </c:pt>
                  <c:pt idx="158">
                    <c:v>7,900</c:v>
                  </c:pt>
                  <c:pt idx="159">
                    <c:v>7,900</c:v>
                  </c:pt>
                  <c:pt idx="160">
                    <c:v>8,000</c:v>
                  </c:pt>
                  <c:pt idx="161">
                    <c:v>8,000</c:v>
                  </c:pt>
                  <c:pt idx="162">
                    <c:v>8,100</c:v>
                  </c:pt>
                  <c:pt idx="163">
                    <c:v>8,100</c:v>
                  </c:pt>
                  <c:pt idx="164">
                    <c:v>8,200</c:v>
                  </c:pt>
                  <c:pt idx="165">
                    <c:v>8,200</c:v>
                  </c:pt>
                  <c:pt idx="166">
                    <c:v>8,300</c:v>
                  </c:pt>
                  <c:pt idx="167">
                    <c:v>8,300</c:v>
                  </c:pt>
                  <c:pt idx="168">
                    <c:v>8,400</c:v>
                  </c:pt>
                  <c:pt idx="169">
                    <c:v>8,400</c:v>
                  </c:pt>
                  <c:pt idx="170">
                    <c:v>8,500</c:v>
                  </c:pt>
                  <c:pt idx="171">
                    <c:v>8,500</c:v>
                  </c:pt>
                  <c:pt idx="172">
                    <c:v>8,600</c:v>
                  </c:pt>
                  <c:pt idx="173">
                    <c:v>8,600</c:v>
                  </c:pt>
                  <c:pt idx="174">
                    <c:v>8,700</c:v>
                  </c:pt>
                  <c:pt idx="175">
                    <c:v>8,700</c:v>
                  </c:pt>
                  <c:pt idx="176">
                    <c:v>8,800</c:v>
                  </c:pt>
                  <c:pt idx="177">
                    <c:v>8,800</c:v>
                  </c:pt>
                  <c:pt idx="178">
                    <c:v>8,900</c:v>
                  </c:pt>
                  <c:pt idx="179">
                    <c:v>8,900</c:v>
                  </c:pt>
                </c:lvl>
              </c:multiLvlStrCache>
            </c:multiLvlStrRef>
          </c:cat>
          <c:val>
            <c:numRef>
              <c:f>Sheet1!$B$2:$B$181</c:f>
              <c:numCache>
                <c:formatCode>General</c:formatCode>
                <c:ptCount val="180"/>
                <c:pt idx="0">
                  <c:v>288.01</c:v>
                </c:pt>
                <c:pt idx="1">
                  <c:v>288.07</c:v>
                </c:pt>
                <c:pt idx="2">
                  <c:v>288.215</c:v>
                </c:pt>
                <c:pt idx="3">
                  <c:v>288.357</c:v>
                </c:pt>
                <c:pt idx="4">
                  <c:v>288.064</c:v>
                </c:pt>
                <c:pt idx="5">
                  <c:v>288.208</c:v>
                </c:pt>
                <c:pt idx="6">
                  <c:v>288.359</c:v>
                </c:pt>
                <c:pt idx="7">
                  <c:v>288.069</c:v>
                </c:pt>
                <c:pt idx="8">
                  <c:v>288.218</c:v>
                </c:pt>
                <c:pt idx="9">
                  <c:v>288.361</c:v>
                </c:pt>
                <c:pt idx="10">
                  <c:v>288.076</c:v>
                </c:pt>
                <c:pt idx="11">
                  <c:v>288.212</c:v>
                </c:pt>
                <c:pt idx="12">
                  <c:v>288.359</c:v>
                </c:pt>
                <c:pt idx="13">
                  <c:v>288.071</c:v>
                </c:pt>
                <c:pt idx="14">
                  <c:v>288.215</c:v>
                </c:pt>
                <c:pt idx="15">
                  <c:v>288.369</c:v>
                </c:pt>
                <c:pt idx="16">
                  <c:v>288.067</c:v>
                </c:pt>
                <c:pt idx="17">
                  <c:v>288.213</c:v>
                </c:pt>
                <c:pt idx="18">
                  <c:v>288.367</c:v>
                </c:pt>
                <c:pt idx="19">
                  <c:v>288.08</c:v>
                </c:pt>
                <c:pt idx="20">
                  <c:v>288.224</c:v>
                </c:pt>
                <c:pt idx="21">
                  <c:v>288.369</c:v>
                </c:pt>
                <c:pt idx="22">
                  <c:v>288.077</c:v>
                </c:pt>
                <c:pt idx="23">
                  <c:v>288.232</c:v>
                </c:pt>
                <c:pt idx="24">
                  <c:v>288.373</c:v>
                </c:pt>
                <c:pt idx="25">
                  <c:v>288.079</c:v>
                </c:pt>
                <c:pt idx="26">
                  <c:v>288.22</c:v>
                </c:pt>
                <c:pt idx="27">
                  <c:v>288.372</c:v>
                </c:pt>
                <c:pt idx="28">
                  <c:v>288.074</c:v>
                </c:pt>
                <c:pt idx="29">
                  <c:v>288.214</c:v>
                </c:pt>
                <c:pt idx="30">
                  <c:v>288.384</c:v>
                </c:pt>
                <c:pt idx="31">
                  <c:v>288.077</c:v>
                </c:pt>
                <c:pt idx="32">
                  <c:v>288.229</c:v>
                </c:pt>
                <c:pt idx="33">
                  <c:v>288.386</c:v>
                </c:pt>
                <c:pt idx="34">
                  <c:v>288.067</c:v>
                </c:pt>
                <c:pt idx="35">
                  <c:v>288.228</c:v>
                </c:pt>
                <c:pt idx="36">
                  <c:v>288.386</c:v>
                </c:pt>
                <c:pt idx="37">
                  <c:v>288.074</c:v>
                </c:pt>
                <c:pt idx="38">
                  <c:v>288.234</c:v>
                </c:pt>
                <c:pt idx="39">
                  <c:v>288.392</c:v>
                </c:pt>
                <c:pt idx="40">
                  <c:v>288.075</c:v>
                </c:pt>
                <c:pt idx="41">
                  <c:v>288.23</c:v>
                </c:pt>
                <c:pt idx="42">
                  <c:v>288.391</c:v>
                </c:pt>
                <c:pt idx="43">
                  <c:v>288.078</c:v>
                </c:pt>
                <c:pt idx="44">
                  <c:v>288.239</c:v>
                </c:pt>
                <c:pt idx="45">
                  <c:v>288.395</c:v>
                </c:pt>
                <c:pt idx="46">
                  <c:v>288.083</c:v>
                </c:pt>
                <c:pt idx="47">
                  <c:v>288.227</c:v>
                </c:pt>
                <c:pt idx="48">
                  <c:v>288.398</c:v>
                </c:pt>
                <c:pt idx="49">
                  <c:v>288.072</c:v>
                </c:pt>
                <c:pt idx="50">
                  <c:v>288.252</c:v>
                </c:pt>
                <c:pt idx="51">
                  <c:v>288.401</c:v>
                </c:pt>
                <c:pt idx="52">
                  <c:v>288.081</c:v>
                </c:pt>
                <c:pt idx="53">
                  <c:v>288.24</c:v>
                </c:pt>
                <c:pt idx="54">
                  <c:v>288.408</c:v>
                </c:pt>
                <c:pt idx="55">
                  <c:v>288.083</c:v>
                </c:pt>
                <c:pt idx="56">
                  <c:v>288.241</c:v>
                </c:pt>
                <c:pt idx="57">
                  <c:v>288.4</c:v>
                </c:pt>
                <c:pt idx="58">
                  <c:v>288.078</c:v>
                </c:pt>
                <c:pt idx="59">
                  <c:v>288.242</c:v>
                </c:pt>
                <c:pt idx="60">
                  <c:v>288.41</c:v>
                </c:pt>
                <c:pt idx="61">
                  <c:v>288.081</c:v>
                </c:pt>
                <c:pt idx="62">
                  <c:v>288.231</c:v>
                </c:pt>
                <c:pt idx="63">
                  <c:v>288.408</c:v>
                </c:pt>
                <c:pt idx="64">
                  <c:v>288.074</c:v>
                </c:pt>
                <c:pt idx="65">
                  <c:v>288.258</c:v>
                </c:pt>
                <c:pt idx="66">
                  <c:v>288.417</c:v>
                </c:pt>
                <c:pt idx="67">
                  <c:v>288.077</c:v>
                </c:pt>
                <c:pt idx="68">
                  <c:v>288.248</c:v>
                </c:pt>
                <c:pt idx="69">
                  <c:v>288.419</c:v>
                </c:pt>
                <c:pt idx="70">
                  <c:v>288.074</c:v>
                </c:pt>
                <c:pt idx="71">
                  <c:v>288.265</c:v>
                </c:pt>
                <c:pt idx="72">
                  <c:v>288.433</c:v>
                </c:pt>
                <c:pt idx="73">
                  <c:v>288.074</c:v>
                </c:pt>
                <c:pt idx="74">
                  <c:v>288.238</c:v>
                </c:pt>
                <c:pt idx="75">
                  <c:v>288.437</c:v>
                </c:pt>
                <c:pt idx="76">
                  <c:v>288.079</c:v>
                </c:pt>
                <c:pt idx="77">
                  <c:v>288.257</c:v>
                </c:pt>
                <c:pt idx="78">
                  <c:v>288.442</c:v>
                </c:pt>
                <c:pt idx="79">
                  <c:v>288.08</c:v>
                </c:pt>
                <c:pt idx="80">
                  <c:v>288.24</c:v>
                </c:pt>
                <c:pt idx="81">
                  <c:v>288.434</c:v>
                </c:pt>
                <c:pt idx="82">
                  <c:v>288.085</c:v>
                </c:pt>
                <c:pt idx="83">
                  <c:v>288.253</c:v>
                </c:pt>
                <c:pt idx="84">
                  <c:v>288.444</c:v>
                </c:pt>
                <c:pt idx="85">
                  <c:v>288.075</c:v>
                </c:pt>
                <c:pt idx="86">
                  <c:v>288.276</c:v>
                </c:pt>
                <c:pt idx="87">
                  <c:v>288.455</c:v>
                </c:pt>
                <c:pt idx="88">
                  <c:v>288.082</c:v>
                </c:pt>
                <c:pt idx="89">
                  <c:v>288.261</c:v>
                </c:pt>
                <c:pt idx="90">
                  <c:v>288.452</c:v>
                </c:pt>
                <c:pt idx="91">
                  <c:v>288.11</c:v>
                </c:pt>
                <c:pt idx="92">
                  <c:v>288.288</c:v>
                </c:pt>
                <c:pt idx="93">
                  <c:v>288.255</c:v>
                </c:pt>
                <c:pt idx="94">
                  <c:v>288.04</c:v>
                </c:pt>
                <c:pt idx="95">
                  <c:v>288.149</c:v>
                </c:pt>
                <c:pt idx="96">
                  <c:v>288.25</c:v>
                </c:pt>
                <c:pt idx="97">
                  <c:v>288.074</c:v>
                </c:pt>
                <c:pt idx="98">
                  <c:v>288.156</c:v>
                </c:pt>
                <c:pt idx="99">
                  <c:v>288.257</c:v>
                </c:pt>
                <c:pt idx="100">
                  <c:v>288.054</c:v>
                </c:pt>
                <c:pt idx="101">
                  <c:v>288.163</c:v>
                </c:pt>
                <c:pt idx="102">
                  <c:v>288.25</c:v>
                </c:pt>
                <c:pt idx="103">
                  <c:v>287.979</c:v>
                </c:pt>
                <c:pt idx="104">
                  <c:v>288.279</c:v>
                </c:pt>
                <c:pt idx="105">
                  <c:v>288.476</c:v>
                </c:pt>
                <c:pt idx="106">
                  <c:v>288.088</c:v>
                </c:pt>
                <c:pt idx="107">
                  <c:v>288.279</c:v>
                </c:pt>
                <c:pt idx="108">
                  <c:v>288.466</c:v>
                </c:pt>
                <c:pt idx="109">
                  <c:v>288.113</c:v>
                </c:pt>
                <c:pt idx="110">
                  <c:v>288.247</c:v>
                </c:pt>
                <c:pt idx="111">
                  <c:v>288.461</c:v>
                </c:pt>
                <c:pt idx="112">
                  <c:v>288.102</c:v>
                </c:pt>
                <c:pt idx="113">
                  <c:v>288.276</c:v>
                </c:pt>
                <c:pt idx="114">
                  <c:v>288.491</c:v>
                </c:pt>
                <c:pt idx="115">
                  <c:v>288.066</c:v>
                </c:pt>
                <c:pt idx="116">
                  <c:v>288.272</c:v>
                </c:pt>
                <c:pt idx="117">
                  <c:v>288.486</c:v>
                </c:pt>
                <c:pt idx="118">
                  <c:v>288.138</c:v>
                </c:pt>
                <c:pt idx="119">
                  <c:v>288.29</c:v>
                </c:pt>
                <c:pt idx="120">
                  <c:v>288.497</c:v>
                </c:pt>
                <c:pt idx="121">
                  <c:v>288.112</c:v>
                </c:pt>
                <c:pt idx="122">
                  <c:v>288.284</c:v>
                </c:pt>
                <c:pt idx="123">
                  <c:v>288.519</c:v>
                </c:pt>
                <c:pt idx="124">
                  <c:v>288.079</c:v>
                </c:pt>
                <c:pt idx="125">
                  <c:v>288.339</c:v>
                </c:pt>
                <c:pt idx="126">
                  <c:v>288.401</c:v>
                </c:pt>
                <c:pt idx="127">
                  <c:v>288.096</c:v>
                </c:pt>
                <c:pt idx="128">
                  <c:v>288.222</c:v>
                </c:pt>
                <c:pt idx="129">
                  <c:v>288.378</c:v>
                </c:pt>
                <c:pt idx="130">
                  <c:v>288.06</c:v>
                </c:pt>
                <c:pt idx="131">
                  <c:v>288.196</c:v>
                </c:pt>
                <c:pt idx="132">
                  <c:v>288.374</c:v>
                </c:pt>
                <c:pt idx="133">
                  <c:v>288.111</c:v>
                </c:pt>
                <c:pt idx="134">
                  <c:v>288.232</c:v>
                </c:pt>
                <c:pt idx="135">
                  <c:v>288.375</c:v>
                </c:pt>
                <c:pt idx="136">
                  <c:v>288.066</c:v>
                </c:pt>
                <c:pt idx="137">
                  <c:v>288.228</c:v>
                </c:pt>
                <c:pt idx="138">
                  <c:v>288.405</c:v>
                </c:pt>
                <c:pt idx="139">
                  <c:v>288.091</c:v>
                </c:pt>
                <c:pt idx="140">
                  <c:v>288.193</c:v>
                </c:pt>
                <c:pt idx="141">
                  <c:v>288.383</c:v>
                </c:pt>
                <c:pt idx="142">
                  <c:v>288.084</c:v>
                </c:pt>
                <c:pt idx="143">
                  <c:v>288.164</c:v>
                </c:pt>
                <c:pt idx="144">
                  <c:v>288.402</c:v>
                </c:pt>
                <c:pt idx="145">
                  <c:v>288.071</c:v>
                </c:pt>
                <c:pt idx="146">
                  <c:v>288.245</c:v>
                </c:pt>
                <c:pt idx="147">
                  <c:v>288.382</c:v>
                </c:pt>
                <c:pt idx="148">
                  <c:v>288.209</c:v>
                </c:pt>
                <c:pt idx="149">
                  <c:v>288.242</c:v>
                </c:pt>
                <c:pt idx="150">
                  <c:v>288.402</c:v>
                </c:pt>
                <c:pt idx="151">
                  <c:v>288.101</c:v>
                </c:pt>
                <c:pt idx="152">
                  <c:v>288.257</c:v>
                </c:pt>
                <c:pt idx="153">
                  <c:v>288.392</c:v>
                </c:pt>
                <c:pt idx="154">
                  <c:v>288.203</c:v>
                </c:pt>
                <c:pt idx="155">
                  <c:v>288.301</c:v>
                </c:pt>
                <c:pt idx="156">
                  <c:v>288.424</c:v>
                </c:pt>
                <c:pt idx="157">
                  <c:v>288.065</c:v>
                </c:pt>
                <c:pt idx="158">
                  <c:v>288.282</c:v>
                </c:pt>
                <c:pt idx="159">
                  <c:v>288.455</c:v>
                </c:pt>
                <c:pt idx="160">
                  <c:v>288.126</c:v>
                </c:pt>
                <c:pt idx="161">
                  <c:v>288.157</c:v>
                </c:pt>
                <c:pt idx="162">
                  <c:v>288.44</c:v>
                </c:pt>
                <c:pt idx="163">
                  <c:v>288.04</c:v>
                </c:pt>
                <c:pt idx="164">
                  <c:v>288.282</c:v>
                </c:pt>
                <c:pt idx="165">
                  <c:v>288.411</c:v>
                </c:pt>
                <c:pt idx="166">
                  <c:v>288.01</c:v>
                </c:pt>
                <c:pt idx="167">
                  <c:v>288.384</c:v>
                </c:pt>
                <c:pt idx="168">
                  <c:v>288.428</c:v>
                </c:pt>
                <c:pt idx="169">
                  <c:v>288.018</c:v>
                </c:pt>
                <c:pt idx="170">
                  <c:v>288.239</c:v>
                </c:pt>
                <c:pt idx="171">
                  <c:v>288.508</c:v>
                </c:pt>
                <c:pt idx="172">
                  <c:v>288.144</c:v>
                </c:pt>
                <c:pt idx="173">
                  <c:v>288.286</c:v>
                </c:pt>
                <c:pt idx="174">
                  <c:v>288.549</c:v>
                </c:pt>
                <c:pt idx="175">
                  <c:v>288.007</c:v>
                </c:pt>
                <c:pt idx="176">
                  <c:v>288.673</c:v>
                </c:pt>
                <c:pt idx="177">
                  <c:v>288.682</c:v>
                </c:pt>
                <c:pt idx="178">
                  <c:v>288.683</c:v>
                </c:pt>
                <c:pt idx="179">
                  <c:v>288.676</c:v>
                </c:pt>
              </c:numCache>
            </c:numRef>
          </c:val>
          <c:smooth val="0"/>
        </c:ser>
        <c:ser>
          <c:idx val="1"/>
          <c:order val="1"/>
          <c:tx>
            <c:strRef>
              <c:f>Sheet1!$C$1</c:f>
              <c:strCache>
                <c:ptCount val="1"/>
                <c:pt idx="0">
                  <c:v>Same climate model, no optics</c:v>
                </c:pt>
              </c:strCache>
            </c:strRef>
          </c:tx>
          <c:spPr>
            <a:solidFill>
              <a:srgbClr val="C8553D"/>
            </a:solidFill>
            <a:ln w="28575" cap="flat">
              <a:solidFill>
                <a:srgbClr val="C8553D"/>
              </a:solidFill>
              <a:prstDash val="solid"/>
              <a:round/>
            </a:ln>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c:symbol val="none"/>
            <c:size val="6"/>
            <c:spPr>
              <a:solidFill>
                <a:srgbClr val="C8553D"/>
              </a:solidFill>
              <a:ln w="9525" cap="flat">
                <a:solidFill>
                  <a:srgbClr val="C8553D"/>
                </a:solidFill>
                <a:prstDash val="solid"/>
                <a:round/>
              </a:ln>
              <a:effectLst/>
            </c:spPr>
          </c:marker>
          <c:cat>
            <c:multiLvlStrRef>
              <c:f>Sheet1!$A$2:$A$181</c:f>
              <c:multiLvlStrCache>
                <c:ptCount val="180"/>
                <c:lvl>
                  <c:pt idx="0">
                    <c:v>0</c:v>
                  </c:pt>
                  <c:pt idx="1">
                    <c:v>100</c:v>
                  </c:pt>
                  <c:pt idx="2">
                    <c:v>100</c:v>
                  </c:pt>
                  <c:pt idx="3">
                    <c:v>200</c:v>
                  </c:pt>
                  <c:pt idx="4">
                    <c:v>200</c:v>
                  </c:pt>
                  <c:pt idx="5">
                    <c:v>300</c:v>
                  </c:pt>
                  <c:pt idx="6">
                    <c:v>300</c:v>
                  </c:pt>
                  <c:pt idx="7">
                    <c:v>400</c:v>
                  </c:pt>
                  <c:pt idx="8">
                    <c:v>400</c:v>
                  </c:pt>
                  <c:pt idx="9">
                    <c:v>500</c:v>
                  </c:pt>
                  <c:pt idx="10">
                    <c:v>500</c:v>
                  </c:pt>
                  <c:pt idx="11">
                    <c:v>600</c:v>
                  </c:pt>
                  <c:pt idx="12">
                    <c:v>600</c:v>
                  </c:pt>
                  <c:pt idx="13">
                    <c:v>700</c:v>
                  </c:pt>
                  <c:pt idx="14">
                    <c:v>700</c:v>
                  </c:pt>
                  <c:pt idx="15">
                    <c:v>700</c:v>
                  </c:pt>
                  <c:pt idx="16">
                    <c:v>800</c:v>
                  </c:pt>
                  <c:pt idx="17">
                    <c:v>900</c:v>
                  </c:pt>
                  <c:pt idx="18">
                    <c:v>900</c:v>
                  </c:pt>
                  <c:pt idx="19">
                    <c:v>1,000</c:v>
                  </c:pt>
                  <c:pt idx="20">
                    <c:v>1,000</c:v>
                  </c:pt>
                  <c:pt idx="21">
                    <c:v>1,100</c:v>
                  </c:pt>
                  <c:pt idx="22">
                    <c:v>1,100</c:v>
                  </c:pt>
                  <c:pt idx="23">
                    <c:v>1,100</c:v>
                  </c:pt>
                  <c:pt idx="24">
                    <c:v>1,200</c:v>
                  </c:pt>
                  <c:pt idx="25">
                    <c:v>1,200</c:v>
                  </c:pt>
                  <c:pt idx="26">
                    <c:v>1,300</c:v>
                  </c:pt>
                  <c:pt idx="27">
                    <c:v>1,400</c:v>
                  </c:pt>
                  <c:pt idx="28">
                    <c:v>1,400</c:v>
                  </c:pt>
                  <c:pt idx="29">
                    <c:v>1,500</c:v>
                  </c:pt>
                  <c:pt idx="30">
                    <c:v>1,500</c:v>
                  </c:pt>
                  <c:pt idx="31">
                    <c:v>1,500</c:v>
                  </c:pt>
                  <c:pt idx="32">
                    <c:v>1,600</c:v>
                  </c:pt>
                  <c:pt idx="33">
                    <c:v>1,600</c:v>
                  </c:pt>
                  <c:pt idx="34">
                    <c:v>1,700</c:v>
                  </c:pt>
                  <c:pt idx="35">
                    <c:v>1,700</c:v>
                  </c:pt>
                  <c:pt idx="36">
                    <c:v>1,800</c:v>
                  </c:pt>
                  <c:pt idx="37">
                    <c:v>1,900</c:v>
                  </c:pt>
                  <c:pt idx="38">
                    <c:v>1,900</c:v>
                  </c:pt>
                  <c:pt idx="39">
                    <c:v>1,900</c:v>
                  </c:pt>
                  <c:pt idx="40">
                    <c:v>2,000</c:v>
                  </c:pt>
                  <c:pt idx="41">
                    <c:v>2,000</c:v>
                  </c:pt>
                  <c:pt idx="42">
                    <c:v>2,100</c:v>
                  </c:pt>
                  <c:pt idx="43">
                    <c:v>2,100</c:v>
                  </c:pt>
                  <c:pt idx="44">
                    <c:v>2,200</c:v>
                  </c:pt>
                  <c:pt idx="45">
                    <c:v>2,200</c:v>
                  </c:pt>
                  <c:pt idx="46">
                    <c:v>2,300</c:v>
                  </c:pt>
                  <c:pt idx="47">
                    <c:v>2,300</c:v>
                  </c:pt>
                  <c:pt idx="48">
                    <c:v>2,400</c:v>
                  </c:pt>
                  <c:pt idx="49">
                    <c:v>2,400</c:v>
                  </c:pt>
                  <c:pt idx="50">
                    <c:v>2,500</c:v>
                  </c:pt>
                  <c:pt idx="51">
                    <c:v>2,500</c:v>
                  </c:pt>
                  <c:pt idx="52">
                    <c:v>2,600</c:v>
                  </c:pt>
                  <c:pt idx="53">
                    <c:v>2,600</c:v>
                  </c:pt>
                  <c:pt idx="54">
                    <c:v>2,700</c:v>
                  </c:pt>
                  <c:pt idx="55">
                    <c:v>2,700</c:v>
                  </c:pt>
                  <c:pt idx="56">
                    <c:v>2,800</c:v>
                  </c:pt>
                  <c:pt idx="57">
                    <c:v>2,800</c:v>
                  </c:pt>
                  <c:pt idx="58">
                    <c:v>2,900</c:v>
                  </c:pt>
                  <c:pt idx="59">
                    <c:v>2,900</c:v>
                  </c:pt>
                  <c:pt idx="60">
                    <c:v>3,000</c:v>
                  </c:pt>
                  <c:pt idx="61">
                    <c:v>3,000</c:v>
                  </c:pt>
                  <c:pt idx="62">
                    <c:v>3,100</c:v>
                  </c:pt>
                  <c:pt idx="63">
                    <c:v>3,100</c:v>
                  </c:pt>
                  <c:pt idx="64">
                    <c:v>3,200</c:v>
                  </c:pt>
                  <c:pt idx="65">
                    <c:v>3,200</c:v>
                  </c:pt>
                  <c:pt idx="66">
                    <c:v>3,300</c:v>
                  </c:pt>
                  <c:pt idx="67">
                    <c:v>3,300</c:v>
                  </c:pt>
                  <c:pt idx="68">
                    <c:v>3,400</c:v>
                  </c:pt>
                  <c:pt idx="69">
                    <c:v>3,400</c:v>
                  </c:pt>
                  <c:pt idx="70">
                    <c:v>3,500</c:v>
                  </c:pt>
                  <c:pt idx="71">
                    <c:v>3,500</c:v>
                  </c:pt>
                  <c:pt idx="72">
                    <c:v>3,600</c:v>
                  </c:pt>
                  <c:pt idx="73">
                    <c:v>3,600</c:v>
                  </c:pt>
                  <c:pt idx="74">
                    <c:v>3,700</c:v>
                  </c:pt>
                  <c:pt idx="75">
                    <c:v>3,700</c:v>
                  </c:pt>
                  <c:pt idx="76">
                    <c:v>3,800</c:v>
                  </c:pt>
                  <c:pt idx="77">
                    <c:v>3,800</c:v>
                  </c:pt>
                  <c:pt idx="78">
                    <c:v>3,900</c:v>
                  </c:pt>
                  <c:pt idx="79">
                    <c:v>3,900</c:v>
                  </c:pt>
                  <c:pt idx="80">
                    <c:v>4,000</c:v>
                  </c:pt>
                  <c:pt idx="81">
                    <c:v>4,000</c:v>
                  </c:pt>
                  <c:pt idx="82">
                    <c:v>4,100</c:v>
                  </c:pt>
                  <c:pt idx="83">
                    <c:v>4,100</c:v>
                  </c:pt>
                  <c:pt idx="84">
                    <c:v>4,200</c:v>
                  </c:pt>
                  <c:pt idx="85">
                    <c:v>4,200</c:v>
                  </c:pt>
                  <c:pt idx="86">
                    <c:v>4,300</c:v>
                  </c:pt>
                  <c:pt idx="87">
                    <c:v>4,300</c:v>
                  </c:pt>
                  <c:pt idx="88">
                    <c:v>4,400</c:v>
                  </c:pt>
                  <c:pt idx="89">
                    <c:v>4,400</c:v>
                  </c:pt>
                  <c:pt idx="90">
                    <c:v>4,500</c:v>
                  </c:pt>
                  <c:pt idx="91">
                    <c:v>4,500</c:v>
                  </c:pt>
                  <c:pt idx="92">
                    <c:v>4,600</c:v>
                  </c:pt>
                  <c:pt idx="93">
                    <c:v>4,600</c:v>
                  </c:pt>
                  <c:pt idx="94">
                    <c:v>4,700</c:v>
                  </c:pt>
                  <c:pt idx="95">
                    <c:v>4,700</c:v>
                  </c:pt>
                  <c:pt idx="96">
                    <c:v>4,800</c:v>
                  </c:pt>
                  <c:pt idx="97">
                    <c:v>4,800</c:v>
                  </c:pt>
                  <c:pt idx="98">
                    <c:v>4,900</c:v>
                  </c:pt>
                  <c:pt idx="99">
                    <c:v>4,900</c:v>
                  </c:pt>
                  <c:pt idx="100">
                    <c:v>5,000</c:v>
                  </c:pt>
                  <c:pt idx="101">
                    <c:v>5,000</c:v>
                  </c:pt>
                  <c:pt idx="102">
                    <c:v>5,100</c:v>
                  </c:pt>
                  <c:pt idx="103">
                    <c:v>5,100</c:v>
                  </c:pt>
                  <c:pt idx="104">
                    <c:v>5,200</c:v>
                  </c:pt>
                  <c:pt idx="105">
                    <c:v>5,200</c:v>
                  </c:pt>
                  <c:pt idx="106">
                    <c:v>5,300</c:v>
                  </c:pt>
                  <c:pt idx="107">
                    <c:v>5,300</c:v>
                  </c:pt>
                  <c:pt idx="108">
                    <c:v>5,400</c:v>
                  </c:pt>
                  <c:pt idx="109">
                    <c:v>5,400</c:v>
                  </c:pt>
                  <c:pt idx="110">
                    <c:v>5,500</c:v>
                  </c:pt>
                  <c:pt idx="111">
                    <c:v>5,500</c:v>
                  </c:pt>
                  <c:pt idx="112">
                    <c:v>5,600</c:v>
                  </c:pt>
                  <c:pt idx="113">
                    <c:v>5,600</c:v>
                  </c:pt>
                  <c:pt idx="114">
                    <c:v>5,700</c:v>
                  </c:pt>
                  <c:pt idx="115">
                    <c:v>5,700</c:v>
                  </c:pt>
                  <c:pt idx="116">
                    <c:v>5,800</c:v>
                  </c:pt>
                  <c:pt idx="117">
                    <c:v>5,800</c:v>
                  </c:pt>
                  <c:pt idx="118">
                    <c:v>5,900</c:v>
                  </c:pt>
                  <c:pt idx="119">
                    <c:v>5,900</c:v>
                  </c:pt>
                  <c:pt idx="120">
                    <c:v>6,000</c:v>
                  </c:pt>
                  <c:pt idx="121">
                    <c:v>6,000</c:v>
                  </c:pt>
                  <c:pt idx="122">
                    <c:v>6,100</c:v>
                  </c:pt>
                  <c:pt idx="123">
                    <c:v>6,100</c:v>
                  </c:pt>
                  <c:pt idx="124">
                    <c:v>6,200</c:v>
                  </c:pt>
                  <c:pt idx="125">
                    <c:v>6,200</c:v>
                  </c:pt>
                  <c:pt idx="126">
                    <c:v>6,300</c:v>
                  </c:pt>
                  <c:pt idx="127">
                    <c:v>6,300</c:v>
                  </c:pt>
                  <c:pt idx="128">
                    <c:v>6,400</c:v>
                  </c:pt>
                  <c:pt idx="129">
                    <c:v>6,400</c:v>
                  </c:pt>
                  <c:pt idx="130">
                    <c:v>6,500</c:v>
                  </c:pt>
                  <c:pt idx="131">
                    <c:v>6,500</c:v>
                  </c:pt>
                  <c:pt idx="132">
                    <c:v>6,600</c:v>
                  </c:pt>
                  <c:pt idx="133">
                    <c:v>6,600</c:v>
                  </c:pt>
                  <c:pt idx="134">
                    <c:v>6,700</c:v>
                  </c:pt>
                  <c:pt idx="135">
                    <c:v>6,700</c:v>
                  </c:pt>
                  <c:pt idx="136">
                    <c:v>6,800</c:v>
                  </c:pt>
                  <c:pt idx="137">
                    <c:v>6,800</c:v>
                  </c:pt>
                  <c:pt idx="138">
                    <c:v>6,900</c:v>
                  </c:pt>
                  <c:pt idx="139">
                    <c:v>6,900</c:v>
                  </c:pt>
                  <c:pt idx="140">
                    <c:v>7,000</c:v>
                  </c:pt>
                  <c:pt idx="141">
                    <c:v>7,000</c:v>
                  </c:pt>
                  <c:pt idx="142">
                    <c:v>7,100</c:v>
                  </c:pt>
                  <c:pt idx="143">
                    <c:v>7,100</c:v>
                  </c:pt>
                  <c:pt idx="144">
                    <c:v>7,200</c:v>
                  </c:pt>
                  <c:pt idx="145">
                    <c:v>7,200</c:v>
                  </c:pt>
                  <c:pt idx="146">
                    <c:v>7,300</c:v>
                  </c:pt>
                  <c:pt idx="147">
                    <c:v>7,300</c:v>
                  </c:pt>
                  <c:pt idx="148">
                    <c:v>7,400</c:v>
                  </c:pt>
                  <c:pt idx="149">
                    <c:v>7,400</c:v>
                  </c:pt>
                  <c:pt idx="150">
                    <c:v>7,500</c:v>
                  </c:pt>
                  <c:pt idx="151">
                    <c:v>7,500</c:v>
                  </c:pt>
                  <c:pt idx="152">
                    <c:v>7,600</c:v>
                  </c:pt>
                  <c:pt idx="153">
                    <c:v>7,600</c:v>
                  </c:pt>
                  <c:pt idx="154">
                    <c:v>7,700</c:v>
                  </c:pt>
                  <c:pt idx="155">
                    <c:v>7,700</c:v>
                  </c:pt>
                  <c:pt idx="156">
                    <c:v>7,800</c:v>
                  </c:pt>
                  <c:pt idx="157">
                    <c:v>7,800</c:v>
                  </c:pt>
                  <c:pt idx="158">
                    <c:v>7,900</c:v>
                  </c:pt>
                  <c:pt idx="159">
                    <c:v>7,900</c:v>
                  </c:pt>
                  <c:pt idx="160">
                    <c:v>8,000</c:v>
                  </c:pt>
                  <c:pt idx="161">
                    <c:v>8,000</c:v>
                  </c:pt>
                  <c:pt idx="162">
                    <c:v>8,100</c:v>
                  </c:pt>
                  <c:pt idx="163">
                    <c:v>8,100</c:v>
                  </c:pt>
                  <c:pt idx="164">
                    <c:v>8,200</c:v>
                  </c:pt>
                  <c:pt idx="165">
                    <c:v>8,200</c:v>
                  </c:pt>
                  <c:pt idx="166">
                    <c:v>8,300</c:v>
                  </c:pt>
                  <c:pt idx="167">
                    <c:v>8,300</c:v>
                  </c:pt>
                  <c:pt idx="168">
                    <c:v>8,400</c:v>
                  </c:pt>
                  <c:pt idx="169">
                    <c:v>8,400</c:v>
                  </c:pt>
                  <c:pt idx="170">
                    <c:v>8,500</c:v>
                  </c:pt>
                  <c:pt idx="171">
                    <c:v>8,500</c:v>
                  </c:pt>
                  <c:pt idx="172">
                    <c:v>8,600</c:v>
                  </c:pt>
                  <c:pt idx="173">
                    <c:v>8,600</c:v>
                  </c:pt>
                  <c:pt idx="174">
                    <c:v>8,700</c:v>
                  </c:pt>
                  <c:pt idx="175">
                    <c:v>8,700</c:v>
                  </c:pt>
                  <c:pt idx="176">
                    <c:v>8,800</c:v>
                  </c:pt>
                  <c:pt idx="177">
                    <c:v>8,800</c:v>
                  </c:pt>
                  <c:pt idx="178">
                    <c:v>8,900</c:v>
                  </c:pt>
                  <c:pt idx="179">
                    <c:v>8,900</c:v>
                  </c:pt>
                </c:lvl>
              </c:multiLvlStrCache>
            </c:multiLvlStrRef>
          </c:cat>
          <c:val>
            <c:numRef>
              <c:f>Sheet1!$C$2:$C$181</c:f>
              <c:numCache>
                <c:formatCode>General</c:formatCode>
                <c:ptCount val="180"/>
                <c:pt idx="0">
                  <c:v>288</c:v>
                </c:pt>
                <c:pt idx="1">
                  <c:v>287.29</c:v>
                </c:pt>
                <c:pt idx="2">
                  <c:v>286.59</c:v>
                </c:pt>
                <c:pt idx="3">
                  <c:v>285.88</c:v>
                </c:pt>
                <c:pt idx="4">
                  <c:v>285.17</c:v>
                </c:pt>
                <c:pt idx="5">
                  <c:v>284.47</c:v>
                </c:pt>
                <c:pt idx="6">
                  <c:v>283.77</c:v>
                </c:pt>
                <c:pt idx="7">
                  <c:v>283.06</c:v>
                </c:pt>
                <c:pt idx="8">
                  <c:v>282.36</c:v>
                </c:pt>
                <c:pt idx="9">
                  <c:v>281.65</c:v>
                </c:pt>
                <c:pt idx="10">
                  <c:v>280.95</c:v>
                </c:pt>
                <c:pt idx="11">
                  <c:v>280.24</c:v>
                </c:pt>
                <c:pt idx="12">
                  <c:v>239.95</c:v>
                </c:pt>
                <c:pt idx="13">
                  <c:v>239.34</c:v>
                </c:pt>
                <c:pt idx="14">
                  <c:v>238.73</c:v>
                </c:pt>
                <c:pt idx="15">
                  <c:v>238.13</c:v>
                </c:pt>
                <c:pt idx="16">
                  <c:v>237.53</c:v>
                </c:pt>
                <c:pt idx="17">
                  <c:v>236.92</c:v>
                </c:pt>
                <c:pt idx="18">
                  <c:v>236.32</c:v>
                </c:pt>
                <c:pt idx="19">
                  <c:v>235.71</c:v>
                </c:pt>
                <c:pt idx="20">
                  <c:v>235.11</c:v>
                </c:pt>
                <c:pt idx="21">
                  <c:v>234.5</c:v>
                </c:pt>
                <c:pt idx="22">
                  <c:v>233.9</c:v>
                </c:pt>
                <c:pt idx="23">
                  <c:v>233.29</c:v>
                </c:pt>
                <c:pt idx="24">
                  <c:v>232.69</c:v>
                </c:pt>
                <c:pt idx="25">
                  <c:v>232.09</c:v>
                </c:pt>
                <c:pt idx="26">
                  <c:v>231.48</c:v>
                </c:pt>
                <c:pt idx="27">
                  <c:v>230.88</c:v>
                </c:pt>
                <c:pt idx="28">
                  <c:v>230.27</c:v>
                </c:pt>
                <c:pt idx="29">
                  <c:v>229.66</c:v>
                </c:pt>
                <c:pt idx="30">
                  <c:v>229.06</c:v>
                </c:pt>
                <c:pt idx="31">
                  <c:v>228.46</c:v>
                </c:pt>
                <c:pt idx="32">
                  <c:v>227.85</c:v>
                </c:pt>
                <c:pt idx="33">
                  <c:v>227.25</c:v>
                </c:pt>
                <c:pt idx="34">
                  <c:v>226.64</c:v>
                </c:pt>
                <c:pt idx="35">
                  <c:v>226.04</c:v>
                </c:pt>
                <c:pt idx="36">
                  <c:v>225.43</c:v>
                </c:pt>
                <c:pt idx="37">
                  <c:v>224.82</c:v>
                </c:pt>
                <c:pt idx="38">
                  <c:v>224.22</c:v>
                </c:pt>
                <c:pt idx="39">
                  <c:v>223.62</c:v>
                </c:pt>
                <c:pt idx="40">
                  <c:v>223.02</c:v>
                </c:pt>
                <c:pt idx="41">
                  <c:v>222.41</c:v>
                </c:pt>
                <c:pt idx="42">
                  <c:v>221.8</c:v>
                </c:pt>
                <c:pt idx="43">
                  <c:v>221.2</c:v>
                </c:pt>
                <c:pt idx="44">
                  <c:v>220.59</c:v>
                </c:pt>
                <c:pt idx="45">
                  <c:v>219.99</c:v>
                </c:pt>
                <c:pt idx="46">
                  <c:v>219.39</c:v>
                </c:pt>
                <c:pt idx="47">
                  <c:v>218.78</c:v>
                </c:pt>
                <c:pt idx="48">
                  <c:v>218.18</c:v>
                </c:pt>
                <c:pt idx="49">
                  <c:v>217.57</c:v>
                </c:pt>
                <c:pt idx="50">
                  <c:v>216.97</c:v>
                </c:pt>
                <c:pt idx="51">
                  <c:v>216.36</c:v>
                </c:pt>
                <c:pt idx="52">
                  <c:v>215.75</c:v>
                </c:pt>
                <c:pt idx="53">
                  <c:v>215.15</c:v>
                </c:pt>
                <c:pt idx="54">
                  <c:v>214.55</c:v>
                </c:pt>
                <c:pt idx="55">
                  <c:v>213.95</c:v>
                </c:pt>
                <c:pt idx="56">
                  <c:v>213.34</c:v>
                </c:pt>
                <c:pt idx="57">
                  <c:v>212.74</c:v>
                </c:pt>
                <c:pt idx="58">
                  <c:v>212.13</c:v>
                </c:pt>
                <c:pt idx="59">
                  <c:v>211.52</c:v>
                </c:pt>
                <c:pt idx="60">
                  <c:v>210.93</c:v>
                </c:pt>
                <c:pt idx="61">
                  <c:v>210.31</c:v>
                </c:pt>
                <c:pt idx="62">
                  <c:v>209.71</c:v>
                </c:pt>
                <c:pt idx="63">
                  <c:v>209.11</c:v>
                </c:pt>
                <c:pt idx="64">
                  <c:v>208.5</c:v>
                </c:pt>
                <c:pt idx="65">
                  <c:v>207.9</c:v>
                </c:pt>
                <c:pt idx="66">
                  <c:v>207.29</c:v>
                </c:pt>
                <c:pt idx="67">
                  <c:v>206.69</c:v>
                </c:pt>
                <c:pt idx="68">
                  <c:v>206.08</c:v>
                </c:pt>
                <c:pt idx="69">
                  <c:v>205.48</c:v>
                </c:pt>
                <c:pt idx="70">
                  <c:v>204.87</c:v>
                </c:pt>
                <c:pt idx="71">
                  <c:v>204.27</c:v>
                </c:pt>
                <c:pt idx="72">
                  <c:v>203.66</c:v>
                </c:pt>
                <c:pt idx="73">
                  <c:v>203.06</c:v>
                </c:pt>
                <c:pt idx="74">
                  <c:v>202.45</c:v>
                </c:pt>
                <c:pt idx="75">
                  <c:v>201.85</c:v>
                </c:pt>
                <c:pt idx="76">
                  <c:v>201.24</c:v>
                </c:pt>
                <c:pt idx="77">
                  <c:v>200.65</c:v>
                </c:pt>
                <c:pt idx="78">
                  <c:v>200.03</c:v>
                </c:pt>
                <c:pt idx="79">
                  <c:v>199.43</c:v>
                </c:pt>
                <c:pt idx="80">
                  <c:v>198.83</c:v>
                </c:pt>
                <c:pt idx="81">
                  <c:v>198.23</c:v>
                </c:pt>
                <c:pt idx="82">
                  <c:v>197.62</c:v>
                </c:pt>
                <c:pt idx="83">
                  <c:v>197.02</c:v>
                </c:pt>
                <c:pt idx="84">
                  <c:v>196.41</c:v>
                </c:pt>
                <c:pt idx="85">
                  <c:v>195.8</c:v>
                </c:pt>
                <c:pt idx="86">
                  <c:v>195.2</c:v>
                </c:pt>
                <c:pt idx="87">
                  <c:v>194.59</c:v>
                </c:pt>
                <c:pt idx="88">
                  <c:v>193.99</c:v>
                </c:pt>
                <c:pt idx="89">
                  <c:v>193.39</c:v>
                </c:pt>
                <c:pt idx="90">
                  <c:v>192.79</c:v>
                </c:pt>
                <c:pt idx="91">
                  <c:v>192.18</c:v>
                </c:pt>
                <c:pt idx="92">
                  <c:v>191.68</c:v>
                </c:pt>
                <c:pt idx="93">
                  <c:v>191.34</c:v>
                </c:pt>
                <c:pt idx="94">
                  <c:v>191</c:v>
                </c:pt>
                <c:pt idx="95">
                  <c:v>190.66</c:v>
                </c:pt>
                <c:pt idx="96">
                  <c:v>190.33</c:v>
                </c:pt>
                <c:pt idx="97">
                  <c:v>189.98</c:v>
                </c:pt>
                <c:pt idx="98">
                  <c:v>189.64</c:v>
                </c:pt>
                <c:pt idx="99">
                  <c:v>189.29</c:v>
                </c:pt>
                <c:pt idx="100">
                  <c:v>188.97</c:v>
                </c:pt>
                <c:pt idx="101">
                  <c:v>188.63</c:v>
                </c:pt>
                <c:pt idx="102">
                  <c:v>188.29</c:v>
                </c:pt>
                <c:pt idx="103">
                  <c:v>187.89</c:v>
                </c:pt>
                <c:pt idx="104">
                  <c:v>187.29</c:v>
                </c:pt>
                <c:pt idx="105">
                  <c:v>186.68</c:v>
                </c:pt>
                <c:pt idx="106">
                  <c:v>186.09</c:v>
                </c:pt>
                <c:pt idx="107">
                  <c:v>185.49</c:v>
                </c:pt>
                <c:pt idx="108">
                  <c:v>184.87</c:v>
                </c:pt>
                <c:pt idx="109">
                  <c:v>184.27</c:v>
                </c:pt>
                <c:pt idx="110">
                  <c:v>183.66</c:v>
                </c:pt>
                <c:pt idx="111">
                  <c:v>183.07</c:v>
                </c:pt>
                <c:pt idx="112">
                  <c:v>182.46</c:v>
                </c:pt>
                <c:pt idx="113">
                  <c:v>181.85</c:v>
                </c:pt>
                <c:pt idx="114">
                  <c:v>181.25</c:v>
                </c:pt>
                <c:pt idx="115">
                  <c:v>180.65</c:v>
                </c:pt>
                <c:pt idx="116">
                  <c:v>180.04</c:v>
                </c:pt>
                <c:pt idx="117">
                  <c:v>179.44</c:v>
                </c:pt>
                <c:pt idx="118">
                  <c:v>178.83</c:v>
                </c:pt>
                <c:pt idx="119">
                  <c:v>178.22</c:v>
                </c:pt>
                <c:pt idx="120">
                  <c:v>177.62</c:v>
                </c:pt>
                <c:pt idx="121">
                  <c:v>177.02</c:v>
                </c:pt>
                <c:pt idx="122">
                  <c:v>176.42</c:v>
                </c:pt>
                <c:pt idx="123">
                  <c:v>175.8</c:v>
                </c:pt>
                <c:pt idx="124">
                  <c:v>175.21</c:v>
                </c:pt>
                <c:pt idx="125">
                  <c:v>174.62</c:v>
                </c:pt>
                <c:pt idx="126">
                  <c:v>174.11</c:v>
                </c:pt>
                <c:pt idx="127">
                  <c:v>173.65</c:v>
                </c:pt>
                <c:pt idx="128">
                  <c:v>173.18</c:v>
                </c:pt>
                <c:pt idx="129">
                  <c:v>172.71</c:v>
                </c:pt>
                <c:pt idx="130">
                  <c:v>172.24</c:v>
                </c:pt>
                <c:pt idx="131">
                  <c:v>171.75</c:v>
                </c:pt>
                <c:pt idx="132">
                  <c:v>171.3</c:v>
                </c:pt>
                <c:pt idx="133">
                  <c:v>170.84</c:v>
                </c:pt>
                <c:pt idx="134">
                  <c:v>170.36</c:v>
                </c:pt>
                <c:pt idx="135">
                  <c:v>169.9</c:v>
                </c:pt>
                <c:pt idx="136">
                  <c:v>169.42</c:v>
                </c:pt>
                <c:pt idx="137">
                  <c:v>168.93</c:v>
                </c:pt>
                <c:pt idx="138">
                  <c:v>168.47</c:v>
                </c:pt>
                <c:pt idx="139">
                  <c:v>168.01</c:v>
                </c:pt>
                <c:pt idx="140">
                  <c:v>167.53</c:v>
                </c:pt>
                <c:pt idx="141">
                  <c:v>167.08</c:v>
                </c:pt>
                <c:pt idx="142">
                  <c:v>166.58</c:v>
                </c:pt>
                <c:pt idx="143">
                  <c:v>166.11</c:v>
                </c:pt>
                <c:pt idx="144">
                  <c:v>165.67</c:v>
                </c:pt>
                <c:pt idx="145">
                  <c:v>165.19</c:v>
                </c:pt>
                <c:pt idx="146">
                  <c:v>164.74</c:v>
                </c:pt>
                <c:pt idx="147">
                  <c:v>164.27</c:v>
                </c:pt>
                <c:pt idx="148">
                  <c:v>163.8</c:v>
                </c:pt>
                <c:pt idx="149">
                  <c:v>163.32</c:v>
                </c:pt>
                <c:pt idx="150">
                  <c:v>162.85</c:v>
                </c:pt>
                <c:pt idx="151">
                  <c:v>162.37</c:v>
                </c:pt>
                <c:pt idx="152">
                  <c:v>161.9</c:v>
                </c:pt>
                <c:pt idx="153">
                  <c:v>161.46</c:v>
                </c:pt>
                <c:pt idx="154">
                  <c:v>160.98</c:v>
                </c:pt>
                <c:pt idx="155">
                  <c:v>160.51</c:v>
                </c:pt>
                <c:pt idx="156">
                  <c:v>160.04</c:v>
                </c:pt>
                <c:pt idx="157">
                  <c:v>159.53</c:v>
                </c:pt>
                <c:pt idx="158">
                  <c:v>159.07</c:v>
                </c:pt>
                <c:pt idx="159">
                  <c:v>158.57</c:v>
                </c:pt>
                <c:pt idx="160">
                  <c:v>158.06</c:v>
                </c:pt>
                <c:pt idx="161">
                  <c:v>157.5</c:v>
                </c:pt>
                <c:pt idx="162">
                  <c:v>157.04</c:v>
                </c:pt>
                <c:pt idx="163">
                  <c:v>156.58</c:v>
                </c:pt>
                <c:pt idx="164">
                  <c:v>156.1</c:v>
                </c:pt>
                <c:pt idx="165">
                  <c:v>155.65</c:v>
                </c:pt>
                <c:pt idx="166">
                  <c:v>155.17</c:v>
                </c:pt>
                <c:pt idx="167">
                  <c:v>154.72</c:v>
                </c:pt>
                <c:pt idx="168">
                  <c:v>154.22</c:v>
                </c:pt>
                <c:pt idx="169">
                  <c:v>153.67</c:v>
                </c:pt>
                <c:pt idx="170">
                  <c:v>153.23</c:v>
                </c:pt>
                <c:pt idx="171">
                  <c:v>152.69</c:v>
                </c:pt>
                <c:pt idx="172">
                  <c:v>152.18</c:v>
                </c:pt>
                <c:pt idx="173">
                  <c:v>151.66</c:v>
                </c:pt>
                <c:pt idx="174">
                  <c:v>151.09</c:v>
                </c:pt>
                <c:pt idx="175">
                  <c:v>150.56</c:v>
                </c:pt>
                <c:pt idx="176">
                  <c:v>150.47</c:v>
                </c:pt>
                <c:pt idx="177">
                  <c:v>150.48</c:v>
                </c:pt>
                <c:pt idx="178">
                  <c:v>150.48</c:v>
                </c:pt>
                <c:pt idx="179">
                  <c:v>150.47</c:v>
                </c:pt>
              </c:numCache>
            </c:numRef>
          </c:val>
          <c:smooth val="0"/>
        </c:ser>
        <c:ser>
          <c:idx val="2"/>
          <c:order val="2"/>
          <c:tx>
            <c:strRef>
              <c:f>Sheet1!$D$1</c:f>
              <c:strCache>
                <c:ptCount val="1"/>
                <c:pt idx="0">
                  <c:v>Lowest allowed, 263 K</c:v>
                </c:pt>
              </c:strCache>
            </c:strRef>
          </c:tx>
          <c:spPr>
            <a:solidFill>
              <a:srgbClr val="B8C1CE"/>
            </a:solidFill>
            <a:ln w="28575" cap="flat">
              <a:solidFill>
                <a:srgbClr val="B8C1CE"/>
              </a:solidFill>
              <a:prstDash val="solid"/>
              <a:round/>
            </a:ln>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c:symbol val="none"/>
            <c:size val="6"/>
            <c:spPr>
              <a:solidFill>
                <a:srgbClr val="B8C1CE"/>
              </a:solidFill>
              <a:ln w="9525" cap="flat">
                <a:solidFill>
                  <a:srgbClr val="B8C1CE"/>
                </a:solidFill>
                <a:prstDash val="solid"/>
                <a:round/>
              </a:ln>
              <a:effectLst/>
            </c:spPr>
          </c:marker>
          <c:cat>
            <c:multiLvlStrRef>
              <c:f>Sheet1!$A$2:$A$181</c:f>
              <c:multiLvlStrCache>
                <c:ptCount val="180"/>
                <c:lvl>
                  <c:pt idx="0">
                    <c:v>0</c:v>
                  </c:pt>
                  <c:pt idx="1">
                    <c:v>100</c:v>
                  </c:pt>
                  <c:pt idx="2">
                    <c:v>100</c:v>
                  </c:pt>
                  <c:pt idx="3">
                    <c:v>200</c:v>
                  </c:pt>
                  <c:pt idx="4">
                    <c:v>200</c:v>
                  </c:pt>
                  <c:pt idx="5">
                    <c:v>300</c:v>
                  </c:pt>
                  <c:pt idx="6">
                    <c:v>300</c:v>
                  </c:pt>
                  <c:pt idx="7">
                    <c:v>400</c:v>
                  </c:pt>
                  <c:pt idx="8">
                    <c:v>400</c:v>
                  </c:pt>
                  <c:pt idx="9">
                    <c:v>500</c:v>
                  </c:pt>
                  <c:pt idx="10">
                    <c:v>500</c:v>
                  </c:pt>
                  <c:pt idx="11">
                    <c:v>600</c:v>
                  </c:pt>
                  <c:pt idx="12">
                    <c:v>600</c:v>
                  </c:pt>
                  <c:pt idx="13">
                    <c:v>700</c:v>
                  </c:pt>
                  <c:pt idx="14">
                    <c:v>700</c:v>
                  </c:pt>
                  <c:pt idx="15">
                    <c:v>700</c:v>
                  </c:pt>
                  <c:pt idx="16">
                    <c:v>800</c:v>
                  </c:pt>
                  <c:pt idx="17">
                    <c:v>900</c:v>
                  </c:pt>
                  <c:pt idx="18">
                    <c:v>900</c:v>
                  </c:pt>
                  <c:pt idx="19">
                    <c:v>1,000</c:v>
                  </c:pt>
                  <c:pt idx="20">
                    <c:v>1,000</c:v>
                  </c:pt>
                  <c:pt idx="21">
                    <c:v>1,100</c:v>
                  </c:pt>
                  <c:pt idx="22">
                    <c:v>1,100</c:v>
                  </c:pt>
                  <c:pt idx="23">
                    <c:v>1,100</c:v>
                  </c:pt>
                  <c:pt idx="24">
                    <c:v>1,200</c:v>
                  </c:pt>
                  <c:pt idx="25">
                    <c:v>1,200</c:v>
                  </c:pt>
                  <c:pt idx="26">
                    <c:v>1,300</c:v>
                  </c:pt>
                  <c:pt idx="27">
                    <c:v>1,400</c:v>
                  </c:pt>
                  <c:pt idx="28">
                    <c:v>1,400</c:v>
                  </c:pt>
                  <c:pt idx="29">
                    <c:v>1,500</c:v>
                  </c:pt>
                  <c:pt idx="30">
                    <c:v>1,500</c:v>
                  </c:pt>
                  <c:pt idx="31">
                    <c:v>1,500</c:v>
                  </c:pt>
                  <c:pt idx="32">
                    <c:v>1,600</c:v>
                  </c:pt>
                  <c:pt idx="33">
                    <c:v>1,600</c:v>
                  </c:pt>
                  <c:pt idx="34">
                    <c:v>1,700</c:v>
                  </c:pt>
                  <c:pt idx="35">
                    <c:v>1,700</c:v>
                  </c:pt>
                  <c:pt idx="36">
                    <c:v>1,800</c:v>
                  </c:pt>
                  <c:pt idx="37">
                    <c:v>1,900</c:v>
                  </c:pt>
                  <c:pt idx="38">
                    <c:v>1,900</c:v>
                  </c:pt>
                  <c:pt idx="39">
                    <c:v>1,900</c:v>
                  </c:pt>
                  <c:pt idx="40">
                    <c:v>2,000</c:v>
                  </c:pt>
                  <c:pt idx="41">
                    <c:v>2,000</c:v>
                  </c:pt>
                  <c:pt idx="42">
                    <c:v>2,100</c:v>
                  </c:pt>
                  <c:pt idx="43">
                    <c:v>2,100</c:v>
                  </c:pt>
                  <c:pt idx="44">
                    <c:v>2,200</c:v>
                  </c:pt>
                  <c:pt idx="45">
                    <c:v>2,200</c:v>
                  </c:pt>
                  <c:pt idx="46">
                    <c:v>2,300</c:v>
                  </c:pt>
                  <c:pt idx="47">
                    <c:v>2,300</c:v>
                  </c:pt>
                  <c:pt idx="48">
                    <c:v>2,400</c:v>
                  </c:pt>
                  <c:pt idx="49">
                    <c:v>2,400</c:v>
                  </c:pt>
                  <c:pt idx="50">
                    <c:v>2,500</c:v>
                  </c:pt>
                  <c:pt idx="51">
                    <c:v>2,500</c:v>
                  </c:pt>
                  <c:pt idx="52">
                    <c:v>2,600</c:v>
                  </c:pt>
                  <c:pt idx="53">
                    <c:v>2,600</c:v>
                  </c:pt>
                  <c:pt idx="54">
                    <c:v>2,700</c:v>
                  </c:pt>
                  <c:pt idx="55">
                    <c:v>2,700</c:v>
                  </c:pt>
                  <c:pt idx="56">
                    <c:v>2,800</c:v>
                  </c:pt>
                  <c:pt idx="57">
                    <c:v>2,800</c:v>
                  </c:pt>
                  <c:pt idx="58">
                    <c:v>2,900</c:v>
                  </c:pt>
                  <c:pt idx="59">
                    <c:v>2,900</c:v>
                  </c:pt>
                  <c:pt idx="60">
                    <c:v>3,000</c:v>
                  </c:pt>
                  <c:pt idx="61">
                    <c:v>3,000</c:v>
                  </c:pt>
                  <c:pt idx="62">
                    <c:v>3,100</c:v>
                  </c:pt>
                  <c:pt idx="63">
                    <c:v>3,100</c:v>
                  </c:pt>
                  <c:pt idx="64">
                    <c:v>3,200</c:v>
                  </c:pt>
                  <c:pt idx="65">
                    <c:v>3,200</c:v>
                  </c:pt>
                  <c:pt idx="66">
                    <c:v>3,300</c:v>
                  </c:pt>
                  <c:pt idx="67">
                    <c:v>3,300</c:v>
                  </c:pt>
                  <c:pt idx="68">
                    <c:v>3,400</c:v>
                  </c:pt>
                  <c:pt idx="69">
                    <c:v>3,400</c:v>
                  </c:pt>
                  <c:pt idx="70">
                    <c:v>3,500</c:v>
                  </c:pt>
                  <c:pt idx="71">
                    <c:v>3,500</c:v>
                  </c:pt>
                  <c:pt idx="72">
                    <c:v>3,600</c:v>
                  </c:pt>
                  <c:pt idx="73">
                    <c:v>3,600</c:v>
                  </c:pt>
                  <c:pt idx="74">
                    <c:v>3,700</c:v>
                  </c:pt>
                  <c:pt idx="75">
                    <c:v>3,700</c:v>
                  </c:pt>
                  <c:pt idx="76">
                    <c:v>3,800</c:v>
                  </c:pt>
                  <c:pt idx="77">
                    <c:v>3,800</c:v>
                  </c:pt>
                  <c:pt idx="78">
                    <c:v>3,900</c:v>
                  </c:pt>
                  <c:pt idx="79">
                    <c:v>3,900</c:v>
                  </c:pt>
                  <c:pt idx="80">
                    <c:v>4,000</c:v>
                  </c:pt>
                  <c:pt idx="81">
                    <c:v>4,000</c:v>
                  </c:pt>
                  <c:pt idx="82">
                    <c:v>4,100</c:v>
                  </c:pt>
                  <c:pt idx="83">
                    <c:v>4,100</c:v>
                  </c:pt>
                  <c:pt idx="84">
                    <c:v>4,200</c:v>
                  </c:pt>
                  <c:pt idx="85">
                    <c:v>4,200</c:v>
                  </c:pt>
                  <c:pt idx="86">
                    <c:v>4,300</c:v>
                  </c:pt>
                  <c:pt idx="87">
                    <c:v>4,300</c:v>
                  </c:pt>
                  <c:pt idx="88">
                    <c:v>4,400</c:v>
                  </c:pt>
                  <c:pt idx="89">
                    <c:v>4,400</c:v>
                  </c:pt>
                  <c:pt idx="90">
                    <c:v>4,500</c:v>
                  </c:pt>
                  <c:pt idx="91">
                    <c:v>4,500</c:v>
                  </c:pt>
                  <c:pt idx="92">
                    <c:v>4,600</c:v>
                  </c:pt>
                  <c:pt idx="93">
                    <c:v>4,600</c:v>
                  </c:pt>
                  <c:pt idx="94">
                    <c:v>4,700</c:v>
                  </c:pt>
                  <c:pt idx="95">
                    <c:v>4,700</c:v>
                  </c:pt>
                  <c:pt idx="96">
                    <c:v>4,800</c:v>
                  </c:pt>
                  <c:pt idx="97">
                    <c:v>4,800</c:v>
                  </c:pt>
                  <c:pt idx="98">
                    <c:v>4,900</c:v>
                  </c:pt>
                  <c:pt idx="99">
                    <c:v>4,900</c:v>
                  </c:pt>
                  <c:pt idx="100">
                    <c:v>5,000</c:v>
                  </c:pt>
                  <c:pt idx="101">
                    <c:v>5,000</c:v>
                  </c:pt>
                  <c:pt idx="102">
                    <c:v>5,100</c:v>
                  </c:pt>
                  <c:pt idx="103">
                    <c:v>5,100</c:v>
                  </c:pt>
                  <c:pt idx="104">
                    <c:v>5,200</c:v>
                  </c:pt>
                  <c:pt idx="105">
                    <c:v>5,200</c:v>
                  </c:pt>
                  <c:pt idx="106">
                    <c:v>5,300</c:v>
                  </c:pt>
                  <c:pt idx="107">
                    <c:v>5,300</c:v>
                  </c:pt>
                  <c:pt idx="108">
                    <c:v>5,400</c:v>
                  </c:pt>
                  <c:pt idx="109">
                    <c:v>5,400</c:v>
                  </c:pt>
                  <c:pt idx="110">
                    <c:v>5,500</c:v>
                  </c:pt>
                  <c:pt idx="111">
                    <c:v>5,500</c:v>
                  </c:pt>
                  <c:pt idx="112">
                    <c:v>5,600</c:v>
                  </c:pt>
                  <c:pt idx="113">
                    <c:v>5,600</c:v>
                  </c:pt>
                  <c:pt idx="114">
                    <c:v>5,700</c:v>
                  </c:pt>
                  <c:pt idx="115">
                    <c:v>5,700</c:v>
                  </c:pt>
                  <c:pt idx="116">
                    <c:v>5,800</c:v>
                  </c:pt>
                  <c:pt idx="117">
                    <c:v>5,800</c:v>
                  </c:pt>
                  <c:pt idx="118">
                    <c:v>5,900</c:v>
                  </c:pt>
                  <c:pt idx="119">
                    <c:v>5,900</c:v>
                  </c:pt>
                  <c:pt idx="120">
                    <c:v>6,000</c:v>
                  </c:pt>
                  <c:pt idx="121">
                    <c:v>6,000</c:v>
                  </c:pt>
                  <c:pt idx="122">
                    <c:v>6,100</c:v>
                  </c:pt>
                  <c:pt idx="123">
                    <c:v>6,100</c:v>
                  </c:pt>
                  <c:pt idx="124">
                    <c:v>6,200</c:v>
                  </c:pt>
                  <c:pt idx="125">
                    <c:v>6,200</c:v>
                  </c:pt>
                  <c:pt idx="126">
                    <c:v>6,300</c:v>
                  </c:pt>
                  <c:pt idx="127">
                    <c:v>6,300</c:v>
                  </c:pt>
                  <c:pt idx="128">
                    <c:v>6,400</c:v>
                  </c:pt>
                  <c:pt idx="129">
                    <c:v>6,400</c:v>
                  </c:pt>
                  <c:pt idx="130">
                    <c:v>6,500</c:v>
                  </c:pt>
                  <c:pt idx="131">
                    <c:v>6,500</c:v>
                  </c:pt>
                  <c:pt idx="132">
                    <c:v>6,600</c:v>
                  </c:pt>
                  <c:pt idx="133">
                    <c:v>6,600</c:v>
                  </c:pt>
                  <c:pt idx="134">
                    <c:v>6,700</c:v>
                  </c:pt>
                  <c:pt idx="135">
                    <c:v>6,700</c:v>
                  </c:pt>
                  <c:pt idx="136">
                    <c:v>6,800</c:v>
                  </c:pt>
                  <c:pt idx="137">
                    <c:v>6,800</c:v>
                  </c:pt>
                  <c:pt idx="138">
                    <c:v>6,900</c:v>
                  </c:pt>
                  <c:pt idx="139">
                    <c:v>6,900</c:v>
                  </c:pt>
                  <c:pt idx="140">
                    <c:v>7,000</c:v>
                  </c:pt>
                  <c:pt idx="141">
                    <c:v>7,000</c:v>
                  </c:pt>
                  <c:pt idx="142">
                    <c:v>7,100</c:v>
                  </c:pt>
                  <c:pt idx="143">
                    <c:v>7,100</c:v>
                  </c:pt>
                  <c:pt idx="144">
                    <c:v>7,200</c:v>
                  </c:pt>
                  <c:pt idx="145">
                    <c:v>7,200</c:v>
                  </c:pt>
                  <c:pt idx="146">
                    <c:v>7,300</c:v>
                  </c:pt>
                  <c:pt idx="147">
                    <c:v>7,300</c:v>
                  </c:pt>
                  <c:pt idx="148">
                    <c:v>7,400</c:v>
                  </c:pt>
                  <c:pt idx="149">
                    <c:v>7,400</c:v>
                  </c:pt>
                  <c:pt idx="150">
                    <c:v>7,500</c:v>
                  </c:pt>
                  <c:pt idx="151">
                    <c:v>7,500</c:v>
                  </c:pt>
                  <c:pt idx="152">
                    <c:v>7,600</c:v>
                  </c:pt>
                  <c:pt idx="153">
                    <c:v>7,600</c:v>
                  </c:pt>
                  <c:pt idx="154">
                    <c:v>7,700</c:v>
                  </c:pt>
                  <c:pt idx="155">
                    <c:v>7,700</c:v>
                  </c:pt>
                  <c:pt idx="156">
                    <c:v>7,800</c:v>
                  </c:pt>
                  <c:pt idx="157">
                    <c:v>7,800</c:v>
                  </c:pt>
                  <c:pt idx="158">
                    <c:v>7,900</c:v>
                  </c:pt>
                  <c:pt idx="159">
                    <c:v>7,900</c:v>
                  </c:pt>
                  <c:pt idx="160">
                    <c:v>8,000</c:v>
                  </c:pt>
                  <c:pt idx="161">
                    <c:v>8,000</c:v>
                  </c:pt>
                  <c:pt idx="162">
                    <c:v>8,100</c:v>
                  </c:pt>
                  <c:pt idx="163">
                    <c:v>8,100</c:v>
                  </c:pt>
                  <c:pt idx="164">
                    <c:v>8,200</c:v>
                  </c:pt>
                  <c:pt idx="165">
                    <c:v>8,200</c:v>
                  </c:pt>
                  <c:pt idx="166">
                    <c:v>8,300</c:v>
                  </c:pt>
                  <c:pt idx="167">
                    <c:v>8,300</c:v>
                  </c:pt>
                  <c:pt idx="168">
                    <c:v>8,400</c:v>
                  </c:pt>
                  <c:pt idx="169">
                    <c:v>8,400</c:v>
                  </c:pt>
                  <c:pt idx="170">
                    <c:v>8,500</c:v>
                  </c:pt>
                  <c:pt idx="171">
                    <c:v>8,500</c:v>
                  </c:pt>
                  <c:pt idx="172">
                    <c:v>8,600</c:v>
                  </c:pt>
                  <c:pt idx="173">
                    <c:v>8,600</c:v>
                  </c:pt>
                  <c:pt idx="174">
                    <c:v>8,700</c:v>
                  </c:pt>
                  <c:pt idx="175">
                    <c:v>8,700</c:v>
                  </c:pt>
                  <c:pt idx="176">
                    <c:v>8,800</c:v>
                  </c:pt>
                  <c:pt idx="177">
                    <c:v>8,800</c:v>
                  </c:pt>
                  <c:pt idx="178">
                    <c:v>8,900</c:v>
                  </c:pt>
                  <c:pt idx="179">
                    <c:v>8,900</c:v>
                  </c:pt>
                </c:lvl>
              </c:multiLvlStrCache>
            </c:multiLvlStrRef>
          </c:cat>
          <c:val>
            <c:numRef>
              <c:f>Sheet1!$D$2:$D$181</c:f>
              <c:numCache>
                <c:formatCode>General</c:formatCode>
                <c:ptCount val="180"/>
                <c:pt idx="0">
                  <c:v>263</c:v>
                </c:pt>
                <c:pt idx="1">
                  <c:v>263</c:v>
                </c:pt>
                <c:pt idx="2">
                  <c:v>263</c:v>
                </c:pt>
                <c:pt idx="3">
                  <c:v>263</c:v>
                </c:pt>
                <c:pt idx="4">
                  <c:v>263</c:v>
                </c:pt>
                <c:pt idx="5">
                  <c:v>263</c:v>
                </c:pt>
                <c:pt idx="6">
                  <c:v>263</c:v>
                </c:pt>
                <c:pt idx="7">
                  <c:v>263</c:v>
                </c:pt>
                <c:pt idx="8">
                  <c:v>263</c:v>
                </c:pt>
                <c:pt idx="9">
                  <c:v>263</c:v>
                </c:pt>
                <c:pt idx="10">
                  <c:v>263</c:v>
                </c:pt>
                <c:pt idx="11">
                  <c:v>263</c:v>
                </c:pt>
                <c:pt idx="12">
                  <c:v>263</c:v>
                </c:pt>
                <c:pt idx="13">
                  <c:v>263</c:v>
                </c:pt>
                <c:pt idx="14">
                  <c:v>263</c:v>
                </c:pt>
                <c:pt idx="15">
                  <c:v>263</c:v>
                </c:pt>
                <c:pt idx="16">
                  <c:v>263</c:v>
                </c:pt>
                <c:pt idx="17">
                  <c:v>263</c:v>
                </c:pt>
                <c:pt idx="18">
                  <c:v>263</c:v>
                </c:pt>
                <c:pt idx="19">
                  <c:v>263</c:v>
                </c:pt>
                <c:pt idx="20">
                  <c:v>263</c:v>
                </c:pt>
                <c:pt idx="21">
                  <c:v>263</c:v>
                </c:pt>
                <c:pt idx="22">
                  <c:v>263</c:v>
                </c:pt>
                <c:pt idx="23">
                  <c:v>263</c:v>
                </c:pt>
                <c:pt idx="24">
                  <c:v>263</c:v>
                </c:pt>
                <c:pt idx="25">
                  <c:v>263</c:v>
                </c:pt>
                <c:pt idx="26">
                  <c:v>263</c:v>
                </c:pt>
                <c:pt idx="27">
                  <c:v>263</c:v>
                </c:pt>
                <c:pt idx="28">
                  <c:v>263</c:v>
                </c:pt>
                <c:pt idx="29">
                  <c:v>263</c:v>
                </c:pt>
                <c:pt idx="30">
                  <c:v>263</c:v>
                </c:pt>
                <c:pt idx="31">
                  <c:v>263</c:v>
                </c:pt>
                <c:pt idx="32">
                  <c:v>263</c:v>
                </c:pt>
                <c:pt idx="33">
                  <c:v>263</c:v>
                </c:pt>
                <c:pt idx="34">
                  <c:v>263</c:v>
                </c:pt>
                <c:pt idx="35">
                  <c:v>263</c:v>
                </c:pt>
                <c:pt idx="36">
                  <c:v>263</c:v>
                </c:pt>
                <c:pt idx="37">
                  <c:v>263</c:v>
                </c:pt>
                <c:pt idx="38">
                  <c:v>263</c:v>
                </c:pt>
                <c:pt idx="39">
                  <c:v>263</c:v>
                </c:pt>
                <c:pt idx="40">
                  <c:v>263</c:v>
                </c:pt>
                <c:pt idx="41">
                  <c:v>263</c:v>
                </c:pt>
                <c:pt idx="42">
                  <c:v>263</c:v>
                </c:pt>
                <c:pt idx="43">
                  <c:v>263</c:v>
                </c:pt>
                <c:pt idx="44">
                  <c:v>263</c:v>
                </c:pt>
                <c:pt idx="45">
                  <c:v>263</c:v>
                </c:pt>
                <c:pt idx="46">
                  <c:v>263</c:v>
                </c:pt>
                <c:pt idx="47">
                  <c:v>263</c:v>
                </c:pt>
                <c:pt idx="48">
                  <c:v>263</c:v>
                </c:pt>
                <c:pt idx="49">
                  <c:v>263</c:v>
                </c:pt>
                <c:pt idx="50">
                  <c:v>263</c:v>
                </c:pt>
                <c:pt idx="51">
                  <c:v>263</c:v>
                </c:pt>
                <c:pt idx="52">
                  <c:v>263</c:v>
                </c:pt>
                <c:pt idx="53">
                  <c:v>263</c:v>
                </c:pt>
                <c:pt idx="54">
                  <c:v>263</c:v>
                </c:pt>
                <c:pt idx="55">
                  <c:v>263</c:v>
                </c:pt>
                <c:pt idx="56">
                  <c:v>263</c:v>
                </c:pt>
                <c:pt idx="57">
                  <c:v>263</c:v>
                </c:pt>
                <c:pt idx="58">
                  <c:v>263</c:v>
                </c:pt>
                <c:pt idx="59">
                  <c:v>263</c:v>
                </c:pt>
                <c:pt idx="60">
                  <c:v>263</c:v>
                </c:pt>
                <c:pt idx="61">
                  <c:v>263</c:v>
                </c:pt>
                <c:pt idx="62">
                  <c:v>263</c:v>
                </c:pt>
                <c:pt idx="63">
                  <c:v>263</c:v>
                </c:pt>
                <c:pt idx="64">
                  <c:v>263</c:v>
                </c:pt>
                <c:pt idx="65">
                  <c:v>263</c:v>
                </c:pt>
                <c:pt idx="66">
                  <c:v>263</c:v>
                </c:pt>
                <c:pt idx="67">
                  <c:v>263</c:v>
                </c:pt>
                <c:pt idx="68">
                  <c:v>263</c:v>
                </c:pt>
                <c:pt idx="69">
                  <c:v>263</c:v>
                </c:pt>
                <c:pt idx="70">
                  <c:v>263</c:v>
                </c:pt>
                <c:pt idx="71">
                  <c:v>263</c:v>
                </c:pt>
                <c:pt idx="72">
                  <c:v>263</c:v>
                </c:pt>
                <c:pt idx="73">
                  <c:v>263</c:v>
                </c:pt>
                <c:pt idx="74">
                  <c:v>263</c:v>
                </c:pt>
                <c:pt idx="75">
                  <c:v>263</c:v>
                </c:pt>
                <c:pt idx="76">
                  <c:v>263</c:v>
                </c:pt>
                <c:pt idx="77">
                  <c:v>263</c:v>
                </c:pt>
                <c:pt idx="78">
                  <c:v>263</c:v>
                </c:pt>
                <c:pt idx="79">
                  <c:v>263</c:v>
                </c:pt>
                <c:pt idx="80">
                  <c:v>263</c:v>
                </c:pt>
                <c:pt idx="81">
                  <c:v>263</c:v>
                </c:pt>
                <c:pt idx="82">
                  <c:v>263</c:v>
                </c:pt>
                <c:pt idx="83">
                  <c:v>263</c:v>
                </c:pt>
                <c:pt idx="84">
                  <c:v>263</c:v>
                </c:pt>
                <c:pt idx="85">
                  <c:v>263</c:v>
                </c:pt>
                <c:pt idx="86">
                  <c:v>263</c:v>
                </c:pt>
                <c:pt idx="87">
                  <c:v>263</c:v>
                </c:pt>
                <c:pt idx="88">
                  <c:v>263</c:v>
                </c:pt>
                <c:pt idx="89">
                  <c:v>263</c:v>
                </c:pt>
                <c:pt idx="90">
                  <c:v>263</c:v>
                </c:pt>
                <c:pt idx="91">
                  <c:v>263</c:v>
                </c:pt>
                <c:pt idx="92">
                  <c:v>263</c:v>
                </c:pt>
                <c:pt idx="93">
                  <c:v>263</c:v>
                </c:pt>
                <c:pt idx="94">
                  <c:v>263</c:v>
                </c:pt>
                <c:pt idx="95">
                  <c:v>263</c:v>
                </c:pt>
                <c:pt idx="96">
                  <c:v>263</c:v>
                </c:pt>
                <c:pt idx="97">
                  <c:v>263</c:v>
                </c:pt>
                <c:pt idx="98">
                  <c:v>263</c:v>
                </c:pt>
                <c:pt idx="99">
                  <c:v>263</c:v>
                </c:pt>
                <c:pt idx="100">
                  <c:v>263</c:v>
                </c:pt>
                <c:pt idx="101">
                  <c:v>263</c:v>
                </c:pt>
                <c:pt idx="102">
                  <c:v>263</c:v>
                </c:pt>
                <c:pt idx="103">
                  <c:v>263</c:v>
                </c:pt>
                <c:pt idx="104">
                  <c:v>263</c:v>
                </c:pt>
                <c:pt idx="105">
                  <c:v>263</c:v>
                </c:pt>
                <c:pt idx="106">
                  <c:v>263</c:v>
                </c:pt>
                <c:pt idx="107">
                  <c:v>263</c:v>
                </c:pt>
                <c:pt idx="108">
                  <c:v>263</c:v>
                </c:pt>
                <c:pt idx="109">
                  <c:v>263</c:v>
                </c:pt>
                <c:pt idx="110">
                  <c:v>263</c:v>
                </c:pt>
                <c:pt idx="111">
                  <c:v>263</c:v>
                </c:pt>
                <c:pt idx="112">
                  <c:v>263</c:v>
                </c:pt>
                <c:pt idx="113">
                  <c:v>263</c:v>
                </c:pt>
                <c:pt idx="114">
                  <c:v>263</c:v>
                </c:pt>
                <c:pt idx="115">
                  <c:v>263</c:v>
                </c:pt>
                <c:pt idx="116">
                  <c:v>263</c:v>
                </c:pt>
                <c:pt idx="117">
                  <c:v>263</c:v>
                </c:pt>
                <c:pt idx="118">
                  <c:v>263</c:v>
                </c:pt>
                <c:pt idx="119">
                  <c:v>263</c:v>
                </c:pt>
                <c:pt idx="120">
                  <c:v>263</c:v>
                </c:pt>
                <c:pt idx="121">
                  <c:v>263</c:v>
                </c:pt>
                <c:pt idx="122">
                  <c:v>263</c:v>
                </c:pt>
                <c:pt idx="123">
                  <c:v>263</c:v>
                </c:pt>
                <c:pt idx="124">
                  <c:v>263</c:v>
                </c:pt>
                <c:pt idx="125">
                  <c:v>263</c:v>
                </c:pt>
                <c:pt idx="126">
                  <c:v>263</c:v>
                </c:pt>
                <c:pt idx="127">
                  <c:v>263</c:v>
                </c:pt>
                <c:pt idx="128">
                  <c:v>263</c:v>
                </c:pt>
                <c:pt idx="129">
                  <c:v>263</c:v>
                </c:pt>
                <c:pt idx="130">
                  <c:v>263</c:v>
                </c:pt>
                <c:pt idx="131">
                  <c:v>263</c:v>
                </c:pt>
                <c:pt idx="132">
                  <c:v>263</c:v>
                </c:pt>
                <c:pt idx="133">
                  <c:v>263</c:v>
                </c:pt>
                <c:pt idx="134">
                  <c:v>263</c:v>
                </c:pt>
                <c:pt idx="135">
                  <c:v>263</c:v>
                </c:pt>
                <c:pt idx="136">
                  <c:v>263</c:v>
                </c:pt>
                <c:pt idx="137">
                  <c:v>263</c:v>
                </c:pt>
                <c:pt idx="138">
                  <c:v>263</c:v>
                </c:pt>
                <c:pt idx="139">
                  <c:v>263</c:v>
                </c:pt>
                <c:pt idx="140">
                  <c:v>263</c:v>
                </c:pt>
                <c:pt idx="141">
                  <c:v>263</c:v>
                </c:pt>
                <c:pt idx="142">
                  <c:v>263</c:v>
                </c:pt>
                <c:pt idx="143">
                  <c:v>263</c:v>
                </c:pt>
                <c:pt idx="144">
                  <c:v>263</c:v>
                </c:pt>
                <c:pt idx="145">
                  <c:v>263</c:v>
                </c:pt>
                <c:pt idx="146">
                  <c:v>263</c:v>
                </c:pt>
                <c:pt idx="147">
                  <c:v>263</c:v>
                </c:pt>
                <c:pt idx="148">
                  <c:v>263</c:v>
                </c:pt>
                <c:pt idx="149">
                  <c:v>263</c:v>
                </c:pt>
                <c:pt idx="150">
                  <c:v>263</c:v>
                </c:pt>
                <c:pt idx="151">
                  <c:v>263</c:v>
                </c:pt>
                <c:pt idx="152">
                  <c:v>263</c:v>
                </c:pt>
                <c:pt idx="153">
                  <c:v>263</c:v>
                </c:pt>
                <c:pt idx="154">
                  <c:v>263</c:v>
                </c:pt>
                <c:pt idx="155">
                  <c:v>263</c:v>
                </c:pt>
                <c:pt idx="156">
                  <c:v>263</c:v>
                </c:pt>
                <c:pt idx="157">
                  <c:v>263</c:v>
                </c:pt>
                <c:pt idx="158">
                  <c:v>263</c:v>
                </c:pt>
                <c:pt idx="159">
                  <c:v>263</c:v>
                </c:pt>
                <c:pt idx="160">
                  <c:v>263</c:v>
                </c:pt>
                <c:pt idx="161">
                  <c:v>263</c:v>
                </c:pt>
                <c:pt idx="162">
                  <c:v>263</c:v>
                </c:pt>
                <c:pt idx="163">
                  <c:v>263</c:v>
                </c:pt>
                <c:pt idx="164">
                  <c:v>263</c:v>
                </c:pt>
                <c:pt idx="165">
                  <c:v>263</c:v>
                </c:pt>
                <c:pt idx="166">
                  <c:v>263</c:v>
                </c:pt>
                <c:pt idx="167">
                  <c:v>263</c:v>
                </c:pt>
                <c:pt idx="168">
                  <c:v>263</c:v>
                </c:pt>
                <c:pt idx="169">
                  <c:v>263</c:v>
                </c:pt>
                <c:pt idx="170">
                  <c:v>263</c:v>
                </c:pt>
                <c:pt idx="171">
                  <c:v>263</c:v>
                </c:pt>
                <c:pt idx="172">
                  <c:v>263</c:v>
                </c:pt>
                <c:pt idx="173">
                  <c:v>263</c:v>
                </c:pt>
                <c:pt idx="174">
                  <c:v>263</c:v>
                </c:pt>
                <c:pt idx="175">
                  <c:v>263</c:v>
                </c:pt>
                <c:pt idx="176">
                  <c:v>263</c:v>
                </c:pt>
                <c:pt idx="177">
                  <c:v>263</c:v>
                </c:pt>
                <c:pt idx="178">
                  <c:v>263</c:v>
                </c:pt>
                <c:pt idx="179">
                  <c:v>263</c:v>
                </c:pt>
              </c:numCache>
            </c:numRef>
          </c:val>
          <c:smooth val="0"/>
        </c:ser>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CE6"/>
            </a:solidFill>
            <a:prstDash val="solid"/>
            <a:round/>
          </a:ln>
        </c:spPr>
        <c:txPr>
          <a:bodyPr/>
          <a:lstStyle/>
          <a:p>
            <a:pPr>
              <a:defRPr sz="1000" b="0" i="0" u="none" strike="noStrike">
                <a:solidFill>
                  <a:srgbClr val="566173"/>
                </a:solidFill>
                <a:latin typeface="Calibri"/>
              </a:defRPr>
            </a:pPr>
            <a:endParaRPr lang="en-US"/>
          </a:p>
        </c:txPr>
        <c:crossAx val="2094734552"/>
        <c:crosses val="autoZero"/>
        <c:auto val="1"/>
        <c:lblAlgn val="ctr"/>
        <c:noMultiLvlLbl val="1"/>
        <c:tickLblSkip val="30"/>
      </c:catAx>
      <c:valAx>
        <c:axId val="2094734552"/>
        <c:scaling>
          <c:orientation val="minMax"/>
          <c:max val="300"/>
          <c:min val="140"/>
        </c:scaling>
        <c:delete val="0"/>
        <c:axPos val="l"/>
        <c:majorGridlines>
          <c:spPr>
            <a:ln w="6350" cap="flat">
              <a:solidFill>
                <a:srgbClr val="D5DCE6"/>
              </a:solidFill>
              <a:prstDash val="solid"/>
              <a:round/>
            </a:ln>
          </c:spPr>
        </c:majorGridlines>
        <c:title>
          <c:tx>
            <c:rich>
              <a:bodyPr/>
              <a:lstStyle/>
              <a:p>
                <a:pPr>
                  <a:defRPr sz="1000" b="0" i="0" u="none" strike="noStrike">
                    <a:solidFill>
                      <a:srgbClr val="566173"/>
                    </a:solidFill>
                    <a:latin typeface="Calibri"/>
                  </a:defRPr>
                </a:pPr>
                <a:r>
                  <a:rPr sz="1000" b="0" i="0" u="none" strike="noStrike">
                    <a:solidFill>
                      <a:srgbClr val="566173"/>
                    </a:solidFill>
                    <a:latin typeface="Calibri"/>
                  </a:rPr>
                  <a:t>global mean (K)</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566173"/>
                </a:solidFill>
                <a:latin typeface="Calibri"/>
              </a:defRPr>
            </a:pPr>
            <a:endParaRPr lang="en-US"/>
          </a:p>
        </c:txPr>
        <c:crossAx val="2094734554"/>
        <c:crosses val="autoZero"/>
        <c:crossBetween val="between"/>
        <c:majorUnit val="40"/>
      </c:valAx>
      <c:spPr>
        <a:noFill/>
        <a:ln>
          <a:noFill/>
        </a:ln>
        <a:effectLst/>
      </c:spPr>
    </c:plotArea>
    <c:legend>
      <c:legendPos val="t"/>
      <c:overlay val="0"/>
      <c:txPr>
        <a:bodyPr/>
        <a:lstStyle/>
        <a:p>
          <a:pPr>
            <a:defRPr sz="1000">
              <a:solidFill>
                <a:srgbClr val="56617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moved Earth</c:v>
                </c:pt>
              </c:strCache>
            </c:strRef>
          </c:tx>
          <c:spPr>
            <a:solidFill>
              <a:srgbClr val="2A9D8F"/>
            </a:solidFill>
            <a:ln w="22225" cap="flat">
              <a:solidFill>
                <a:srgbClr val="2A9D8F"/>
              </a:solidFill>
              <a:prstDash val="solid"/>
              <a:round/>
            </a:ln>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c:symbol val="none"/>
            <c:size val="6"/>
            <c:spPr>
              <a:solidFill>
                <a:srgbClr val="2A9D8F"/>
              </a:solidFill>
              <a:ln w="9525" cap="flat">
                <a:solidFill>
                  <a:srgbClr val="2A9D8F"/>
                </a:solidFill>
                <a:prstDash val="solid"/>
                <a:round/>
              </a:ln>
              <a:effectLst/>
            </c:spPr>
          </c:marker>
          <c:cat>
            <c:multiLvlStrRef>
              <c:f>Sheet1!$A$2:$A$102</c:f>
              <c:multiLvlStrCache>
                <c:ptCount val="101"/>
                <c:lvl>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lvl>
              </c:multiLvlStrCache>
            </c:multiLvlStrRef>
          </c:cat>
          <c:val>
            <c:numRef>
              <c:f>Sheet1!$B$2:$B$102</c:f>
              <c:numCache>
                <c:formatCode>General</c:formatCode>
                <c:ptCount val="101"/>
                <c:pt idx="0">
                  <c:v>21.847</c:v>
                </c:pt>
                <c:pt idx="1">
                  <c:v>21.83</c:v>
                </c:pt>
                <c:pt idx="2">
                  <c:v>22.24</c:v>
                </c:pt>
                <c:pt idx="3">
                  <c:v>22.908</c:v>
                </c:pt>
                <c:pt idx="4">
                  <c:v>23.633</c:v>
                </c:pt>
                <c:pt idx="5">
                  <c:v>24.305</c:v>
                </c:pt>
                <c:pt idx="6">
                  <c:v>24.926</c:v>
                </c:pt>
                <c:pt idx="7">
                  <c:v>25.5</c:v>
                </c:pt>
                <c:pt idx="8">
                  <c:v>25.939</c:v>
                </c:pt>
                <c:pt idx="9">
                  <c:v>26.09</c:v>
                </c:pt>
                <c:pt idx="10">
                  <c:v>25.851</c:v>
                </c:pt>
                <c:pt idx="11">
                  <c:v>25.249</c:v>
                </c:pt>
                <c:pt idx="12">
                  <c:v>24.424</c:v>
                </c:pt>
                <c:pt idx="13">
                  <c:v>23.576</c:v>
                </c:pt>
                <c:pt idx="14">
                  <c:v>22.865</c:v>
                </c:pt>
                <c:pt idx="15">
                  <c:v>22.364</c:v>
                </c:pt>
                <c:pt idx="16">
                  <c:v>22.081</c:v>
                </c:pt>
                <c:pt idx="17">
                  <c:v>22.04</c:v>
                </c:pt>
                <c:pt idx="18">
                  <c:v>22.283</c:v>
                </c:pt>
                <c:pt idx="19">
                  <c:v>22.825</c:v>
                </c:pt>
                <c:pt idx="20">
                  <c:v>23.607</c:v>
                </c:pt>
                <c:pt idx="21">
                  <c:v>24.502</c:v>
                </c:pt>
                <c:pt idx="22">
                  <c:v>25.32</c:v>
                </c:pt>
                <c:pt idx="23">
                  <c:v>25.857</c:v>
                </c:pt>
                <c:pt idx="24">
                  <c:v>26.008</c:v>
                </c:pt>
                <c:pt idx="25">
                  <c:v>25.834</c:v>
                </c:pt>
                <c:pt idx="26">
                  <c:v>25.48</c:v>
                </c:pt>
                <c:pt idx="27">
                  <c:v>25.026</c:v>
                </c:pt>
                <c:pt idx="28">
                  <c:v>24.443</c:v>
                </c:pt>
                <c:pt idx="29">
                  <c:v>23.699</c:v>
                </c:pt>
                <c:pt idx="30">
                  <c:v>22.872</c:v>
                </c:pt>
                <c:pt idx="31">
                  <c:v>22.148</c:v>
                </c:pt>
                <c:pt idx="32">
                  <c:v>21.745</c:v>
                </c:pt>
                <c:pt idx="33">
                  <c:v>21.818</c:v>
                </c:pt>
                <c:pt idx="34">
                  <c:v>22.367</c:v>
                </c:pt>
                <c:pt idx="35">
                  <c:v>23.209</c:v>
                </c:pt>
                <c:pt idx="36">
                  <c:v>24.079</c:v>
                </c:pt>
                <c:pt idx="37">
                  <c:v>24.791</c:v>
                </c:pt>
                <c:pt idx="38">
                  <c:v>25.306</c:v>
                </c:pt>
                <c:pt idx="39">
                  <c:v>25.672</c:v>
                </c:pt>
                <c:pt idx="40">
                  <c:v>25.906</c:v>
                </c:pt>
                <c:pt idx="41">
                  <c:v>25.936</c:v>
                </c:pt>
                <c:pt idx="42">
                  <c:v>25.649</c:v>
                </c:pt>
                <c:pt idx="43">
                  <c:v>25.004</c:v>
                </c:pt>
                <c:pt idx="44">
                  <c:v>24.112</c:v>
                </c:pt>
                <c:pt idx="45">
                  <c:v>23.19</c:v>
                </c:pt>
                <c:pt idx="46">
                  <c:v>22.464</c:v>
                </c:pt>
                <c:pt idx="47">
                  <c:v>22.068</c:v>
                </c:pt>
                <c:pt idx="48">
                  <c:v>22.012</c:v>
                </c:pt>
                <c:pt idx="49">
                  <c:v>22.232</c:v>
                </c:pt>
                <c:pt idx="50">
                  <c:v>22.666</c:v>
                </c:pt>
                <c:pt idx="51">
                  <c:v>23.258</c:v>
                </c:pt>
                <c:pt idx="52">
                  <c:v>23.97</c:v>
                </c:pt>
                <c:pt idx="53">
                  <c:v>24.753</c:v>
                </c:pt>
                <c:pt idx="54">
                  <c:v>25.494</c:v>
                </c:pt>
                <c:pt idx="55">
                  <c:v>26.005</c:v>
                </c:pt>
                <c:pt idx="56">
                  <c:v>26.12</c:v>
                </c:pt>
                <c:pt idx="57">
                  <c:v>25.825</c:v>
                </c:pt>
                <c:pt idx="58">
                  <c:v>25.262</c:v>
                </c:pt>
                <c:pt idx="59">
                  <c:v>24.607</c:v>
                </c:pt>
                <c:pt idx="60">
                  <c:v>23.935</c:v>
                </c:pt>
                <c:pt idx="61">
                  <c:v>23.249</c:v>
                </c:pt>
                <c:pt idx="62">
                  <c:v>22.583</c:v>
                </c:pt>
                <c:pt idx="63">
                  <c:v>22.061</c:v>
                </c:pt>
                <c:pt idx="64">
                  <c:v>21.833</c:v>
                </c:pt>
                <c:pt idx="65">
                  <c:v>22.013</c:v>
                </c:pt>
                <c:pt idx="66">
                  <c:v>22.618</c:v>
                </c:pt>
                <c:pt idx="67">
                  <c:v>23.517</c:v>
                </c:pt>
                <c:pt idx="68">
                  <c:v>24.456</c:v>
                </c:pt>
                <c:pt idx="69">
                  <c:v>25.19</c:v>
                </c:pt>
                <c:pt idx="70">
                  <c:v>25.626</c:v>
                </c:pt>
                <c:pt idx="71">
                  <c:v>25.806</c:v>
                </c:pt>
                <c:pt idx="72">
                  <c:v>25.813</c:v>
                </c:pt>
                <c:pt idx="73">
                  <c:v>25.665</c:v>
                </c:pt>
                <c:pt idx="74">
                  <c:v>25.314</c:v>
                </c:pt>
                <c:pt idx="75">
                  <c:v>24.703</c:v>
                </c:pt>
                <c:pt idx="76">
                  <c:v>23.852</c:v>
                </c:pt>
                <c:pt idx="77">
                  <c:v>22.918</c:v>
                </c:pt>
                <c:pt idx="78">
                  <c:v>22.162</c:v>
                </c:pt>
                <c:pt idx="79">
                  <c:v>21.808</c:v>
                </c:pt>
                <c:pt idx="80">
                  <c:v>21.91</c:v>
                </c:pt>
                <c:pt idx="81">
                  <c:v>22.375</c:v>
                </c:pt>
                <c:pt idx="82">
                  <c:v>23.046</c:v>
                </c:pt>
                <c:pt idx="83">
                  <c:v>23.769</c:v>
                </c:pt>
                <c:pt idx="84">
                  <c:v>24.443</c:v>
                </c:pt>
                <c:pt idx="85">
                  <c:v>25.062</c:v>
                </c:pt>
                <c:pt idx="86">
                  <c:v>25.623</c:v>
                </c:pt>
                <c:pt idx="87">
                  <c:v>26.022</c:v>
                </c:pt>
                <c:pt idx="88">
                  <c:v>26.087</c:v>
                </c:pt>
                <c:pt idx="89">
                  <c:v>25.728</c:v>
                </c:pt>
                <c:pt idx="90">
                  <c:v>25.029</c:v>
                </c:pt>
                <c:pt idx="91">
                  <c:v>24.198</c:v>
                </c:pt>
                <c:pt idx="92">
                  <c:v>23.416</c:v>
                </c:pt>
                <c:pt idx="93">
                  <c:v>22.772</c:v>
                </c:pt>
                <c:pt idx="94">
                  <c:v>22.311</c:v>
                </c:pt>
                <c:pt idx="95">
                  <c:v>22.068</c:v>
                </c:pt>
                <c:pt idx="96">
                  <c:v>22.075</c:v>
                </c:pt>
                <c:pt idx="97">
                  <c:v>22.368</c:v>
                </c:pt>
                <c:pt idx="98">
                  <c:v>22.961</c:v>
                </c:pt>
                <c:pt idx="99">
                  <c:v>23.796</c:v>
                </c:pt>
                <c:pt idx="100">
                  <c:v>24.71</c:v>
                </c:pt>
              </c:numCache>
            </c:numRef>
          </c:val>
          <c:smooth val="0"/>
        </c:ser>
        <c:ser>
          <c:idx val="1"/>
          <c:order val="1"/>
          <c:tx>
            <c:strRef>
              <c:f>Sheet1!$C$1</c:f>
              <c:strCache>
                <c:ptCount val="1"/>
                <c:pt idx="0">
                  <c:v>real Earth</c:v>
                </c:pt>
              </c:strCache>
            </c:strRef>
          </c:tx>
          <c:spPr>
            <a:solidFill>
              <a:srgbClr val="9AA5B5"/>
            </a:solidFill>
            <a:ln w="22225" cap="flat">
              <a:solidFill>
                <a:srgbClr val="9AA5B5"/>
              </a:solidFill>
              <a:prstDash val="solid"/>
              <a:round/>
            </a:ln>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c:symbol val="none"/>
            <c:size val="6"/>
            <c:spPr>
              <a:solidFill>
                <a:srgbClr val="9AA5B5"/>
              </a:solidFill>
              <a:ln w="9525" cap="flat">
                <a:solidFill>
                  <a:srgbClr val="9AA5B5"/>
                </a:solidFill>
                <a:prstDash val="solid"/>
                <a:round/>
              </a:ln>
              <a:effectLst/>
            </c:spPr>
          </c:marker>
          <c:cat>
            <c:multiLvlStrRef>
              <c:f>Sheet1!$A$2:$A$102</c:f>
              <c:multiLvlStrCache>
                <c:ptCount val="101"/>
                <c:lvl>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lvl>
              </c:multiLvlStrCache>
            </c:multiLvlStrRef>
          </c:cat>
          <c:val>
            <c:numRef>
              <c:f>Sheet1!$C$2:$C$102</c:f>
              <c:numCache>
                <c:formatCode>General</c:formatCode>
                <c:ptCount val="101"/>
                <c:pt idx="0">
                  <c:v>23.439</c:v>
                </c:pt>
                <c:pt idx="1">
                  <c:v>22.62</c:v>
                </c:pt>
                <c:pt idx="2">
                  <c:v>23.271</c:v>
                </c:pt>
                <c:pt idx="3">
                  <c:v>23.958</c:v>
                </c:pt>
                <c:pt idx="4">
                  <c:v>23.396</c:v>
                </c:pt>
                <c:pt idx="5">
                  <c:v>22.497</c:v>
                </c:pt>
                <c:pt idx="6">
                  <c:v>23.226</c:v>
                </c:pt>
                <c:pt idx="7">
                  <c:v>24.36</c:v>
                </c:pt>
                <c:pt idx="8">
                  <c:v>23.493</c:v>
                </c:pt>
                <c:pt idx="9">
                  <c:v>22.216</c:v>
                </c:pt>
                <c:pt idx="10">
                  <c:v>23.152</c:v>
                </c:pt>
                <c:pt idx="11">
                  <c:v>24.227</c:v>
                </c:pt>
                <c:pt idx="12">
                  <c:v>23.594</c:v>
                </c:pt>
                <c:pt idx="13">
                  <c:v>22.664</c:v>
                </c:pt>
                <c:pt idx="14">
                  <c:v>22.962</c:v>
                </c:pt>
                <c:pt idx="15">
                  <c:v>23.828</c:v>
                </c:pt>
                <c:pt idx="16">
                  <c:v>23.661</c:v>
                </c:pt>
                <c:pt idx="17">
                  <c:v>22.701</c:v>
                </c:pt>
                <c:pt idx="18">
                  <c:v>23.107</c:v>
                </c:pt>
                <c:pt idx="19">
                  <c:v>24.081</c:v>
                </c:pt>
                <c:pt idx="20">
                  <c:v>23.384</c:v>
                </c:pt>
                <c:pt idx="21">
                  <c:v>22.478</c:v>
                </c:pt>
                <c:pt idx="22">
                  <c:v>23.257</c:v>
                </c:pt>
                <c:pt idx="23">
                  <c:v>24.039</c:v>
                </c:pt>
                <c:pt idx="24">
                  <c:v>23.591</c:v>
                </c:pt>
                <c:pt idx="25">
                  <c:v>22.695</c:v>
                </c:pt>
                <c:pt idx="26">
                  <c:v>22.792</c:v>
                </c:pt>
                <c:pt idx="27">
                  <c:v>23.862</c:v>
                </c:pt>
                <c:pt idx="28">
                  <c:v>23.873</c:v>
                </c:pt>
                <c:pt idx="29">
                  <c:v>22.792</c:v>
                </c:pt>
                <c:pt idx="30">
                  <c:v>22.94</c:v>
                </c:pt>
                <c:pt idx="31">
                  <c:v>23.748</c:v>
                </c:pt>
                <c:pt idx="32">
                  <c:v>23.434</c:v>
                </c:pt>
                <c:pt idx="33">
                  <c:v>22.941</c:v>
                </c:pt>
                <c:pt idx="34">
                  <c:v>23.235</c:v>
                </c:pt>
                <c:pt idx="35">
                  <c:v>23.663</c:v>
                </c:pt>
                <c:pt idx="36">
                  <c:v>23.534</c:v>
                </c:pt>
                <c:pt idx="37">
                  <c:v>22.844</c:v>
                </c:pt>
                <c:pt idx="38">
                  <c:v>22.869</c:v>
                </c:pt>
                <c:pt idx="39">
                  <c:v>23.849</c:v>
                </c:pt>
                <c:pt idx="40">
                  <c:v>23.831</c:v>
                </c:pt>
                <c:pt idx="41">
                  <c:v>22.85</c:v>
                </c:pt>
                <c:pt idx="42">
                  <c:v>22.869</c:v>
                </c:pt>
                <c:pt idx="43">
                  <c:v>23.526</c:v>
                </c:pt>
                <c:pt idx="44">
                  <c:v>23.605</c:v>
                </c:pt>
                <c:pt idx="45">
                  <c:v>23.324</c:v>
                </c:pt>
                <c:pt idx="46">
                  <c:v>23.076</c:v>
                </c:pt>
                <c:pt idx="47">
                  <c:v>23.251</c:v>
                </c:pt>
                <c:pt idx="48">
                  <c:v>23.542</c:v>
                </c:pt>
                <c:pt idx="49">
                  <c:v>23.191</c:v>
                </c:pt>
                <c:pt idx="50">
                  <c:v>23.05</c:v>
                </c:pt>
                <c:pt idx="51">
                  <c:v>23.622</c:v>
                </c:pt>
                <c:pt idx="52">
                  <c:v>23.57</c:v>
                </c:pt>
                <c:pt idx="53">
                  <c:v>23.001</c:v>
                </c:pt>
                <c:pt idx="54">
                  <c:v>23.041</c:v>
                </c:pt>
                <c:pt idx="55">
                  <c:v>23.389</c:v>
                </c:pt>
                <c:pt idx="56">
                  <c:v>23.64</c:v>
                </c:pt>
                <c:pt idx="57">
                  <c:v>23.522</c:v>
                </c:pt>
                <c:pt idx="58">
                  <c:v>22.934</c:v>
                </c:pt>
                <c:pt idx="59">
                  <c:v>23</c:v>
                </c:pt>
                <c:pt idx="60">
                  <c:v>23.635</c:v>
                </c:pt>
                <c:pt idx="61">
                  <c:v>23.531</c:v>
                </c:pt>
                <c:pt idx="62">
                  <c:v>23.194</c:v>
                </c:pt>
                <c:pt idx="63">
                  <c:v>23.246</c:v>
                </c:pt>
                <c:pt idx="64">
                  <c:v>23.24</c:v>
                </c:pt>
                <c:pt idx="65">
                  <c:v>23.356</c:v>
                </c:pt>
                <c:pt idx="66">
                  <c:v>23.388</c:v>
                </c:pt>
                <c:pt idx="67">
                  <c:v>23.172</c:v>
                </c:pt>
                <c:pt idx="68">
                  <c:v>23.44</c:v>
                </c:pt>
                <c:pt idx="69">
                  <c:v>23.565</c:v>
                </c:pt>
                <c:pt idx="70">
                  <c:v>23.005</c:v>
                </c:pt>
                <c:pt idx="71">
                  <c:v>23.021</c:v>
                </c:pt>
                <c:pt idx="72">
                  <c:v>23.587</c:v>
                </c:pt>
                <c:pt idx="73">
                  <c:v>23.649</c:v>
                </c:pt>
                <c:pt idx="74">
                  <c:v>23.313</c:v>
                </c:pt>
                <c:pt idx="75">
                  <c:v>22.91</c:v>
                </c:pt>
                <c:pt idx="76">
                  <c:v>23.057</c:v>
                </c:pt>
                <c:pt idx="77">
                  <c:v>23.779</c:v>
                </c:pt>
                <c:pt idx="78">
                  <c:v>23.656</c:v>
                </c:pt>
                <c:pt idx="79">
                  <c:v>22.906</c:v>
                </c:pt>
                <c:pt idx="80">
                  <c:v>23.102</c:v>
                </c:pt>
                <c:pt idx="81">
                  <c:v>23.578</c:v>
                </c:pt>
                <c:pt idx="82">
                  <c:v>23.37</c:v>
                </c:pt>
                <c:pt idx="83">
                  <c:v>23.144</c:v>
                </c:pt>
                <c:pt idx="84">
                  <c:v>23.278</c:v>
                </c:pt>
                <c:pt idx="85">
                  <c:v>23.55</c:v>
                </c:pt>
                <c:pt idx="86">
                  <c:v>23.475</c:v>
                </c:pt>
                <c:pt idx="87">
                  <c:v>22.857</c:v>
                </c:pt>
                <c:pt idx="88">
                  <c:v>22.992</c:v>
                </c:pt>
                <c:pt idx="89">
                  <c:v>23.946</c:v>
                </c:pt>
                <c:pt idx="90">
                  <c:v>23.746</c:v>
                </c:pt>
                <c:pt idx="91">
                  <c:v>22.723</c:v>
                </c:pt>
                <c:pt idx="92">
                  <c:v>22.865</c:v>
                </c:pt>
                <c:pt idx="93">
                  <c:v>23.652</c:v>
                </c:pt>
                <c:pt idx="94">
                  <c:v>23.763</c:v>
                </c:pt>
                <c:pt idx="95">
                  <c:v>23.215</c:v>
                </c:pt>
                <c:pt idx="96">
                  <c:v>22.824</c:v>
                </c:pt>
                <c:pt idx="97">
                  <c:v>23.384</c:v>
                </c:pt>
                <c:pt idx="98">
                  <c:v>23.777</c:v>
                </c:pt>
                <c:pt idx="99">
                  <c:v>23.033</c:v>
                </c:pt>
                <c:pt idx="100">
                  <c:v>22.901</c:v>
                </c:pt>
              </c:numCache>
            </c:numRef>
          </c:val>
          <c:smooth val="0"/>
        </c:ser>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66173"/>
                    </a:solidFill>
                    <a:latin typeface="Calibri"/>
                  </a:defRPr>
                </a:pPr>
                <a:r>
                  <a:rPr sz="1000" b="0" i="0" u="none" strike="noStrike">
                    <a:solidFill>
                      <a:srgbClr val="566173"/>
                    </a:solidFill>
                    <a:latin typeface="Calibri"/>
                  </a:rPr>
                  <a:t>thousand years after arrival</a:t>
                </a:r>
              </a:p>
            </c:rich>
          </c:tx>
          <c:layout/>
          <c:overlay val="0"/>
        </c:title>
        <c:numFmt formatCode="General" sourceLinked="1"/>
        <c:majorTickMark val="out"/>
        <c:minorTickMark val="none"/>
        <c:tickLblPos val="low"/>
        <c:spPr>
          <a:ln w="12700" cap="flat">
            <a:solidFill>
              <a:srgbClr val="D5DCE6"/>
            </a:solidFill>
            <a:prstDash val="solid"/>
            <a:round/>
          </a:ln>
        </c:spPr>
        <c:txPr>
          <a:bodyPr/>
          <a:lstStyle/>
          <a:p>
            <a:pPr>
              <a:defRPr sz="1000" b="0" i="0" u="none" strike="noStrike">
                <a:solidFill>
                  <a:srgbClr val="566173"/>
                </a:solidFill>
                <a:latin typeface="Calibri"/>
              </a:defRPr>
            </a:pPr>
            <a:endParaRPr lang="en-US"/>
          </a:p>
        </c:txPr>
        <c:crossAx val="2094734552"/>
        <c:crosses val="autoZero"/>
        <c:auto val="1"/>
        <c:lblAlgn val="ctr"/>
        <c:noMultiLvlLbl val="1"/>
        <c:tickLblSkip val="20"/>
      </c:catAx>
      <c:valAx>
        <c:axId val="2094734552"/>
        <c:scaling>
          <c:orientation val="minMax"/>
          <c:max val="27"/>
          <c:min val="21"/>
        </c:scaling>
        <c:delete val="0"/>
        <c:axPos val="l"/>
        <c:majorGridlines>
          <c:spPr>
            <a:ln w="6350" cap="flat">
              <a:solidFill>
                <a:srgbClr val="D5DC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66173"/>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000">
              <a:solidFill>
                <a:srgbClr val="56617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moved Earth</c:v>
                </c:pt>
              </c:strCache>
            </c:strRef>
          </c:tx>
          <c:spPr>
            <a:solidFill>
              <a:srgbClr val="2A9D8F"/>
            </a:solidFill>
            <a:ln w="22225" cap="flat">
              <a:solidFill>
                <a:srgbClr val="2A9D8F"/>
              </a:solidFill>
              <a:prstDash val="solid"/>
              <a:round/>
            </a:ln>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c:symbol val="none"/>
            <c:size val="6"/>
            <c:spPr>
              <a:solidFill>
                <a:srgbClr val="2A9D8F"/>
              </a:solidFill>
              <a:ln w="9525" cap="flat">
                <a:solidFill>
                  <a:srgbClr val="2A9D8F"/>
                </a:solidFill>
                <a:prstDash val="solid"/>
                <a:round/>
              </a:ln>
              <a:effectLst/>
            </c:spPr>
          </c:marker>
          <c:cat>
            <c:multiLvlStrRef>
              <c:f>Sheet1!$A$2:$A$102</c:f>
              <c:multiLvlStrCache>
                <c:ptCount val="101"/>
                <c:lvl>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lvl>
              </c:multiLvlStrCache>
            </c:multiLvlStrRef>
          </c:cat>
          <c:val>
            <c:numRef>
              <c:f>Sheet1!$B$2:$B$102</c:f>
              <c:numCache>
                <c:formatCode>General</c:formatCode>
                <c:ptCount val="101"/>
                <c:pt idx="0">
                  <c:v>0.03376</c:v>
                </c:pt>
                <c:pt idx="1">
                  <c:v>0.05042</c:v>
                </c:pt>
                <c:pt idx="2">
                  <c:v>0.03959</c:v>
                </c:pt>
                <c:pt idx="3">
                  <c:v>0.00915</c:v>
                </c:pt>
                <c:pt idx="4">
                  <c:v>0.02447</c:v>
                </c:pt>
                <c:pt idx="5">
                  <c:v>0.02878</c:v>
                </c:pt>
                <c:pt idx="6">
                  <c:v>0.05827</c:v>
                </c:pt>
                <c:pt idx="7">
                  <c:v>0.03849</c:v>
                </c:pt>
                <c:pt idx="8">
                  <c:v>0.03304</c:v>
                </c:pt>
                <c:pt idx="9">
                  <c:v>0.02347</c:v>
                </c:pt>
                <c:pt idx="10">
                  <c:v>0.02376</c:v>
                </c:pt>
                <c:pt idx="11">
                  <c:v>0.04571</c:v>
                </c:pt>
                <c:pt idx="12">
                  <c:v>0.03413</c:v>
                </c:pt>
                <c:pt idx="13">
                  <c:v>0.0524</c:v>
                </c:pt>
                <c:pt idx="14">
                  <c:v>0.03566</c:v>
                </c:pt>
                <c:pt idx="15">
                  <c:v>0.01115</c:v>
                </c:pt>
                <c:pt idx="16">
                  <c:v>0.02385</c:v>
                </c:pt>
                <c:pt idx="17">
                  <c:v>0.03241</c:v>
                </c:pt>
                <c:pt idx="18">
                  <c:v>0.05656</c:v>
                </c:pt>
                <c:pt idx="19">
                  <c:v>0.03889</c:v>
                </c:pt>
                <c:pt idx="20">
                  <c:v>0.03035</c:v>
                </c:pt>
                <c:pt idx="21">
                  <c:v>0.02193</c:v>
                </c:pt>
                <c:pt idx="22">
                  <c:v>0.02476</c:v>
                </c:pt>
                <c:pt idx="23">
                  <c:v>0.04828</c:v>
                </c:pt>
                <c:pt idx="24">
                  <c:v>0.03535</c:v>
                </c:pt>
                <c:pt idx="25">
                  <c:v>0.05103</c:v>
                </c:pt>
                <c:pt idx="26">
                  <c:v>0.03497</c:v>
                </c:pt>
                <c:pt idx="27">
                  <c:v>0.0135</c:v>
                </c:pt>
                <c:pt idx="28">
                  <c:v>0.02647</c:v>
                </c:pt>
                <c:pt idx="29">
                  <c:v>0.03373</c:v>
                </c:pt>
                <c:pt idx="30">
                  <c:v>0.05949</c:v>
                </c:pt>
                <c:pt idx="31">
                  <c:v>0.03593</c:v>
                </c:pt>
                <c:pt idx="32">
                  <c:v>0.03081</c:v>
                </c:pt>
                <c:pt idx="33">
                  <c:v>0.01906</c:v>
                </c:pt>
                <c:pt idx="34">
                  <c:v>0.03099</c:v>
                </c:pt>
                <c:pt idx="35">
                  <c:v>0.04802</c:v>
                </c:pt>
                <c:pt idx="36">
                  <c:v>0.03442</c:v>
                </c:pt>
                <c:pt idx="37">
                  <c:v>0.05304</c:v>
                </c:pt>
                <c:pt idx="38">
                  <c:v>0.02951</c:v>
                </c:pt>
                <c:pt idx="39">
                  <c:v>0.0167</c:v>
                </c:pt>
                <c:pt idx="40">
                  <c:v>0.02467</c:v>
                </c:pt>
                <c:pt idx="41">
                  <c:v>0.03728</c:v>
                </c:pt>
                <c:pt idx="42">
                  <c:v>0.05676</c:v>
                </c:pt>
                <c:pt idx="43">
                  <c:v>0.03483</c:v>
                </c:pt>
                <c:pt idx="44">
                  <c:v>0.0287</c:v>
                </c:pt>
                <c:pt idx="45">
                  <c:v>0.01533</c:v>
                </c:pt>
                <c:pt idx="46">
                  <c:v>0.03086</c:v>
                </c:pt>
                <c:pt idx="47">
                  <c:v>0.04949</c:v>
                </c:pt>
                <c:pt idx="48">
                  <c:v>0.03388</c:v>
                </c:pt>
                <c:pt idx="49">
                  <c:v>0.05012</c:v>
                </c:pt>
                <c:pt idx="50">
                  <c:v>0.0286</c:v>
                </c:pt>
                <c:pt idx="51">
                  <c:v>0.01967</c:v>
                </c:pt>
                <c:pt idx="52">
                  <c:v>0.02518</c:v>
                </c:pt>
                <c:pt idx="53">
                  <c:v>0.03819</c:v>
                </c:pt>
                <c:pt idx="54">
                  <c:v>0.05764</c:v>
                </c:pt>
                <c:pt idx="55">
                  <c:v>0.03061</c:v>
                </c:pt>
                <c:pt idx="56">
                  <c:v>0.0282</c:v>
                </c:pt>
                <c:pt idx="57">
                  <c:v>0.01045</c:v>
                </c:pt>
                <c:pt idx="58">
                  <c:v>0.03265</c:v>
                </c:pt>
                <c:pt idx="59">
                  <c:v>0.04687</c:v>
                </c:pt>
                <c:pt idx="60">
                  <c:v>0.03526</c:v>
                </c:pt>
                <c:pt idx="61">
                  <c:v>0.04864</c:v>
                </c:pt>
                <c:pt idx="62">
                  <c:v>0.0256</c:v>
                </c:pt>
                <c:pt idx="63">
                  <c:v>0.01964</c:v>
                </c:pt>
                <c:pt idx="64">
                  <c:v>0.02558</c:v>
                </c:pt>
                <c:pt idx="65">
                  <c:v>0.03838</c:v>
                </c:pt>
                <c:pt idx="66">
                  <c:v>0.05607</c:v>
                </c:pt>
                <c:pt idx="67">
                  <c:v>0.02841</c:v>
                </c:pt>
                <c:pt idx="68">
                  <c:v>0.02783</c:v>
                </c:pt>
                <c:pt idx="69">
                  <c:v>0.00838</c:v>
                </c:pt>
                <c:pt idx="70">
                  <c:v>0.03498</c:v>
                </c:pt>
                <c:pt idx="71">
                  <c:v>0.04683</c:v>
                </c:pt>
                <c:pt idx="72">
                  <c:v>0.03369</c:v>
                </c:pt>
                <c:pt idx="73">
                  <c:v>0.04705</c:v>
                </c:pt>
                <c:pt idx="74">
                  <c:v>0.02404</c:v>
                </c:pt>
                <c:pt idx="75">
                  <c:v>0.02025</c:v>
                </c:pt>
                <c:pt idx="76">
                  <c:v>0.02489</c:v>
                </c:pt>
                <c:pt idx="77">
                  <c:v>0.03923</c:v>
                </c:pt>
                <c:pt idx="78">
                  <c:v>0.0561</c:v>
                </c:pt>
                <c:pt idx="79">
                  <c:v>0.02744</c:v>
                </c:pt>
                <c:pt idx="80">
                  <c:v>0.02765</c:v>
                </c:pt>
                <c:pt idx="81">
                  <c:v>0.00667</c:v>
                </c:pt>
                <c:pt idx="82">
                  <c:v>0.03542</c:v>
                </c:pt>
                <c:pt idx="83">
                  <c:v>0.04536</c:v>
                </c:pt>
                <c:pt idx="84">
                  <c:v>0.03526</c:v>
                </c:pt>
                <c:pt idx="85">
                  <c:v>0.04601</c:v>
                </c:pt>
                <c:pt idx="86">
                  <c:v>0.02212</c:v>
                </c:pt>
                <c:pt idx="87">
                  <c:v>0.02123</c:v>
                </c:pt>
                <c:pt idx="88">
                  <c:v>0.02593</c:v>
                </c:pt>
                <c:pt idx="89">
                  <c:v>0.03944</c:v>
                </c:pt>
                <c:pt idx="90">
                  <c:v>0.05664</c:v>
                </c:pt>
                <c:pt idx="91">
                  <c:v>0.02584</c:v>
                </c:pt>
                <c:pt idx="92">
                  <c:v>0.02749</c:v>
                </c:pt>
                <c:pt idx="93">
                  <c:v>0.00619</c:v>
                </c:pt>
                <c:pt idx="94">
                  <c:v>0.03863</c:v>
                </c:pt>
                <c:pt idx="95">
                  <c:v>0.04536</c:v>
                </c:pt>
                <c:pt idx="96">
                  <c:v>0.03548</c:v>
                </c:pt>
                <c:pt idx="97">
                  <c:v>0.04589</c:v>
                </c:pt>
                <c:pt idx="98">
                  <c:v>0.02005</c:v>
                </c:pt>
                <c:pt idx="99">
                  <c:v>0.02155</c:v>
                </c:pt>
                <c:pt idx="100">
                  <c:v>0.02757</c:v>
                </c:pt>
              </c:numCache>
            </c:numRef>
          </c:val>
          <c:smooth val="0"/>
        </c:ser>
        <c:ser>
          <c:idx val="1"/>
          <c:order val="1"/>
          <c:tx>
            <c:strRef>
              <c:f>Sheet1!$C$1</c:f>
              <c:strCache>
                <c:ptCount val="1"/>
                <c:pt idx="0">
                  <c:v>real Earth</c:v>
                </c:pt>
              </c:strCache>
            </c:strRef>
          </c:tx>
          <c:spPr>
            <a:solidFill>
              <a:srgbClr val="9AA5B5"/>
            </a:solidFill>
            <a:ln w="22225" cap="flat">
              <a:solidFill>
                <a:srgbClr val="9AA5B5"/>
              </a:solidFill>
              <a:prstDash val="solid"/>
              <a:round/>
            </a:ln>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c:symbol val="none"/>
            <c:size val="6"/>
            <c:spPr>
              <a:solidFill>
                <a:srgbClr val="9AA5B5"/>
              </a:solidFill>
              <a:ln w="9525" cap="flat">
                <a:solidFill>
                  <a:srgbClr val="9AA5B5"/>
                </a:solidFill>
                <a:prstDash val="solid"/>
                <a:round/>
              </a:ln>
              <a:effectLst/>
            </c:spPr>
          </c:marker>
          <c:cat>
            <c:multiLvlStrRef>
              <c:f>Sheet1!$A$2:$A$102</c:f>
              <c:multiLvlStrCache>
                <c:ptCount val="101"/>
                <c:lvl>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lvl>
              </c:multiLvlStrCache>
            </c:multiLvlStrRef>
          </c:cat>
          <c:val>
            <c:numRef>
              <c:f>Sheet1!$C$2:$C$102</c:f>
              <c:numCache>
                <c:formatCode>General</c:formatCode>
                <c:ptCount val="101"/>
                <c:pt idx="0">
                  <c:v>0.01671</c:v>
                </c:pt>
                <c:pt idx="1">
                  <c:v>0.01165</c:v>
                </c:pt>
                <c:pt idx="2">
                  <c:v>0.00572</c:v>
                </c:pt>
                <c:pt idx="3">
                  <c:v>0.00244</c:v>
                </c:pt>
                <c:pt idx="4">
                  <c:v>0.00574</c:v>
                </c:pt>
                <c:pt idx="5">
                  <c:v>0.0082</c:v>
                </c:pt>
                <c:pt idx="6">
                  <c:v>0.0093</c:v>
                </c:pt>
                <c:pt idx="7">
                  <c:v>0.00992</c:v>
                </c:pt>
                <c:pt idx="8">
                  <c:v>0.01071</c:v>
                </c:pt>
                <c:pt idx="9">
                  <c:v>0.01155</c:v>
                </c:pt>
                <c:pt idx="10">
                  <c:v>0.0124</c:v>
                </c:pt>
                <c:pt idx="11">
                  <c:v>0.01407</c:v>
                </c:pt>
                <c:pt idx="12">
                  <c:v>0.01768</c:v>
                </c:pt>
                <c:pt idx="13">
                  <c:v>0.02291</c:v>
                </c:pt>
                <c:pt idx="14">
                  <c:v>0.02797</c:v>
                </c:pt>
                <c:pt idx="15">
                  <c:v>0.03125</c:v>
                </c:pt>
                <c:pt idx="16">
                  <c:v>0.03175</c:v>
                </c:pt>
                <c:pt idx="17">
                  <c:v>0.02943</c:v>
                </c:pt>
                <c:pt idx="18">
                  <c:v>0.02614</c:v>
                </c:pt>
                <c:pt idx="19">
                  <c:v>0.02472</c:v>
                </c:pt>
                <c:pt idx="20">
                  <c:v>0.02726</c:v>
                </c:pt>
                <c:pt idx="21">
                  <c:v>0.03224</c:v>
                </c:pt>
                <c:pt idx="22">
                  <c:v>0.03677</c:v>
                </c:pt>
                <c:pt idx="23">
                  <c:v>0.03956</c:v>
                </c:pt>
                <c:pt idx="24">
                  <c:v>0.04054</c:v>
                </c:pt>
                <c:pt idx="25">
                  <c:v>0.04017</c:v>
                </c:pt>
                <c:pt idx="26">
                  <c:v>0.03886</c:v>
                </c:pt>
                <c:pt idx="27">
                  <c:v>0.03668</c:v>
                </c:pt>
                <c:pt idx="28">
                  <c:v>0.03316</c:v>
                </c:pt>
                <c:pt idx="29">
                  <c:v>0.02885</c:v>
                </c:pt>
                <c:pt idx="30">
                  <c:v>0.02562</c:v>
                </c:pt>
                <c:pt idx="31">
                  <c:v>0.02648</c:v>
                </c:pt>
                <c:pt idx="32">
                  <c:v>0.03125</c:v>
                </c:pt>
                <c:pt idx="33">
                  <c:v>0.03661</c:v>
                </c:pt>
                <c:pt idx="34">
                  <c:v>0.03981</c:v>
                </c:pt>
                <c:pt idx="35">
                  <c:v>0.03942</c:v>
                </c:pt>
                <c:pt idx="36">
                  <c:v>0.03522</c:v>
                </c:pt>
                <c:pt idx="37">
                  <c:v>0.02833</c:v>
                </c:pt>
                <c:pt idx="38">
                  <c:v>0.02017</c:v>
                </c:pt>
                <c:pt idx="39">
                  <c:v>0.01285</c:v>
                </c:pt>
                <c:pt idx="40">
                  <c:v>0.009</c:v>
                </c:pt>
                <c:pt idx="41">
                  <c:v>0.01027</c:v>
                </c:pt>
                <c:pt idx="42">
                  <c:v>0.01376</c:v>
                </c:pt>
                <c:pt idx="43">
                  <c:v>0.01696</c:v>
                </c:pt>
                <c:pt idx="44">
                  <c:v>0.01904</c:v>
                </c:pt>
                <c:pt idx="45">
                  <c:v>0.01929</c:v>
                </c:pt>
                <c:pt idx="46">
                  <c:v>0.01753</c:v>
                </c:pt>
                <c:pt idx="47">
                  <c:v>0.01421</c:v>
                </c:pt>
                <c:pt idx="48">
                  <c:v>0.01219</c:v>
                </c:pt>
                <c:pt idx="49">
                  <c:v>0.01464</c:v>
                </c:pt>
                <c:pt idx="50">
                  <c:v>0.01979</c:v>
                </c:pt>
                <c:pt idx="51">
                  <c:v>0.02416</c:v>
                </c:pt>
                <c:pt idx="52">
                  <c:v>0.02586</c:v>
                </c:pt>
                <c:pt idx="53">
                  <c:v>0.02439</c:v>
                </c:pt>
                <c:pt idx="54">
                  <c:v>0.02</c:v>
                </c:pt>
                <c:pt idx="55">
                  <c:v>0.01366</c:v>
                </c:pt>
                <c:pt idx="56">
                  <c:v>0.00747</c:v>
                </c:pt>
                <c:pt idx="57">
                  <c:v>0.00876</c:v>
                </c:pt>
                <c:pt idx="58">
                  <c:v>0.01676</c:v>
                </c:pt>
                <c:pt idx="59">
                  <c:v>0.02598</c:v>
                </c:pt>
                <c:pt idx="60">
                  <c:v>0.03507</c:v>
                </c:pt>
                <c:pt idx="61">
                  <c:v>0.04263</c:v>
                </c:pt>
                <c:pt idx="62">
                  <c:v>0.04725</c:v>
                </c:pt>
                <c:pt idx="63">
                  <c:v>0.04766</c:v>
                </c:pt>
                <c:pt idx="64">
                  <c:v>0.04331</c:v>
                </c:pt>
                <c:pt idx="65">
                  <c:v>0.03451</c:v>
                </c:pt>
                <c:pt idx="66">
                  <c:v>0.02313</c:v>
                </c:pt>
                <c:pt idx="67">
                  <c:v>0.01471</c:v>
                </c:pt>
                <c:pt idx="68">
                  <c:v>0.0194</c:v>
                </c:pt>
                <c:pt idx="69">
                  <c:v>0.03041</c:v>
                </c:pt>
                <c:pt idx="70">
                  <c:v>0.04032</c:v>
                </c:pt>
                <c:pt idx="71">
                  <c:v>0.04723</c:v>
                </c:pt>
                <c:pt idx="72">
                  <c:v>0.05076</c:v>
                </c:pt>
                <c:pt idx="73">
                  <c:v>0.0511</c:v>
                </c:pt>
                <c:pt idx="74">
                  <c:v>0.04822</c:v>
                </c:pt>
                <c:pt idx="75">
                  <c:v>0.04218</c:v>
                </c:pt>
                <c:pt idx="76">
                  <c:v>0.03296</c:v>
                </c:pt>
                <c:pt idx="77">
                  <c:v>0.02093</c:v>
                </c:pt>
                <c:pt idx="78">
                  <c:v>0.00863</c:v>
                </c:pt>
                <c:pt idx="79">
                  <c:v>0.01184</c:v>
                </c:pt>
                <c:pt idx="80">
                  <c:v>0.0244</c:v>
                </c:pt>
                <c:pt idx="81">
                  <c:v>0.03477</c:v>
                </c:pt>
                <c:pt idx="82">
                  <c:v>0.04104</c:v>
                </c:pt>
                <c:pt idx="83">
                  <c:v>0.04262</c:v>
                </c:pt>
                <c:pt idx="84">
                  <c:v>0.03999</c:v>
                </c:pt>
                <c:pt idx="85">
                  <c:v>0.03402</c:v>
                </c:pt>
                <c:pt idx="86">
                  <c:v>0.02624</c:v>
                </c:pt>
                <c:pt idx="87">
                  <c:v>0.01815</c:v>
                </c:pt>
                <c:pt idx="88">
                  <c:v>0.01237</c:v>
                </c:pt>
                <c:pt idx="89">
                  <c:v>0.01243</c:v>
                </c:pt>
                <c:pt idx="90">
                  <c:v>0.01699</c:v>
                </c:pt>
                <c:pt idx="91">
                  <c:v>0.02157</c:v>
                </c:pt>
                <c:pt idx="92">
                  <c:v>0.02426</c:v>
                </c:pt>
                <c:pt idx="93">
                  <c:v>0.02413</c:v>
                </c:pt>
                <c:pt idx="94">
                  <c:v>0.02148</c:v>
                </c:pt>
                <c:pt idx="95">
                  <c:v>0.0179</c:v>
                </c:pt>
                <c:pt idx="96">
                  <c:v>0.01748</c:v>
                </c:pt>
                <c:pt idx="97">
                  <c:v>0.02261</c:v>
                </c:pt>
                <c:pt idx="98">
                  <c:v>0.03009</c:v>
                </c:pt>
                <c:pt idx="99">
                  <c:v>0.03671</c:v>
                </c:pt>
                <c:pt idx="100">
                  <c:v>0.04059</c:v>
                </c:pt>
              </c:numCache>
            </c:numRef>
          </c:val>
          <c:smooth val="0"/>
        </c:ser>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66173"/>
                    </a:solidFill>
                    <a:latin typeface="Calibri"/>
                  </a:defRPr>
                </a:pPr>
                <a:r>
                  <a:rPr sz="1000" b="0" i="0" u="none" strike="noStrike">
                    <a:solidFill>
                      <a:srgbClr val="566173"/>
                    </a:solidFill>
                    <a:latin typeface="Calibri"/>
                  </a:rPr>
                  <a:t>thousand years after arrival</a:t>
                </a:r>
              </a:p>
            </c:rich>
          </c:tx>
          <c:layout/>
          <c:overlay val="0"/>
        </c:title>
        <c:numFmt formatCode="General" sourceLinked="1"/>
        <c:majorTickMark val="out"/>
        <c:minorTickMark val="none"/>
        <c:tickLblPos val="low"/>
        <c:spPr>
          <a:ln w="12700" cap="flat">
            <a:solidFill>
              <a:srgbClr val="D5DCE6"/>
            </a:solidFill>
            <a:prstDash val="solid"/>
            <a:round/>
          </a:ln>
        </c:spPr>
        <c:txPr>
          <a:bodyPr/>
          <a:lstStyle/>
          <a:p>
            <a:pPr>
              <a:defRPr sz="1000" b="0" i="0" u="none" strike="noStrike">
                <a:solidFill>
                  <a:srgbClr val="566173"/>
                </a:solidFill>
                <a:latin typeface="Calibri"/>
              </a:defRPr>
            </a:pPr>
            <a:endParaRPr lang="en-US"/>
          </a:p>
        </c:txPr>
        <c:crossAx val="2094734552"/>
        <c:crosses val="autoZero"/>
        <c:auto val="1"/>
        <c:lblAlgn val="ctr"/>
        <c:noMultiLvlLbl val="1"/>
        <c:tickLblSkip val="20"/>
      </c:catAx>
      <c:valAx>
        <c:axId val="2094734552"/>
        <c:scaling>
          <c:orientation val="minMax"/>
          <c:max val="0.07"/>
          <c:min val="0"/>
        </c:scaling>
        <c:delete val="0"/>
        <c:axPos val="l"/>
        <c:majorGridlines>
          <c:spPr>
            <a:ln w="6350" cap="flat">
              <a:solidFill>
                <a:srgbClr val="D5DCE6"/>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566173"/>
                </a:solidFill>
                <a:latin typeface="Calibri"/>
              </a:defRPr>
            </a:pPr>
            <a:endParaRPr lang="en-US"/>
          </a:p>
        </c:txPr>
        <c:crossAx val="2094734554"/>
        <c:crosses val="autoZero"/>
        <c:crossBetween val="between"/>
        <c:majorUnit val="0.02"/>
      </c:valAx>
      <c:spPr>
        <a:noFill/>
        <a:ln>
          <a:noFill/>
        </a:ln>
        <a:effectLst/>
      </c:spPr>
    </c:plotArea>
    <c:legend>
      <c:legendPos val="b"/>
      <c:overlay val="0"/>
      <c:txPr>
        <a:bodyPr/>
        <a:lstStyle/>
        <a:p>
          <a:pPr>
            <a:defRPr sz="1000">
              <a:solidFill>
                <a:srgbClr val="56617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6"/>
          <c:y val="0.03"/>
          <c:w val="0.38"/>
          <c:h val="0.94"/>
        </c:manualLayout>
      </c:layout>
      <c:barChart>
        <c:barDir val="bar"/>
        <c:grouping val="clustered"/>
        <c:varyColors val="0"/>
        <c:ser>
          <c:idx val="0"/>
          <c:order val="0"/>
          <c:tx>
            <c:strRef>
              <c:f>Sheet1!$B$1</c:f>
              <c:strCache>
                <c:ptCount val="1"/>
                <c:pt idx="0">
                  <c:v>years between impacts</c:v>
                </c:pt>
              </c:strCache>
            </c:strRef>
          </c:tx>
          <c:spPr>
            <a:solidFill>
              <a:srgbClr val="F2A541"/>
            </a:solidFill>
            <a:effectLst/>
          </c:spPr>
          <c:invertIfNegative val="0"/>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dPt>
            <c:idx val="0"/>
            <c:invertIfNegative val="0"/>
            <c:bubble3D val="0"/>
            <c:spPr>
              <a:solidFill>
                <a:srgbClr val="F2A541"/>
              </a:solidFill>
              <a:effectLst/>
            </c:spPr>
          </c:dPt>
          <c:dPt>
            <c:idx val="1"/>
            <c:invertIfNegative val="0"/>
            <c:bubble3D val="0"/>
            <c:spPr>
              <a:solidFill>
                <a:srgbClr val="F2A541"/>
              </a:solidFill>
              <a:effectLst/>
            </c:spPr>
          </c:dPt>
          <c:dPt>
            <c:idx val="2"/>
            <c:invertIfNegative val="0"/>
            <c:bubble3D val="0"/>
            <c:spPr>
              <a:solidFill>
                <a:srgbClr val="C8553D"/>
              </a:solidFill>
              <a:effectLst/>
            </c:spPr>
          </c:dPt>
          <c:dPt>
            <c:idx val="3"/>
            <c:invertIfNegative val="0"/>
            <c:bubble3D val="0"/>
            <c:spPr>
              <a:solidFill>
                <a:srgbClr val="C8553D"/>
              </a:solidFill>
              <a:effectLst/>
            </c:spPr>
          </c:dPt>
          <c:dPt>
            <c:idx val="4"/>
            <c:invertIfNegative val="0"/>
            <c:bubble3D val="0"/>
            <c:spPr>
              <a:solidFill>
                <a:srgbClr val="8A94A6"/>
              </a:solidFill>
              <a:effectLst/>
            </c:spPr>
          </c:dPt>
          <c:cat>
            <c:multiLvlStrRef>
              <c:f>Sheet1!$A$2:$A$6</c:f>
              <c:multiLvlStrCache>
                <c:ptCount val="5"/>
                <c:lvl>
                  <c:pt idx="0">
                    <c:v>20 m, parked: every 47 days</c:v>
                  </c:pt>
                  <c:pt idx="1">
                    <c:v>100 m, parked: every 9 yr</c:v>
                  </c:pt>
                  <c:pt idx="2">
                    <c:v>1 km, parked at 2.7 AU: every 87 yr</c:v>
                  </c:pt>
                  <c:pt idx="3">
                    <c:v>1 km, crossing the belt: every 127 yr</c:v>
                  </c:pt>
                  <c:pt idx="4">
                    <c:v>1 km, Earth today: every 500,000 yr</c:v>
                  </c:pt>
                </c:lvl>
              </c:multiLvlStrCache>
            </c:multiLvlStrRef>
          </c:cat>
          <c:val>
            <c:numRef>
              <c:f>Sheet1!$B$2:$B$6</c:f>
              <c:numCache>
                <c:formatCode>General</c:formatCode>
                <c:ptCount val="5"/>
                <c:pt idx="0">
                  <c:v>0.1294627285163159</c:v>
                </c:pt>
                <c:pt idx="1">
                  <c:v>9.362783203791224</c:v>
                </c:pt>
                <c:pt idx="2">
                  <c:v>87.37857692367989</c:v>
                </c:pt>
                <c:pt idx="3">
                  <c:v>127.04225006449403</c:v>
                </c:pt>
                <c:pt idx="4">
                  <c:v>500000</c:v>
                </c:pt>
              </c:numCache>
            </c:numRef>
          </c:val>
        </c:ser>
        <c:dLbls>
          <c:numFmt formatCode="#,##0" sourceLinked="0"/>
          <c:txPr>
            <a:bodyPr/>
            <a:lstStyle/>
            <a:p>
              <a:pPr>
                <a:defRPr b="0" i="0" strike="noStrike" sz="1000" u="none">
                  <a:solidFill>
                    <a:srgbClr val="1A2233"/>
                  </a:solidFill>
                  <a:latin typeface="Calibri"/>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5DCE6"/>
            </a:solidFill>
            <a:prstDash val="solid"/>
            <a:round/>
          </a:ln>
        </c:spPr>
        <c:txPr>
          <a:bodyPr/>
          <a:lstStyle/>
          <a:p>
            <a:pPr>
              <a:defRPr sz="1000" b="0" i="0" u="none" strike="noStrike">
                <a:solidFill>
                  <a:srgbClr val="566173"/>
                </a:solidFill>
                <a:latin typeface="Calibri"/>
              </a:defRPr>
            </a:pPr>
            <a:endParaRPr lang="en-US"/>
          </a:p>
        </c:txPr>
        <c:crossAx val="2094734552"/>
        <c:crosses val="autoZero"/>
        <c:auto val="1"/>
        <c:lblAlgn val="ctr"/>
        <c:noMultiLvlLbl val="1"/>
      </c:catAx>
      <c:valAx>
        <c:axId val="2094734552"/>
        <c:scaling>
          <c:logBase val="10"/>
          <c:orientation val="minMax"/>
          <c:max val="1000000"/>
          <c:min val="0.05"/>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661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47"/>
          <c:y val="0.02"/>
          <c:w val="0.42"/>
          <c:h val="0.96"/>
        </c:manualLayout>
      </c:layout>
      <c:barChart>
        <c:barDir val="bar"/>
        <c:grouping val="clustered"/>
        <c:varyColors val="0"/>
        <c:ser>
          <c:idx val="0"/>
          <c:order val="0"/>
          <c:tx>
            <c:strRef>
              <c:f>Sheet1!$B$1</c:f>
              <c:strCache>
                <c:ptCount val="1"/>
                <c:pt idx="0">
                  <c:v>longest safe outage (hours)</c:v>
                </c:pt>
              </c:strCache>
            </c:strRef>
          </c:tx>
          <c:spPr>
            <a:solidFill>
              <a:srgbClr val="C8553D"/>
            </a:solidFill>
            <a:effectLst/>
          </c:spPr>
          <c:invertIfNegative val="0"/>
          <c:dLbls>
            <c:numFmt formatCode="0&quot; h&quot;" sourceLinked="0"/>
            <c:txPr>
              <a:bodyPr/>
              <a:lstStyle/>
              <a:p>
                <a:pPr>
                  <a:defRPr b="0" i="0" strike="noStrike" sz="1000" u="none">
                    <a:solidFill>
                      <a:srgbClr val="1A2233"/>
                    </a:solidFill>
                    <a:latin typeface="Calibri"/>
                  </a:defRPr>
                </a:pPr>
              </a:p>
            </c:txPr>
            <c:showLegendKey val="0"/>
            <c:showVal val="1"/>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C8553D"/>
              </a:solidFill>
              <a:effectLst/>
            </c:spPr>
          </c:dPt>
          <c:dPt>
            <c:idx val="2"/>
            <c:invertIfNegative val="0"/>
            <c:bubble3D val="0"/>
            <c:spPr>
              <a:solidFill>
                <a:srgbClr val="2A9D8F"/>
              </a:solidFill>
              <a:effectLst/>
            </c:spPr>
          </c:dPt>
          <c:dPt>
            <c:idx val="3"/>
            <c:invertIfNegative val="0"/>
            <c:bubble3D val="0"/>
            <c:spPr>
              <a:solidFill>
                <a:srgbClr val="2A9D8F"/>
              </a:solidFill>
              <a:effectLst/>
            </c:spPr>
          </c:dPt>
          <c:dPt>
            <c:idx val="4"/>
            <c:invertIfNegative val="0"/>
            <c:bubble3D val="0"/>
            <c:spPr>
              <a:solidFill>
                <a:srgbClr val="2A9D8F"/>
              </a:solidFill>
              <a:effectLst/>
            </c:spPr>
          </c:dPt>
          <c:cat>
            <c:multiLvlStrRef>
              <c:f>Sheet1!$A$2:$A$6</c:f>
              <c:multiLvlStrCache>
                <c:ptCount val="5"/>
                <c:lvl>
                  <c:pt idx="0">
                    <c:v>Mars tow in its sprint, all off</c:v>
                  </c:pt>
                  <c:pt idx="1">
                    <c:v>Mars tow, all off</c:v>
                  </c:pt>
                  <c:pt idx="2">
                    <c:v>Earth tow, a quarter off</c:v>
                  </c:pt>
                  <c:pt idx="3">
                    <c:v>Earth tow, half off</c:v>
                  </c:pt>
                  <c:pt idx="4">
                    <c:v>Earth tow, all stations off</c:v>
                  </c:pt>
                </c:lvl>
              </c:multiLvlStrCache>
            </c:multiLvlStrRef>
          </c:cat>
          <c:val>
            <c:numRef>
              <c:f>Sheet1!$B$2:$B$6</c:f>
              <c:numCache>
                <c:formatCode>General</c:formatCode>
                <c:ptCount val="5"/>
                <c:pt idx="0">
                  <c:v>10.512</c:v>
                </c:pt>
                <c:pt idx="1">
                  <c:v>114</c:v>
                </c:pt>
                <c:pt idx="2">
                  <c:v>68.232</c:v>
                </c:pt>
                <c:pt idx="3">
                  <c:v>30</c:v>
                </c:pt>
                <c:pt idx="4">
                  <c:v>15</c:v>
                </c:pt>
              </c:numCache>
            </c:numRef>
          </c:val>
        </c:ser>
        <c:dLbls>
          <c:numFmt formatCode="0&quot; h&quot;" sourceLinked="0"/>
          <c:txPr>
            <a:bodyPr/>
            <a:lstStyle/>
            <a:p>
              <a:pPr>
                <a:defRPr b="0" i="0" strike="noStrike" sz="1000" u="none">
                  <a:solidFill>
                    <a:srgbClr val="1A223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5DCE6"/>
            </a:solidFill>
            <a:prstDash val="solid"/>
            <a:round/>
          </a:ln>
        </c:spPr>
        <c:txPr>
          <a:bodyPr/>
          <a:lstStyle/>
          <a:p>
            <a:pPr>
              <a:defRPr sz="1000" b="0" i="0" u="none" strike="noStrike">
                <a:solidFill>
                  <a:srgbClr val="566173"/>
                </a:solidFill>
                <a:latin typeface="Calibri"/>
              </a:defRPr>
            </a:pPr>
            <a:endParaRPr lang="en-US"/>
          </a:p>
        </c:txPr>
        <c:crossAx val="2094734552"/>
        <c:crosses val="autoZero"/>
        <c:auto val="1"/>
        <c:lblAlgn val="ctr"/>
        <c:noMultiLvlLbl val="1"/>
      </c:catAx>
      <c:valAx>
        <c:axId val="2094734552"/>
        <c:scaling>
          <c:orientation val="minMax"/>
          <c:max val="14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6617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Ant moves Earth from 1 AU to 2.7006 AU in 8,758 years, inside the 10,000-year limit. The machine is a gravity tractor: an asteroid parked near Earth pulls it outward, and light pushing on a mirror tied to the asteroid holds it in place. Mars is moved out of the way first. Every number in this deck is read from results/ by deck/data.py.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scorecard. Each row is one of the guide's six winning conditions, with what we measured and how far inside the limit it sits. The right column shows how much of each declared enabler the run used, and which flags each one covers: six flags were raised and every one is covered, so none is unresolved. The dark strip is the one-command check anyone can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concept fails on two counts. First, Newton's third law: the arms push on Earth's magnetic field, which comes from currents in Earth's own core, so the core is pushed back and the sum is zero to rounding error. Second, the arms as drawn cannot hold up their own weight in any real material, not even ideal nanotube. Hence an external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Earth tow, with distances to scale. The asteroid sits about 1.7 times the Moon's distance away, at 45 degrees between straight ahead along Earth's orbit and straight out from the Sun. Its gravity pulls Earth; Earth pulls it back, and a beam of light from stations on the Sun's side pushes on a mirror tied to the asteroid to hold it in place. The light only pushes, and the beam never comes within 420,000 km of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Earth's orbit grows slowly at first and faster as it widens. Mars's tow sprints across Jupiter's 2:1 resonance, where the normal pull got Mars caught in six of eight trials; at four times the pull none are caught. From 2 AU the Earth tow varies its pull around each lap and rides slightly off the orbit plane so Earth arrives on the orbit Jupiter forces at 2.7 AU. The optics are built from year 30 as sunlight starts to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physics in the engine, and the bookkeeping. Every pair of bodies pulls each other with exactly opposite forces. The only outside forces are the beams' pushes on the tow asteroids, and their partners, the recoil on the stations and the light that leaves, are booked. The guide's two ledger checks sit seven to thirteen orders of magnitude inside the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All ten official benchmarks pass, and a judge can change their inputs from the command line. Our own nine checks add Kepler's law, long-run energy, the ledger under thrust, an agreement test with REBOUND's IAS15 and more. One command, run.bat verify, re-runs all of it, including a fresh run of the engine compared with the official one, and writes a results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Earth safety. Left, the ten thresholds as gauges: the green zone is allowed and the teal bar is the range over the whole journey. Right, the same climate model with and without the sunlight optics: without them Earth falls off the ice-albedo cliff within a few centuries. Placed for real, the optics are a ring of refracting film near L1; at 95% transmission Earth keeps 97% of today's sunlight, 286 K, inside every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Moon test follows the Moon around Earth with and without the tow asteroid at the start, middle and end; the asteroid changes its distance by hundredths of a percent, and Earth's Hill sphere grows as Earth moves out, so the Moon gets safer. After arrival the moved solar system runs a million years beside the real one: orbits hold, nothing is lost. Earth's tilt swings wider than today's, which the optics offset by re-aiming 1.4% of the sunlight.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2.7 AU Earth is parked inside the asteroid belt, so impacts would come thousands of times as often as today. The defence is layered: E1 nudges big asteroids decades ahead, a survey sees small rocks days ahead and E1 pushes them aside, and the tow beam itself vaporises rocks that drift into the mirror. Separately, every tow holds its asteroid through station outages measured in hours to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close with what is and is not proven. The physics closes in simulation with every check passing; the hardware is represented by three declared, bounded enablers, and we list the limits we found in our own design. Anyone can re-check every number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68680" y="310896"/>
            <a:ext cx="10515600" cy="256032"/>
          </a:xfrm>
          <a:prstGeom prst="rect">
            <a:avLst/>
          </a:prstGeom>
          <a:noFill/>
          <a:ln/>
        </p:spPr>
        <p:txBody>
          <a:bodyPr wrap="square" rtlCol="0"/>
          <a:lstStyle>
            <a:lvl1pPr indent="0" marL="0">
              <a:buNone/>
              <a:defRPr lang="en-US" sz="1050" b="1" spc="100" kern="0" dirty="0">
                <a:solidFill>
                  <a:srgbClr val="A9630A"/>
                </a:solidFill>
                <a:latin typeface="Calibri" pitchFamily="34" charset="0"/>
                <a:ea typeface="Calibri" pitchFamily="34" charset="-122"/>
                <a:cs typeface="Calibri" pitchFamily="34" charset="-120"/>
              </a:defRPr>
            </a:lvl1pPr>
          </a:lstStyle>
          <a:p>
            <a:pPr indent="0" marL="0">
              <a:buNone/>
            </a:pPr>
            <a:endParaRPr lang="en-US" sz="1050" dirty="0"/>
          </a:p>
        </p:txBody>
      </p:sp>
      <p:sp>
        <p:nvSpPr>
          <p:cNvPr id="3" name="Text 0"/>
          <p:cNvSpPr/>
          <p:nvPr>
            <p:ph idx="101" type="title" hasCustomPrompt="1"/>
          </p:nvPr>
        </p:nvSpPr>
        <p:spPr>
          <a:xfrm>
            <a:off x="502920" y="585216"/>
            <a:ext cx="11183112" cy="512064"/>
          </a:xfrm>
          <a:prstGeom prst="rect">
            <a:avLst/>
          </a:prstGeom>
          <a:noFill/>
          <a:ln/>
        </p:spPr>
        <p:txBody>
          <a:bodyPr wrap="square" rtlCol="0"/>
          <a:lstStyle>
            <a:lvl1pPr indent="0" marL="0">
              <a:buNone/>
              <a:defRPr lang="en-US" sz="2800" b="1" dirty="0">
                <a:solidFill>
                  <a:srgbClr val="1A2233"/>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4" name="Text 0"/>
          <p:cNvSpPr/>
          <p:nvPr>
            <p:ph idx="102" type="body" hasCustomPrompt="1"/>
          </p:nvPr>
        </p:nvSpPr>
        <p:spPr>
          <a:xfrm>
            <a:off x="502920" y="1115568"/>
            <a:ext cx="11183112" cy="457200"/>
          </a:xfrm>
          <a:prstGeom prst="rect">
            <a:avLst/>
          </a:prstGeom>
          <a:noFill/>
          <a:ln/>
        </p:spPr>
        <p:txBody>
          <a:bodyPr wrap="square" rtlCol="0"/>
          <a:lstStyle>
            <a:lvl1pPr indent="0" marL="0">
              <a:buNone/>
              <a:defRPr lang="en-US" sz="1250" dirty="0">
                <a:solidFill>
                  <a:srgbClr val="566173"/>
                </a:solidFill>
                <a:latin typeface="Calibri" pitchFamily="34" charset="0"/>
                <a:ea typeface="Calibri" pitchFamily="34" charset="-122"/>
                <a:cs typeface="Calibri" pitchFamily="34" charset="-120"/>
              </a:defRPr>
            </a:lvl1pPr>
          </a:lstStyle>
          <a:p>
            <a:pPr indent="0" marL="0">
              <a:buNone/>
            </a:pPr>
            <a:endParaRPr lang="en-US" sz="1250" dirty="0"/>
          </a:p>
        </p:txBody>
      </p:sp>
      <p:sp>
        <p:nvSpPr>
          <p:cNvPr id="5" name="Text 0"/>
          <p:cNvSpPr/>
          <p:nvPr/>
        </p:nvSpPr>
        <p:spPr>
          <a:xfrm>
            <a:off x="502920" y="6519672"/>
            <a:ext cx="8229600" cy="219456"/>
          </a:xfrm>
          <a:prstGeom prst="rect">
            <a:avLst/>
          </a:prstGeom>
          <a:noFill/>
          <a:ln/>
        </p:spPr>
        <p:txBody>
          <a:bodyPr wrap="square" lIns="0" tIns="0" rIns="0" bIns="0" rtlCol="0" anchor="ctr"/>
          <a:lstStyle/>
          <a:p>
            <a:pPr indent="0" marL="0">
              <a:buNone/>
            </a:pPr>
            <a:r>
              <a:rPr lang="en-US" sz="1000" dirty="0">
                <a:solidFill>
                  <a:srgbClr val="566173"/>
                </a:solidFill>
                <a:latin typeface="Calibri" pitchFamily="34" charset="0"/>
                <a:ea typeface="Calibri" pitchFamily="34" charset="-122"/>
                <a:cs typeface="Calibri" pitchFamily="34" charset="-120"/>
              </a:rPr>
              <a:t>Black Ant · Towing Earth to 2.7 AU · TransfiNITTe 2026 · every number from results/</a:t>
            </a:r>
            <a:endParaRPr lang="en-US" sz="1000" dirty="0"/>
          </a:p>
        </p:txBody>
      </p:sp>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6617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32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AA7B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661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5669280" cy="274320"/>
          </a:xfrm>
          <a:prstGeom prst="rect">
            <a:avLst/>
          </a:prstGeom>
          <a:noFill/>
          <a:ln/>
        </p:spPr>
        <p:txBody>
          <a:bodyPr wrap="square" lIns="0" tIns="0" rIns="0" bIns="0" rtlCol="0" anchor="t"/>
          <a:lstStyle/>
          <a:p>
            <a:pPr indent="0" marL="0">
              <a:buNone/>
            </a:pPr>
            <a:r>
              <a:rPr lang="en-US" sz="1050" b="1" spc="100" kern="0" dirty="0">
                <a:solidFill>
                  <a:srgbClr val="F2A541"/>
                </a:solidFill>
                <a:latin typeface="Calibri" pitchFamily="34" charset="0"/>
                <a:ea typeface="Calibri" pitchFamily="34" charset="-122"/>
                <a:cs typeface="Calibri" pitchFamily="34" charset="-120"/>
              </a:rPr>
              <a:t>TRANSFINITTE 2026 · PLANETARY PROPULSION HACKATHON · VISUAL REPORT</a:t>
            </a:r>
            <a:endParaRPr lang="en-US" sz="1050" dirty="0"/>
          </a:p>
        </p:txBody>
      </p:sp>
      <p:sp>
        <p:nvSpPr>
          <p:cNvPr id="3" name="Text 1"/>
          <p:cNvSpPr txBox="1"/>
          <p:nvPr/>
        </p:nvSpPr>
        <p:spPr>
          <a:xfrm>
            <a:off x="548640" y="841248"/>
            <a:ext cx="5486400" cy="13716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Towing Earth</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to 2.7 AU</a:t>
            </a:r>
            <a:endParaRPr lang="en-US" sz="4600" dirty="0"/>
          </a:p>
        </p:txBody>
      </p:sp>
      <p:sp>
        <p:nvSpPr>
          <p:cNvPr id="4" name="Text 2"/>
          <p:cNvSpPr txBox="1"/>
          <p:nvPr/>
        </p:nvSpPr>
        <p:spPr>
          <a:xfrm>
            <a:off x="548640" y="2286000"/>
            <a:ext cx="5349240" cy="868680"/>
          </a:xfrm>
          <a:prstGeom prst="rect">
            <a:avLst/>
          </a:prstGeom>
          <a:noFill/>
          <a:ln/>
        </p:spPr>
        <p:txBody>
          <a:bodyPr wrap="square" lIns="0" tIns="0" rIns="0" bIns="0" rtlCol="0" anchor="t"/>
          <a:lstStyle/>
          <a:p>
            <a:pPr indent="0" marL="0">
              <a:buNone/>
            </a:pPr>
            <a:r>
              <a:rPr lang="en-US" sz="1500" dirty="0">
                <a:solidFill>
                  <a:srgbClr val="E8EDF5"/>
                </a:solidFill>
                <a:latin typeface="Calibri" pitchFamily="34" charset="0"/>
                <a:ea typeface="Calibri" pitchFamily="34" charset="-122"/>
                <a:cs typeface="Calibri" pitchFamily="34" charset="-120"/>
              </a:rPr>
              <a:t>A gravity tractor held by light. An asteroid's gravity pulls Earth outward; focused light on its mirror holds the asteroid in place. Nothing touches the planet.</a:t>
            </a:r>
            <a:endParaRPr lang="en-US" sz="1500" dirty="0"/>
          </a:p>
        </p:txBody>
      </p:sp>
      <p:sp>
        <p:nvSpPr>
          <p:cNvPr id="5" name="Shape 3"/>
          <p:cNvSpPr/>
          <p:nvPr/>
        </p:nvSpPr>
        <p:spPr>
          <a:xfrm>
            <a:off x="548640" y="3310128"/>
            <a:ext cx="1700784" cy="914400"/>
          </a:xfrm>
          <a:prstGeom prst="roundRect">
            <a:avLst>
              <a:gd name="adj" fmla="val 8000"/>
            </a:avLst>
          </a:prstGeom>
          <a:solidFill>
            <a:srgbClr val="16213A"/>
          </a:solidFill>
          <a:ln w="9525">
            <a:solidFill>
              <a:srgbClr val="34445F"/>
            </a:solidFill>
            <a:prstDash val="solid"/>
          </a:ln>
        </p:spPr>
      </p:sp>
      <p:sp>
        <p:nvSpPr>
          <p:cNvPr id="6" name="Text 4"/>
          <p:cNvSpPr txBox="1"/>
          <p:nvPr/>
        </p:nvSpPr>
        <p:spPr>
          <a:xfrm>
            <a:off x="676656" y="3419856"/>
            <a:ext cx="1508760" cy="384048"/>
          </a:xfrm>
          <a:prstGeom prst="rect">
            <a:avLst/>
          </a:prstGeom>
          <a:noFill/>
          <a:ln/>
        </p:spPr>
        <p:txBody>
          <a:bodyPr wrap="square" lIns="0" tIns="0" rIns="0" bIns="0" rtlCol="0" anchor="ctr"/>
          <a:lstStyle/>
          <a:p>
            <a:pPr indent="0" marL="0">
              <a:buNone/>
            </a:pPr>
            <a:r>
              <a:rPr lang="en-US" sz="2300" b="1" dirty="0">
                <a:solidFill>
                  <a:srgbClr val="2A9D8F"/>
                </a:solidFill>
                <a:latin typeface="Calibri" pitchFamily="34" charset="0"/>
                <a:ea typeface="Calibri" pitchFamily="34" charset="-122"/>
                <a:cs typeface="Calibri" pitchFamily="34" charset="-120"/>
              </a:rPr>
              <a:t>2.7006 AU</a:t>
            </a:r>
            <a:endParaRPr lang="en-US" sz="2300" dirty="0"/>
          </a:p>
        </p:txBody>
      </p:sp>
      <p:sp>
        <p:nvSpPr>
          <p:cNvPr id="7" name="Text 5"/>
          <p:cNvSpPr txBox="1"/>
          <p:nvPr/>
        </p:nvSpPr>
        <p:spPr>
          <a:xfrm>
            <a:off x="676656" y="3822192"/>
            <a:ext cx="1481328" cy="365760"/>
          </a:xfrm>
          <a:prstGeom prst="rect">
            <a:avLst/>
          </a:prstGeom>
          <a:noFill/>
          <a:ln/>
        </p:spPr>
        <p:txBody>
          <a:bodyPr wrap="square" lIns="0" tIns="0" rIns="0" bIns="0" rtlCol="0" anchor="t"/>
          <a:lstStyle/>
          <a:p>
            <a:pPr indent="0" marL="0">
              <a:buNone/>
            </a:pPr>
            <a:r>
              <a:rPr lang="en-US" sz="1000" dirty="0">
                <a:solidFill>
                  <a:srgbClr val="9AA7BA"/>
                </a:solidFill>
                <a:latin typeface="Calibri" pitchFamily="34" charset="0"/>
                <a:ea typeface="Calibri" pitchFamily="34" charset="-122"/>
                <a:cs typeface="Calibri" pitchFamily="34" charset="-120"/>
              </a:rPr>
              <a:t>Earth's new orbit (target 2.7)</a:t>
            </a:r>
            <a:endParaRPr lang="en-US" sz="1000" dirty="0"/>
          </a:p>
        </p:txBody>
      </p:sp>
      <p:sp>
        <p:nvSpPr>
          <p:cNvPr id="8" name="Shape 6"/>
          <p:cNvSpPr/>
          <p:nvPr/>
        </p:nvSpPr>
        <p:spPr>
          <a:xfrm>
            <a:off x="2359152" y="3310128"/>
            <a:ext cx="1700784" cy="914400"/>
          </a:xfrm>
          <a:prstGeom prst="roundRect">
            <a:avLst>
              <a:gd name="adj" fmla="val 8000"/>
            </a:avLst>
          </a:prstGeom>
          <a:solidFill>
            <a:srgbClr val="16213A"/>
          </a:solidFill>
          <a:ln w="9525">
            <a:solidFill>
              <a:srgbClr val="34445F"/>
            </a:solidFill>
            <a:prstDash val="solid"/>
          </a:ln>
        </p:spPr>
      </p:sp>
      <p:sp>
        <p:nvSpPr>
          <p:cNvPr id="9" name="Text 7"/>
          <p:cNvSpPr txBox="1"/>
          <p:nvPr/>
        </p:nvSpPr>
        <p:spPr>
          <a:xfrm>
            <a:off x="2487168" y="3419856"/>
            <a:ext cx="1508760" cy="384048"/>
          </a:xfrm>
          <a:prstGeom prst="rect">
            <a:avLst/>
          </a:prstGeom>
          <a:noFill/>
          <a:ln/>
        </p:spPr>
        <p:txBody>
          <a:bodyPr wrap="square" lIns="0" tIns="0" rIns="0" bIns="0" rtlCol="0" anchor="ctr"/>
          <a:lstStyle/>
          <a:p>
            <a:pPr indent="0" marL="0">
              <a:buNone/>
            </a:pPr>
            <a:r>
              <a:rPr lang="en-US" sz="2300" b="1" dirty="0">
                <a:solidFill>
                  <a:srgbClr val="2A9D8F"/>
                </a:solidFill>
                <a:latin typeface="Calibri" pitchFamily="34" charset="0"/>
                <a:ea typeface="Calibri" pitchFamily="34" charset="-122"/>
                <a:cs typeface="Calibri" pitchFamily="34" charset="-120"/>
              </a:rPr>
              <a:t>8,758 yr</a:t>
            </a:r>
            <a:endParaRPr lang="en-US" sz="2300" dirty="0"/>
          </a:p>
        </p:txBody>
      </p:sp>
      <p:sp>
        <p:nvSpPr>
          <p:cNvPr id="10" name="Text 8"/>
          <p:cNvSpPr txBox="1"/>
          <p:nvPr/>
        </p:nvSpPr>
        <p:spPr>
          <a:xfrm>
            <a:off x="2487168" y="3822192"/>
            <a:ext cx="1481328" cy="365760"/>
          </a:xfrm>
          <a:prstGeom prst="rect">
            <a:avLst/>
          </a:prstGeom>
          <a:noFill/>
          <a:ln/>
        </p:spPr>
        <p:txBody>
          <a:bodyPr wrap="square" lIns="0" tIns="0" rIns="0" bIns="0" rtlCol="0" anchor="t"/>
          <a:lstStyle/>
          <a:p>
            <a:pPr indent="0" marL="0">
              <a:buNone/>
            </a:pPr>
            <a:r>
              <a:rPr lang="en-US" sz="1000" dirty="0">
                <a:solidFill>
                  <a:srgbClr val="9AA7BA"/>
                </a:solidFill>
                <a:latin typeface="Calibri" pitchFamily="34" charset="0"/>
                <a:ea typeface="Calibri" pitchFamily="34" charset="-122"/>
                <a:cs typeface="Calibri" pitchFamily="34" charset="-120"/>
              </a:rPr>
              <a:t>arrival, of 10,000 allowed</a:t>
            </a:r>
            <a:endParaRPr lang="en-US" sz="1000" dirty="0"/>
          </a:p>
        </p:txBody>
      </p:sp>
      <p:sp>
        <p:nvSpPr>
          <p:cNvPr id="11" name="Shape 9"/>
          <p:cNvSpPr/>
          <p:nvPr/>
        </p:nvSpPr>
        <p:spPr>
          <a:xfrm>
            <a:off x="4169664" y="3310128"/>
            <a:ext cx="1700784" cy="914400"/>
          </a:xfrm>
          <a:prstGeom prst="roundRect">
            <a:avLst>
              <a:gd name="adj" fmla="val 8000"/>
            </a:avLst>
          </a:prstGeom>
          <a:solidFill>
            <a:srgbClr val="16213A"/>
          </a:solidFill>
          <a:ln w="9525">
            <a:solidFill>
              <a:srgbClr val="34445F"/>
            </a:solidFill>
            <a:prstDash val="solid"/>
          </a:ln>
        </p:spPr>
      </p:sp>
      <p:sp>
        <p:nvSpPr>
          <p:cNvPr id="12" name="Text 10"/>
          <p:cNvSpPr txBox="1"/>
          <p:nvPr/>
        </p:nvSpPr>
        <p:spPr>
          <a:xfrm>
            <a:off x="4297680" y="3419856"/>
            <a:ext cx="1508760" cy="384048"/>
          </a:xfrm>
          <a:prstGeom prst="rect">
            <a:avLst/>
          </a:prstGeom>
          <a:noFill/>
          <a:ln/>
        </p:spPr>
        <p:txBody>
          <a:bodyPr wrap="square" lIns="0" tIns="0" rIns="0" bIns="0" rtlCol="0" anchor="ctr"/>
          <a:lstStyle/>
          <a:p>
            <a:pPr indent="0" marL="0">
              <a:buNone/>
            </a:pPr>
            <a:r>
              <a:rPr lang="en-US" sz="2300" b="1" dirty="0">
                <a:solidFill>
                  <a:srgbClr val="2F9E5B"/>
                </a:solidFill>
                <a:latin typeface="Calibri" pitchFamily="34" charset="0"/>
                <a:ea typeface="Calibri" pitchFamily="34" charset="-122"/>
                <a:cs typeface="Calibri" pitchFamily="34" charset="-120"/>
              </a:rPr>
              <a:t>10 / 10</a:t>
            </a:r>
            <a:endParaRPr lang="en-US" sz="2300" dirty="0"/>
          </a:p>
        </p:txBody>
      </p:sp>
      <p:sp>
        <p:nvSpPr>
          <p:cNvPr id="13" name="Text 11"/>
          <p:cNvSpPr txBox="1"/>
          <p:nvPr/>
        </p:nvSpPr>
        <p:spPr>
          <a:xfrm>
            <a:off x="4297680" y="3822192"/>
            <a:ext cx="1481328" cy="365760"/>
          </a:xfrm>
          <a:prstGeom prst="rect">
            <a:avLst/>
          </a:prstGeom>
          <a:noFill/>
          <a:ln/>
        </p:spPr>
        <p:txBody>
          <a:bodyPr wrap="square" lIns="0" tIns="0" rIns="0" bIns="0" rtlCol="0" anchor="t"/>
          <a:lstStyle/>
          <a:p>
            <a:pPr indent="0" marL="0">
              <a:buNone/>
            </a:pPr>
            <a:r>
              <a:rPr lang="en-US" sz="1000" dirty="0">
                <a:solidFill>
                  <a:srgbClr val="9AA7BA"/>
                </a:solidFill>
                <a:latin typeface="Calibri" pitchFamily="34" charset="0"/>
                <a:ea typeface="Calibri" pitchFamily="34" charset="-122"/>
                <a:cs typeface="Calibri" pitchFamily="34" charset="-120"/>
              </a:rPr>
              <a:t>official benchmarks pass</a:t>
            </a:r>
            <a:endParaRPr lang="en-US" sz="1000" dirty="0"/>
          </a:p>
        </p:txBody>
      </p:sp>
      <p:sp>
        <p:nvSpPr>
          <p:cNvPr id="14" name="Shape 12"/>
          <p:cNvSpPr/>
          <p:nvPr/>
        </p:nvSpPr>
        <p:spPr>
          <a:xfrm>
            <a:off x="548640" y="4334256"/>
            <a:ext cx="1700784" cy="914400"/>
          </a:xfrm>
          <a:prstGeom prst="roundRect">
            <a:avLst>
              <a:gd name="adj" fmla="val 8000"/>
            </a:avLst>
          </a:prstGeom>
          <a:solidFill>
            <a:srgbClr val="16213A"/>
          </a:solidFill>
          <a:ln w="9525">
            <a:solidFill>
              <a:srgbClr val="34445F"/>
            </a:solidFill>
            <a:prstDash val="solid"/>
          </a:ln>
        </p:spPr>
      </p:sp>
      <p:sp>
        <p:nvSpPr>
          <p:cNvPr id="15" name="Text 13"/>
          <p:cNvSpPr txBox="1"/>
          <p:nvPr/>
        </p:nvSpPr>
        <p:spPr>
          <a:xfrm>
            <a:off x="676656" y="4443984"/>
            <a:ext cx="1508760" cy="384048"/>
          </a:xfrm>
          <a:prstGeom prst="rect">
            <a:avLst/>
          </a:prstGeom>
          <a:noFill/>
          <a:ln/>
        </p:spPr>
        <p:txBody>
          <a:bodyPr wrap="square" lIns="0" tIns="0" rIns="0" bIns="0" rtlCol="0" anchor="ctr"/>
          <a:lstStyle/>
          <a:p>
            <a:pPr indent="0" marL="0">
              <a:buNone/>
            </a:pPr>
            <a:r>
              <a:rPr lang="en-US" sz="2300" b="1" dirty="0">
                <a:solidFill>
                  <a:srgbClr val="2F9E5B"/>
                </a:solidFill>
                <a:latin typeface="Calibri" pitchFamily="34" charset="0"/>
                <a:ea typeface="Calibri" pitchFamily="34" charset="-122"/>
                <a:cs typeface="Calibri" pitchFamily="34" charset="-120"/>
              </a:rPr>
              <a:t>1.57</a:t>
            </a:r>
            <a:endParaRPr lang="en-US" sz="2300" dirty="0"/>
          </a:p>
        </p:txBody>
      </p:sp>
      <p:sp>
        <p:nvSpPr>
          <p:cNvPr id="16" name="Text 14"/>
          <p:cNvSpPr txBox="1"/>
          <p:nvPr/>
        </p:nvSpPr>
        <p:spPr>
          <a:xfrm>
            <a:off x="676656" y="4846320"/>
            <a:ext cx="1481328" cy="365760"/>
          </a:xfrm>
          <a:prstGeom prst="rect">
            <a:avLst/>
          </a:prstGeom>
          <a:noFill/>
          <a:ln/>
        </p:spPr>
        <p:txBody>
          <a:bodyPr wrap="square" lIns="0" tIns="0" rIns="0" bIns="0" rtlCol="0" anchor="t"/>
          <a:lstStyle/>
          <a:p>
            <a:pPr indent="0" marL="0">
              <a:buNone/>
            </a:pPr>
            <a:r>
              <a:rPr lang="en-US" sz="1000" dirty="0">
                <a:solidFill>
                  <a:srgbClr val="9AA7BA"/>
                </a:solidFill>
                <a:latin typeface="Calibri" pitchFamily="34" charset="0"/>
                <a:ea typeface="Calibri" pitchFamily="34" charset="-122"/>
                <a:cs typeface="Calibri" pitchFamily="34" charset="-120"/>
              </a:rPr>
              <a:t>lowest safety factor (needs 1.5)</a:t>
            </a:r>
            <a:endParaRPr lang="en-US" sz="1000" dirty="0"/>
          </a:p>
        </p:txBody>
      </p:sp>
      <p:sp>
        <p:nvSpPr>
          <p:cNvPr id="17" name="Shape 15"/>
          <p:cNvSpPr/>
          <p:nvPr/>
        </p:nvSpPr>
        <p:spPr>
          <a:xfrm>
            <a:off x="2359152" y="4334256"/>
            <a:ext cx="1700784" cy="914400"/>
          </a:xfrm>
          <a:prstGeom prst="roundRect">
            <a:avLst>
              <a:gd name="adj" fmla="val 8000"/>
            </a:avLst>
          </a:prstGeom>
          <a:solidFill>
            <a:srgbClr val="16213A"/>
          </a:solidFill>
          <a:ln w="9525">
            <a:solidFill>
              <a:srgbClr val="34445F"/>
            </a:solidFill>
            <a:prstDash val="solid"/>
          </a:ln>
        </p:spPr>
      </p:sp>
      <p:sp>
        <p:nvSpPr>
          <p:cNvPr id="18" name="Text 16"/>
          <p:cNvSpPr txBox="1"/>
          <p:nvPr/>
        </p:nvSpPr>
        <p:spPr>
          <a:xfrm>
            <a:off x="2487168" y="4443984"/>
            <a:ext cx="1508760" cy="384048"/>
          </a:xfrm>
          <a:prstGeom prst="rect">
            <a:avLst/>
          </a:prstGeom>
          <a:noFill/>
          <a:ln/>
        </p:spPr>
        <p:txBody>
          <a:bodyPr wrap="square" lIns="0" tIns="0" rIns="0" bIns="0" rtlCol="0" anchor="ctr"/>
          <a:lstStyle/>
          <a:p>
            <a:pPr indent="0" marL="0">
              <a:buNone/>
            </a:pPr>
            <a:r>
              <a:rPr lang="en-US" sz="1900" b="1" dirty="0">
                <a:solidFill>
                  <a:srgbClr val="F2A541"/>
                </a:solidFill>
                <a:latin typeface="Calibri" pitchFamily="34" charset="0"/>
                <a:ea typeface="Calibri" pitchFamily="34" charset="-122"/>
                <a:cs typeface="Calibri" pitchFamily="34" charset="-120"/>
              </a:rPr>
              <a:t>5.6 × 10⁻¹⁶</a:t>
            </a:r>
            <a:endParaRPr lang="en-US" sz="1900" dirty="0"/>
          </a:p>
        </p:txBody>
      </p:sp>
      <p:sp>
        <p:nvSpPr>
          <p:cNvPr id="19" name="Text 17"/>
          <p:cNvSpPr txBox="1"/>
          <p:nvPr/>
        </p:nvSpPr>
        <p:spPr>
          <a:xfrm>
            <a:off x="2487168" y="4846320"/>
            <a:ext cx="1481328" cy="365760"/>
          </a:xfrm>
          <a:prstGeom prst="rect">
            <a:avLst/>
          </a:prstGeom>
          <a:noFill/>
          <a:ln/>
        </p:spPr>
        <p:txBody>
          <a:bodyPr wrap="square" lIns="0" tIns="0" rIns="0" bIns="0" rtlCol="0" anchor="t"/>
          <a:lstStyle/>
          <a:p>
            <a:pPr indent="0" marL="0">
              <a:buNone/>
            </a:pPr>
            <a:r>
              <a:rPr lang="en-US" sz="1000" dirty="0">
                <a:solidFill>
                  <a:srgbClr val="9AA7BA"/>
                </a:solidFill>
                <a:latin typeface="Calibri" pitchFamily="34" charset="0"/>
                <a:ea typeface="Calibri" pitchFamily="34" charset="-122"/>
                <a:cs typeface="Calibri" pitchFamily="34" charset="-120"/>
              </a:rPr>
              <a:t>momentum ledger gap (limit 10⁻⁹)</a:t>
            </a:r>
            <a:endParaRPr lang="en-US" sz="1000" dirty="0"/>
          </a:p>
        </p:txBody>
      </p:sp>
      <p:sp>
        <p:nvSpPr>
          <p:cNvPr id="20" name="Shape 18"/>
          <p:cNvSpPr/>
          <p:nvPr/>
        </p:nvSpPr>
        <p:spPr>
          <a:xfrm>
            <a:off x="4169664" y="4334256"/>
            <a:ext cx="1700784" cy="914400"/>
          </a:xfrm>
          <a:prstGeom prst="roundRect">
            <a:avLst>
              <a:gd name="adj" fmla="val 8000"/>
            </a:avLst>
          </a:prstGeom>
          <a:solidFill>
            <a:srgbClr val="16213A"/>
          </a:solidFill>
          <a:ln w="9525">
            <a:solidFill>
              <a:srgbClr val="34445F"/>
            </a:solidFill>
            <a:prstDash val="solid"/>
          </a:ln>
        </p:spPr>
      </p:sp>
      <p:sp>
        <p:nvSpPr>
          <p:cNvPr id="21" name="Text 19"/>
          <p:cNvSpPr txBox="1"/>
          <p:nvPr/>
        </p:nvSpPr>
        <p:spPr>
          <a:xfrm>
            <a:off x="4297680" y="4443984"/>
            <a:ext cx="1508760" cy="384048"/>
          </a:xfrm>
          <a:prstGeom prst="rect">
            <a:avLst/>
          </a:prstGeom>
          <a:noFill/>
          <a:ln/>
        </p:spPr>
        <p:txBody>
          <a:bodyPr wrap="square" lIns="0" tIns="0" rIns="0" bIns="0" rtlCol="0" anchor="ctr"/>
          <a:lstStyle/>
          <a:p>
            <a:pPr indent="0" marL="0">
              <a:buNone/>
            </a:pPr>
            <a:r>
              <a:rPr lang="en-US" sz="2300" b="1" dirty="0">
                <a:solidFill>
                  <a:srgbClr val="F2A541"/>
                </a:solidFill>
                <a:latin typeface="Calibri" pitchFamily="34" charset="0"/>
                <a:ea typeface="Calibri" pitchFamily="34" charset="-122"/>
                <a:cs typeface="Calibri" pitchFamily="34" charset="-120"/>
              </a:rPr>
              <a:t>0</a:t>
            </a:r>
            <a:endParaRPr lang="en-US" sz="2300" dirty="0"/>
          </a:p>
        </p:txBody>
      </p:sp>
      <p:sp>
        <p:nvSpPr>
          <p:cNvPr id="22" name="Text 20"/>
          <p:cNvSpPr txBox="1"/>
          <p:nvPr/>
        </p:nvSpPr>
        <p:spPr>
          <a:xfrm>
            <a:off x="4297680" y="4846320"/>
            <a:ext cx="1481328" cy="365760"/>
          </a:xfrm>
          <a:prstGeom prst="rect">
            <a:avLst/>
          </a:prstGeom>
          <a:noFill/>
          <a:ln/>
        </p:spPr>
        <p:txBody>
          <a:bodyPr wrap="square" lIns="0" tIns="0" rIns="0" bIns="0" rtlCol="0" anchor="t"/>
          <a:lstStyle/>
          <a:p>
            <a:pPr indent="0" marL="0">
              <a:buNone/>
            </a:pPr>
            <a:r>
              <a:rPr lang="en-US" sz="1000" dirty="0">
                <a:solidFill>
                  <a:srgbClr val="9AA7BA"/>
                </a:solidFill>
                <a:latin typeface="Calibri" pitchFamily="34" charset="0"/>
                <a:ea typeface="Calibri" pitchFamily="34" charset="-122"/>
                <a:cs typeface="Calibri" pitchFamily="34" charset="-120"/>
              </a:rPr>
              <a:t>unresolved flags (6 covered by E1–E3)</a:t>
            </a:r>
            <a:endParaRPr lang="en-US" sz="1000" dirty="0"/>
          </a:p>
        </p:txBody>
      </p:sp>
      <p:sp>
        <p:nvSpPr>
          <p:cNvPr id="23" name="Text 21"/>
          <p:cNvSpPr txBox="1"/>
          <p:nvPr/>
        </p:nvSpPr>
        <p:spPr>
          <a:xfrm>
            <a:off x="548640" y="5504688"/>
            <a:ext cx="5486400" cy="384048"/>
          </a:xfrm>
          <a:prstGeom prst="rect">
            <a:avLst/>
          </a:prstGeom>
          <a:noFill/>
          <a:ln/>
        </p:spPr>
        <p:txBody>
          <a:bodyPr wrap="square" lIns="0" tIns="0" rIns="0" bIns="0" rtlCol="0" anchor="t"/>
          <a:lstStyle/>
          <a:p>
            <a:pPr indent="0" marL="0">
              <a:buNone/>
            </a:pPr>
            <a:r>
              <a:rPr lang="en-US" sz="1100" b="1" dirty="0">
                <a:solidFill>
                  <a:srgbClr val="E8EDF5"/>
                </a:solidFill>
                <a:latin typeface="Calibri" pitchFamily="34" charset="0"/>
                <a:ea typeface="Calibri" pitchFamily="34" charset="-122"/>
                <a:cs typeface="Calibri" pitchFamily="34" charset="-120"/>
              </a:rPr>
              <a:t>Sushmit Sukla</a:t>
            </a:r>
            <a:pPr indent="0" marL="0">
              <a:buNone/>
            </a:pPr>
            <a:r>
              <a:rPr lang="en-US" sz="1100" dirty="0">
                <a:solidFill>
                  <a:srgbClr val="E8EDF5"/>
                </a:solidFill>
                <a:latin typeface="Calibri" pitchFamily="34" charset="0"/>
                <a:ea typeface="Calibri" pitchFamily="34" charset="-122"/>
                <a:cs typeface="Calibri" pitchFamily="34" charset="-120"/>
              </a:rPr>
              <a:t> (team leader) · Ashish Bharti · Akhil Semwal · Madhukar Verma · Prabhanshu Kerketa</a:t>
            </a:r>
            <a:endParaRPr lang="en-US" sz="1100" dirty="0"/>
          </a:p>
        </p:txBody>
      </p:sp>
      <p:sp>
        <p:nvSpPr>
          <p:cNvPr id="24" name="Text 22"/>
          <p:cNvSpPr txBox="1"/>
          <p:nvPr/>
        </p:nvSpPr>
        <p:spPr>
          <a:xfrm>
            <a:off x="548640" y="5943600"/>
            <a:ext cx="5486400" cy="365760"/>
          </a:xfrm>
          <a:prstGeom prst="rect">
            <a:avLst/>
          </a:prstGeom>
          <a:noFill/>
          <a:ln/>
        </p:spPr>
        <p:txBody>
          <a:bodyPr wrap="square" lIns="0" tIns="0" rIns="0" bIns="0" rtlCol="0" anchor="t"/>
          <a:lstStyle/>
          <a:p>
            <a:pPr indent="0" marL="0">
              <a:buNone/>
            </a:pPr>
            <a:r>
              <a:rPr lang="en-US" sz="1000" dirty="0">
                <a:solidFill>
                  <a:srgbClr val="9AA7BA"/>
                </a:solidFill>
                <a:latin typeface="Calibri" pitchFamily="34" charset="0"/>
                <a:ea typeface="Calibri" pitchFamily="34" charset="-122"/>
                <a:cs typeface="Calibri" pitchFamily="34" charset="-120"/>
              </a:rPr>
              <a:t>25 October 2026 · github.com/Ashish000011/black-ant · test bench: ashish000011.github.io/black-ant</a:t>
            </a:r>
            <a:endParaRPr lang="en-US" sz="1000" dirty="0"/>
          </a:p>
        </p:txBody>
      </p:sp>
      <p:sp>
        <p:nvSpPr>
          <p:cNvPr id="25" name="Shape 23"/>
          <p:cNvSpPr/>
          <p:nvPr/>
        </p:nvSpPr>
        <p:spPr>
          <a:xfrm>
            <a:off x="10524313" y="2784684"/>
            <a:ext cx="45213" cy="45213"/>
          </a:xfrm>
          <a:prstGeom prst="ellipse">
            <a:avLst/>
          </a:prstGeom>
          <a:solidFill>
            <a:srgbClr val="8A94A6">
              <a:alpha val="65000"/>
            </a:srgbClr>
          </a:solidFill>
          <a:ln/>
        </p:spPr>
      </p:sp>
      <p:sp>
        <p:nvSpPr>
          <p:cNvPr id="26" name="Shape 24"/>
          <p:cNvSpPr/>
          <p:nvPr/>
        </p:nvSpPr>
        <p:spPr>
          <a:xfrm>
            <a:off x="6924984" y="3677641"/>
            <a:ext cx="32674" cy="32674"/>
          </a:xfrm>
          <a:prstGeom prst="ellipse">
            <a:avLst/>
          </a:prstGeom>
          <a:solidFill>
            <a:srgbClr val="8A94A6">
              <a:alpha val="65000"/>
            </a:srgbClr>
          </a:solidFill>
          <a:ln/>
        </p:spPr>
      </p:sp>
      <p:sp>
        <p:nvSpPr>
          <p:cNvPr id="27" name="Shape 25"/>
          <p:cNvSpPr/>
          <p:nvPr/>
        </p:nvSpPr>
        <p:spPr>
          <a:xfrm>
            <a:off x="9204929" y="1417774"/>
            <a:ext cx="35917" cy="35917"/>
          </a:xfrm>
          <a:prstGeom prst="ellipse">
            <a:avLst/>
          </a:prstGeom>
          <a:solidFill>
            <a:srgbClr val="8A94A6">
              <a:alpha val="65000"/>
            </a:srgbClr>
          </a:solidFill>
          <a:ln/>
        </p:spPr>
      </p:sp>
      <p:sp>
        <p:nvSpPr>
          <p:cNvPr id="28" name="Shape 26"/>
          <p:cNvSpPr/>
          <p:nvPr/>
        </p:nvSpPr>
        <p:spPr>
          <a:xfrm>
            <a:off x="8976491" y="1186569"/>
            <a:ext cx="27197" cy="27197"/>
          </a:xfrm>
          <a:prstGeom prst="ellipse">
            <a:avLst/>
          </a:prstGeom>
          <a:solidFill>
            <a:srgbClr val="8A94A6">
              <a:alpha val="65000"/>
            </a:srgbClr>
          </a:solidFill>
          <a:ln/>
        </p:spPr>
      </p:sp>
      <p:sp>
        <p:nvSpPr>
          <p:cNvPr id="29" name="Shape 27"/>
          <p:cNvSpPr/>
          <p:nvPr/>
        </p:nvSpPr>
        <p:spPr>
          <a:xfrm>
            <a:off x="6864635" y="3645312"/>
            <a:ext cx="28101" cy="28101"/>
          </a:xfrm>
          <a:prstGeom prst="ellipse">
            <a:avLst/>
          </a:prstGeom>
          <a:solidFill>
            <a:srgbClr val="8A94A6">
              <a:alpha val="65000"/>
            </a:srgbClr>
          </a:solidFill>
          <a:ln/>
        </p:spPr>
      </p:sp>
      <p:sp>
        <p:nvSpPr>
          <p:cNvPr id="30" name="Shape 28"/>
          <p:cNvSpPr/>
          <p:nvPr/>
        </p:nvSpPr>
        <p:spPr>
          <a:xfrm>
            <a:off x="8575281" y="1570449"/>
            <a:ext cx="35510" cy="35510"/>
          </a:xfrm>
          <a:prstGeom prst="ellipse">
            <a:avLst/>
          </a:prstGeom>
          <a:solidFill>
            <a:srgbClr val="8A94A6">
              <a:alpha val="65000"/>
            </a:srgbClr>
          </a:solidFill>
          <a:ln/>
        </p:spPr>
      </p:sp>
      <p:sp>
        <p:nvSpPr>
          <p:cNvPr id="31" name="Shape 29"/>
          <p:cNvSpPr/>
          <p:nvPr/>
        </p:nvSpPr>
        <p:spPr>
          <a:xfrm>
            <a:off x="10885015" y="3638184"/>
            <a:ext cx="29207" cy="29207"/>
          </a:xfrm>
          <a:prstGeom prst="ellipse">
            <a:avLst/>
          </a:prstGeom>
          <a:solidFill>
            <a:srgbClr val="8A94A6">
              <a:alpha val="65000"/>
            </a:srgbClr>
          </a:solidFill>
          <a:ln/>
        </p:spPr>
      </p:sp>
      <p:sp>
        <p:nvSpPr>
          <p:cNvPr id="32" name="Shape 30"/>
          <p:cNvSpPr/>
          <p:nvPr/>
        </p:nvSpPr>
        <p:spPr>
          <a:xfrm>
            <a:off x="9933781" y="1212304"/>
            <a:ext cx="26927" cy="26927"/>
          </a:xfrm>
          <a:prstGeom prst="ellipse">
            <a:avLst/>
          </a:prstGeom>
          <a:solidFill>
            <a:srgbClr val="8A94A6">
              <a:alpha val="65000"/>
            </a:srgbClr>
          </a:solidFill>
          <a:ln/>
        </p:spPr>
      </p:sp>
      <p:sp>
        <p:nvSpPr>
          <p:cNvPr id="33" name="Shape 31"/>
          <p:cNvSpPr/>
          <p:nvPr/>
        </p:nvSpPr>
        <p:spPr>
          <a:xfrm>
            <a:off x="8649596" y="1746556"/>
            <a:ext cx="35798" cy="35798"/>
          </a:xfrm>
          <a:prstGeom prst="ellipse">
            <a:avLst/>
          </a:prstGeom>
          <a:solidFill>
            <a:srgbClr val="8A94A6">
              <a:alpha val="65000"/>
            </a:srgbClr>
          </a:solidFill>
          <a:ln/>
        </p:spPr>
      </p:sp>
      <p:sp>
        <p:nvSpPr>
          <p:cNvPr id="34" name="Shape 32"/>
          <p:cNvSpPr/>
          <p:nvPr/>
        </p:nvSpPr>
        <p:spPr>
          <a:xfrm>
            <a:off x="11068648" y="2372137"/>
            <a:ext cx="43809" cy="43809"/>
          </a:xfrm>
          <a:prstGeom prst="ellipse">
            <a:avLst/>
          </a:prstGeom>
          <a:solidFill>
            <a:srgbClr val="8A94A6">
              <a:alpha val="65000"/>
            </a:srgbClr>
          </a:solidFill>
          <a:ln/>
        </p:spPr>
      </p:sp>
      <p:sp>
        <p:nvSpPr>
          <p:cNvPr id="35" name="Shape 33"/>
          <p:cNvSpPr/>
          <p:nvPr/>
        </p:nvSpPr>
        <p:spPr>
          <a:xfrm>
            <a:off x="7600732" y="4799014"/>
            <a:ext cx="38699" cy="38699"/>
          </a:xfrm>
          <a:prstGeom prst="ellipse">
            <a:avLst/>
          </a:prstGeom>
          <a:solidFill>
            <a:srgbClr val="8A94A6">
              <a:alpha val="65000"/>
            </a:srgbClr>
          </a:solidFill>
          <a:ln/>
        </p:spPr>
      </p:sp>
      <p:sp>
        <p:nvSpPr>
          <p:cNvPr id="36" name="Shape 34"/>
          <p:cNvSpPr/>
          <p:nvPr/>
        </p:nvSpPr>
        <p:spPr>
          <a:xfrm>
            <a:off x="7362725" y="5079847"/>
            <a:ext cx="43991" cy="43991"/>
          </a:xfrm>
          <a:prstGeom prst="ellipse">
            <a:avLst/>
          </a:prstGeom>
          <a:solidFill>
            <a:srgbClr val="8A94A6">
              <a:alpha val="65000"/>
            </a:srgbClr>
          </a:solidFill>
          <a:ln/>
        </p:spPr>
      </p:sp>
      <p:sp>
        <p:nvSpPr>
          <p:cNvPr id="37" name="Shape 35"/>
          <p:cNvSpPr/>
          <p:nvPr/>
        </p:nvSpPr>
        <p:spPr>
          <a:xfrm>
            <a:off x="11303563" y="2818316"/>
            <a:ext cx="27614" cy="27614"/>
          </a:xfrm>
          <a:prstGeom prst="ellipse">
            <a:avLst/>
          </a:prstGeom>
          <a:solidFill>
            <a:srgbClr val="8A94A6">
              <a:alpha val="65000"/>
            </a:srgbClr>
          </a:solidFill>
          <a:ln/>
        </p:spPr>
      </p:sp>
      <p:sp>
        <p:nvSpPr>
          <p:cNvPr id="38" name="Shape 36"/>
          <p:cNvSpPr/>
          <p:nvPr/>
        </p:nvSpPr>
        <p:spPr>
          <a:xfrm>
            <a:off x="7415920" y="2542593"/>
            <a:ext cx="24217" cy="24217"/>
          </a:xfrm>
          <a:prstGeom prst="ellipse">
            <a:avLst/>
          </a:prstGeom>
          <a:solidFill>
            <a:srgbClr val="8A94A6">
              <a:alpha val="65000"/>
            </a:srgbClr>
          </a:solidFill>
          <a:ln/>
        </p:spPr>
      </p:sp>
      <p:sp>
        <p:nvSpPr>
          <p:cNvPr id="39" name="Shape 37"/>
          <p:cNvSpPr/>
          <p:nvPr/>
        </p:nvSpPr>
        <p:spPr>
          <a:xfrm>
            <a:off x="9266880" y="5008880"/>
            <a:ext cx="31872" cy="31872"/>
          </a:xfrm>
          <a:prstGeom prst="ellipse">
            <a:avLst/>
          </a:prstGeom>
          <a:solidFill>
            <a:srgbClr val="8A94A6">
              <a:alpha val="65000"/>
            </a:srgbClr>
          </a:solidFill>
          <a:ln/>
        </p:spPr>
      </p:sp>
      <p:sp>
        <p:nvSpPr>
          <p:cNvPr id="40" name="Shape 38"/>
          <p:cNvSpPr/>
          <p:nvPr/>
        </p:nvSpPr>
        <p:spPr>
          <a:xfrm>
            <a:off x="7178734" y="3000823"/>
            <a:ext cx="44540" cy="44540"/>
          </a:xfrm>
          <a:prstGeom prst="ellipse">
            <a:avLst/>
          </a:prstGeom>
          <a:solidFill>
            <a:srgbClr val="8A94A6">
              <a:alpha val="65000"/>
            </a:srgbClr>
          </a:solidFill>
          <a:ln/>
        </p:spPr>
      </p:sp>
      <p:sp>
        <p:nvSpPr>
          <p:cNvPr id="41" name="Shape 39"/>
          <p:cNvSpPr/>
          <p:nvPr/>
        </p:nvSpPr>
        <p:spPr>
          <a:xfrm>
            <a:off x="8258440" y="5404698"/>
            <a:ext cx="31031" cy="31031"/>
          </a:xfrm>
          <a:prstGeom prst="ellipse">
            <a:avLst/>
          </a:prstGeom>
          <a:solidFill>
            <a:srgbClr val="8A94A6">
              <a:alpha val="65000"/>
            </a:srgbClr>
          </a:solidFill>
          <a:ln/>
        </p:spPr>
      </p:sp>
      <p:sp>
        <p:nvSpPr>
          <p:cNvPr id="42" name="Shape 40"/>
          <p:cNvSpPr/>
          <p:nvPr/>
        </p:nvSpPr>
        <p:spPr>
          <a:xfrm>
            <a:off x="10289175" y="1954843"/>
            <a:ext cx="26700" cy="26700"/>
          </a:xfrm>
          <a:prstGeom prst="ellipse">
            <a:avLst/>
          </a:prstGeom>
          <a:solidFill>
            <a:srgbClr val="8A94A6">
              <a:alpha val="65000"/>
            </a:srgbClr>
          </a:solidFill>
          <a:ln/>
        </p:spPr>
      </p:sp>
      <p:sp>
        <p:nvSpPr>
          <p:cNvPr id="43" name="Shape 41"/>
          <p:cNvSpPr/>
          <p:nvPr/>
        </p:nvSpPr>
        <p:spPr>
          <a:xfrm>
            <a:off x="8043989" y="1261576"/>
            <a:ext cx="27952" cy="27952"/>
          </a:xfrm>
          <a:prstGeom prst="ellipse">
            <a:avLst/>
          </a:prstGeom>
          <a:solidFill>
            <a:srgbClr val="8A94A6">
              <a:alpha val="65000"/>
            </a:srgbClr>
          </a:solidFill>
          <a:ln/>
        </p:spPr>
      </p:sp>
      <p:sp>
        <p:nvSpPr>
          <p:cNvPr id="44" name="Shape 42"/>
          <p:cNvSpPr/>
          <p:nvPr/>
        </p:nvSpPr>
        <p:spPr>
          <a:xfrm>
            <a:off x="7987910" y="1578859"/>
            <a:ext cx="24732" cy="24732"/>
          </a:xfrm>
          <a:prstGeom prst="ellipse">
            <a:avLst/>
          </a:prstGeom>
          <a:solidFill>
            <a:srgbClr val="8A94A6">
              <a:alpha val="65000"/>
            </a:srgbClr>
          </a:solidFill>
          <a:ln/>
        </p:spPr>
      </p:sp>
      <p:sp>
        <p:nvSpPr>
          <p:cNvPr id="45" name="Shape 43"/>
          <p:cNvSpPr/>
          <p:nvPr/>
        </p:nvSpPr>
        <p:spPr>
          <a:xfrm>
            <a:off x="10985234" y="4409591"/>
            <a:ext cx="35798" cy="35798"/>
          </a:xfrm>
          <a:prstGeom prst="ellipse">
            <a:avLst/>
          </a:prstGeom>
          <a:solidFill>
            <a:srgbClr val="8A94A6">
              <a:alpha val="65000"/>
            </a:srgbClr>
          </a:solidFill>
          <a:ln/>
        </p:spPr>
      </p:sp>
      <p:sp>
        <p:nvSpPr>
          <p:cNvPr id="46" name="Shape 44"/>
          <p:cNvSpPr/>
          <p:nvPr/>
        </p:nvSpPr>
        <p:spPr>
          <a:xfrm>
            <a:off x="7792008" y="5275620"/>
            <a:ext cx="43962" cy="43962"/>
          </a:xfrm>
          <a:prstGeom prst="ellipse">
            <a:avLst/>
          </a:prstGeom>
          <a:solidFill>
            <a:srgbClr val="8A94A6">
              <a:alpha val="65000"/>
            </a:srgbClr>
          </a:solidFill>
          <a:ln/>
        </p:spPr>
      </p:sp>
      <p:sp>
        <p:nvSpPr>
          <p:cNvPr id="47" name="Shape 45"/>
          <p:cNvSpPr/>
          <p:nvPr/>
        </p:nvSpPr>
        <p:spPr>
          <a:xfrm>
            <a:off x="7449104" y="3692776"/>
            <a:ext cx="38021" cy="38021"/>
          </a:xfrm>
          <a:prstGeom prst="ellipse">
            <a:avLst/>
          </a:prstGeom>
          <a:solidFill>
            <a:srgbClr val="8A94A6">
              <a:alpha val="65000"/>
            </a:srgbClr>
          </a:solidFill>
          <a:ln/>
        </p:spPr>
      </p:sp>
      <p:sp>
        <p:nvSpPr>
          <p:cNvPr id="48" name="Shape 46"/>
          <p:cNvSpPr/>
          <p:nvPr/>
        </p:nvSpPr>
        <p:spPr>
          <a:xfrm>
            <a:off x="11352638" y="3957131"/>
            <a:ext cx="42164" cy="42164"/>
          </a:xfrm>
          <a:prstGeom prst="ellipse">
            <a:avLst/>
          </a:prstGeom>
          <a:solidFill>
            <a:srgbClr val="8A94A6">
              <a:alpha val="65000"/>
            </a:srgbClr>
          </a:solidFill>
          <a:ln/>
        </p:spPr>
      </p:sp>
      <p:sp>
        <p:nvSpPr>
          <p:cNvPr id="49" name="Shape 47"/>
          <p:cNvSpPr/>
          <p:nvPr/>
        </p:nvSpPr>
        <p:spPr>
          <a:xfrm>
            <a:off x="11105870" y="3847992"/>
            <a:ext cx="45007" cy="45007"/>
          </a:xfrm>
          <a:prstGeom prst="ellipse">
            <a:avLst/>
          </a:prstGeom>
          <a:solidFill>
            <a:srgbClr val="8A94A6">
              <a:alpha val="65000"/>
            </a:srgbClr>
          </a:solidFill>
          <a:ln/>
        </p:spPr>
      </p:sp>
      <p:sp>
        <p:nvSpPr>
          <p:cNvPr id="50" name="Shape 48"/>
          <p:cNvSpPr/>
          <p:nvPr/>
        </p:nvSpPr>
        <p:spPr>
          <a:xfrm>
            <a:off x="9938930" y="5246163"/>
            <a:ext cx="23899" cy="23899"/>
          </a:xfrm>
          <a:prstGeom prst="ellipse">
            <a:avLst/>
          </a:prstGeom>
          <a:solidFill>
            <a:srgbClr val="8A94A6">
              <a:alpha val="65000"/>
            </a:srgbClr>
          </a:solidFill>
          <a:ln/>
        </p:spPr>
      </p:sp>
      <p:sp>
        <p:nvSpPr>
          <p:cNvPr id="51" name="Shape 49"/>
          <p:cNvSpPr/>
          <p:nvPr/>
        </p:nvSpPr>
        <p:spPr>
          <a:xfrm>
            <a:off x="8129781" y="1605065"/>
            <a:ext cx="39669" cy="39669"/>
          </a:xfrm>
          <a:prstGeom prst="ellipse">
            <a:avLst/>
          </a:prstGeom>
          <a:solidFill>
            <a:srgbClr val="8A94A6">
              <a:alpha val="65000"/>
            </a:srgbClr>
          </a:solidFill>
          <a:ln/>
        </p:spPr>
      </p:sp>
      <p:sp>
        <p:nvSpPr>
          <p:cNvPr id="52" name="Shape 50"/>
          <p:cNvSpPr/>
          <p:nvPr/>
        </p:nvSpPr>
        <p:spPr>
          <a:xfrm>
            <a:off x="9145214" y="5421562"/>
            <a:ext cx="45214" cy="45214"/>
          </a:xfrm>
          <a:prstGeom prst="ellipse">
            <a:avLst/>
          </a:prstGeom>
          <a:solidFill>
            <a:srgbClr val="8A94A6">
              <a:alpha val="65000"/>
            </a:srgbClr>
          </a:solidFill>
          <a:ln/>
        </p:spPr>
      </p:sp>
      <p:sp>
        <p:nvSpPr>
          <p:cNvPr id="53" name="Shape 51"/>
          <p:cNvSpPr/>
          <p:nvPr/>
        </p:nvSpPr>
        <p:spPr>
          <a:xfrm>
            <a:off x="9991590" y="5223014"/>
            <a:ext cx="33211" cy="33211"/>
          </a:xfrm>
          <a:prstGeom prst="ellipse">
            <a:avLst/>
          </a:prstGeom>
          <a:solidFill>
            <a:srgbClr val="8A94A6">
              <a:alpha val="65000"/>
            </a:srgbClr>
          </a:solidFill>
          <a:ln/>
        </p:spPr>
      </p:sp>
      <p:sp>
        <p:nvSpPr>
          <p:cNvPr id="54" name="Shape 52"/>
          <p:cNvSpPr/>
          <p:nvPr/>
        </p:nvSpPr>
        <p:spPr>
          <a:xfrm>
            <a:off x="8927548" y="5504445"/>
            <a:ext cx="35882" cy="35882"/>
          </a:xfrm>
          <a:prstGeom prst="ellipse">
            <a:avLst/>
          </a:prstGeom>
          <a:solidFill>
            <a:srgbClr val="8A94A6">
              <a:alpha val="65000"/>
            </a:srgbClr>
          </a:solidFill>
          <a:ln/>
        </p:spPr>
      </p:sp>
      <p:sp>
        <p:nvSpPr>
          <p:cNvPr id="55" name="Shape 53"/>
          <p:cNvSpPr/>
          <p:nvPr/>
        </p:nvSpPr>
        <p:spPr>
          <a:xfrm>
            <a:off x="9237741" y="1562806"/>
            <a:ext cx="23979" cy="23979"/>
          </a:xfrm>
          <a:prstGeom prst="ellipse">
            <a:avLst/>
          </a:prstGeom>
          <a:solidFill>
            <a:srgbClr val="8A94A6">
              <a:alpha val="65000"/>
            </a:srgbClr>
          </a:solidFill>
          <a:ln/>
        </p:spPr>
      </p:sp>
      <p:sp>
        <p:nvSpPr>
          <p:cNvPr id="56" name="Shape 54"/>
          <p:cNvSpPr/>
          <p:nvPr/>
        </p:nvSpPr>
        <p:spPr>
          <a:xfrm>
            <a:off x="10555365" y="3929571"/>
            <a:ext cx="42063" cy="42063"/>
          </a:xfrm>
          <a:prstGeom prst="ellipse">
            <a:avLst/>
          </a:prstGeom>
          <a:solidFill>
            <a:srgbClr val="8A94A6">
              <a:alpha val="65000"/>
            </a:srgbClr>
          </a:solidFill>
          <a:ln/>
        </p:spPr>
      </p:sp>
      <p:sp>
        <p:nvSpPr>
          <p:cNvPr id="57" name="Shape 55"/>
          <p:cNvSpPr/>
          <p:nvPr/>
        </p:nvSpPr>
        <p:spPr>
          <a:xfrm>
            <a:off x="11186817" y="3191695"/>
            <a:ext cx="37356" cy="37356"/>
          </a:xfrm>
          <a:prstGeom prst="ellipse">
            <a:avLst/>
          </a:prstGeom>
          <a:solidFill>
            <a:srgbClr val="8A94A6">
              <a:alpha val="65000"/>
            </a:srgbClr>
          </a:solidFill>
          <a:ln/>
        </p:spPr>
      </p:sp>
      <p:sp>
        <p:nvSpPr>
          <p:cNvPr id="58" name="Shape 56"/>
          <p:cNvSpPr/>
          <p:nvPr/>
        </p:nvSpPr>
        <p:spPr>
          <a:xfrm>
            <a:off x="8644505" y="5417855"/>
            <a:ext cx="45607" cy="45607"/>
          </a:xfrm>
          <a:prstGeom prst="ellipse">
            <a:avLst/>
          </a:prstGeom>
          <a:solidFill>
            <a:srgbClr val="8A94A6">
              <a:alpha val="65000"/>
            </a:srgbClr>
          </a:solidFill>
          <a:ln/>
        </p:spPr>
      </p:sp>
      <p:sp>
        <p:nvSpPr>
          <p:cNvPr id="59" name="Shape 57"/>
          <p:cNvSpPr/>
          <p:nvPr/>
        </p:nvSpPr>
        <p:spPr>
          <a:xfrm>
            <a:off x="10875041" y="3537793"/>
            <a:ext cx="38038" cy="38038"/>
          </a:xfrm>
          <a:prstGeom prst="ellipse">
            <a:avLst/>
          </a:prstGeom>
          <a:solidFill>
            <a:srgbClr val="8A94A6">
              <a:alpha val="65000"/>
            </a:srgbClr>
          </a:solidFill>
          <a:ln/>
        </p:spPr>
      </p:sp>
      <p:sp>
        <p:nvSpPr>
          <p:cNvPr id="60" name="Shape 58"/>
          <p:cNvSpPr/>
          <p:nvPr/>
        </p:nvSpPr>
        <p:spPr>
          <a:xfrm>
            <a:off x="7465531" y="4980196"/>
            <a:ext cx="41992" cy="41992"/>
          </a:xfrm>
          <a:prstGeom prst="ellipse">
            <a:avLst/>
          </a:prstGeom>
          <a:solidFill>
            <a:srgbClr val="8A94A6">
              <a:alpha val="65000"/>
            </a:srgbClr>
          </a:solidFill>
          <a:ln/>
        </p:spPr>
      </p:sp>
      <p:sp>
        <p:nvSpPr>
          <p:cNvPr id="61" name="Shape 59"/>
          <p:cNvSpPr/>
          <p:nvPr/>
        </p:nvSpPr>
        <p:spPr>
          <a:xfrm>
            <a:off x="10758709" y="3445306"/>
            <a:ext cx="34899" cy="34899"/>
          </a:xfrm>
          <a:prstGeom prst="ellipse">
            <a:avLst/>
          </a:prstGeom>
          <a:solidFill>
            <a:srgbClr val="8A94A6">
              <a:alpha val="65000"/>
            </a:srgbClr>
          </a:solidFill>
          <a:ln/>
        </p:spPr>
      </p:sp>
      <p:sp>
        <p:nvSpPr>
          <p:cNvPr id="62" name="Shape 60"/>
          <p:cNvSpPr/>
          <p:nvPr/>
        </p:nvSpPr>
        <p:spPr>
          <a:xfrm>
            <a:off x="10175789" y="1640567"/>
            <a:ext cx="32469" cy="32469"/>
          </a:xfrm>
          <a:prstGeom prst="ellipse">
            <a:avLst/>
          </a:prstGeom>
          <a:solidFill>
            <a:srgbClr val="8A94A6">
              <a:alpha val="65000"/>
            </a:srgbClr>
          </a:solidFill>
          <a:ln/>
        </p:spPr>
      </p:sp>
      <p:sp>
        <p:nvSpPr>
          <p:cNvPr id="63" name="Shape 61"/>
          <p:cNvSpPr/>
          <p:nvPr/>
        </p:nvSpPr>
        <p:spPr>
          <a:xfrm>
            <a:off x="9754346" y="4985812"/>
            <a:ext cx="42682" cy="42682"/>
          </a:xfrm>
          <a:prstGeom prst="ellipse">
            <a:avLst/>
          </a:prstGeom>
          <a:solidFill>
            <a:srgbClr val="8A94A6">
              <a:alpha val="65000"/>
            </a:srgbClr>
          </a:solidFill>
          <a:ln/>
        </p:spPr>
      </p:sp>
      <p:sp>
        <p:nvSpPr>
          <p:cNvPr id="64" name="Shape 62"/>
          <p:cNvSpPr/>
          <p:nvPr/>
        </p:nvSpPr>
        <p:spPr>
          <a:xfrm>
            <a:off x="7873579" y="5232759"/>
            <a:ext cx="45506" cy="45506"/>
          </a:xfrm>
          <a:prstGeom prst="ellipse">
            <a:avLst/>
          </a:prstGeom>
          <a:solidFill>
            <a:srgbClr val="8A94A6">
              <a:alpha val="65000"/>
            </a:srgbClr>
          </a:solidFill>
          <a:ln/>
        </p:spPr>
      </p:sp>
      <p:sp>
        <p:nvSpPr>
          <p:cNvPr id="65" name="Shape 63"/>
          <p:cNvSpPr/>
          <p:nvPr/>
        </p:nvSpPr>
        <p:spPr>
          <a:xfrm>
            <a:off x="8897664" y="5468555"/>
            <a:ext cx="44741" cy="44741"/>
          </a:xfrm>
          <a:prstGeom prst="ellipse">
            <a:avLst/>
          </a:prstGeom>
          <a:solidFill>
            <a:srgbClr val="8A94A6">
              <a:alpha val="65000"/>
            </a:srgbClr>
          </a:solidFill>
          <a:ln/>
        </p:spPr>
      </p:sp>
      <p:sp>
        <p:nvSpPr>
          <p:cNvPr id="66" name="Shape 64"/>
          <p:cNvSpPr/>
          <p:nvPr/>
        </p:nvSpPr>
        <p:spPr>
          <a:xfrm>
            <a:off x="9332236" y="1409112"/>
            <a:ext cx="36591" cy="36591"/>
          </a:xfrm>
          <a:prstGeom prst="ellipse">
            <a:avLst/>
          </a:prstGeom>
          <a:solidFill>
            <a:srgbClr val="8A94A6">
              <a:alpha val="65000"/>
            </a:srgbClr>
          </a:solidFill>
          <a:ln/>
        </p:spPr>
      </p:sp>
      <p:sp>
        <p:nvSpPr>
          <p:cNvPr id="67" name="Shape 65"/>
          <p:cNvSpPr/>
          <p:nvPr/>
        </p:nvSpPr>
        <p:spPr>
          <a:xfrm>
            <a:off x="10458898" y="5184771"/>
            <a:ext cx="27942" cy="27942"/>
          </a:xfrm>
          <a:prstGeom prst="ellipse">
            <a:avLst/>
          </a:prstGeom>
          <a:solidFill>
            <a:srgbClr val="8A94A6">
              <a:alpha val="65000"/>
            </a:srgbClr>
          </a:solidFill>
          <a:ln/>
        </p:spPr>
      </p:sp>
      <p:sp>
        <p:nvSpPr>
          <p:cNvPr id="68" name="Shape 66"/>
          <p:cNvSpPr/>
          <p:nvPr/>
        </p:nvSpPr>
        <p:spPr>
          <a:xfrm>
            <a:off x="7052108" y="3097877"/>
            <a:ext cx="35310" cy="35310"/>
          </a:xfrm>
          <a:prstGeom prst="ellipse">
            <a:avLst/>
          </a:prstGeom>
          <a:solidFill>
            <a:srgbClr val="8A94A6">
              <a:alpha val="65000"/>
            </a:srgbClr>
          </a:solidFill>
          <a:ln/>
        </p:spPr>
      </p:sp>
      <p:sp>
        <p:nvSpPr>
          <p:cNvPr id="69" name="Shape 67"/>
          <p:cNvSpPr/>
          <p:nvPr/>
        </p:nvSpPr>
        <p:spPr>
          <a:xfrm>
            <a:off x="9074759" y="1669317"/>
            <a:ext cx="33408" cy="33408"/>
          </a:xfrm>
          <a:prstGeom prst="ellipse">
            <a:avLst/>
          </a:prstGeom>
          <a:solidFill>
            <a:srgbClr val="8A94A6">
              <a:alpha val="65000"/>
            </a:srgbClr>
          </a:solidFill>
          <a:ln/>
        </p:spPr>
      </p:sp>
      <p:sp>
        <p:nvSpPr>
          <p:cNvPr id="70" name="Shape 68"/>
          <p:cNvSpPr/>
          <p:nvPr/>
        </p:nvSpPr>
        <p:spPr>
          <a:xfrm>
            <a:off x="10030957" y="1649714"/>
            <a:ext cx="23845" cy="23845"/>
          </a:xfrm>
          <a:prstGeom prst="ellipse">
            <a:avLst/>
          </a:prstGeom>
          <a:solidFill>
            <a:srgbClr val="8A94A6">
              <a:alpha val="65000"/>
            </a:srgbClr>
          </a:solidFill>
          <a:ln/>
        </p:spPr>
      </p:sp>
      <p:sp>
        <p:nvSpPr>
          <p:cNvPr id="71" name="Shape 69"/>
          <p:cNvSpPr/>
          <p:nvPr/>
        </p:nvSpPr>
        <p:spPr>
          <a:xfrm>
            <a:off x="10774940" y="3130605"/>
            <a:ext cx="26128" cy="26128"/>
          </a:xfrm>
          <a:prstGeom prst="ellipse">
            <a:avLst/>
          </a:prstGeom>
          <a:solidFill>
            <a:srgbClr val="8A94A6">
              <a:alpha val="65000"/>
            </a:srgbClr>
          </a:solidFill>
          <a:ln/>
        </p:spPr>
      </p:sp>
      <p:sp>
        <p:nvSpPr>
          <p:cNvPr id="72" name="Shape 70"/>
          <p:cNvSpPr/>
          <p:nvPr/>
        </p:nvSpPr>
        <p:spPr>
          <a:xfrm>
            <a:off x="11406392" y="3640565"/>
            <a:ext cx="25094" cy="25094"/>
          </a:xfrm>
          <a:prstGeom prst="ellipse">
            <a:avLst/>
          </a:prstGeom>
          <a:solidFill>
            <a:srgbClr val="8A94A6">
              <a:alpha val="65000"/>
            </a:srgbClr>
          </a:solidFill>
          <a:ln/>
        </p:spPr>
      </p:sp>
      <p:sp>
        <p:nvSpPr>
          <p:cNvPr id="73" name="Shape 71"/>
          <p:cNvSpPr/>
          <p:nvPr/>
        </p:nvSpPr>
        <p:spPr>
          <a:xfrm>
            <a:off x="7666012" y="2423123"/>
            <a:ext cx="34725" cy="34725"/>
          </a:xfrm>
          <a:prstGeom prst="ellipse">
            <a:avLst/>
          </a:prstGeom>
          <a:solidFill>
            <a:srgbClr val="8A94A6">
              <a:alpha val="65000"/>
            </a:srgbClr>
          </a:solidFill>
          <a:ln/>
        </p:spPr>
      </p:sp>
      <p:sp>
        <p:nvSpPr>
          <p:cNvPr id="74" name="Shape 72"/>
          <p:cNvSpPr/>
          <p:nvPr/>
        </p:nvSpPr>
        <p:spPr>
          <a:xfrm>
            <a:off x="7589933" y="1760882"/>
            <a:ext cx="31675" cy="31675"/>
          </a:xfrm>
          <a:prstGeom prst="ellipse">
            <a:avLst/>
          </a:prstGeom>
          <a:solidFill>
            <a:srgbClr val="8A94A6">
              <a:alpha val="65000"/>
            </a:srgbClr>
          </a:solidFill>
          <a:ln/>
        </p:spPr>
      </p:sp>
      <p:sp>
        <p:nvSpPr>
          <p:cNvPr id="75" name="Shape 73"/>
          <p:cNvSpPr/>
          <p:nvPr/>
        </p:nvSpPr>
        <p:spPr>
          <a:xfrm>
            <a:off x="8525947" y="5571402"/>
            <a:ext cx="41333" cy="41333"/>
          </a:xfrm>
          <a:prstGeom prst="ellipse">
            <a:avLst/>
          </a:prstGeom>
          <a:solidFill>
            <a:srgbClr val="8A94A6">
              <a:alpha val="65000"/>
            </a:srgbClr>
          </a:solidFill>
          <a:ln/>
        </p:spPr>
      </p:sp>
      <p:sp>
        <p:nvSpPr>
          <p:cNvPr id="76" name="Shape 74"/>
          <p:cNvSpPr/>
          <p:nvPr/>
        </p:nvSpPr>
        <p:spPr>
          <a:xfrm>
            <a:off x="9687718" y="5318921"/>
            <a:ext cx="32820" cy="32820"/>
          </a:xfrm>
          <a:prstGeom prst="ellipse">
            <a:avLst/>
          </a:prstGeom>
          <a:solidFill>
            <a:srgbClr val="8A94A6">
              <a:alpha val="65000"/>
            </a:srgbClr>
          </a:solidFill>
          <a:ln/>
        </p:spPr>
      </p:sp>
      <p:sp>
        <p:nvSpPr>
          <p:cNvPr id="77" name="Shape 75"/>
          <p:cNvSpPr/>
          <p:nvPr/>
        </p:nvSpPr>
        <p:spPr>
          <a:xfrm>
            <a:off x="8536405" y="1401781"/>
            <a:ext cx="35345" cy="35345"/>
          </a:xfrm>
          <a:prstGeom prst="ellipse">
            <a:avLst/>
          </a:prstGeom>
          <a:solidFill>
            <a:srgbClr val="8A94A6">
              <a:alpha val="65000"/>
            </a:srgbClr>
          </a:solidFill>
          <a:ln/>
        </p:spPr>
      </p:sp>
      <p:sp>
        <p:nvSpPr>
          <p:cNvPr id="78" name="Shape 76"/>
          <p:cNvSpPr/>
          <p:nvPr/>
        </p:nvSpPr>
        <p:spPr>
          <a:xfrm>
            <a:off x="11051307" y="2304954"/>
            <a:ext cx="29309" cy="29309"/>
          </a:xfrm>
          <a:prstGeom prst="ellipse">
            <a:avLst/>
          </a:prstGeom>
          <a:solidFill>
            <a:srgbClr val="8A94A6">
              <a:alpha val="65000"/>
            </a:srgbClr>
          </a:solidFill>
          <a:ln/>
        </p:spPr>
      </p:sp>
      <p:sp>
        <p:nvSpPr>
          <p:cNvPr id="79" name="Shape 77"/>
          <p:cNvSpPr/>
          <p:nvPr/>
        </p:nvSpPr>
        <p:spPr>
          <a:xfrm>
            <a:off x="10147988" y="5406105"/>
            <a:ext cx="40775" cy="40775"/>
          </a:xfrm>
          <a:prstGeom prst="ellipse">
            <a:avLst/>
          </a:prstGeom>
          <a:solidFill>
            <a:srgbClr val="8A94A6">
              <a:alpha val="65000"/>
            </a:srgbClr>
          </a:solidFill>
          <a:ln/>
        </p:spPr>
      </p:sp>
      <p:sp>
        <p:nvSpPr>
          <p:cNvPr id="80" name="Shape 78"/>
          <p:cNvSpPr/>
          <p:nvPr/>
        </p:nvSpPr>
        <p:spPr>
          <a:xfrm>
            <a:off x="7870528" y="1863091"/>
            <a:ext cx="43972" cy="43972"/>
          </a:xfrm>
          <a:prstGeom prst="ellipse">
            <a:avLst/>
          </a:prstGeom>
          <a:solidFill>
            <a:srgbClr val="8A94A6">
              <a:alpha val="65000"/>
            </a:srgbClr>
          </a:solidFill>
          <a:ln/>
        </p:spPr>
      </p:sp>
      <p:sp>
        <p:nvSpPr>
          <p:cNvPr id="81" name="Shape 79"/>
          <p:cNvSpPr/>
          <p:nvPr/>
        </p:nvSpPr>
        <p:spPr>
          <a:xfrm>
            <a:off x="7935224" y="2023976"/>
            <a:ext cx="34242" cy="34242"/>
          </a:xfrm>
          <a:prstGeom prst="ellipse">
            <a:avLst/>
          </a:prstGeom>
          <a:solidFill>
            <a:srgbClr val="8A94A6">
              <a:alpha val="65000"/>
            </a:srgbClr>
          </a:solidFill>
          <a:ln/>
        </p:spPr>
      </p:sp>
      <p:sp>
        <p:nvSpPr>
          <p:cNvPr id="82" name="Shape 80"/>
          <p:cNvSpPr/>
          <p:nvPr/>
        </p:nvSpPr>
        <p:spPr>
          <a:xfrm>
            <a:off x="7186723" y="2078483"/>
            <a:ext cx="45162" cy="45162"/>
          </a:xfrm>
          <a:prstGeom prst="ellipse">
            <a:avLst/>
          </a:prstGeom>
          <a:solidFill>
            <a:srgbClr val="8A94A6">
              <a:alpha val="65000"/>
            </a:srgbClr>
          </a:solidFill>
          <a:ln/>
        </p:spPr>
      </p:sp>
      <p:sp>
        <p:nvSpPr>
          <p:cNvPr id="83" name="Shape 81"/>
          <p:cNvSpPr/>
          <p:nvPr/>
        </p:nvSpPr>
        <p:spPr>
          <a:xfrm>
            <a:off x="7198884" y="2589183"/>
            <a:ext cx="31204" cy="31204"/>
          </a:xfrm>
          <a:prstGeom prst="ellipse">
            <a:avLst/>
          </a:prstGeom>
          <a:solidFill>
            <a:srgbClr val="8A94A6">
              <a:alpha val="65000"/>
            </a:srgbClr>
          </a:solidFill>
          <a:ln/>
        </p:spPr>
      </p:sp>
      <p:sp>
        <p:nvSpPr>
          <p:cNvPr id="84" name="Shape 82"/>
          <p:cNvSpPr/>
          <p:nvPr/>
        </p:nvSpPr>
        <p:spPr>
          <a:xfrm>
            <a:off x="8531021" y="1421875"/>
            <a:ext cx="43178" cy="43178"/>
          </a:xfrm>
          <a:prstGeom prst="ellipse">
            <a:avLst/>
          </a:prstGeom>
          <a:solidFill>
            <a:srgbClr val="8A94A6">
              <a:alpha val="65000"/>
            </a:srgbClr>
          </a:solidFill>
          <a:ln/>
        </p:spPr>
      </p:sp>
      <p:sp>
        <p:nvSpPr>
          <p:cNvPr id="85" name="Shape 83"/>
          <p:cNvSpPr/>
          <p:nvPr/>
        </p:nvSpPr>
        <p:spPr>
          <a:xfrm>
            <a:off x="11133246" y="3561263"/>
            <a:ext cx="42231" cy="42231"/>
          </a:xfrm>
          <a:prstGeom prst="ellipse">
            <a:avLst/>
          </a:prstGeom>
          <a:solidFill>
            <a:srgbClr val="8A94A6">
              <a:alpha val="65000"/>
            </a:srgbClr>
          </a:solidFill>
          <a:ln/>
        </p:spPr>
      </p:sp>
      <p:sp>
        <p:nvSpPr>
          <p:cNvPr id="86" name="Shape 84"/>
          <p:cNvSpPr/>
          <p:nvPr/>
        </p:nvSpPr>
        <p:spPr>
          <a:xfrm>
            <a:off x="7238098" y="2610196"/>
            <a:ext cx="39085" cy="39085"/>
          </a:xfrm>
          <a:prstGeom prst="ellipse">
            <a:avLst/>
          </a:prstGeom>
          <a:solidFill>
            <a:srgbClr val="8A94A6">
              <a:alpha val="65000"/>
            </a:srgbClr>
          </a:solidFill>
          <a:ln/>
        </p:spPr>
      </p:sp>
      <p:sp>
        <p:nvSpPr>
          <p:cNvPr id="87" name="Shape 85"/>
          <p:cNvSpPr/>
          <p:nvPr/>
        </p:nvSpPr>
        <p:spPr>
          <a:xfrm>
            <a:off x="6815933" y="4128146"/>
            <a:ext cx="38201" cy="38201"/>
          </a:xfrm>
          <a:prstGeom prst="ellipse">
            <a:avLst/>
          </a:prstGeom>
          <a:solidFill>
            <a:srgbClr val="8A94A6">
              <a:alpha val="65000"/>
            </a:srgbClr>
          </a:solidFill>
          <a:ln/>
        </p:spPr>
      </p:sp>
      <p:sp>
        <p:nvSpPr>
          <p:cNvPr id="88" name="Shape 86"/>
          <p:cNvSpPr/>
          <p:nvPr/>
        </p:nvSpPr>
        <p:spPr>
          <a:xfrm>
            <a:off x="8489314" y="4978394"/>
            <a:ext cx="32351" cy="32351"/>
          </a:xfrm>
          <a:prstGeom prst="ellipse">
            <a:avLst/>
          </a:prstGeom>
          <a:solidFill>
            <a:srgbClr val="8A94A6">
              <a:alpha val="65000"/>
            </a:srgbClr>
          </a:solidFill>
          <a:ln/>
        </p:spPr>
      </p:sp>
      <p:sp>
        <p:nvSpPr>
          <p:cNvPr id="89" name="Shape 87"/>
          <p:cNvSpPr/>
          <p:nvPr/>
        </p:nvSpPr>
        <p:spPr>
          <a:xfrm>
            <a:off x="10378317" y="5034323"/>
            <a:ext cx="32198" cy="32198"/>
          </a:xfrm>
          <a:prstGeom prst="ellipse">
            <a:avLst/>
          </a:prstGeom>
          <a:solidFill>
            <a:srgbClr val="8A94A6">
              <a:alpha val="65000"/>
            </a:srgbClr>
          </a:solidFill>
          <a:ln/>
        </p:spPr>
      </p:sp>
      <p:sp>
        <p:nvSpPr>
          <p:cNvPr id="90" name="Shape 88"/>
          <p:cNvSpPr/>
          <p:nvPr/>
        </p:nvSpPr>
        <p:spPr>
          <a:xfrm>
            <a:off x="10610627" y="2403068"/>
            <a:ext cx="38773" cy="38773"/>
          </a:xfrm>
          <a:prstGeom prst="ellipse">
            <a:avLst/>
          </a:prstGeom>
          <a:solidFill>
            <a:srgbClr val="8A94A6">
              <a:alpha val="65000"/>
            </a:srgbClr>
          </a:solidFill>
          <a:ln/>
        </p:spPr>
      </p:sp>
      <p:sp>
        <p:nvSpPr>
          <p:cNvPr id="91" name="Shape 89"/>
          <p:cNvSpPr/>
          <p:nvPr/>
        </p:nvSpPr>
        <p:spPr>
          <a:xfrm>
            <a:off x="11234762" y="3872452"/>
            <a:ext cx="30740" cy="30740"/>
          </a:xfrm>
          <a:prstGeom prst="ellipse">
            <a:avLst/>
          </a:prstGeom>
          <a:solidFill>
            <a:srgbClr val="8A94A6">
              <a:alpha val="65000"/>
            </a:srgbClr>
          </a:solidFill>
          <a:ln/>
        </p:spPr>
      </p:sp>
      <p:sp>
        <p:nvSpPr>
          <p:cNvPr id="92" name="Shape 90"/>
          <p:cNvSpPr/>
          <p:nvPr/>
        </p:nvSpPr>
        <p:spPr>
          <a:xfrm>
            <a:off x="10706836" y="2647710"/>
            <a:ext cx="39583" cy="39583"/>
          </a:xfrm>
          <a:prstGeom prst="ellipse">
            <a:avLst/>
          </a:prstGeom>
          <a:solidFill>
            <a:srgbClr val="8A94A6">
              <a:alpha val="65000"/>
            </a:srgbClr>
          </a:solidFill>
          <a:ln/>
        </p:spPr>
      </p:sp>
      <p:sp>
        <p:nvSpPr>
          <p:cNvPr id="93" name="Shape 91"/>
          <p:cNvSpPr/>
          <p:nvPr/>
        </p:nvSpPr>
        <p:spPr>
          <a:xfrm>
            <a:off x="9584308" y="5704508"/>
            <a:ext cx="41963" cy="41963"/>
          </a:xfrm>
          <a:prstGeom prst="ellipse">
            <a:avLst/>
          </a:prstGeom>
          <a:solidFill>
            <a:srgbClr val="8A94A6">
              <a:alpha val="65000"/>
            </a:srgbClr>
          </a:solidFill>
          <a:ln/>
        </p:spPr>
      </p:sp>
      <p:sp>
        <p:nvSpPr>
          <p:cNvPr id="94" name="Shape 92"/>
          <p:cNvSpPr/>
          <p:nvPr/>
        </p:nvSpPr>
        <p:spPr>
          <a:xfrm>
            <a:off x="9430200" y="994078"/>
            <a:ext cx="45254" cy="45254"/>
          </a:xfrm>
          <a:prstGeom prst="ellipse">
            <a:avLst/>
          </a:prstGeom>
          <a:solidFill>
            <a:srgbClr val="8A94A6">
              <a:alpha val="65000"/>
            </a:srgbClr>
          </a:solidFill>
          <a:ln/>
        </p:spPr>
      </p:sp>
      <p:sp>
        <p:nvSpPr>
          <p:cNvPr id="95" name="Shape 93"/>
          <p:cNvSpPr/>
          <p:nvPr/>
        </p:nvSpPr>
        <p:spPr>
          <a:xfrm>
            <a:off x="7327953" y="3817392"/>
            <a:ext cx="32357" cy="32357"/>
          </a:xfrm>
          <a:prstGeom prst="ellipse">
            <a:avLst/>
          </a:prstGeom>
          <a:solidFill>
            <a:srgbClr val="8A94A6">
              <a:alpha val="65000"/>
            </a:srgbClr>
          </a:solidFill>
          <a:ln/>
        </p:spPr>
      </p:sp>
      <p:sp>
        <p:nvSpPr>
          <p:cNvPr id="96" name="Shape 94"/>
          <p:cNvSpPr/>
          <p:nvPr/>
        </p:nvSpPr>
        <p:spPr>
          <a:xfrm>
            <a:off x="9218443" y="5568029"/>
            <a:ext cx="37463" cy="37463"/>
          </a:xfrm>
          <a:prstGeom prst="ellipse">
            <a:avLst/>
          </a:prstGeom>
          <a:solidFill>
            <a:srgbClr val="8A94A6">
              <a:alpha val="65000"/>
            </a:srgbClr>
          </a:solidFill>
          <a:ln/>
        </p:spPr>
      </p:sp>
      <p:sp>
        <p:nvSpPr>
          <p:cNvPr id="97" name="Shape 95"/>
          <p:cNvSpPr/>
          <p:nvPr/>
        </p:nvSpPr>
        <p:spPr>
          <a:xfrm>
            <a:off x="7490271" y="4904414"/>
            <a:ext cx="36814" cy="36814"/>
          </a:xfrm>
          <a:prstGeom prst="ellipse">
            <a:avLst/>
          </a:prstGeom>
          <a:solidFill>
            <a:srgbClr val="8A94A6">
              <a:alpha val="65000"/>
            </a:srgbClr>
          </a:solidFill>
          <a:ln/>
        </p:spPr>
      </p:sp>
      <p:sp>
        <p:nvSpPr>
          <p:cNvPr id="98" name="Shape 96"/>
          <p:cNvSpPr/>
          <p:nvPr/>
        </p:nvSpPr>
        <p:spPr>
          <a:xfrm>
            <a:off x="9966026" y="4948475"/>
            <a:ext cx="34365" cy="34365"/>
          </a:xfrm>
          <a:prstGeom prst="ellipse">
            <a:avLst/>
          </a:prstGeom>
          <a:solidFill>
            <a:srgbClr val="8A94A6">
              <a:alpha val="65000"/>
            </a:srgbClr>
          </a:solidFill>
          <a:ln/>
        </p:spPr>
      </p:sp>
      <p:sp>
        <p:nvSpPr>
          <p:cNvPr id="99" name="Shape 97"/>
          <p:cNvSpPr/>
          <p:nvPr/>
        </p:nvSpPr>
        <p:spPr>
          <a:xfrm>
            <a:off x="8792923" y="5039317"/>
            <a:ext cx="33955" cy="33955"/>
          </a:xfrm>
          <a:prstGeom prst="ellipse">
            <a:avLst/>
          </a:prstGeom>
          <a:solidFill>
            <a:srgbClr val="8A94A6">
              <a:alpha val="65000"/>
            </a:srgbClr>
          </a:solidFill>
          <a:ln/>
        </p:spPr>
      </p:sp>
      <p:sp>
        <p:nvSpPr>
          <p:cNvPr id="100" name="Shape 98"/>
          <p:cNvSpPr/>
          <p:nvPr/>
        </p:nvSpPr>
        <p:spPr>
          <a:xfrm>
            <a:off x="7129662" y="4030207"/>
            <a:ext cx="43263" cy="43263"/>
          </a:xfrm>
          <a:prstGeom prst="ellipse">
            <a:avLst/>
          </a:prstGeom>
          <a:solidFill>
            <a:srgbClr val="8A94A6">
              <a:alpha val="65000"/>
            </a:srgbClr>
          </a:solidFill>
          <a:ln/>
        </p:spPr>
      </p:sp>
      <p:sp>
        <p:nvSpPr>
          <p:cNvPr id="101" name="Shape 99"/>
          <p:cNvSpPr/>
          <p:nvPr/>
        </p:nvSpPr>
        <p:spPr>
          <a:xfrm>
            <a:off x="10456857" y="1416124"/>
            <a:ext cx="26007" cy="26007"/>
          </a:xfrm>
          <a:prstGeom prst="ellipse">
            <a:avLst/>
          </a:prstGeom>
          <a:solidFill>
            <a:srgbClr val="8A94A6">
              <a:alpha val="65000"/>
            </a:srgbClr>
          </a:solidFill>
          <a:ln/>
        </p:spPr>
      </p:sp>
      <p:sp>
        <p:nvSpPr>
          <p:cNvPr id="102" name="Shape 100"/>
          <p:cNvSpPr/>
          <p:nvPr/>
        </p:nvSpPr>
        <p:spPr>
          <a:xfrm>
            <a:off x="7292001" y="3655846"/>
            <a:ext cx="32394" cy="32394"/>
          </a:xfrm>
          <a:prstGeom prst="ellipse">
            <a:avLst/>
          </a:prstGeom>
          <a:solidFill>
            <a:srgbClr val="8A94A6">
              <a:alpha val="65000"/>
            </a:srgbClr>
          </a:solidFill>
          <a:ln/>
        </p:spPr>
      </p:sp>
      <p:sp>
        <p:nvSpPr>
          <p:cNvPr id="103" name="Shape 101"/>
          <p:cNvSpPr/>
          <p:nvPr/>
        </p:nvSpPr>
        <p:spPr>
          <a:xfrm>
            <a:off x="10556083" y="5231175"/>
            <a:ext cx="35408" cy="35408"/>
          </a:xfrm>
          <a:prstGeom prst="ellipse">
            <a:avLst/>
          </a:prstGeom>
          <a:solidFill>
            <a:srgbClr val="8A94A6">
              <a:alpha val="65000"/>
            </a:srgbClr>
          </a:solidFill>
          <a:ln/>
        </p:spPr>
      </p:sp>
      <p:sp>
        <p:nvSpPr>
          <p:cNvPr id="104" name="Shape 102"/>
          <p:cNvSpPr/>
          <p:nvPr/>
        </p:nvSpPr>
        <p:spPr>
          <a:xfrm>
            <a:off x="8656831" y="1060273"/>
            <a:ext cx="34596" cy="34596"/>
          </a:xfrm>
          <a:prstGeom prst="ellipse">
            <a:avLst/>
          </a:prstGeom>
          <a:solidFill>
            <a:srgbClr val="8A94A6">
              <a:alpha val="65000"/>
            </a:srgbClr>
          </a:solidFill>
          <a:ln/>
        </p:spPr>
      </p:sp>
      <p:sp>
        <p:nvSpPr>
          <p:cNvPr id="105" name="Shape 103"/>
          <p:cNvSpPr/>
          <p:nvPr/>
        </p:nvSpPr>
        <p:spPr>
          <a:xfrm>
            <a:off x="8010306" y="5506360"/>
            <a:ext cx="41239" cy="41239"/>
          </a:xfrm>
          <a:prstGeom prst="ellipse">
            <a:avLst/>
          </a:prstGeom>
          <a:solidFill>
            <a:srgbClr val="8A94A6">
              <a:alpha val="65000"/>
            </a:srgbClr>
          </a:solidFill>
          <a:ln/>
        </p:spPr>
      </p:sp>
      <p:sp>
        <p:nvSpPr>
          <p:cNvPr id="106" name="Shape 104"/>
          <p:cNvSpPr/>
          <p:nvPr/>
        </p:nvSpPr>
        <p:spPr>
          <a:xfrm>
            <a:off x="10636628" y="4375524"/>
            <a:ext cx="45053" cy="45053"/>
          </a:xfrm>
          <a:prstGeom prst="ellipse">
            <a:avLst/>
          </a:prstGeom>
          <a:solidFill>
            <a:srgbClr val="8A94A6">
              <a:alpha val="65000"/>
            </a:srgbClr>
          </a:solidFill>
          <a:ln/>
        </p:spPr>
      </p:sp>
      <p:sp>
        <p:nvSpPr>
          <p:cNvPr id="107" name="Shape 105"/>
          <p:cNvSpPr/>
          <p:nvPr/>
        </p:nvSpPr>
        <p:spPr>
          <a:xfrm>
            <a:off x="11388694" y="3349098"/>
            <a:ext cx="27450" cy="27450"/>
          </a:xfrm>
          <a:prstGeom prst="ellipse">
            <a:avLst/>
          </a:prstGeom>
          <a:solidFill>
            <a:srgbClr val="8A94A6">
              <a:alpha val="65000"/>
            </a:srgbClr>
          </a:solidFill>
          <a:ln/>
        </p:spPr>
      </p:sp>
      <p:sp>
        <p:nvSpPr>
          <p:cNvPr id="108" name="Shape 106"/>
          <p:cNvSpPr/>
          <p:nvPr/>
        </p:nvSpPr>
        <p:spPr>
          <a:xfrm>
            <a:off x="10847041" y="2030635"/>
            <a:ext cx="25585" cy="25585"/>
          </a:xfrm>
          <a:prstGeom prst="ellipse">
            <a:avLst/>
          </a:prstGeom>
          <a:solidFill>
            <a:srgbClr val="8A94A6">
              <a:alpha val="65000"/>
            </a:srgbClr>
          </a:solidFill>
          <a:ln/>
        </p:spPr>
      </p:sp>
      <p:sp>
        <p:nvSpPr>
          <p:cNvPr id="109" name="Shape 107"/>
          <p:cNvSpPr/>
          <p:nvPr/>
        </p:nvSpPr>
        <p:spPr>
          <a:xfrm>
            <a:off x="8764685" y="1038491"/>
            <a:ext cx="36707" cy="36707"/>
          </a:xfrm>
          <a:prstGeom prst="ellipse">
            <a:avLst/>
          </a:prstGeom>
          <a:solidFill>
            <a:srgbClr val="8A94A6">
              <a:alpha val="65000"/>
            </a:srgbClr>
          </a:solidFill>
          <a:ln/>
        </p:spPr>
      </p:sp>
      <p:sp>
        <p:nvSpPr>
          <p:cNvPr id="110" name="Shape 108"/>
          <p:cNvSpPr/>
          <p:nvPr/>
        </p:nvSpPr>
        <p:spPr>
          <a:xfrm>
            <a:off x="9565705" y="5102554"/>
            <a:ext cx="39566" cy="39566"/>
          </a:xfrm>
          <a:prstGeom prst="ellipse">
            <a:avLst/>
          </a:prstGeom>
          <a:solidFill>
            <a:srgbClr val="8A94A6">
              <a:alpha val="65000"/>
            </a:srgbClr>
          </a:solidFill>
          <a:ln/>
        </p:spPr>
      </p:sp>
      <p:sp>
        <p:nvSpPr>
          <p:cNvPr id="111" name="Shape 109"/>
          <p:cNvSpPr/>
          <p:nvPr/>
        </p:nvSpPr>
        <p:spPr>
          <a:xfrm>
            <a:off x="7558520" y="2850585"/>
            <a:ext cx="45270" cy="45270"/>
          </a:xfrm>
          <a:prstGeom prst="ellipse">
            <a:avLst/>
          </a:prstGeom>
          <a:solidFill>
            <a:srgbClr val="8A94A6">
              <a:alpha val="65000"/>
            </a:srgbClr>
          </a:solidFill>
          <a:ln/>
        </p:spPr>
      </p:sp>
      <p:sp>
        <p:nvSpPr>
          <p:cNvPr id="112" name="Shape 110"/>
          <p:cNvSpPr/>
          <p:nvPr/>
        </p:nvSpPr>
        <p:spPr>
          <a:xfrm>
            <a:off x="10481664" y="2552495"/>
            <a:ext cx="32140" cy="32140"/>
          </a:xfrm>
          <a:prstGeom prst="ellipse">
            <a:avLst/>
          </a:prstGeom>
          <a:solidFill>
            <a:srgbClr val="8A94A6">
              <a:alpha val="65000"/>
            </a:srgbClr>
          </a:solidFill>
          <a:ln/>
        </p:spPr>
      </p:sp>
      <p:sp>
        <p:nvSpPr>
          <p:cNvPr id="113" name="Shape 111"/>
          <p:cNvSpPr/>
          <p:nvPr/>
        </p:nvSpPr>
        <p:spPr>
          <a:xfrm>
            <a:off x="8269964" y="5491857"/>
            <a:ext cx="29743" cy="29743"/>
          </a:xfrm>
          <a:prstGeom prst="ellipse">
            <a:avLst/>
          </a:prstGeom>
          <a:solidFill>
            <a:srgbClr val="8A94A6">
              <a:alpha val="65000"/>
            </a:srgbClr>
          </a:solidFill>
          <a:ln/>
        </p:spPr>
      </p:sp>
      <p:sp>
        <p:nvSpPr>
          <p:cNvPr id="114" name="Shape 112"/>
          <p:cNvSpPr/>
          <p:nvPr/>
        </p:nvSpPr>
        <p:spPr>
          <a:xfrm>
            <a:off x="10649045" y="2146658"/>
            <a:ext cx="34367" cy="34367"/>
          </a:xfrm>
          <a:prstGeom prst="ellipse">
            <a:avLst/>
          </a:prstGeom>
          <a:solidFill>
            <a:srgbClr val="8A94A6">
              <a:alpha val="65000"/>
            </a:srgbClr>
          </a:solidFill>
          <a:ln/>
        </p:spPr>
      </p:sp>
      <p:sp>
        <p:nvSpPr>
          <p:cNvPr id="115" name="Shape 113"/>
          <p:cNvSpPr/>
          <p:nvPr/>
        </p:nvSpPr>
        <p:spPr>
          <a:xfrm>
            <a:off x="7215326" y="3921577"/>
            <a:ext cx="27461" cy="27461"/>
          </a:xfrm>
          <a:prstGeom prst="ellipse">
            <a:avLst/>
          </a:prstGeom>
          <a:solidFill>
            <a:srgbClr val="8A94A6">
              <a:alpha val="65000"/>
            </a:srgbClr>
          </a:solidFill>
          <a:ln/>
        </p:spPr>
      </p:sp>
      <p:sp>
        <p:nvSpPr>
          <p:cNvPr id="116" name="Shape 114"/>
          <p:cNvSpPr/>
          <p:nvPr/>
        </p:nvSpPr>
        <p:spPr>
          <a:xfrm>
            <a:off x="8343247" y="1264408"/>
            <a:ext cx="38957" cy="38957"/>
          </a:xfrm>
          <a:prstGeom prst="ellipse">
            <a:avLst/>
          </a:prstGeom>
          <a:solidFill>
            <a:srgbClr val="8A94A6">
              <a:alpha val="65000"/>
            </a:srgbClr>
          </a:solidFill>
          <a:ln/>
        </p:spPr>
      </p:sp>
      <p:sp>
        <p:nvSpPr>
          <p:cNvPr id="117" name="Shape 115"/>
          <p:cNvSpPr/>
          <p:nvPr/>
        </p:nvSpPr>
        <p:spPr>
          <a:xfrm>
            <a:off x="11318115" y="2859611"/>
            <a:ext cx="27770" cy="27770"/>
          </a:xfrm>
          <a:prstGeom prst="ellipse">
            <a:avLst/>
          </a:prstGeom>
          <a:solidFill>
            <a:srgbClr val="8A94A6">
              <a:alpha val="65000"/>
            </a:srgbClr>
          </a:solidFill>
          <a:ln/>
        </p:spPr>
      </p:sp>
      <p:sp>
        <p:nvSpPr>
          <p:cNvPr id="118" name="Shape 116"/>
          <p:cNvSpPr/>
          <p:nvPr/>
        </p:nvSpPr>
        <p:spPr>
          <a:xfrm>
            <a:off x="10798381" y="4752961"/>
            <a:ext cx="29961" cy="29961"/>
          </a:xfrm>
          <a:prstGeom prst="ellipse">
            <a:avLst/>
          </a:prstGeom>
          <a:solidFill>
            <a:srgbClr val="8A94A6">
              <a:alpha val="65000"/>
            </a:srgbClr>
          </a:solidFill>
          <a:ln/>
        </p:spPr>
      </p:sp>
      <p:sp>
        <p:nvSpPr>
          <p:cNvPr id="119" name="Shape 117"/>
          <p:cNvSpPr/>
          <p:nvPr/>
        </p:nvSpPr>
        <p:spPr>
          <a:xfrm>
            <a:off x="7664689" y="5199238"/>
            <a:ext cx="30850" cy="30850"/>
          </a:xfrm>
          <a:prstGeom prst="ellipse">
            <a:avLst/>
          </a:prstGeom>
          <a:solidFill>
            <a:srgbClr val="8A94A6">
              <a:alpha val="65000"/>
            </a:srgbClr>
          </a:solidFill>
          <a:ln/>
        </p:spPr>
      </p:sp>
      <p:sp>
        <p:nvSpPr>
          <p:cNvPr id="120" name="Shape 118"/>
          <p:cNvSpPr/>
          <p:nvPr/>
        </p:nvSpPr>
        <p:spPr>
          <a:xfrm>
            <a:off x="10360064" y="2359816"/>
            <a:ext cx="45465" cy="45465"/>
          </a:xfrm>
          <a:prstGeom prst="ellipse">
            <a:avLst/>
          </a:prstGeom>
          <a:solidFill>
            <a:srgbClr val="8A94A6">
              <a:alpha val="65000"/>
            </a:srgbClr>
          </a:solidFill>
          <a:ln/>
        </p:spPr>
      </p:sp>
      <p:sp>
        <p:nvSpPr>
          <p:cNvPr id="121" name="Shape 119"/>
          <p:cNvSpPr/>
          <p:nvPr/>
        </p:nvSpPr>
        <p:spPr>
          <a:xfrm>
            <a:off x="8974792" y="1214868"/>
            <a:ext cx="35141" cy="35141"/>
          </a:xfrm>
          <a:prstGeom prst="ellipse">
            <a:avLst/>
          </a:prstGeom>
          <a:solidFill>
            <a:srgbClr val="8A94A6">
              <a:alpha val="65000"/>
            </a:srgbClr>
          </a:solidFill>
          <a:ln/>
        </p:spPr>
      </p:sp>
      <p:sp>
        <p:nvSpPr>
          <p:cNvPr id="122" name="Shape 120"/>
          <p:cNvSpPr/>
          <p:nvPr/>
        </p:nvSpPr>
        <p:spPr>
          <a:xfrm>
            <a:off x="7471527" y="3547031"/>
            <a:ext cx="33134" cy="33134"/>
          </a:xfrm>
          <a:prstGeom prst="ellipse">
            <a:avLst/>
          </a:prstGeom>
          <a:solidFill>
            <a:srgbClr val="8A94A6">
              <a:alpha val="65000"/>
            </a:srgbClr>
          </a:solidFill>
          <a:ln/>
        </p:spPr>
      </p:sp>
      <p:sp>
        <p:nvSpPr>
          <p:cNvPr id="123" name="Shape 121"/>
          <p:cNvSpPr/>
          <p:nvPr/>
        </p:nvSpPr>
        <p:spPr>
          <a:xfrm>
            <a:off x="10255575" y="1466560"/>
            <a:ext cx="40039" cy="40039"/>
          </a:xfrm>
          <a:prstGeom prst="ellipse">
            <a:avLst/>
          </a:prstGeom>
          <a:solidFill>
            <a:srgbClr val="8A94A6">
              <a:alpha val="65000"/>
            </a:srgbClr>
          </a:solidFill>
          <a:ln/>
        </p:spPr>
      </p:sp>
      <p:sp>
        <p:nvSpPr>
          <p:cNvPr id="124" name="Shape 122"/>
          <p:cNvSpPr/>
          <p:nvPr/>
        </p:nvSpPr>
        <p:spPr>
          <a:xfrm>
            <a:off x="9203356" y="1684706"/>
            <a:ext cx="28265" cy="28265"/>
          </a:xfrm>
          <a:prstGeom prst="ellipse">
            <a:avLst/>
          </a:prstGeom>
          <a:solidFill>
            <a:srgbClr val="8A94A6">
              <a:alpha val="65000"/>
            </a:srgbClr>
          </a:solidFill>
          <a:ln/>
        </p:spPr>
      </p:sp>
      <p:sp>
        <p:nvSpPr>
          <p:cNvPr id="125" name="Shape 123"/>
          <p:cNvSpPr/>
          <p:nvPr/>
        </p:nvSpPr>
        <p:spPr>
          <a:xfrm>
            <a:off x="11380261" y="2939661"/>
            <a:ext cx="24508" cy="24508"/>
          </a:xfrm>
          <a:prstGeom prst="ellipse">
            <a:avLst/>
          </a:prstGeom>
          <a:solidFill>
            <a:srgbClr val="8A94A6">
              <a:alpha val="65000"/>
            </a:srgbClr>
          </a:solidFill>
          <a:ln/>
        </p:spPr>
      </p:sp>
      <p:sp>
        <p:nvSpPr>
          <p:cNvPr id="126" name="Shape 124"/>
          <p:cNvSpPr/>
          <p:nvPr/>
        </p:nvSpPr>
        <p:spPr>
          <a:xfrm>
            <a:off x="11184205" y="4522033"/>
            <a:ext cx="34390" cy="34390"/>
          </a:xfrm>
          <a:prstGeom prst="ellipse">
            <a:avLst/>
          </a:prstGeom>
          <a:solidFill>
            <a:srgbClr val="8A94A6">
              <a:alpha val="65000"/>
            </a:srgbClr>
          </a:solidFill>
          <a:ln/>
        </p:spPr>
      </p:sp>
      <p:sp>
        <p:nvSpPr>
          <p:cNvPr id="127" name="Shape 125"/>
          <p:cNvSpPr/>
          <p:nvPr/>
        </p:nvSpPr>
        <p:spPr>
          <a:xfrm>
            <a:off x="8508776" y="5373039"/>
            <a:ext cx="27520" cy="27520"/>
          </a:xfrm>
          <a:prstGeom prst="ellipse">
            <a:avLst/>
          </a:prstGeom>
          <a:solidFill>
            <a:srgbClr val="8A94A6">
              <a:alpha val="65000"/>
            </a:srgbClr>
          </a:solidFill>
          <a:ln/>
        </p:spPr>
      </p:sp>
      <p:sp>
        <p:nvSpPr>
          <p:cNvPr id="128" name="Shape 126"/>
          <p:cNvSpPr/>
          <p:nvPr/>
        </p:nvSpPr>
        <p:spPr>
          <a:xfrm>
            <a:off x="10878927" y="2473720"/>
            <a:ext cx="36838" cy="36838"/>
          </a:xfrm>
          <a:prstGeom prst="ellipse">
            <a:avLst/>
          </a:prstGeom>
          <a:solidFill>
            <a:srgbClr val="8A94A6">
              <a:alpha val="65000"/>
            </a:srgbClr>
          </a:solidFill>
          <a:ln/>
        </p:spPr>
      </p:sp>
      <p:sp>
        <p:nvSpPr>
          <p:cNvPr id="129" name="Shape 127"/>
          <p:cNvSpPr/>
          <p:nvPr/>
        </p:nvSpPr>
        <p:spPr>
          <a:xfrm>
            <a:off x="10322585" y="5204194"/>
            <a:ext cx="25305" cy="25305"/>
          </a:xfrm>
          <a:prstGeom prst="ellipse">
            <a:avLst/>
          </a:prstGeom>
          <a:solidFill>
            <a:srgbClr val="8A94A6">
              <a:alpha val="65000"/>
            </a:srgbClr>
          </a:solidFill>
          <a:ln/>
        </p:spPr>
      </p:sp>
      <p:sp>
        <p:nvSpPr>
          <p:cNvPr id="130" name="Shape 128"/>
          <p:cNvSpPr/>
          <p:nvPr/>
        </p:nvSpPr>
        <p:spPr>
          <a:xfrm>
            <a:off x="7670350" y="1889377"/>
            <a:ext cx="24999" cy="24999"/>
          </a:xfrm>
          <a:prstGeom prst="ellipse">
            <a:avLst/>
          </a:prstGeom>
          <a:solidFill>
            <a:srgbClr val="8A94A6">
              <a:alpha val="65000"/>
            </a:srgbClr>
          </a:solidFill>
          <a:ln/>
        </p:spPr>
      </p:sp>
      <p:sp>
        <p:nvSpPr>
          <p:cNvPr id="131" name="Shape 129"/>
          <p:cNvSpPr/>
          <p:nvPr/>
        </p:nvSpPr>
        <p:spPr>
          <a:xfrm>
            <a:off x="8745678" y="1038836"/>
            <a:ext cx="27181" cy="27181"/>
          </a:xfrm>
          <a:prstGeom prst="ellipse">
            <a:avLst/>
          </a:prstGeom>
          <a:solidFill>
            <a:srgbClr val="8A94A6">
              <a:alpha val="65000"/>
            </a:srgbClr>
          </a:solidFill>
          <a:ln/>
        </p:spPr>
      </p:sp>
      <p:sp>
        <p:nvSpPr>
          <p:cNvPr id="132" name="Shape 130"/>
          <p:cNvSpPr/>
          <p:nvPr/>
        </p:nvSpPr>
        <p:spPr>
          <a:xfrm>
            <a:off x="8037714" y="1902780"/>
            <a:ext cx="41184" cy="41184"/>
          </a:xfrm>
          <a:prstGeom prst="ellipse">
            <a:avLst/>
          </a:prstGeom>
          <a:solidFill>
            <a:srgbClr val="8A94A6">
              <a:alpha val="65000"/>
            </a:srgbClr>
          </a:solidFill>
          <a:ln/>
        </p:spPr>
      </p:sp>
      <p:sp>
        <p:nvSpPr>
          <p:cNvPr id="133" name="Shape 131"/>
          <p:cNvSpPr/>
          <p:nvPr/>
        </p:nvSpPr>
        <p:spPr>
          <a:xfrm>
            <a:off x="10601706" y="5087157"/>
            <a:ext cx="40751" cy="40751"/>
          </a:xfrm>
          <a:prstGeom prst="ellipse">
            <a:avLst/>
          </a:prstGeom>
          <a:solidFill>
            <a:srgbClr val="8A94A6">
              <a:alpha val="65000"/>
            </a:srgbClr>
          </a:solidFill>
          <a:ln/>
        </p:spPr>
      </p:sp>
      <p:sp>
        <p:nvSpPr>
          <p:cNvPr id="134" name="Shape 132"/>
          <p:cNvSpPr/>
          <p:nvPr/>
        </p:nvSpPr>
        <p:spPr>
          <a:xfrm>
            <a:off x="10521532" y="5023364"/>
            <a:ext cx="37767" cy="37767"/>
          </a:xfrm>
          <a:prstGeom prst="ellipse">
            <a:avLst/>
          </a:prstGeom>
          <a:solidFill>
            <a:srgbClr val="8A94A6">
              <a:alpha val="65000"/>
            </a:srgbClr>
          </a:solidFill>
          <a:ln/>
        </p:spPr>
      </p:sp>
      <p:sp>
        <p:nvSpPr>
          <p:cNvPr id="135" name="Shape 133"/>
          <p:cNvSpPr/>
          <p:nvPr/>
        </p:nvSpPr>
        <p:spPr>
          <a:xfrm>
            <a:off x="8255902" y="5402628"/>
            <a:ext cx="30548" cy="30548"/>
          </a:xfrm>
          <a:prstGeom prst="ellipse">
            <a:avLst/>
          </a:prstGeom>
          <a:solidFill>
            <a:srgbClr val="8A94A6">
              <a:alpha val="65000"/>
            </a:srgbClr>
          </a:solidFill>
          <a:ln/>
        </p:spPr>
      </p:sp>
      <p:sp>
        <p:nvSpPr>
          <p:cNvPr id="136" name="Shape 134"/>
          <p:cNvSpPr/>
          <p:nvPr/>
        </p:nvSpPr>
        <p:spPr>
          <a:xfrm>
            <a:off x="8056070" y="5001242"/>
            <a:ext cx="30959" cy="30959"/>
          </a:xfrm>
          <a:prstGeom prst="ellipse">
            <a:avLst/>
          </a:prstGeom>
          <a:solidFill>
            <a:srgbClr val="8A94A6">
              <a:alpha val="65000"/>
            </a:srgbClr>
          </a:solidFill>
          <a:ln/>
        </p:spPr>
      </p:sp>
      <p:sp>
        <p:nvSpPr>
          <p:cNvPr id="137" name="Shape 135"/>
          <p:cNvSpPr/>
          <p:nvPr/>
        </p:nvSpPr>
        <p:spPr>
          <a:xfrm>
            <a:off x="7310011" y="3344310"/>
            <a:ext cx="36903" cy="36903"/>
          </a:xfrm>
          <a:prstGeom prst="ellipse">
            <a:avLst/>
          </a:prstGeom>
          <a:solidFill>
            <a:srgbClr val="8A94A6">
              <a:alpha val="65000"/>
            </a:srgbClr>
          </a:solidFill>
          <a:ln/>
        </p:spPr>
      </p:sp>
      <p:sp>
        <p:nvSpPr>
          <p:cNvPr id="138" name="Shape 136"/>
          <p:cNvSpPr/>
          <p:nvPr/>
        </p:nvSpPr>
        <p:spPr>
          <a:xfrm>
            <a:off x="7148764" y="2421729"/>
            <a:ext cx="39382" cy="39382"/>
          </a:xfrm>
          <a:prstGeom prst="ellipse">
            <a:avLst/>
          </a:prstGeom>
          <a:solidFill>
            <a:srgbClr val="8A94A6">
              <a:alpha val="65000"/>
            </a:srgbClr>
          </a:solidFill>
          <a:ln/>
        </p:spPr>
      </p:sp>
      <p:sp>
        <p:nvSpPr>
          <p:cNvPr id="139" name="Shape 137"/>
          <p:cNvSpPr/>
          <p:nvPr/>
        </p:nvSpPr>
        <p:spPr>
          <a:xfrm>
            <a:off x="8946448" y="5149009"/>
            <a:ext cx="35175" cy="35175"/>
          </a:xfrm>
          <a:prstGeom prst="ellipse">
            <a:avLst/>
          </a:prstGeom>
          <a:solidFill>
            <a:srgbClr val="8A94A6">
              <a:alpha val="65000"/>
            </a:srgbClr>
          </a:solidFill>
          <a:ln/>
        </p:spPr>
      </p:sp>
      <p:sp>
        <p:nvSpPr>
          <p:cNvPr id="140" name="Shape 138"/>
          <p:cNvSpPr/>
          <p:nvPr/>
        </p:nvSpPr>
        <p:spPr>
          <a:xfrm>
            <a:off x="7564416" y="2155987"/>
            <a:ext cx="41672" cy="41672"/>
          </a:xfrm>
          <a:prstGeom prst="ellipse">
            <a:avLst/>
          </a:prstGeom>
          <a:solidFill>
            <a:srgbClr val="8A94A6">
              <a:alpha val="65000"/>
            </a:srgbClr>
          </a:solidFill>
          <a:ln/>
        </p:spPr>
      </p:sp>
      <p:sp>
        <p:nvSpPr>
          <p:cNvPr id="141" name="Shape 139"/>
          <p:cNvSpPr/>
          <p:nvPr/>
        </p:nvSpPr>
        <p:spPr>
          <a:xfrm>
            <a:off x="7508910" y="3937265"/>
            <a:ext cx="35630" cy="35630"/>
          </a:xfrm>
          <a:prstGeom prst="ellipse">
            <a:avLst/>
          </a:prstGeom>
          <a:solidFill>
            <a:srgbClr val="8A94A6">
              <a:alpha val="65000"/>
            </a:srgbClr>
          </a:solidFill>
          <a:ln/>
        </p:spPr>
      </p:sp>
      <p:sp>
        <p:nvSpPr>
          <p:cNvPr id="142" name="Shape 140"/>
          <p:cNvSpPr/>
          <p:nvPr/>
        </p:nvSpPr>
        <p:spPr>
          <a:xfrm>
            <a:off x="7590551" y="4922204"/>
            <a:ext cx="25480" cy="25480"/>
          </a:xfrm>
          <a:prstGeom prst="ellipse">
            <a:avLst/>
          </a:prstGeom>
          <a:solidFill>
            <a:srgbClr val="8A94A6">
              <a:alpha val="65000"/>
            </a:srgbClr>
          </a:solidFill>
          <a:ln/>
        </p:spPr>
      </p:sp>
      <p:sp>
        <p:nvSpPr>
          <p:cNvPr id="143" name="Shape 141"/>
          <p:cNvSpPr/>
          <p:nvPr/>
        </p:nvSpPr>
        <p:spPr>
          <a:xfrm>
            <a:off x="10893256" y="4032045"/>
            <a:ext cx="39407" cy="39407"/>
          </a:xfrm>
          <a:prstGeom prst="ellipse">
            <a:avLst/>
          </a:prstGeom>
          <a:solidFill>
            <a:srgbClr val="8A94A6">
              <a:alpha val="65000"/>
            </a:srgbClr>
          </a:solidFill>
          <a:ln/>
        </p:spPr>
      </p:sp>
      <p:sp>
        <p:nvSpPr>
          <p:cNvPr id="144" name="Shape 142"/>
          <p:cNvSpPr/>
          <p:nvPr/>
        </p:nvSpPr>
        <p:spPr>
          <a:xfrm>
            <a:off x="8404990" y="5278769"/>
            <a:ext cx="30717" cy="30717"/>
          </a:xfrm>
          <a:prstGeom prst="ellipse">
            <a:avLst/>
          </a:prstGeom>
          <a:solidFill>
            <a:srgbClr val="8A94A6">
              <a:alpha val="65000"/>
            </a:srgbClr>
          </a:solidFill>
          <a:ln/>
        </p:spPr>
      </p:sp>
      <p:sp>
        <p:nvSpPr>
          <p:cNvPr id="145" name="Shape 143"/>
          <p:cNvSpPr/>
          <p:nvPr/>
        </p:nvSpPr>
        <p:spPr>
          <a:xfrm>
            <a:off x="11313227" y="2447177"/>
            <a:ext cx="40511" cy="40511"/>
          </a:xfrm>
          <a:prstGeom prst="ellipse">
            <a:avLst/>
          </a:prstGeom>
          <a:solidFill>
            <a:srgbClr val="8A94A6">
              <a:alpha val="65000"/>
            </a:srgbClr>
          </a:solidFill>
          <a:ln/>
        </p:spPr>
      </p:sp>
      <p:sp>
        <p:nvSpPr>
          <p:cNvPr id="146" name="Shape 144"/>
          <p:cNvSpPr/>
          <p:nvPr/>
        </p:nvSpPr>
        <p:spPr>
          <a:xfrm>
            <a:off x="9392299" y="1456953"/>
            <a:ext cx="34576" cy="34576"/>
          </a:xfrm>
          <a:prstGeom prst="ellipse">
            <a:avLst/>
          </a:prstGeom>
          <a:solidFill>
            <a:srgbClr val="8A94A6">
              <a:alpha val="65000"/>
            </a:srgbClr>
          </a:solidFill>
          <a:ln/>
        </p:spPr>
      </p:sp>
      <p:sp>
        <p:nvSpPr>
          <p:cNvPr id="147" name="Shape 145"/>
          <p:cNvSpPr/>
          <p:nvPr/>
        </p:nvSpPr>
        <p:spPr>
          <a:xfrm>
            <a:off x="10149986" y="4767243"/>
            <a:ext cx="45713" cy="45713"/>
          </a:xfrm>
          <a:prstGeom prst="ellipse">
            <a:avLst/>
          </a:prstGeom>
          <a:solidFill>
            <a:srgbClr val="8A94A6">
              <a:alpha val="65000"/>
            </a:srgbClr>
          </a:solidFill>
          <a:ln/>
        </p:spPr>
      </p:sp>
      <p:sp>
        <p:nvSpPr>
          <p:cNvPr id="148" name="Shape 146"/>
          <p:cNvSpPr/>
          <p:nvPr/>
        </p:nvSpPr>
        <p:spPr>
          <a:xfrm>
            <a:off x="10993998" y="4078562"/>
            <a:ext cx="27428" cy="27428"/>
          </a:xfrm>
          <a:prstGeom prst="ellipse">
            <a:avLst/>
          </a:prstGeom>
          <a:solidFill>
            <a:srgbClr val="8A94A6">
              <a:alpha val="65000"/>
            </a:srgbClr>
          </a:solidFill>
          <a:ln/>
        </p:spPr>
      </p:sp>
      <p:sp>
        <p:nvSpPr>
          <p:cNvPr id="149" name="Shape 147"/>
          <p:cNvSpPr/>
          <p:nvPr/>
        </p:nvSpPr>
        <p:spPr>
          <a:xfrm>
            <a:off x="9997803" y="1627732"/>
            <a:ext cx="24713" cy="24713"/>
          </a:xfrm>
          <a:prstGeom prst="ellipse">
            <a:avLst/>
          </a:prstGeom>
          <a:solidFill>
            <a:srgbClr val="8A94A6">
              <a:alpha val="65000"/>
            </a:srgbClr>
          </a:solidFill>
          <a:ln/>
        </p:spPr>
      </p:sp>
      <p:sp>
        <p:nvSpPr>
          <p:cNvPr id="150" name="Shape 148"/>
          <p:cNvSpPr/>
          <p:nvPr/>
        </p:nvSpPr>
        <p:spPr>
          <a:xfrm>
            <a:off x="9255007" y="5559435"/>
            <a:ext cx="28514" cy="28514"/>
          </a:xfrm>
          <a:prstGeom prst="ellipse">
            <a:avLst/>
          </a:prstGeom>
          <a:solidFill>
            <a:srgbClr val="8A94A6">
              <a:alpha val="65000"/>
            </a:srgbClr>
          </a:solidFill>
          <a:ln/>
        </p:spPr>
      </p:sp>
      <p:sp>
        <p:nvSpPr>
          <p:cNvPr id="151" name="Shape 149"/>
          <p:cNvSpPr/>
          <p:nvPr/>
        </p:nvSpPr>
        <p:spPr>
          <a:xfrm>
            <a:off x="7527900" y="3205699"/>
            <a:ext cx="38366" cy="38366"/>
          </a:xfrm>
          <a:prstGeom prst="ellipse">
            <a:avLst/>
          </a:prstGeom>
          <a:solidFill>
            <a:srgbClr val="8A94A6">
              <a:alpha val="65000"/>
            </a:srgbClr>
          </a:solidFill>
          <a:ln/>
        </p:spPr>
      </p:sp>
      <p:sp>
        <p:nvSpPr>
          <p:cNvPr id="152" name="Shape 150"/>
          <p:cNvSpPr/>
          <p:nvPr/>
        </p:nvSpPr>
        <p:spPr>
          <a:xfrm>
            <a:off x="7290031" y="3790122"/>
            <a:ext cx="44410" cy="44410"/>
          </a:xfrm>
          <a:prstGeom prst="ellipse">
            <a:avLst/>
          </a:prstGeom>
          <a:solidFill>
            <a:srgbClr val="8A94A6">
              <a:alpha val="65000"/>
            </a:srgbClr>
          </a:solidFill>
          <a:ln/>
        </p:spPr>
      </p:sp>
      <p:sp>
        <p:nvSpPr>
          <p:cNvPr id="153" name="Shape 151"/>
          <p:cNvSpPr/>
          <p:nvPr/>
        </p:nvSpPr>
        <p:spPr>
          <a:xfrm>
            <a:off x="7354979" y="3955497"/>
            <a:ext cx="39030" cy="39030"/>
          </a:xfrm>
          <a:prstGeom prst="ellipse">
            <a:avLst/>
          </a:prstGeom>
          <a:solidFill>
            <a:srgbClr val="8A94A6">
              <a:alpha val="65000"/>
            </a:srgbClr>
          </a:solidFill>
          <a:ln/>
        </p:spPr>
      </p:sp>
      <p:sp>
        <p:nvSpPr>
          <p:cNvPr id="154" name="Shape 152"/>
          <p:cNvSpPr/>
          <p:nvPr/>
        </p:nvSpPr>
        <p:spPr>
          <a:xfrm>
            <a:off x="10526473" y="2275443"/>
            <a:ext cx="37699" cy="37699"/>
          </a:xfrm>
          <a:prstGeom prst="ellipse">
            <a:avLst/>
          </a:prstGeom>
          <a:solidFill>
            <a:srgbClr val="8A94A6">
              <a:alpha val="65000"/>
            </a:srgbClr>
          </a:solidFill>
          <a:ln/>
        </p:spPr>
      </p:sp>
      <p:sp>
        <p:nvSpPr>
          <p:cNvPr id="155" name="Shape 153"/>
          <p:cNvSpPr/>
          <p:nvPr/>
        </p:nvSpPr>
        <p:spPr>
          <a:xfrm>
            <a:off x="7491526" y="3866209"/>
            <a:ext cx="33725" cy="33725"/>
          </a:xfrm>
          <a:prstGeom prst="ellipse">
            <a:avLst/>
          </a:prstGeom>
          <a:solidFill>
            <a:srgbClr val="8A94A6">
              <a:alpha val="65000"/>
            </a:srgbClr>
          </a:solidFill>
          <a:ln/>
        </p:spPr>
      </p:sp>
      <p:sp>
        <p:nvSpPr>
          <p:cNvPr id="156" name="Shape 154"/>
          <p:cNvSpPr/>
          <p:nvPr/>
        </p:nvSpPr>
        <p:spPr>
          <a:xfrm>
            <a:off x="9980974" y="5335802"/>
            <a:ext cx="40041" cy="40041"/>
          </a:xfrm>
          <a:prstGeom prst="ellipse">
            <a:avLst/>
          </a:prstGeom>
          <a:solidFill>
            <a:srgbClr val="8A94A6">
              <a:alpha val="65000"/>
            </a:srgbClr>
          </a:solidFill>
          <a:ln/>
        </p:spPr>
      </p:sp>
      <p:sp>
        <p:nvSpPr>
          <p:cNvPr id="157" name="Shape 155"/>
          <p:cNvSpPr/>
          <p:nvPr/>
        </p:nvSpPr>
        <p:spPr>
          <a:xfrm>
            <a:off x="9430643" y="5420496"/>
            <a:ext cx="35340" cy="35340"/>
          </a:xfrm>
          <a:prstGeom prst="ellipse">
            <a:avLst/>
          </a:prstGeom>
          <a:solidFill>
            <a:srgbClr val="8A94A6">
              <a:alpha val="65000"/>
            </a:srgbClr>
          </a:solidFill>
          <a:ln/>
        </p:spPr>
      </p:sp>
      <p:sp>
        <p:nvSpPr>
          <p:cNvPr id="158" name="Shape 156"/>
          <p:cNvSpPr/>
          <p:nvPr/>
        </p:nvSpPr>
        <p:spPr>
          <a:xfrm>
            <a:off x="7399044" y="4840077"/>
            <a:ext cx="37271" cy="37271"/>
          </a:xfrm>
          <a:prstGeom prst="ellipse">
            <a:avLst/>
          </a:prstGeom>
          <a:solidFill>
            <a:srgbClr val="8A94A6">
              <a:alpha val="65000"/>
            </a:srgbClr>
          </a:solidFill>
          <a:ln/>
        </p:spPr>
      </p:sp>
      <p:sp>
        <p:nvSpPr>
          <p:cNvPr id="159" name="Shape 157"/>
          <p:cNvSpPr/>
          <p:nvPr/>
        </p:nvSpPr>
        <p:spPr>
          <a:xfrm>
            <a:off x="8131810" y="5242692"/>
            <a:ext cx="40534" cy="40534"/>
          </a:xfrm>
          <a:prstGeom prst="ellipse">
            <a:avLst/>
          </a:prstGeom>
          <a:solidFill>
            <a:srgbClr val="8A94A6">
              <a:alpha val="65000"/>
            </a:srgbClr>
          </a:solidFill>
          <a:ln/>
        </p:spPr>
      </p:sp>
      <p:sp>
        <p:nvSpPr>
          <p:cNvPr id="160" name="Shape 158"/>
          <p:cNvSpPr/>
          <p:nvPr/>
        </p:nvSpPr>
        <p:spPr>
          <a:xfrm>
            <a:off x="10645382" y="4919052"/>
            <a:ext cx="42632" cy="42632"/>
          </a:xfrm>
          <a:prstGeom prst="ellipse">
            <a:avLst/>
          </a:prstGeom>
          <a:solidFill>
            <a:srgbClr val="8A94A6">
              <a:alpha val="65000"/>
            </a:srgbClr>
          </a:solidFill>
          <a:ln/>
        </p:spPr>
      </p:sp>
      <p:sp>
        <p:nvSpPr>
          <p:cNvPr id="161" name="Shape 159"/>
          <p:cNvSpPr/>
          <p:nvPr/>
        </p:nvSpPr>
        <p:spPr>
          <a:xfrm>
            <a:off x="7577767" y="4928543"/>
            <a:ext cx="27071" cy="27071"/>
          </a:xfrm>
          <a:prstGeom prst="ellipse">
            <a:avLst/>
          </a:prstGeom>
          <a:solidFill>
            <a:srgbClr val="8A94A6">
              <a:alpha val="65000"/>
            </a:srgbClr>
          </a:solidFill>
          <a:ln/>
        </p:spPr>
      </p:sp>
      <p:sp>
        <p:nvSpPr>
          <p:cNvPr id="162" name="Shape 160"/>
          <p:cNvSpPr/>
          <p:nvPr/>
        </p:nvSpPr>
        <p:spPr>
          <a:xfrm>
            <a:off x="10865021" y="3451698"/>
            <a:ext cx="28238" cy="28238"/>
          </a:xfrm>
          <a:prstGeom prst="ellipse">
            <a:avLst/>
          </a:prstGeom>
          <a:solidFill>
            <a:srgbClr val="8A94A6">
              <a:alpha val="65000"/>
            </a:srgbClr>
          </a:solidFill>
          <a:ln/>
        </p:spPr>
      </p:sp>
      <p:sp>
        <p:nvSpPr>
          <p:cNvPr id="163" name="Shape 161"/>
          <p:cNvSpPr/>
          <p:nvPr/>
        </p:nvSpPr>
        <p:spPr>
          <a:xfrm>
            <a:off x="11372769" y="2827119"/>
            <a:ext cx="40171" cy="40171"/>
          </a:xfrm>
          <a:prstGeom prst="ellipse">
            <a:avLst/>
          </a:prstGeom>
          <a:solidFill>
            <a:srgbClr val="8A94A6">
              <a:alpha val="65000"/>
            </a:srgbClr>
          </a:solidFill>
          <a:ln/>
        </p:spPr>
      </p:sp>
      <p:sp>
        <p:nvSpPr>
          <p:cNvPr id="164" name="Shape 162"/>
          <p:cNvSpPr/>
          <p:nvPr/>
        </p:nvSpPr>
        <p:spPr>
          <a:xfrm>
            <a:off x="9996832" y="5184328"/>
            <a:ext cx="29729" cy="29729"/>
          </a:xfrm>
          <a:prstGeom prst="ellipse">
            <a:avLst/>
          </a:prstGeom>
          <a:solidFill>
            <a:srgbClr val="8A94A6">
              <a:alpha val="65000"/>
            </a:srgbClr>
          </a:solidFill>
          <a:ln/>
        </p:spPr>
      </p:sp>
      <p:sp>
        <p:nvSpPr>
          <p:cNvPr id="165" name="Shape 163"/>
          <p:cNvSpPr/>
          <p:nvPr/>
        </p:nvSpPr>
        <p:spPr>
          <a:xfrm>
            <a:off x="8277581" y="1862130"/>
            <a:ext cx="39148" cy="39148"/>
          </a:xfrm>
          <a:prstGeom prst="ellipse">
            <a:avLst/>
          </a:prstGeom>
          <a:solidFill>
            <a:srgbClr val="8A94A6">
              <a:alpha val="65000"/>
            </a:srgbClr>
          </a:solidFill>
          <a:ln/>
        </p:spPr>
      </p:sp>
      <p:sp>
        <p:nvSpPr>
          <p:cNvPr id="166" name="Shape 164"/>
          <p:cNvSpPr/>
          <p:nvPr/>
        </p:nvSpPr>
        <p:spPr>
          <a:xfrm>
            <a:off x="8080617" y="1510946"/>
            <a:ext cx="26141" cy="26141"/>
          </a:xfrm>
          <a:prstGeom prst="ellipse">
            <a:avLst/>
          </a:prstGeom>
          <a:solidFill>
            <a:srgbClr val="8A94A6">
              <a:alpha val="65000"/>
            </a:srgbClr>
          </a:solidFill>
          <a:ln/>
        </p:spPr>
      </p:sp>
      <p:sp>
        <p:nvSpPr>
          <p:cNvPr id="167" name="Shape 165"/>
          <p:cNvSpPr/>
          <p:nvPr/>
        </p:nvSpPr>
        <p:spPr>
          <a:xfrm>
            <a:off x="10781852" y="4080296"/>
            <a:ext cx="25851" cy="25851"/>
          </a:xfrm>
          <a:prstGeom prst="ellipse">
            <a:avLst/>
          </a:prstGeom>
          <a:solidFill>
            <a:srgbClr val="8A94A6">
              <a:alpha val="65000"/>
            </a:srgbClr>
          </a:solidFill>
          <a:ln/>
        </p:spPr>
      </p:sp>
      <p:sp>
        <p:nvSpPr>
          <p:cNvPr id="168" name="Shape 166"/>
          <p:cNvSpPr/>
          <p:nvPr/>
        </p:nvSpPr>
        <p:spPr>
          <a:xfrm>
            <a:off x="9044276" y="1692220"/>
            <a:ext cx="39857" cy="39857"/>
          </a:xfrm>
          <a:prstGeom prst="ellipse">
            <a:avLst/>
          </a:prstGeom>
          <a:solidFill>
            <a:srgbClr val="8A94A6">
              <a:alpha val="65000"/>
            </a:srgbClr>
          </a:solidFill>
          <a:ln/>
        </p:spPr>
      </p:sp>
      <p:sp>
        <p:nvSpPr>
          <p:cNvPr id="169" name="Shape 167"/>
          <p:cNvSpPr/>
          <p:nvPr/>
        </p:nvSpPr>
        <p:spPr>
          <a:xfrm>
            <a:off x="8740235" y="4906510"/>
            <a:ext cx="23867" cy="23867"/>
          </a:xfrm>
          <a:prstGeom prst="ellipse">
            <a:avLst/>
          </a:prstGeom>
          <a:solidFill>
            <a:srgbClr val="8A94A6">
              <a:alpha val="65000"/>
            </a:srgbClr>
          </a:solidFill>
          <a:ln/>
        </p:spPr>
      </p:sp>
      <p:sp>
        <p:nvSpPr>
          <p:cNvPr id="170" name="Shape 168"/>
          <p:cNvSpPr/>
          <p:nvPr/>
        </p:nvSpPr>
        <p:spPr>
          <a:xfrm>
            <a:off x="6655525" y="3498075"/>
            <a:ext cx="45094" cy="45094"/>
          </a:xfrm>
          <a:prstGeom prst="ellipse">
            <a:avLst/>
          </a:prstGeom>
          <a:solidFill>
            <a:srgbClr val="8A94A6">
              <a:alpha val="65000"/>
            </a:srgbClr>
          </a:solidFill>
          <a:ln/>
        </p:spPr>
      </p:sp>
      <p:sp>
        <p:nvSpPr>
          <p:cNvPr id="171" name="Shape 169"/>
          <p:cNvSpPr/>
          <p:nvPr/>
        </p:nvSpPr>
        <p:spPr>
          <a:xfrm>
            <a:off x="7495887" y="2005362"/>
            <a:ext cx="40677" cy="40677"/>
          </a:xfrm>
          <a:prstGeom prst="ellipse">
            <a:avLst/>
          </a:prstGeom>
          <a:solidFill>
            <a:srgbClr val="8A94A6">
              <a:alpha val="65000"/>
            </a:srgbClr>
          </a:solidFill>
          <a:ln/>
        </p:spPr>
      </p:sp>
      <p:sp>
        <p:nvSpPr>
          <p:cNvPr id="172" name="Shape 170"/>
          <p:cNvSpPr/>
          <p:nvPr/>
        </p:nvSpPr>
        <p:spPr>
          <a:xfrm>
            <a:off x="7870126" y="2049258"/>
            <a:ext cx="38293" cy="38293"/>
          </a:xfrm>
          <a:prstGeom prst="ellipse">
            <a:avLst/>
          </a:prstGeom>
          <a:solidFill>
            <a:srgbClr val="8A94A6">
              <a:alpha val="65000"/>
            </a:srgbClr>
          </a:solidFill>
          <a:ln/>
        </p:spPr>
      </p:sp>
      <p:sp>
        <p:nvSpPr>
          <p:cNvPr id="173" name="Shape 171"/>
          <p:cNvSpPr/>
          <p:nvPr/>
        </p:nvSpPr>
        <p:spPr>
          <a:xfrm>
            <a:off x="6911572" y="3931166"/>
            <a:ext cx="39982" cy="39982"/>
          </a:xfrm>
          <a:prstGeom prst="ellipse">
            <a:avLst/>
          </a:prstGeom>
          <a:solidFill>
            <a:srgbClr val="8A94A6">
              <a:alpha val="65000"/>
            </a:srgbClr>
          </a:solidFill>
          <a:ln/>
        </p:spPr>
      </p:sp>
      <p:sp>
        <p:nvSpPr>
          <p:cNvPr id="174" name="Shape 172"/>
          <p:cNvSpPr/>
          <p:nvPr/>
        </p:nvSpPr>
        <p:spPr>
          <a:xfrm>
            <a:off x="7657207" y="4631755"/>
            <a:ext cx="29177" cy="29177"/>
          </a:xfrm>
          <a:prstGeom prst="ellipse">
            <a:avLst/>
          </a:prstGeom>
          <a:solidFill>
            <a:srgbClr val="8A94A6">
              <a:alpha val="65000"/>
            </a:srgbClr>
          </a:solidFill>
          <a:ln/>
        </p:spPr>
      </p:sp>
      <p:sp>
        <p:nvSpPr>
          <p:cNvPr id="175" name="Shape 173"/>
          <p:cNvSpPr/>
          <p:nvPr/>
        </p:nvSpPr>
        <p:spPr>
          <a:xfrm>
            <a:off x="7787762" y="2428965"/>
            <a:ext cx="28715" cy="28715"/>
          </a:xfrm>
          <a:prstGeom prst="ellipse">
            <a:avLst/>
          </a:prstGeom>
          <a:solidFill>
            <a:srgbClr val="8A94A6">
              <a:alpha val="65000"/>
            </a:srgbClr>
          </a:solidFill>
          <a:ln/>
        </p:spPr>
      </p:sp>
      <p:sp>
        <p:nvSpPr>
          <p:cNvPr id="176" name="Shape 174"/>
          <p:cNvSpPr/>
          <p:nvPr/>
        </p:nvSpPr>
        <p:spPr>
          <a:xfrm>
            <a:off x="10243850" y="1478703"/>
            <a:ext cx="30888" cy="30888"/>
          </a:xfrm>
          <a:prstGeom prst="ellipse">
            <a:avLst/>
          </a:prstGeom>
          <a:solidFill>
            <a:srgbClr val="8A94A6">
              <a:alpha val="65000"/>
            </a:srgbClr>
          </a:solidFill>
          <a:ln/>
        </p:spPr>
      </p:sp>
      <p:sp>
        <p:nvSpPr>
          <p:cNvPr id="177" name="Shape 175"/>
          <p:cNvSpPr/>
          <p:nvPr/>
        </p:nvSpPr>
        <p:spPr>
          <a:xfrm>
            <a:off x="8241713" y="1965091"/>
            <a:ext cx="44281" cy="44281"/>
          </a:xfrm>
          <a:prstGeom prst="ellipse">
            <a:avLst/>
          </a:prstGeom>
          <a:solidFill>
            <a:srgbClr val="8A94A6">
              <a:alpha val="65000"/>
            </a:srgbClr>
          </a:solidFill>
          <a:ln/>
        </p:spPr>
      </p:sp>
      <p:sp>
        <p:nvSpPr>
          <p:cNvPr id="178" name="Shape 176"/>
          <p:cNvSpPr/>
          <p:nvPr/>
        </p:nvSpPr>
        <p:spPr>
          <a:xfrm>
            <a:off x="7051474" y="4560398"/>
            <a:ext cx="39790" cy="39790"/>
          </a:xfrm>
          <a:prstGeom prst="ellipse">
            <a:avLst/>
          </a:prstGeom>
          <a:solidFill>
            <a:srgbClr val="8A94A6">
              <a:alpha val="65000"/>
            </a:srgbClr>
          </a:solidFill>
          <a:ln/>
        </p:spPr>
      </p:sp>
      <p:sp>
        <p:nvSpPr>
          <p:cNvPr id="179" name="Shape 177"/>
          <p:cNvSpPr/>
          <p:nvPr/>
        </p:nvSpPr>
        <p:spPr>
          <a:xfrm>
            <a:off x="11395189" y="3161156"/>
            <a:ext cx="28091" cy="28091"/>
          </a:xfrm>
          <a:prstGeom prst="ellipse">
            <a:avLst/>
          </a:prstGeom>
          <a:solidFill>
            <a:srgbClr val="8A94A6">
              <a:alpha val="65000"/>
            </a:srgbClr>
          </a:solidFill>
          <a:ln/>
        </p:spPr>
      </p:sp>
      <p:sp>
        <p:nvSpPr>
          <p:cNvPr id="180" name="Shape 178"/>
          <p:cNvSpPr/>
          <p:nvPr/>
        </p:nvSpPr>
        <p:spPr>
          <a:xfrm>
            <a:off x="7595317" y="2480186"/>
            <a:ext cx="33894" cy="33894"/>
          </a:xfrm>
          <a:prstGeom prst="ellipse">
            <a:avLst/>
          </a:prstGeom>
          <a:solidFill>
            <a:srgbClr val="8A94A6">
              <a:alpha val="65000"/>
            </a:srgbClr>
          </a:solidFill>
          <a:ln/>
        </p:spPr>
      </p:sp>
      <p:sp>
        <p:nvSpPr>
          <p:cNvPr id="181" name="Shape 179"/>
          <p:cNvSpPr/>
          <p:nvPr/>
        </p:nvSpPr>
        <p:spPr>
          <a:xfrm>
            <a:off x="7454498" y="2927401"/>
            <a:ext cx="31886" cy="31886"/>
          </a:xfrm>
          <a:prstGeom prst="ellipse">
            <a:avLst/>
          </a:prstGeom>
          <a:solidFill>
            <a:srgbClr val="8A94A6">
              <a:alpha val="65000"/>
            </a:srgbClr>
          </a:solidFill>
          <a:ln/>
        </p:spPr>
      </p:sp>
      <p:sp>
        <p:nvSpPr>
          <p:cNvPr id="182" name="Shape 180"/>
          <p:cNvSpPr/>
          <p:nvPr/>
        </p:nvSpPr>
        <p:spPr>
          <a:xfrm>
            <a:off x="10641628" y="3321450"/>
            <a:ext cx="37698" cy="37698"/>
          </a:xfrm>
          <a:prstGeom prst="ellipse">
            <a:avLst/>
          </a:prstGeom>
          <a:solidFill>
            <a:srgbClr val="8A94A6">
              <a:alpha val="65000"/>
            </a:srgbClr>
          </a:solidFill>
          <a:ln/>
        </p:spPr>
      </p:sp>
      <p:sp>
        <p:nvSpPr>
          <p:cNvPr id="183" name="Shape 181"/>
          <p:cNvSpPr/>
          <p:nvPr/>
        </p:nvSpPr>
        <p:spPr>
          <a:xfrm>
            <a:off x="8474487" y="1554665"/>
            <a:ext cx="24719" cy="24719"/>
          </a:xfrm>
          <a:prstGeom prst="ellipse">
            <a:avLst/>
          </a:prstGeom>
          <a:solidFill>
            <a:srgbClr val="8A94A6">
              <a:alpha val="65000"/>
            </a:srgbClr>
          </a:solidFill>
          <a:ln/>
        </p:spPr>
      </p:sp>
      <p:sp>
        <p:nvSpPr>
          <p:cNvPr id="184" name="Shape 182"/>
          <p:cNvSpPr/>
          <p:nvPr/>
        </p:nvSpPr>
        <p:spPr>
          <a:xfrm>
            <a:off x="9345718" y="5306732"/>
            <a:ext cx="42763" cy="42763"/>
          </a:xfrm>
          <a:prstGeom prst="ellipse">
            <a:avLst/>
          </a:prstGeom>
          <a:solidFill>
            <a:srgbClr val="8A94A6">
              <a:alpha val="65000"/>
            </a:srgbClr>
          </a:solidFill>
          <a:ln/>
        </p:spPr>
      </p:sp>
      <p:sp>
        <p:nvSpPr>
          <p:cNvPr id="185" name="Shape 183"/>
          <p:cNvSpPr/>
          <p:nvPr/>
        </p:nvSpPr>
        <p:spPr>
          <a:xfrm>
            <a:off x="8679799" y="5376763"/>
            <a:ext cx="45409" cy="45409"/>
          </a:xfrm>
          <a:prstGeom prst="ellipse">
            <a:avLst/>
          </a:prstGeom>
          <a:solidFill>
            <a:srgbClr val="8A94A6">
              <a:alpha val="65000"/>
            </a:srgbClr>
          </a:solidFill>
          <a:ln/>
        </p:spPr>
      </p:sp>
      <p:sp>
        <p:nvSpPr>
          <p:cNvPr id="186" name="Shape 184"/>
          <p:cNvSpPr/>
          <p:nvPr/>
        </p:nvSpPr>
        <p:spPr>
          <a:xfrm>
            <a:off x="7871051" y="1293419"/>
            <a:ext cx="42766" cy="42766"/>
          </a:xfrm>
          <a:prstGeom prst="ellipse">
            <a:avLst/>
          </a:prstGeom>
          <a:solidFill>
            <a:srgbClr val="8A94A6">
              <a:alpha val="65000"/>
            </a:srgbClr>
          </a:solidFill>
          <a:ln/>
        </p:spPr>
      </p:sp>
      <p:sp>
        <p:nvSpPr>
          <p:cNvPr id="187" name="Shape 185"/>
          <p:cNvSpPr/>
          <p:nvPr/>
        </p:nvSpPr>
        <p:spPr>
          <a:xfrm>
            <a:off x="9757876" y="5556446"/>
            <a:ext cx="44328" cy="44328"/>
          </a:xfrm>
          <a:prstGeom prst="ellipse">
            <a:avLst/>
          </a:prstGeom>
          <a:solidFill>
            <a:srgbClr val="8A94A6">
              <a:alpha val="65000"/>
            </a:srgbClr>
          </a:solidFill>
          <a:ln/>
        </p:spPr>
      </p:sp>
      <p:sp>
        <p:nvSpPr>
          <p:cNvPr id="188" name="Shape 186"/>
          <p:cNvSpPr/>
          <p:nvPr/>
        </p:nvSpPr>
        <p:spPr>
          <a:xfrm>
            <a:off x="8487183" y="5475878"/>
            <a:ext cx="30816" cy="30816"/>
          </a:xfrm>
          <a:prstGeom prst="ellipse">
            <a:avLst/>
          </a:prstGeom>
          <a:solidFill>
            <a:srgbClr val="8A94A6">
              <a:alpha val="65000"/>
            </a:srgbClr>
          </a:solidFill>
          <a:ln/>
        </p:spPr>
      </p:sp>
      <p:sp>
        <p:nvSpPr>
          <p:cNvPr id="189" name="Shape 187"/>
          <p:cNvSpPr/>
          <p:nvPr/>
        </p:nvSpPr>
        <p:spPr>
          <a:xfrm>
            <a:off x="9596099" y="5136917"/>
            <a:ext cx="31252" cy="31252"/>
          </a:xfrm>
          <a:prstGeom prst="ellipse">
            <a:avLst/>
          </a:prstGeom>
          <a:solidFill>
            <a:srgbClr val="8A94A6">
              <a:alpha val="65000"/>
            </a:srgbClr>
          </a:solidFill>
          <a:ln/>
        </p:spPr>
      </p:sp>
      <p:sp>
        <p:nvSpPr>
          <p:cNvPr id="190" name="Shape 188"/>
          <p:cNvSpPr/>
          <p:nvPr/>
        </p:nvSpPr>
        <p:spPr>
          <a:xfrm>
            <a:off x="11147485" y="2540303"/>
            <a:ext cx="36406" cy="36406"/>
          </a:xfrm>
          <a:prstGeom prst="ellipse">
            <a:avLst/>
          </a:prstGeom>
          <a:solidFill>
            <a:srgbClr val="8A94A6">
              <a:alpha val="65000"/>
            </a:srgbClr>
          </a:solidFill>
          <a:ln/>
        </p:spPr>
      </p:sp>
      <p:sp>
        <p:nvSpPr>
          <p:cNvPr id="191" name="Shape 189"/>
          <p:cNvSpPr/>
          <p:nvPr/>
        </p:nvSpPr>
        <p:spPr>
          <a:xfrm>
            <a:off x="9212548" y="1319528"/>
            <a:ext cx="33841" cy="33841"/>
          </a:xfrm>
          <a:prstGeom prst="ellipse">
            <a:avLst/>
          </a:prstGeom>
          <a:solidFill>
            <a:srgbClr val="8A94A6">
              <a:alpha val="65000"/>
            </a:srgbClr>
          </a:solidFill>
          <a:ln/>
        </p:spPr>
      </p:sp>
      <p:sp>
        <p:nvSpPr>
          <p:cNvPr id="192" name="Shape 190"/>
          <p:cNvSpPr/>
          <p:nvPr/>
        </p:nvSpPr>
        <p:spPr>
          <a:xfrm>
            <a:off x="10856501" y="4592490"/>
            <a:ext cx="30356" cy="30356"/>
          </a:xfrm>
          <a:prstGeom prst="ellipse">
            <a:avLst/>
          </a:prstGeom>
          <a:solidFill>
            <a:srgbClr val="8A94A6">
              <a:alpha val="65000"/>
            </a:srgbClr>
          </a:solidFill>
          <a:ln/>
        </p:spPr>
      </p:sp>
      <p:sp>
        <p:nvSpPr>
          <p:cNvPr id="193" name="Shape 191"/>
          <p:cNvSpPr/>
          <p:nvPr/>
        </p:nvSpPr>
        <p:spPr>
          <a:xfrm>
            <a:off x="7684600" y="4097099"/>
            <a:ext cx="34322" cy="34322"/>
          </a:xfrm>
          <a:prstGeom prst="ellipse">
            <a:avLst/>
          </a:prstGeom>
          <a:solidFill>
            <a:srgbClr val="8A94A6">
              <a:alpha val="65000"/>
            </a:srgbClr>
          </a:solidFill>
          <a:ln/>
        </p:spPr>
      </p:sp>
      <p:sp>
        <p:nvSpPr>
          <p:cNvPr id="194" name="Shape 192"/>
          <p:cNvSpPr/>
          <p:nvPr/>
        </p:nvSpPr>
        <p:spPr>
          <a:xfrm>
            <a:off x="10597785" y="2890939"/>
            <a:ext cx="32602" cy="32602"/>
          </a:xfrm>
          <a:prstGeom prst="ellipse">
            <a:avLst/>
          </a:prstGeom>
          <a:solidFill>
            <a:srgbClr val="8A94A6">
              <a:alpha val="65000"/>
            </a:srgbClr>
          </a:solidFill>
          <a:ln/>
        </p:spPr>
      </p:sp>
      <p:sp>
        <p:nvSpPr>
          <p:cNvPr id="195" name="Shape 193"/>
          <p:cNvSpPr/>
          <p:nvPr/>
        </p:nvSpPr>
        <p:spPr>
          <a:xfrm>
            <a:off x="8321020" y="4923822"/>
            <a:ext cx="39868" cy="39868"/>
          </a:xfrm>
          <a:prstGeom prst="ellipse">
            <a:avLst/>
          </a:prstGeom>
          <a:solidFill>
            <a:srgbClr val="8A94A6">
              <a:alpha val="65000"/>
            </a:srgbClr>
          </a:solidFill>
          <a:ln/>
        </p:spPr>
      </p:sp>
      <p:sp>
        <p:nvSpPr>
          <p:cNvPr id="196" name="Shape 194"/>
          <p:cNvSpPr/>
          <p:nvPr/>
        </p:nvSpPr>
        <p:spPr>
          <a:xfrm>
            <a:off x="9386833" y="5624739"/>
            <a:ext cx="40914" cy="40914"/>
          </a:xfrm>
          <a:prstGeom prst="ellipse">
            <a:avLst/>
          </a:prstGeom>
          <a:solidFill>
            <a:srgbClr val="8A94A6">
              <a:alpha val="65000"/>
            </a:srgbClr>
          </a:solidFill>
          <a:ln/>
        </p:spPr>
      </p:sp>
      <p:sp>
        <p:nvSpPr>
          <p:cNvPr id="197" name="Shape 195"/>
          <p:cNvSpPr/>
          <p:nvPr/>
        </p:nvSpPr>
        <p:spPr>
          <a:xfrm>
            <a:off x="10884292" y="4241641"/>
            <a:ext cx="43754" cy="43754"/>
          </a:xfrm>
          <a:prstGeom prst="ellipse">
            <a:avLst/>
          </a:prstGeom>
          <a:solidFill>
            <a:srgbClr val="8A94A6">
              <a:alpha val="65000"/>
            </a:srgbClr>
          </a:solidFill>
          <a:ln/>
        </p:spPr>
      </p:sp>
      <p:sp>
        <p:nvSpPr>
          <p:cNvPr id="198" name="Shape 196"/>
          <p:cNvSpPr/>
          <p:nvPr/>
        </p:nvSpPr>
        <p:spPr>
          <a:xfrm>
            <a:off x="10983875" y="4058363"/>
            <a:ext cx="44051" cy="44051"/>
          </a:xfrm>
          <a:prstGeom prst="ellipse">
            <a:avLst/>
          </a:prstGeom>
          <a:solidFill>
            <a:srgbClr val="8A94A6">
              <a:alpha val="65000"/>
            </a:srgbClr>
          </a:solidFill>
          <a:ln/>
        </p:spPr>
      </p:sp>
      <p:sp>
        <p:nvSpPr>
          <p:cNvPr id="199" name="Shape 197"/>
          <p:cNvSpPr/>
          <p:nvPr/>
        </p:nvSpPr>
        <p:spPr>
          <a:xfrm>
            <a:off x="10643512" y="4378065"/>
            <a:ext cx="41229" cy="41229"/>
          </a:xfrm>
          <a:prstGeom prst="ellipse">
            <a:avLst/>
          </a:prstGeom>
          <a:solidFill>
            <a:srgbClr val="8A94A6">
              <a:alpha val="65000"/>
            </a:srgbClr>
          </a:solidFill>
          <a:ln/>
        </p:spPr>
      </p:sp>
      <p:sp>
        <p:nvSpPr>
          <p:cNvPr id="200" name="Shape 198"/>
          <p:cNvSpPr/>
          <p:nvPr/>
        </p:nvSpPr>
        <p:spPr>
          <a:xfrm>
            <a:off x="7472088" y="2209514"/>
            <a:ext cx="29939" cy="29939"/>
          </a:xfrm>
          <a:prstGeom prst="ellipse">
            <a:avLst/>
          </a:prstGeom>
          <a:solidFill>
            <a:srgbClr val="8A94A6">
              <a:alpha val="65000"/>
            </a:srgbClr>
          </a:solidFill>
          <a:ln/>
        </p:spPr>
      </p:sp>
      <p:sp>
        <p:nvSpPr>
          <p:cNvPr id="201" name="Shape 199"/>
          <p:cNvSpPr/>
          <p:nvPr/>
        </p:nvSpPr>
        <p:spPr>
          <a:xfrm>
            <a:off x="11007757" y="3896582"/>
            <a:ext cx="39866" cy="39866"/>
          </a:xfrm>
          <a:prstGeom prst="ellipse">
            <a:avLst/>
          </a:prstGeom>
          <a:solidFill>
            <a:srgbClr val="8A94A6">
              <a:alpha val="65000"/>
            </a:srgbClr>
          </a:solidFill>
          <a:ln/>
        </p:spPr>
      </p:sp>
      <p:sp>
        <p:nvSpPr>
          <p:cNvPr id="202" name="Shape 200"/>
          <p:cNvSpPr/>
          <p:nvPr/>
        </p:nvSpPr>
        <p:spPr>
          <a:xfrm>
            <a:off x="9207272" y="5238753"/>
            <a:ext cx="40221" cy="40221"/>
          </a:xfrm>
          <a:prstGeom prst="ellipse">
            <a:avLst/>
          </a:prstGeom>
          <a:solidFill>
            <a:srgbClr val="8A94A6">
              <a:alpha val="65000"/>
            </a:srgbClr>
          </a:solidFill>
          <a:ln/>
        </p:spPr>
      </p:sp>
      <p:sp>
        <p:nvSpPr>
          <p:cNvPr id="203" name="Shape 201"/>
          <p:cNvSpPr/>
          <p:nvPr/>
        </p:nvSpPr>
        <p:spPr>
          <a:xfrm>
            <a:off x="8699284" y="5466765"/>
            <a:ext cx="37389" cy="37389"/>
          </a:xfrm>
          <a:prstGeom prst="ellipse">
            <a:avLst/>
          </a:prstGeom>
          <a:solidFill>
            <a:srgbClr val="8A94A6">
              <a:alpha val="65000"/>
            </a:srgbClr>
          </a:solidFill>
          <a:ln/>
        </p:spPr>
      </p:sp>
      <p:sp>
        <p:nvSpPr>
          <p:cNvPr id="204" name="Shape 202"/>
          <p:cNvSpPr/>
          <p:nvPr/>
        </p:nvSpPr>
        <p:spPr>
          <a:xfrm>
            <a:off x="11051169" y="2229108"/>
            <a:ext cx="41124" cy="41124"/>
          </a:xfrm>
          <a:prstGeom prst="ellipse">
            <a:avLst/>
          </a:prstGeom>
          <a:solidFill>
            <a:srgbClr val="8A94A6">
              <a:alpha val="65000"/>
            </a:srgbClr>
          </a:solidFill>
          <a:ln/>
        </p:spPr>
      </p:sp>
      <p:sp>
        <p:nvSpPr>
          <p:cNvPr id="205" name="Shape 203"/>
          <p:cNvSpPr/>
          <p:nvPr/>
        </p:nvSpPr>
        <p:spPr>
          <a:xfrm>
            <a:off x="10107942" y="1247429"/>
            <a:ext cx="32674" cy="32674"/>
          </a:xfrm>
          <a:prstGeom prst="ellipse">
            <a:avLst/>
          </a:prstGeom>
          <a:solidFill>
            <a:srgbClr val="8A94A6">
              <a:alpha val="65000"/>
            </a:srgbClr>
          </a:solidFill>
          <a:ln/>
        </p:spPr>
      </p:sp>
      <p:sp>
        <p:nvSpPr>
          <p:cNvPr id="206" name="Shape 204"/>
          <p:cNvSpPr/>
          <p:nvPr/>
        </p:nvSpPr>
        <p:spPr>
          <a:xfrm>
            <a:off x="9459869" y="5563634"/>
            <a:ext cx="34985" cy="34985"/>
          </a:xfrm>
          <a:prstGeom prst="ellipse">
            <a:avLst/>
          </a:prstGeom>
          <a:solidFill>
            <a:srgbClr val="8A94A6">
              <a:alpha val="65000"/>
            </a:srgbClr>
          </a:solidFill>
          <a:ln/>
        </p:spPr>
      </p:sp>
      <p:sp>
        <p:nvSpPr>
          <p:cNvPr id="207" name="Shape 205"/>
          <p:cNvSpPr/>
          <p:nvPr/>
        </p:nvSpPr>
        <p:spPr>
          <a:xfrm>
            <a:off x="10889558" y="4047261"/>
            <a:ext cx="45508" cy="45508"/>
          </a:xfrm>
          <a:prstGeom prst="ellipse">
            <a:avLst/>
          </a:prstGeom>
          <a:solidFill>
            <a:srgbClr val="8A94A6">
              <a:alpha val="65000"/>
            </a:srgbClr>
          </a:solidFill>
          <a:ln/>
        </p:spPr>
      </p:sp>
      <p:sp>
        <p:nvSpPr>
          <p:cNvPr id="208" name="Shape 206"/>
          <p:cNvSpPr/>
          <p:nvPr/>
        </p:nvSpPr>
        <p:spPr>
          <a:xfrm>
            <a:off x="8159715" y="4801203"/>
            <a:ext cx="28931" cy="28931"/>
          </a:xfrm>
          <a:prstGeom prst="ellipse">
            <a:avLst/>
          </a:prstGeom>
          <a:solidFill>
            <a:srgbClr val="8A94A6">
              <a:alpha val="65000"/>
            </a:srgbClr>
          </a:solidFill>
          <a:ln/>
        </p:spPr>
      </p:sp>
      <p:sp>
        <p:nvSpPr>
          <p:cNvPr id="209" name="Shape 207"/>
          <p:cNvSpPr/>
          <p:nvPr/>
        </p:nvSpPr>
        <p:spPr>
          <a:xfrm>
            <a:off x="7054474" y="2999163"/>
            <a:ext cx="35722" cy="35722"/>
          </a:xfrm>
          <a:prstGeom prst="ellipse">
            <a:avLst/>
          </a:prstGeom>
          <a:solidFill>
            <a:srgbClr val="8A94A6">
              <a:alpha val="65000"/>
            </a:srgbClr>
          </a:solidFill>
          <a:ln/>
        </p:spPr>
      </p:sp>
      <p:sp>
        <p:nvSpPr>
          <p:cNvPr id="210" name="Shape 208"/>
          <p:cNvSpPr/>
          <p:nvPr/>
        </p:nvSpPr>
        <p:spPr>
          <a:xfrm>
            <a:off x="8240822" y="5107937"/>
            <a:ext cx="37097" cy="37097"/>
          </a:xfrm>
          <a:prstGeom prst="ellipse">
            <a:avLst/>
          </a:prstGeom>
          <a:solidFill>
            <a:srgbClr val="8A94A6">
              <a:alpha val="65000"/>
            </a:srgbClr>
          </a:solidFill>
          <a:ln/>
        </p:spPr>
      </p:sp>
      <p:sp>
        <p:nvSpPr>
          <p:cNvPr id="211" name="Shape 209"/>
          <p:cNvSpPr/>
          <p:nvPr/>
        </p:nvSpPr>
        <p:spPr>
          <a:xfrm>
            <a:off x="10955423" y="2048828"/>
            <a:ext cx="28015" cy="28015"/>
          </a:xfrm>
          <a:prstGeom prst="ellipse">
            <a:avLst/>
          </a:prstGeom>
          <a:solidFill>
            <a:srgbClr val="8A94A6">
              <a:alpha val="65000"/>
            </a:srgbClr>
          </a:solidFill>
          <a:ln/>
        </p:spPr>
      </p:sp>
      <p:sp>
        <p:nvSpPr>
          <p:cNvPr id="212" name="Shape 210"/>
          <p:cNvSpPr/>
          <p:nvPr/>
        </p:nvSpPr>
        <p:spPr>
          <a:xfrm>
            <a:off x="11162246" y="2361886"/>
            <a:ext cx="41685" cy="41685"/>
          </a:xfrm>
          <a:prstGeom prst="ellipse">
            <a:avLst/>
          </a:prstGeom>
          <a:solidFill>
            <a:srgbClr val="8A94A6">
              <a:alpha val="65000"/>
            </a:srgbClr>
          </a:solidFill>
          <a:ln/>
        </p:spPr>
      </p:sp>
      <p:sp>
        <p:nvSpPr>
          <p:cNvPr id="213" name="Shape 211"/>
          <p:cNvSpPr/>
          <p:nvPr/>
        </p:nvSpPr>
        <p:spPr>
          <a:xfrm>
            <a:off x="7927633" y="4815303"/>
            <a:ext cx="31364" cy="31364"/>
          </a:xfrm>
          <a:prstGeom prst="ellipse">
            <a:avLst/>
          </a:prstGeom>
          <a:solidFill>
            <a:srgbClr val="8A94A6">
              <a:alpha val="65000"/>
            </a:srgbClr>
          </a:solidFill>
          <a:ln/>
        </p:spPr>
      </p:sp>
      <p:sp>
        <p:nvSpPr>
          <p:cNvPr id="214" name="Shape 212"/>
          <p:cNvSpPr/>
          <p:nvPr/>
        </p:nvSpPr>
        <p:spPr>
          <a:xfrm>
            <a:off x="9498330" y="1150684"/>
            <a:ext cx="26991" cy="26991"/>
          </a:xfrm>
          <a:prstGeom prst="ellipse">
            <a:avLst/>
          </a:prstGeom>
          <a:solidFill>
            <a:srgbClr val="8A94A6">
              <a:alpha val="65000"/>
            </a:srgbClr>
          </a:solidFill>
          <a:ln/>
        </p:spPr>
      </p:sp>
      <p:sp>
        <p:nvSpPr>
          <p:cNvPr id="215" name="Shape 213"/>
          <p:cNvSpPr/>
          <p:nvPr/>
        </p:nvSpPr>
        <p:spPr>
          <a:xfrm>
            <a:off x="7548070" y="4622094"/>
            <a:ext cx="26018" cy="26018"/>
          </a:xfrm>
          <a:prstGeom prst="ellipse">
            <a:avLst/>
          </a:prstGeom>
          <a:solidFill>
            <a:srgbClr val="8A94A6">
              <a:alpha val="65000"/>
            </a:srgbClr>
          </a:solidFill>
          <a:ln/>
        </p:spPr>
      </p:sp>
      <p:sp>
        <p:nvSpPr>
          <p:cNvPr id="216" name="Shape 214"/>
          <p:cNvSpPr/>
          <p:nvPr/>
        </p:nvSpPr>
        <p:spPr>
          <a:xfrm>
            <a:off x="11307718" y="2441525"/>
            <a:ext cx="37492" cy="37492"/>
          </a:xfrm>
          <a:prstGeom prst="ellipse">
            <a:avLst/>
          </a:prstGeom>
          <a:solidFill>
            <a:srgbClr val="8A94A6">
              <a:alpha val="65000"/>
            </a:srgbClr>
          </a:solidFill>
          <a:ln/>
        </p:spPr>
      </p:sp>
      <p:sp>
        <p:nvSpPr>
          <p:cNvPr id="217" name="Shape 215"/>
          <p:cNvSpPr/>
          <p:nvPr/>
        </p:nvSpPr>
        <p:spPr>
          <a:xfrm>
            <a:off x="10017511" y="1602133"/>
            <a:ext cx="41407" cy="41407"/>
          </a:xfrm>
          <a:prstGeom prst="ellipse">
            <a:avLst/>
          </a:prstGeom>
          <a:solidFill>
            <a:srgbClr val="8A94A6">
              <a:alpha val="65000"/>
            </a:srgbClr>
          </a:solidFill>
          <a:ln/>
        </p:spPr>
      </p:sp>
      <p:sp>
        <p:nvSpPr>
          <p:cNvPr id="218" name="Shape 216"/>
          <p:cNvSpPr/>
          <p:nvPr/>
        </p:nvSpPr>
        <p:spPr>
          <a:xfrm>
            <a:off x="7971638" y="5493815"/>
            <a:ext cx="24483" cy="24483"/>
          </a:xfrm>
          <a:prstGeom prst="ellipse">
            <a:avLst/>
          </a:prstGeom>
          <a:solidFill>
            <a:srgbClr val="8A94A6">
              <a:alpha val="65000"/>
            </a:srgbClr>
          </a:solidFill>
          <a:ln/>
        </p:spPr>
      </p:sp>
      <p:sp>
        <p:nvSpPr>
          <p:cNvPr id="219" name="Shape 217"/>
          <p:cNvSpPr/>
          <p:nvPr/>
        </p:nvSpPr>
        <p:spPr>
          <a:xfrm>
            <a:off x="7621839" y="4292430"/>
            <a:ext cx="28718" cy="28718"/>
          </a:xfrm>
          <a:prstGeom prst="ellipse">
            <a:avLst/>
          </a:prstGeom>
          <a:solidFill>
            <a:srgbClr val="8A94A6">
              <a:alpha val="65000"/>
            </a:srgbClr>
          </a:solidFill>
          <a:ln/>
        </p:spPr>
      </p:sp>
      <p:sp>
        <p:nvSpPr>
          <p:cNvPr id="220" name="Shape 218"/>
          <p:cNvSpPr/>
          <p:nvPr/>
        </p:nvSpPr>
        <p:spPr>
          <a:xfrm>
            <a:off x="7408767" y="2661348"/>
            <a:ext cx="27488" cy="27488"/>
          </a:xfrm>
          <a:prstGeom prst="ellipse">
            <a:avLst/>
          </a:prstGeom>
          <a:solidFill>
            <a:srgbClr val="8A94A6">
              <a:alpha val="65000"/>
            </a:srgbClr>
          </a:solidFill>
          <a:ln/>
        </p:spPr>
      </p:sp>
      <p:sp>
        <p:nvSpPr>
          <p:cNvPr id="221" name="Shape 219"/>
          <p:cNvSpPr/>
          <p:nvPr/>
        </p:nvSpPr>
        <p:spPr>
          <a:xfrm>
            <a:off x="7445970" y="3159019"/>
            <a:ext cx="38882" cy="38882"/>
          </a:xfrm>
          <a:prstGeom prst="ellipse">
            <a:avLst/>
          </a:prstGeom>
          <a:solidFill>
            <a:srgbClr val="8A94A6">
              <a:alpha val="65000"/>
            </a:srgbClr>
          </a:solidFill>
          <a:ln/>
        </p:spPr>
      </p:sp>
      <p:sp>
        <p:nvSpPr>
          <p:cNvPr id="222" name="Shape 220"/>
          <p:cNvSpPr/>
          <p:nvPr/>
        </p:nvSpPr>
        <p:spPr>
          <a:xfrm>
            <a:off x="7719743" y="5357024"/>
            <a:ext cx="38263" cy="38263"/>
          </a:xfrm>
          <a:prstGeom prst="ellipse">
            <a:avLst/>
          </a:prstGeom>
          <a:solidFill>
            <a:srgbClr val="8A94A6">
              <a:alpha val="65000"/>
            </a:srgbClr>
          </a:solidFill>
          <a:ln/>
        </p:spPr>
      </p:sp>
      <p:sp>
        <p:nvSpPr>
          <p:cNvPr id="223" name="Shape 221"/>
          <p:cNvSpPr/>
          <p:nvPr/>
        </p:nvSpPr>
        <p:spPr>
          <a:xfrm>
            <a:off x="7896924" y="1814262"/>
            <a:ext cx="25673" cy="25673"/>
          </a:xfrm>
          <a:prstGeom prst="ellipse">
            <a:avLst/>
          </a:prstGeom>
          <a:solidFill>
            <a:srgbClr val="8A94A6">
              <a:alpha val="65000"/>
            </a:srgbClr>
          </a:solidFill>
          <a:ln/>
        </p:spPr>
      </p:sp>
      <p:sp>
        <p:nvSpPr>
          <p:cNvPr id="224" name="Shape 222"/>
          <p:cNvSpPr/>
          <p:nvPr/>
        </p:nvSpPr>
        <p:spPr>
          <a:xfrm>
            <a:off x="7422605" y="4187155"/>
            <a:ext cx="37375" cy="37375"/>
          </a:xfrm>
          <a:prstGeom prst="ellipse">
            <a:avLst/>
          </a:prstGeom>
          <a:solidFill>
            <a:srgbClr val="8A94A6">
              <a:alpha val="65000"/>
            </a:srgbClr>
          </a:solidFill>
          <a:ln/>
        </p:spPr>
      </p:sp>
      <p:sp>
        <p:nvSpPr>
          <p:cNvPr id="225" name="Shape 223"/>
          <p:cNvSpPr/>
          <p:nvPr/>
        </p:nvSpPr>
        <p:spPr>
          <a:xfrm>
            <a:off x="11183680" y="2330493"/>
            <a:ext cx="29389" cy="29389"/>
          </a:xfrm>
          <a:prstGeom prst="ellipse">
            <a:avLst/>
          </a:prstGeom>
          <a:solidFill>
            <a:srgbClr val="8A94A6">
              <a:alpha val="65000"/>
            </a:srgbClr>
          </a:solidFill>
          <a:ln/>
        </p:spPr>
      </p:sp>
      <p:sp>
        <p:nvSpPr>
          <p:cNvPr id="226" name="Shape 224"/>
          <p:cNvSpPr/>
          <p:nvPr/>
        </p:nvSpPr>
        <p:spPr>
          <a:xfrm>
            <a:off x="7463379" y="3272354"/>
            <a:ext cx="39367" cy="39367"/>
          </a:xfrm>
          <a:prstGeom prst="ellipse">
            <a:avLst/>
          </a:prstGeom>
          <a:solidFill>
            <a:srgbClr val="8A94A6">
              <a:alpha val="65000"/>
            </a:srgbClr>
          </a:solidFill>
          <a:ln/>
        </p:spPr>
      </p:sp>
      <p:sp>
        <p:nvSpPr>
          <p:cNvPr id="227" name="Shape 225"/>
          <p:cNvSpPr/>
          <p:nvPr/>
        </p:nvSpPr>
        <p:spPr>
          <a:xfrm>
            <a:off x="11151080" y="2202193"/>
            <a:ext cx="40664" cy="40664"/>
          </a:xfrm>
          <a:prstGeom prst="ellipse">
            <a:avLst/>
          </a:prstGeom>
          <a:solidFill>
            <a:srgbClr val="8A94A6">
              <a:alpha val="65000"/>
            </a:srgbClr>
          </a:solidFill>
          <a:ln/>
        </p:spPr>
      </p:sp>
      <p:sp>
        <p:nvSpPr>
          <p:cNvPr id="228" name="Shape 226"/>
          <p:cNvSpPr/>
          <p:nvPr/>
        </p:nvSpPr>
        <p:spPr>
          <a:xfrm>
            <a:off x="6792368" y="2633995"/>
            <a:ext cx="43121" cy="43121"/>
          </a:xfrm>
          <a:prstGeom prst="ellipse">
            <a:avLst/>
          </a:prstGeom>
          <a:solidFill>
            <a:srgbClr val="8A94A6">
              <a:alpha val="65000"/>
            </a:srgbClr>
          </a:solidFill>
          <a:ln/>
        </p:spPr>
      </p:sp>
      <p:sp>
        <p:nvSpPr>
          <p:cNvPr id="229" name="Shape 227"/>
          <p:cNvSpPr/>
          <p:nvPr/>
        </p:nvSpPr>
        <p:spPr>
          <a:xfrm>
            <a:off x="6846388" y="2869462"/>
            <a:ext cx="24937" cy="24937"/>
          </a:xfrm>
          <a:prstGeom prst="ellipse">
            <a:avLst/>
          </a:prstGeom>
          <a:solidFill>
            <a:srgbClr val="8A94A6">
              <a:alpha val="65000"/>
            </a:srgbClr>
          </a:solidFill>
          <a:ln/>
        </p:spPr>
      </p:sp>
      <p:sp>
        <p:nvSpPr>
          <p:cNvPr id="230" name="Shape 228"/>
          <p:cNvSpPr/>
          <p:nvPr/>
        </p:nvSpPr>
        <p:spPr>
          <a:xfrm>
            <a:off x="9727661" y="5038115"/>
            <a:ext cx="26946" cy="26946"/>
          </a:xfrm>
          <a:prstGeom prst="ellipse">
            <a:avLst/>
          </a:prstGeom>
          <a:solidFill>
            <a:srgbClr val="8A94A6">
              <a:alpha val="65000"/>
            </a:srgbClr>
          </a:solidFill>
          <a:ln/>
        </p:spPr>
      </p:sp>
      <p:sp>
        <p:nvSpPr>
          <p:cNvPr id="231" name="Shape 229"/>
          <p:cNvSpPr/>
          <p:nvPr/>
        </p:nvSpPr>
        <p:spPr>
          <a:xfrm>
            <a:off x="9565180" y="5200319"/>
            <a:ext cx="38647" cy="38647"/>
          </a:xfrm>
          <a:prstGeom prst="ellipse">
            <a:avLst/>
          </a:prstGeom>
          <a:solidFill>
            <a:srgbClr val="8A94A6">
              <a:alpha val="65000"/>
            </a:srgbClr>
          </a:solidFill>
          <a:ln/>
        </p:spPr>
      </p:sp>
      <p:sp>
        <p:nvSpPr>
          <p:cNvPr id="232" name="Shape 230"/>
          <p:cNvSpPr/>
          <p:nvPr/>
        </p:nvSpPr>
        <p:spPr>
          <a:xfrm>
            <a:off x="7160452" y="3489057"/>
            <a:ext cx="40891" cy="40891"/>
          </a:xfrm>
          <a:prstGeom prst="ellipse">
            <a:avLst/>
          </a:prstGeom>
          <a:solidFill>
            <a:srgbClr val="8A94A6">
              <a:alpha val="65000"/>
            </a:srgbClr>
          </a:solidFill>
          <a:ln/>
        </p:spPr>
      </p:sp>
      <p:sp>
        <p:nvSpPr>
          <p:cNvPr id="233" name="Shape 231"/>
          <p:cNvSpPr/>
          <p:nvPr/>
        </p:nvSpPr>
        <p:spPr>
          <a:xfrm>
            <a:off x="7968525" y="5255169"/>
            <a:ext cx="30107" cy="30107"/>
          </a:xfrm>
          <a:prstGeom prst="ellipse">
            <a:avLst/>
          </a:prstGeom>
          <a:solidFill>
            <a:srgbClr val="8A94A6">
              <a:alpha val="65000"/>
            </a:srgbClr>
          </a:solidFill>
          <a:ln/>
        </p:spPr>
      </p:sp>
      <p:sp>
        <p:nvSpPr>
          <p:cNvPr id="234" name="Shape 232"/>
          <p:cNvSpPr/>
          <p:nvPr/>
        </p:nvSpPr>
        <p:spPr>
          <a:xfrm>
            <a:off x="10708615" y="3926919"/>
            <a:ext cx="41932" cy="41932"/>
          </a:xfrm>
          <a:prstGeom prst="ellipse">
            <a:avLst/>
          </a:prstGeom>
          <a:solidFill>
            <a:srgbClr val="8A94A6">
              <a:alpha val="65000"/>
            </a:srgbClr>
          </a:solidFill>
          <a:ln/>
        </p:spPr>
      </p:sp>
      <p:sp>
        <p:nvSpPr>
          <p:cNvPr id="235" name="Shape 233"/>
          <p:cNvSpPr/>
          <p:nvPr/>
        </p:nvSpPr>
        <p:spPr>
          <a:xfrm>
            <a:off x="7196249" y="3324725"/>
            <a:ext cx="37392" cy="37392"/>
          </a:xfrm>
          <a:prstGeom prst="ellipse">
            <a:avLst/>
          </a:prstGeom>
          <a:solidFill>
            <a:srgbClr val="8A94A6">
              <a:alpha val="65000"/>
            </a:srgbClr>
          </a:solidFill>
          <a:ln/>
        </p:spPr>
      </p:sp>
      <p:sp>
        <p:nvSpPr>
          <p:cNvPr id="236" name="Shape 234"/>
          <p:cNvSpPr/>
          <p:nvPr/>
        </p:nvSpPr>
        <p:spPr>
          <a:xfrm>
            <a:off x="10965078" y="2069561"/>
            <a:ext cx="24987" cy="24987"/>
          </a:xfrm>
          <a:prstGeom prst="ellipse">
            <a:avLst/>
          </a:prstGeom>
          <a:solidFill>
            <a:srgbClr val="8A94A6">
              <a:alpha val="65000"/>
            </a:srgbClr>
          </a:solidFill>
          <a:ln/>
        </p:spPr>
      </p:sp>
      <p:sp>
        <p:nvSpPr>
          <p:cNvPr id="237" name="Shape 235"/>
          <p:cNvSpPr/>
          <p:nvPr/>
        </p:nvSpPr>
        <p:spPr>
          <a:xfrm>
            <a:off x="10440140" y="4538438"/>
            <a:ext cx="41929" cy="41929"/>
          </a:xfrm>
          <a:prstGeom prst="ellipse">
            <a:avLst/>
          </a:prstGeom>
          <a:solidFill>
            <a:srgbClr val="8A94A6">
              <a:alpha val="65000"/>
            </a:srgbClr>
          </a:solidFill>
          <a:ln/>
        </p:spPr>
      </p:sp>
      <p:sp>
        <p:nvSpPr>
          <p:cNvPr id="238" name="Shape 236"/>
          <p:cNvSpPr/>
          <p:nvPr/>
        </p:nvSpPr>
        <p:spPr>
          <a:xfrm>
            <a:off x="9663850" y="5728562"/>
            <a:ext cx="33767" cy="33767"/>
          </a:xfrm>
          <a:prstGeom prst="ellipse">
            <a:avLst/>
          </a:prstGeom>
          <a:solidFill>
            <a:srgbClr val="8A94A6">
              <a:alpha val="65000"/>
            </a:srgbClr>
          </a:solidFill>
          <a:ln/>
        </p:spPr>
      </p:sp>
      <p:sp>
        <p:nvSpPr>
          <p:cNvPr id="239" name="Shape 237"/>
          <p:cNvSpPr/>
          <p:nvPr/>
        </p:nvSpPr>
        <p:spPr>
          <a:xfrm>
            <a:off x="7795086" y="2067352"/>
            <a:ext cx="25800" cy="25800"/>
          </a:xfrm>
          <a:prstGeom prst="ellipse">
            <a:avLst/>
          </a:prstGeom>
          <a:solidFill>
            <a:srgbClr val="8A94A6">
              <a:alpha val="65000"/>
            </a:srgbClr>
          </a:solidFill>
          <a:ln/>
        </p:spPr>
      </p:sp>
      <p:sp>
        <p:nvSpPr>
          <p:cNvPr id="240" name="Shape 238"/>
          <p:cNvSpPr/>
          <p:nvPr/>
        </p:nvSpPr>
        <p:spPr>
          <a:xfrm>
            <a:off x="9760617" y="1530133"/>
            <a:ext cx="26272" cy="26272"/>
          </a:xfrm>
          <a:prstGeom prst="ellipse">
            <a:avLst/>
          </a:prstGeom>
          <a:solidFill>
            <a:srgbClr val="8A94A6">
              <a:alpha val="65000"/>
            </a:srgbClr>
          </a:solidFill>
          <a:ln/>
        </p:spPr>
      </p:sp>
      <p:sp>
        <p:nvSpPr>
          <p:cNvPr id="241" name="Shape 239"/>
          <p:cNvSpPr/>
          <p:nvPr/>
        </p:nvSpPr>
        <p:spPr>
          <a:xfrm>
            <a:off x="7267841" y="3753766"/>
            <a:ext cx="29479" cy="29479"/>
          </a:xfrm>
          <a:prstGeom prst="ellipse">
            <a:avLst/>
          </a:prstGeom>
          <a:solidFill>
            <a:srgbClr val="8A94A6">
              <a:alpha val="65000"/>
            </a:srgbClr>
          </a:solidFill>
          <a:ln/>
        </p:spPr>
      </p:sp>
      <p:sp>
        <p:nvSpPr>
          <p:cNvPr id="242" name="Shape 240"/>
          <p:cNvSpPr/>
          <p:nvPr/>
        </p:nvSpPr>
        <p:spPr>
          <a:xfrm>
            <a:off x="11071571" y="4088593"/>
            <a:ext cx="45680" cy="45680"/>
          </a:xfrm>
          <a:prstGeom prst="ellipse">
            <a:avLst/>
          </a:prstGeom>
          <a:solidFill>
            <a:srgbClr val="8A94A6">
              <a:alpha val="65000"/>
            </a:srgbClr>
          </a:solidFill>
          <a:ln/>
        </p:spPr>
      </p:sp>
      <p:sp>
        <p:nvSpPr>
          <p:cNvPr id="243" name="Shape 241"/>
          <p:cNvSpPr/>
          <p:nvPr/>
        </p:nvSpPr>
        <p:spPr>
          <a:xfrm>
            <a:off x="10527079" y="4108920"/>
            <a:ext cx="42118" cy="42118"/>
          </a:xfrm>
          <a:prstGeom prst="ellipse">
            <a:avLst/>
          </a:prstGeom>
          <a:solidFill>
            <a:srgbClr val="8A94A6">
              <a:alpha val="65000"/>
            </a:srgbClr>
          </a:solidFill>
          <a:ln/>
        </p:spPr>
      </p:sp>
      <p:sp>
        <p:nvSpPr>
          <p:cNvPr id="244" name="Shape 242"/>
          <p:cNvSpPr/>
          <p:nvPr/>
        </p:nvSpPr>
        <p:spPr>
          <a:xfrm>
            <a:off x="10625096" y="4931413"/>
            <a:ext cx="33636" cy="33636"/>
          </a:xfrm>
          <a:prstGeom prst="ellipse">
            <a:avLst/>
          </a:prstGeom>
          <a:solidFill>
            <a:srgbClr val="8A94A6">
              <a:alpha val="65000"/>
            </a:srgbClr>
          </a:solidFill>
          <a:ln/>
        </p:spPr>
      </p:sp>
      <p:sp>
        <p:nvSpPr>
          <p:cNvPr id="245" name="Shape 243"/>
          <p:cNvSpPr/>
          <p:nvPr/>
        </p:nvSpPr>
        <p:spPr>
          <a:xfrm>
            <a:off x="11033244" y="4500612"/>
            <a:ext cx="41988" cy="41988"/>
          </a:xfrm>
          <a:prstGeom prst="ellipse">
            <a:avLst/>
          </a:prstGeom>
          <a:solidFill>
            <a:srgbClr val="8A94A6">
              <a:alpha val="65000"/>
            </a:srgbClr>
          </a:solidFill>
          <a:ln/>
        </p:spPr>
      </p:sp>
      <p:sp>
        <p:nvSpPr>
          <p:cNvPr id="246" name="Shape 244"/>
          <p:cNvSpPr/>
          <p:nvPr/>
        </p:nvSpPr>
        <p:spPr>
          <a:xfrm>
            <a:off x="10312344" y="1993666"/>
            <a:ext cx="32709" cy="32709"/>
          </a:xfrm>
          <a:prstGeom prst="ellipse">
            <a:avLst/>
          </a:prstGeom>
          <a:solidFill>
            <a:srgbClr val="8A94A6">
              <a:alpha val="65000"/>
            </a:srgbClr>
          </a:solidFill>
          <a:ln/>
        </p:spPr>
      </p:sp>
      <p:sp>
        <p:nvSpPr>
          <p:cNvPr id="247" name="Shape 245"/>
          <p:cNvSpPr/>
          <p:nvPr/>
        </p:nvSpPr>
        <p:spPr>
          <a:xfrm>
            <a:off x="10668698" y="3145413"/>
            <a:ext cx="40903" cy="40903"/>
          </a:xfrm>
          <a:prstGeom prst="ellipse">
            <a:avLst/>
          </a:prstGeom>
          <a:solidFill>
            <a:srgbClr val="8A94A6">
              <a:alpha val="65000"/>
            </a:srgbClr>
          </a:solidFill>
          <a:ln/>
        </p:spPr>
      </p:sp>
      <p:sp>
        <p:nvSpPr>
          <p:cNvPr id="248" name="Shape 246"/>
          <p:cNvSpPr/>
          <p:nvPr/>
        </p:nvSpPr>
        <p:spPr>
          <a:xfrm>
            <a:off x="9430884" y="1793396"/>
            <a:ext cx="33220" cy="33220"/>
          </a:xfrm>
          <a:prstGeom prst="ellipse">
            <a:avLst/>
          </a:prstGeom>
          <a:solidFill>
            <a:srgbClr val="8A94A6">
              <a:alpha val="65000"/>
            </a:srgbClr>
          </a:solidFill>
          <a:ln/>
        </p:spPr>
      </p:sp>
      <p:sp>
        <p:nvSpPr>
          <p:cNvPr id="249" name="Shape 247"/>
          <p:cNvSpPr/>
          <p:nvPr/>
        </p:nvSpPr>
        <p:spPr>
          <a:xfrm>
            <a:off x="10699591" y="4089492"/>
            <a:ext cx="39302" cy="39302"/>
          </a:xfrm>
          <a:prstGeom prst="ellipse">
            <a:avLst/>
          </a:prstGeom>
          <a:solidFill>
            <a:srgbClr val="8A94A6">
              <a:alpha val="65000"/>
            </a:srgbClr>
          </a:solidFill>
          <a:ln/>
        </p:spPr>
      </p:sp>
      <p:sp>
        <p:nvSpPr>
          <p:cNvPr id="250" name="Shape 248"/>
          <p:cNvSpPr/>
          <p:nvPr/>
        </p:nvSpPr>
        <p:spPr>
          <a:xfrm>
            <a:off x="10940422" y="3602676"/>
            <a:ext cx="30807" cy="30807"/>
          </a:xfrm>
          <a:prstGeom prst="ellipse">
            <a:avLst/>
          </a:prstGeom>
          <a:solidFill>
            <a:srgbClr val="8A94A6">
              <a:alpha val="65000"/>
            </a:srgbClr>
          </a:solidFill>
          <a:ln/>
        </p:spPr>
      </p:sp>
      <p:sp>
        <p:nvSpPr>
          <p:cNvPr id="251" name="Shape 249"/>
          <p:cNvSpPr/>
          <p:nvPr/>
        </p:nvSpPr>
        <p:spPr>
          <a:xfrm>
            <a:off x="7591441" y="4358755"/>
            <a:ext cx="34775" cy="34775"/>
          </a:xfrm>
          <a:prstGeom prst="ellipse">
            <a:avLst/>
          </a:prstGeom>
          <a:solidFill>
            <a:srgbClr val="8A94A6">
              <a:alpha val="65000"/>
            </a:srgbClr>
          </a:solidFill>
          <a:ln/>
        </p:spPr>
      </p:sp>
      <p:sp>
        <p:nvSpPr>
          <p:cNvPr id="252" name="Shape 250"/>
          <p:cNvSpPr/>
          <p:nvPr/>
        </p:nvSpPr>
        <p:spPr>
          <a:xfrm>
            <a:off x="10006506" y="5609200"/>
            <a:ext cx="24744" cy="24744"/>
          </a:xfrm>
          <a:prstGeom prst="ellipse">
            <a:avLst/>
          </a:prstGeom>
          <a:solidFill>
            <a:srgbClr val="8A94A6">
              <a:alpha val="65000"/>
            </a:srgbClr>
          </a:solidFill>
          <a:ln/>
        </p:spPr>
      </p:sp>
      <p:sp>
        <p:nvSpPr>
          <p:cNvPr id="253" name="Shape 251"/>
          <p:cNvSpPr/>
          <p:nvPr/>
        </p:nvSpPr>
        <p:spPr>
          <a:xfrm>
            <a:off x="11305620" y="4054370"/>
            <a:ext cx="41276" cy="41276"/>
          </a:xfrm>
          <a:prstGeom prst="ellipse">
            <a:avLst/>
          </a:prstGeom>
          <a:solidFill>
            <a:srgbClr val="8A94A6">
              <a:alpha val="65000"/>
            </a:srgbClr>
          </a:solidFill>
          <a:ln/>
        </p:spPr>
      </p:sp>
      <p:sp>
        <p:nvSpPr>
          <p:cNvPr id="254" name="Shape 252"/>
          <p:cNvSpPr/>
          <p:nvPr/>
        </p:nvSpPr>
        <p:spPr>
          <a:xfrm>
            <a:off x="7560795" y="3027798"/>
            <a:ext cx="28649" cy="28649"/>
          </a:xfrm>
          <a:prstGeom prst="ellipse">
            <a:avLst/>
          </a:prstGeom>
          <a:solidFill>
            <a:srgbClr val="8A94A6">
              <a:alpha val="65000"/>
            </a:srgbClr>
          </a:solidFill>
          <a:ln/>
        </p:spPr>
      </p:sp>
      <p:sp>
        <p:nvSpPr>
          <p:cNvPr id="255" name="Shape 253"/>
          <p:cNvSpPr/>
          <p:nvPr/>
        </p:nvSpPr>
        <p:spPr>
          <a:xfrm>
            <a:off x="8562558" y="2865846"/>
            <a:ext cx="1071445" cy="1071445"/>
          </a:xfrm>
          <a:prstGeom prst="ellipse">
            <a:avLst/>
          </a:prstGeom>
          <a:noFill/>
          <a:ln w="9525">
            <a:solidFill>
              <a:srgbClr val="34445F"/>
            </a:solidFill>
            <a:prstDash val="solid"/>
          </a:ln>
        </p:spPr>
      </p:sp>
      <p:sp>
        <p:nvSpPr>
          <p:cNvPr id="256" name="Shape 254"/>
          <p:cNvSpPr/>
          <p:nvPr/>
        </p:nvSpPr>
        <p:spPr>
          <a:xfrm>
            <a:off x="8357616" y="2660904"/>
            <a:ext cx="1481328" cy="1481328"/>
          </a:xfrm>
          <a:prstGeom prst="ellipse">
            <a:avLst/>
          </a:prstGeom>
          <a:noFill/>
          <a:ln w="12700">
            <a:solidFill>
              <a:srgbClr val="2A9D8F"/>
            </a:solidFill>
            <a:prstDash val="dash"/>
          </a:ln>
        </p:spPr>
      </p:sp>
      <p:sp>
        <p:nvSpPr>
          <p:cNvPr id="257" name="Shape 255"/>
          <p:cNvSpPr/>
          <p:nvPr/>
        </p:nvSpPr>
        <p:spPr>
          <a:xfrm>
            <a:off x="7965434" y="2268722"/>
            <a:ext cx="2265691" cy="2265691"/>
          </a:xfrm>
          <a:prstGeom prst="ellipse">
            <a:avLst/>
          </a:prstGeom>
          <a:noFill/>
          <a:ln w="12700">
            <a:solidFill>
              <a:srgbClr val="C8553D"/>
            </a:solidFill>
            <a:prstDash val="dash"/>
          </a:ln>
        </p:spPr>
      </p:sp>
      <p:sp>
        <p:nvSpPr>
          <p:cNvPr id="258" name="Shape 256"/>
          <p:cNvSpPr/>
          <p:nvPr/>
        </p:nvSpPr>
        <p:spPr>
          <a:xfrm>
            <a:off x="7098043" y="1401331"/>
            <a:ext cx="4000474" cy="4000474"/>
          </a:xfrm>
          <a:prstGeom prst="ellipse">
            <a:avLst/>
          </a:prstGeom>
          <a:noFill/>
          <a:ln w="28575">
            <a:solidFill>
              <a:srgbClr val="2A9D8F"/>
            </a:solidFill>
            <a:prstDash val="solid"/>
          </a:ln>
        </p:spPr>
      </p:sp>
      <p:sp>
        <p:nvSpPr>
          <p:cNvPr id="259" name="Shape 257"/>
          <p:cNvSpPr/>
          <p:nvPr/>
        </p:nvSpPr>
        <p:spPr>
          <a:xfrm>
            <a:off x="6402263" y="705551"/>
            <a:ext cx="5392034" cy="5392034"/>
          </a:xfrm>
          <a:prstGeom prst="ellipse">
            <a:avLst/>
          </a:prstGeom>
          <a:noFill/>
          <a:ln w="25400">
            <a:solidFill>
              <a:srgbClr val="C8553D"/>
            </a:solidFill>
            <a:prstDash val="solid"/>
          </a:ln>
        </p:spPr>
      </p:sp>
      <p:sp>
        <p:nvSpPr>
          <p:cNvPr id="260" name="Shape 258"/>
          <p:cNvSpPr/>
          <p:nvPr/>
        </p:nvSpPr>
        <p:spPr>
          <a:xfrm>
            <a:off x="8823960" y="3127248"/>
            <a:ext cx="548640" cy="548640"/>
          </a:xfrm>
          <a:prstGeom prst="ellipse">
            <a:avLst/>
          </a:prstGeom>
          <a:solidFill>
            <a:srgbClr val="F2A541">
              <a:alpha val="22000"/>
            </a:srgbClr>
          </a:solidFill>
          <a:ln/>
        </p:spPr>
      </p:sp>
      <p:sp>
        <p:nvSpPr>
          <p:cNvPr id="261" name="Shape 259"/>
          <p:cNvSpPr/>
          <p:nvPr/>
        </p:nvSpPr>
        <p:spPr>
          <a:xfrm>
            <a:off x="8951976" y="3255264"/>
            <a:ext cx="292608" cy="292608"/>
          </a:xfrm>
          <a:prstGeom prst="ellipse">
            <a:avLst/>
          </a:prstGeom>
          <a:solidFill>
            <a:srgbClr val="F2A541"/>
          </a:solidFill>
          <a:ln/>
        </p:spPr>
      </p:sp>
      <p:sp>
        <p:nvSpPr>
          <p:cNvPr id="262" name="Shape 260"/>
          <p:cNvSpPr/>
          <p:nvPr/>
        </p:nvSpPr>
        <p:spPr>
          <a:xfrm flipH="1">
            <a:off x="7459782" y="3826395"/>
            <a:ext cx="1031782" cy="722462"/>
          </a:xfrm>
          <a:prstGeom prst="line">
            <a:avLst/>
          </a:prstGeom>
          <a:noFill/>
          <a:ln w="25400">
            <a:solidFill>
              <a:srgbClr val="2A9D8F"/>
            </a:solidFill>
            <a:prstDash val="solid"/>
            <a:tailEnd type="triangle"/>
          </a:ln>
        </p:spPr>
      </p:sp>
      <p:sp>
        <p:nvSpPr>
          <p:cNvPr id="263" name="Shape 261"/>
          <p:cNvSpPr/>
          <p:nvPr/>
        </p:nvSpPr>
        <p:spPr>
          <a:xfrm>
            <a:off x="10124987" y="3880329"/>
            <a:ext cx="1416714" cy="660625"/>
          </a:xfrm>
          <a:prstGeom prst="line">
            <a:avLst/>
          </a:prstGeom>
          <a:noFill/>
          <a:ln w="25400">
            <a:solidFill>
              <a:srgbClr val="C8553D"/>
            </a:solidFill>
            <a:prstDash val="solid"/>
            <a:tailEnd type="triangle"/>
          </a:ln>
        </p:spPr>
      </p:sp>
      <p:sp>
        <p:nvSpPr>
          <p:cNvPr id="264" name="Shape 262"/>
          <p:cNvSpPr/>
          <p:nvPr/>
        </p:nvSpPr>
        <p:spPr>
          <a:xfrm>
            <a:off x="8427556" y="3762387"/>
            <a:ext cx="128016" cy="128016"/>
          </a:xfrm>
          <a:prstGeom prst="ellipse">
            <a:avLst/>
          </a:prstGeom>
          <a:solidFill>
            <a:srgbClr val="2A9D8F"/>
          </a:solidFill>
          <a:ln w="9525">
            <a:solidFill>
              <a:srgbClr val="FFFFFF"/>
            </a:solidFill>
            <a:prstDash val="solid"/>
          </a:ln>
        </p:spPr>
      </p:sp>
      <p:sp>
        <p:nvSpPr>
          <p:cNvPr id="265" name="Shape 263"/>
          <p:cNvSpPr/>
          <p:nvPr/>
        </p:nvSpPr>
        <p:spPr>
          <a:xfrm>
            <a:off x="10070123" y="3825465"/>
            <a:ext cx="109728" cy="109728"/>
          </a:xfrm>
          <a:prstGeom prst="ellipse">
            <a:avLst/>
          </a:prstGeom>
          <a:solidFill>
            <a:srgbClr val="C8553D"/>
          </a:solidFill>
          <a:ln w="9525">
            <a:solidFill>
              <a:srgbClr val="FFFFFF"/>
            </a:solidFill>
            <a:prstDash val="solid"/>
          </a:ln>
        </p:spPr>
      </p:sp>
      <p:sp>
        <p:nvSpPr>
          <p:cNvPr id="266" name="Shape 264"/>
          <p:cNvSpPr/>
          <p:nvPr/>
        </p:nvSpPr>
        <p:spPr>
          <a:xfrm>
            <a:off x="7368342" y="4457417"/>
            <a:ext cx="182880" cy="182880"/>
          </a:xfrm>
          <a:prstGeom prst="ellipse">
            <a:avLst/>
          </a:prstGeom>
          <a:solidFill>
            <a:srgbClr val="2A9D8F"/>
          </a:solidFill>
          <a:ln w="9525">
            <a:solidFill>
              <a:srgbClr val="FFFFFF"/>
            </a:solidFill>
            <a:prstDash val="solid"/>
          </a:ln>
        </p:spPr>
      </p:sp>
      <p:sp>
        <p:nvSpPr>
          <p:cNvPr id="267" name="Shape 265"/>
          <p:cNvSpPr/>
          <p:nvPr/>
        </p:nvSpPr>
        <p:spPr>
          <a:xfrm>
            <a:off x="11463977" y="4463230"/>
            <a:ext cx="155448" cy="155448"/>
          </a:xfrm>
          <a:prstGeom prst="ellipse">
            <a:avLst/>
          </a:prstGeom>
          <a:solidFill>
            <a:srgbClr val="C8553D"/>
          </a:solidFill>
          <a:ln w="9525">
            <a:solidFill>
              <a:srgbClr val="FFFFFF"/>
            </a:solidFill>
            <a:prstDash val="solid"/>
          </a:ln>
        </p:spPr>
      </p:sp>
      <p:sp>
        <p:nvSpPr>
          <p:cNvPr id="268" name="Shape 266"/>
          <p:cNvSpPr/>
          <p:nvPr/>
        </p:nvSpPr>
        <p:spPr>
          <a:xfrm>
            <a:off x="7564938" y="4425413"/>
            <a:ext cx="64008" cy="64008"/>
          </a:xfrm>
          <a:prstGeom prst="ellipse">
            <a:avLst/>
          </a:prstGeom>
          <a:solidFill>
            <a:srgbClr val="8A94A6"/>
          </a:solidFill>
          <a:ln/>
        </p:spPr>
      </p:sp>
      <p:sp>
        <p:nvSpPr>
          <p:cNvPr id="269" name="Text 267"/>
          <p:cNvSpPr txBox="1"/>
          <p:nvPr/>
        </p:nvSpPr>
        <p:spPr>
          <a:xfrm>
            <a:off x="8869680" y="3584448"/>
            <a:ext cx="457200" cy="182880"/>
          </a:xfrm>
          <a:prstGeom prst="rect">
            <a:avLst/>
          </a:prstGeom>
          <a:noFill/>
          <a:ln/>
        </p:spPr>
        <p:txBody>
          <a:bodyPr wrap="square" lIns="0" tIns="0" rIns="0" bIns="0" rtlCol="0" anchor="t"/>
          <a:lstStyle/>
          <a:p>
            <a:pPr algn="ctr" indent="0" marL="0">
              <a:buNone/>
            </a:pPr>
            <a:r>
              <a:rPr lang="en-US" sz="1000" dirty="0">
                <a:solidFill>
                  <a:srgbClr val="F2A541"/>
                </a:solidFill>
                <a:latin typeface="Calibri" pitchFamily="34" charset="0"/>
                <a:ea typeface="Calibri" pitchFamily="34" charset="-122"/>
                <a:cs typeface="Calibri" pitchFamily="34" charset="-120"/>
              </a:rPr>
              <a:t>Sun</a:t>
            </a:r>
            <a:endParaRPr lang="en-US" sz="1000" dirty="0"/>
          </a:p>
        </p:txBody>
      </p:sp>
      <p:sp>
        <p:nvSpPr>
          <p:cNvPr id="270" name="Text 268"/>
          <p:cNvSpPr txBox="1"/>
          <p:nvPr/>
        </p:nvSpPr>
        <p:spPr>
          <a:xfrm>
            <a:off x="7606086" y="4567145"/>
            <a:ext cx="1737360" cy="384048"/>
          </a:xfrm>
          <a:prstGeom prst="rect">
            <a:avLst/>
          </a:prstGeom>
          <a:noFill/>
          <a:ln/>
        </p:spPr>
        <p:txBody>
          <a:bodyPr wrap="square" lIns="0" tIns="0" rIns="0" bIns="0" rtlCol="0" anchor="t"/>
          <a:lstStyle/>
          <a:p>
            <a:pPr indent="0" marL="0">
              <a:buNone/>
            </a:pPr>
            <a:r>
              <a:rPr lang="en-US" sz="1000" b="1" dirty="0">
                <a:solidFill>
                  <a:srgbClr val="2A9D8F"/>
                </a:solidFill>
                <a:latin typeface="Calibri" pitchFamily="34" charset="0"/>
                <a:ea typeface="Calibri" pitchFamily="34" charset="-122"/>
                <a:cs typeface="Calibri" pitchFamily="34" charset="-120"/>
              </a:rPr>
              <a:t>Earth arrives, year 8,758</a:t>
            </a:r>
            <a:pPr indent="0" marL="0">
              <a:buNone/>
            </a:pPr>
            <a:endParaRPr lang="en-US" sz="1000" dirty="0"/>
          </a:p>
          <a:p>
            <a:pPr indent="0" marL="0">
              <a:buNone/>
            </a:pPr>
            <a:r>
              <a:rPr lang="en-US" sz="1000" dirty="0">
                <a:solidFill>
                  <a:srgbClr val="2A9D8F"/>
                </a:solidFill>
                <a:latin typeface="Calibri" pitchFamily="34" charset="0"/>
                <a:ea typeface="Calibri" pitchFamily="34" charset="-122"/>
                <a:cs typeface="Calibri" pitchFamily="34" charset="-120"/>
              </a:rPr>
              <a:t>2.7006 AU, e = 0.033</a:t>
            </a:r>
            <a:endParaRPr lang="en-US" sz="1000" dirty="0"/>
          </a:p>
        </p:txBody>
      </p:sp>
      <p:sp>
        <p:nvSpPr>
          <p:cNvPr id="271" name="Text 269"/>
          <p:cNvSpPr txBox="1"/>
          <p:nvPr/>
        </p:nvSpPr>
        <p:spPr>
          <a:xfrm>
            <a:off x="9621461" y="4650682"/>
            <a:ext cx="1783080" cy="384048"/>
          </a:xfrm>
          <a:prstGeom prst="rect">
            <a:avLst/>
          </a:prstGeom>
          <a:noFill/>
          <a:ln/>
        </p:spPr>
        <p:txBody>
          <a:bodyPr wrap="square" lIns="0" tIns="0" rIns="0" bIns="0" rtlCol="0" anchor="t"/>
          <a:lstStyle/>
          <a:p>
            <a:pPr algn="r" indent="0" marL="0">
              <a:buNone/>
            </a:pPr>
            <a:r>
              <a:rPr lang="en-US" sz="1000" b="1" dirty="0">
                <a:solidFill>
                  <a:srgbClr val="C8553D"/>
                </a:solidFill>
                <a:latin typeface="Calibri" pitchFamily="34" charset="0"/>
                <a:ea typeface="Calibri" pitchFamily="34" charset="-122"/>
                <a:cs typeface="Calibri" pitchFamily="34" charset="-120"/>
              </a:rPr>
              <a:t>Mars parked, year 5,168</a:t>
            </a:r>
            <a:pPr algn="r" indent="0" marL="0">
              <a:buNone/>
            </a:pPr>
            <a:endParaRPr lang="en-US" sz="1000" dirty="0"/>
          </a:p>
          <a:p>
            <a:pPr algn="r" indent="0" marL="0">
              <a:buNone/>
            </a:pPr>
            <a:r>
              <a:rPr lang="en-US" sz="1000" dirty="0">
                <a:solidFill>
                  <a:srgbClr val="C8553D"/>
                </a:solidFill>
                <a:latin typeface="Calibri" pitchFamily="34" charset="0"/>
                <a:ea typeface="Calibri" pitchFamily="34" charset="-122"/>
                <a:cs typeface="Calibri" pitchFamily="34" charset="-120"/>
              </a:rPr>
              <a:t>3.64 AU</a:t>
            </a:r>
            <a:endParaRPr lang="en-US" sz="1000" dirty="0"/>
          </a:p>
        </p:txBody>
      </p:sp>
      <p:sp>
        <p:nvSpPr>
          <p:cNvPr id="272" name="Text 270"/>
          <p:cNvSpPr txBox="1"/>
          <p:nvPr/>
        </p:nvSpPr>
        <p:spPr>
          <a:xfrm>
            <a:off x="8583004" y="3844683"/>
            <a:ext cx="1188720" cy="182880"/>
          </a:xfrm>
          <a:prstGeom prst="rect">
            <a:avLst/>
          </a:prstGeom>
          <a:noFill/>
          <a:ln/>
        </p:spPr>
        <p:txBody>
          <a:bodyPr wrap="square" lIns="0" tIns="0" rIns="0" bIns="0" rtlCol="0" anchor="t"/>
          <a:lstStyle/>
          <a:p>
            <a:pPr indent="0" marL="0">
              <a:buNone/>
            </a:pPr>
            <a:r>
              <a:rPr lang="en-US" sz="1000" dirty="0">
                <a:solidFill>
                  <a:srgbClr val="2A9D8F"/>
                </a:solidFill>
                <a:latin typeface="Calibri" pitchFamily="34" charset="0"/>
                <a:ea typeface="Calibri" pitchFamily="34" charset="-122"/>
                <a:cs typeface="Calibri" pitchFamily="34" charset="-120"/>
              </a:rPr>
              <a:t>Earth today, 1 AU</a:t>
            </a:r>
            <a:endParaRPr lang="en-US" sz="1000" dirty="0"/>
          </a:p>
        </p:txBody>
      </p:sp>
      <p:sp>
        <p:nvSpPr>
          <p:cNvPr id="273" name="Text 271"/>
          <p:cNvSpPr txBox="1"/>
          <p:nvPr/>
        </p:nvSpPr>
        <p:spPr>
          <a:xfrm>
            <a:off x="10216427" y="3642585"/>
            <a:ext cx="1371600" cy="182880"/>
          </a:xfrm>
          <a:prstGeom prst="rect">
            <a:avLst/>
          </a:prstGeom>
          <a:noFill/>
          <a:ln/>
        </p:spPr>
        <p:txBody>
          <a:bodyPr wrap="square" lIns="0" tIns="0" rIns="0" bIns="0" rtlCol="0" anchor="t"/>
          <a:lstStyle/>
          <a:p>
            <a:pPr indent="0" marL="0">
              <a:buNone/>
            </a:pPr>
            <a:r>
              <a:rPr lang="en-US" sz="1000" dirty="0">
                <a:solidFill>
                  <a:srgbClr val="C8553D"/>
                </a:solidFill>
                <a:latin typeface="Calibri" pitchFamily="34" charset="0"/>
                <a:ea typeface="Calibri" pitchFamily="34" charset="-122"/>
                <a:cs typeface="Calibri" pitchFamily="34" charset="-120"/>
              </a:rPr>
              <a:t>Mars today, 1.52 AU</a:t>
            </a:r>
            <a:endParaRPr lang="en-US" sz="1000" dirty="0"/>
          </a:p>
        </p:txBody>
      </p:sp>
      <p:sp>
        <p:nvSpPr>
          <p:cNvPr id="274" name="Text 272"/>
          <p:cNvSpPr txBox="1"/>
          <p:nvPr/>
        </p:nvSpPr>
        <p:spPr>
          <a:xfrm>
            <a:off x="8275320" y="993953"/>
            <a:ext cx="1645920" cy="182880"/>
          </a:xfrm>
          <a:prstGeom prst="rect">
            <a:avLst/>
          </a:prstGeom>
          <a:noFill/>
          <a:ln/>
        </p:spPr>
        <p:txBody>
          <a:bodyPr wrap="square" lIns="0" tIns="0" rIns="0" bIns="0" rtlCol="0" anchor="t"/>
          <a:lstStyle/>
          <a:p>
            <a:pPr algn="ctr" indent="0" marL="0">
              <a:buNone/>
            </a:pPr>
            <a:r>
              <a:rPr lang="en-US" sz="1000" dirty="0">
                <a:solidFill>
                  <a:srgbClr val="9AA7BA"/>
                </a:solidFill>
                <a:latin typeface="Calibri" pitchFamily="34" charset="0"/>
                <a:ea typeface="Calibri" pitchFamily="34" charset="-122"/>
                <a:cs typeface="Calibri" pitchFamily="34" charset="-120"/>
              </a:rPr>
              <a:t>Asteroid belt 2.1–3.3 AU</a:t>
            </a:r>
            <a:endParaRPr lang="en-US" sz="1000" dirty="0"/>
          </a:p>
        </p:txBody>
      </p:sp>
      <p:sp>
        <p:nvSpPr>
          <p:cNvPr id="275" name="Text 273"/>
          <p:cNvSpPr txBox="1"/>
          <p:nvPr/>
        </p:nvSpPr>
        <p:spPr>
          <a:xfrm>
            <a:off x="8092440" y="5154917"/>
            <a:ext cx="2011680" cy="182880"/>
          </a:xfrm>
          <a:prstGeom prst="rect">
            <a:avLst/>
          </a:prstGeom>
          <a:noFill/>
          <a:ln/>
        </p:spPr>
        <p:txBody>
          <a:bodyPr wrap="square" lIns="0" tIns="0" rIns="0" bIns="0" rtlCol="0" anchor="t"/>
          <a:lstStyle/>
          <a:p>
            <a:pPr algn="ctr" indent="0" marL="0">
              <a:buNone/>
            </a:pPr>
            <a:r>
              <a:rPr lang="en-US" sz="1000" dirty="0">
                <a:solidFill>
                  <a:srgbClr val="2A9D8F"/>
                </a:solidFill>
                <a:latin typeface="Calibri" pitchFamily="34" charset="0"/>
                <a:ea typeface="Calibri" pitchFamily="34" charset="-122"/>
                <a:cs typeface="Calibri" pitchFamily="34" charset="-120"/>
              </a:rPr>
              <a:t>Earth's new orbit sits in the belt</a:t>
            </a:r>
            <a:endParaRPr lang="en-US" sz="1000" dirty="0"/>
          </a:p>
        </p:txBody>
      </p:sp>
      <p:sp>
        <p:nvSpPr>
          <p:cNvPr id="276" name="Shape 274"/>
          <p:cNvSpPr/>
          <p:nvPr/>
        </p:nvSpPr>
        <p:spPr>
          <a:xfrm>
            <a:off x="10744200" y="6327648"/>
            <a:ext cx="740664" cy="914"/>
          </a:xfrm>
          <a:prstGeom prst="line">
            <a:avLst/>
          </a:prstGeom>
          <a:noFill/>
          <a:ln w="15875">
            <a:solidFill>
              <a:srgbClr val="9AA7BA"/>
            </a:solidFill>
            <a:prstDash val="solid"/>
          </a:ln>
        </p:spPr>
      </p:sp>
      <p:sp>
        <p:nvSpPr>
          <p:cNvPr id="277" name="Text 275"/>
          <p:cNvSpPr txBox="1"/>
          <p:nvPr/>
        </p:nvSpPr>
        <p:spPr>
          <a:xfrm>
            <a:off x="10744200" y="6089904"/>
            <a:ext cx="740664" cy="182880"/>
          </a:xfrm>
          <a:prstGeom prst="rect">
            <a:avLst/>
          </a:prstGeom>
          <a:noFill/>
          <a:ln/>
        </p:spPr>
        <p:txBody>
          <a:bodyPr wrap="square" lIns="0" tIns="0" rIns="0" bIns="0" rtlCol="0" anchor="t"/>
          <a:lstStyle/>
          <a:p>
            <a:pPr algn="ctr" indent="0" marL="0">
              <a:buNone/>
            </a:pPr>
            <a:r>
              <a:rPr lang="en-US" sz="1000" dirty="0">
                <a:solidFill>
                  <a:srgbClr val="9AA7BA"/>
                </a:solidFill>
                <a:latin typeface="Calibri" pitchFamily="34" charset="0"/>
                <a:ea typeface="Calibri" pitchFamily="34" charset="-122"/>
                <a:cs typeface="Calibri" pitchFamily="34" charset="-120"/>
              </a:rPr>
              <a:t>1 AU</a:t>
            </a:r>
            <a:endParaRPr lang="en-US" sz="1000" dirty="0"/>
          </a:p>
        </p:txBody>
      </p:sp>
      <p:sp>
        <p:nvSpPr>
          <p:cNvPr id="278" name="Text 276"/>
          <p:cNvSpPr txBox="1"/>
          <p:nvPr/>
        </p:nvSpPr>
        <p:spPr>
          <a:xfrm>
            <a:off x="6172200" y="5998464"/>
            <a:ext cx="4389120" cy="457200"/>
          </a:xfrm>
          <a:prstGeom prst="rect">
            <a:avLst/>
          </a:prstGeom>
          <a:noFill/>
          <a:ln/>
        </p:spPr>
        <p:txBody>
          <a:bodyPr wrap="square" lIns="0" tIns="0" rIns="0" bIns="0" rtlCol="0" anchor="t"/>
          <a:lstStyle/>
          <a:p>
            <a:pPr indent="0" marL="0">
              <a:buNone/>
            </a:pPr>
            <a:r>
              <a:rPr lang="en-US" sz="1000" dirty="0">
                <a:solidFill>
                  <a:srgbClr val="9AA7BA"/>
                </a:solidFill>
                <a:latin typeface="Calibri" pitchFamily="34" charset="0"/>
                <a:ea typeface="Calibri" pitchFamily="34" charset="-122"/>
                <a:cs typeface="Calibri" pitchFamily="34" charset="-120"/>
              </a:rPr>
              <a:t>Orbits to scale. The arrows show the net move; Earth really spirals out over about 4,700 laps of the Sun, Mars over 1,700.</a:t>
            </a:r>
            <a:endParaRPr lang="en-US" sz="1000" dirty="0"/>
          </a:p>
        </p:txBody>
      </p:sp>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AA7B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12064" y="329184"/>
            <a:ext cx="219456" cy="219456"/>
          </a:xfrm>
          <a:prstGeom prst="ellipse">
            <a:avLst/>
          </a:prstGeom>
          <a:noFill/>
          <a:ln w="15875">
            <a:solidFill>
              <a:srgbClr val="A9630A"/>
            </a:solidFill>
            <a:prstDash val="solid"/>
          </a:ln>
        </p:spPr>
      </p:sp>
      <p:sp>
        <p:nvSpPr>
          <p:cNvPr id="3" name="Shape 1"/>
          <p:cNvSpPr/>
          <p:nvPr/>
        </p:nvSpPr>
        <p:spPr>
          <a:xfrm>
            <a:off x="681228" y="347472"/>
            <a:ext cx="73152" cy="73152"/>
          </a:xfrm>
          <a:prstGeom prst="ellipse">
            <a:avLst/>
          </a:prstGeom>
          <a:solidFill>
            <a:srgbClr val="A9630A"/>
          </a:solidFill>
          <a:ln/>
        </p:spPr>
      </p:sp>
      <p:sp>
        <p:nvSpPr>
          <p:cNvPr id="4" name="Text 0"/>
          <p:cNvSpPr/>
          <p:nvPr>
            <p:ph idx="100" type="body" hasCustomPrompt="1"/>
          </p:nvPr>
        </p:nvSpPr>
        <p:spPr>
          <a:xfrm>
            <a:off x="868680" y="310896"/>
            <a:ext cx="10515600" cy="256032"/>
          </a:xfrm>
          <a:prstGeom prst="rect">
            <a:avLst/>
          </a:prstGeom>
          <a:noFill/>
          <a:ln/>
        </p:spPr>
        <p:txBody>
          <a:bodyPr wrap="square" lIns="0" tIns="0" rIns="0" bIns="0" rtlCol="0" anchor="ctr"/>
          <a:lstStyle/>
          <a:p>
            <a:pPr indent="0" marL="0">
              <a:buNone/>
            </a:pPr>
            <a:r>
              <a:rPr lang="en-US" sz="1050" b="1" spc="100" kern="0" dirty="0">
                <a:solidFill>
                  <a:srgbClr val="A9630A"/>
                </a:solidFill>
                <a:latin typeface="Calibri" pitchFamily="34" charset="0"/>
                <a:ea typeface="Calibri" pitchFamily="34" charset="-122"/>
                <a:cs typeface="Calibri" pitchFamily="34" charset="-120"/>
              </a:rPr>
              <a:t>01 · THE VERDICT</a:t>
            </a:r>
            <a:endParaRPr lang="en-US" sz="1050" dirty="0"/>
          </a:p>
        </p:txBody>
      </p:sp>
      <p:sp>
        <p:nvSpPr>
          <p:cNvPr id="5" name="Text 0"/>
          <p:cNvSpPr/>
          <p:nvPr>
            <p:ph idx="101" type="title" hasCustomPrompt="1"/>
          </p:nvPr>
        </p:nvSpPr>
        <p:spPr>
          <a:xfrm>
            <a:off x="502920" y="585216"/>
            <a:ext cx="11183112" cy="512064"/>
          </a:xfrm>
          <a:prstGeom prst="rect">
            <a:avLst/>
          </a:prstGeom>
          <a:noFill/>
          <a:ln/>
        </p:spPr>
        <p:txBody>
          <a:bodyPr wrap="square" lIns="0" tIns="0" rIns="0" bIns="0" rtlCol="0" anchor="ctr"/>
          <a:lstStyle/>
          <a:p>
            <a:pPr indent="0" marL="0">
              <a:buNone/>
            </a:pPr>
            <a:r>
              <a:rPr lang="en-US" sz="2800" b="1" dirty="0">
                <a:solidFill>
                  <a:srgbClr val="1A2233"/>
                </a:solidFill>
                <a:latin typeface="Cambria" pitchFamily="34" charset="0"/>
                <a:ea typeface="Cambria" pitchFamily="34" charset="-122"/>
                <a:cs typeface="Cambria" pitchFamily="34" charset="-120"/>
              </a:rPr>
              <a:t>All six winning conditions hold</a:t>
            </a:r>
            <a:endParaRPr lang="en-US" sz="2800" dirty="0"/>
          </a:p>
        </p:txBody>
      </p:sp>
      <p:sp>
        <p:nvSpPr>
          <p:cNvPr id="6" name="Text 0"/>
          <p:cNvSpPr/>
          <p:nvPr>
            <p:ph idx="102" type="body" hasCustomPrompt="1"/>
          </p:nvPr>
        </p:nvSpPr>
        <p:spPr>
          <a:xfrm>
            <a:off x="502920" y="1115568"/>
            <a:ext cx="11183112" cy="457200"/>
          </a:xfrm>
          <a:prstGeom prst="rect">
            <a:avLst/>
          </a:prstGeom>
          <a:noFill/>
          <a:ln/>
        </p:spPr>
        <p:txBody>
          <a:bodyPr wrap="square" lIns="0" tIns="0" rIns="0" bIns="0" rtlCol="0" anchor="t"/>
          <a:lstStyle/>
          <a:p>
            <a:pPr indent="0" marL="0">
              <a:buNone/>
            </a:pPr>
            <a:r>
              <a:rPr lang="en-US" sz="1250" dirty="0">
                <a:solidFill>
                  <a:srgbClr val="566173"/>
                </a:solidFill>
                <a:latin typeface="Calibri" pitchFamily="34" charset="0"/>
                <a:ea typeface="Calibri" pitchFamily="34" charset="-122"/>
                <a:cs typeface="Calibri" pitchFamily="34" charset="-120"/>
              </a:rPr>
              <a:t>Each condition of the participant guide, measured in the final run (results/summary.json) and checked again from scratch by run.bat verify, which re-runs the benchmarks, the tests, the engine and the studies.</a:t>
            </a:r>
            <a:endParaRPr lang="en-US" sz="1250" dirty="0"/>
          </a:p>
        </p:txBody>
      </p:sp>
      <p:sp>
        <p:nvSpPr>
          <p:cNvPr id="7" name="Shape 5"/>
          <p:cNvSpPr/>
          <p:nvPr/>
        </p:nvSpPr>
        <p:spPr>
          <a:xfrm>
            <a:off x="502920" y="1700784"/>
            <a:ext cx="7269480" cy="640080"/>
          </a:xfrm>
          <a:prstGeom prst="roundRect">
            <a:avLst>
              <a:gd name="adj" fmla="val 11429"/>
            </a:avLst>
          </a:prstGeom>
          <a:solidFill>
            <a:srgbClr val="F1F4F8"/>
          </a:solidFill>
          <a:ln/>
        </p:spPr>
      </p:sp>
      <p:sp>
        <p:nvSpPr>
          <p:cNvPr id="8" name="Text 6"/>
          <p:cNvSpPr/>
          <p:nvPr/>
        </p:nvSpPr>
        <p:spPr>
          <a:xfrm>
            <a:off x="612648" y="1847088"/>
            <a:ext cx="347472" cy="347472"/>
          </a:xfrm>
          <a:prstGeom prst="ellipse">
            <a:avLst/>
          </a:prstGeom>
          <a:solidFill>
            <a:srgbClr val="0B13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097280" y="1792224"/>
            <a:ext cx="2788920" cy="5029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Earth reaches the target orbit within 10,000 years</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required: 2.7 AU by year 10,000</a:t>
            </a:r>
            <a:endParaRPr lang="en-US" sz="1100" dirty="0"/>
          </a:p>
        </p:txBody>
      </p:sp>
      <p:sp>
        <p:nvSpPr>
          <p:cNvPr id="10" name="Text 8"/>
          <p:cNvSpPr txBox="1"/>
          <p:nvPr/>
        </p:nvSpPr>
        <p:spPr>
          <a:xfrm>
            <a:off x="3950208" y="1755648"/>
            <a:ext cx="1874520" cy="566928"/>
          </a:xfrm>
          <a:prstGeom prst="rect">
            <a:avLst/>
          </a:prstGeom>
          <a:noFill/>
          <a:ln/>
        </p:spPr>
        <p:txBody>
          <a:bodyPr wrap="square" lIns="0" tIns="0" rIns="0" bIns="0" rtlCol="0" anchor="t"/>
          <a:lstStyle/>
          <a:p>
            <a:pPr indent="0" marL="0">
              <a:buNone/>
            </a:pPr>
            <a:r>
              <a:rPr lang="en-US" sz="1700" b="1" dirty="0">
                <a:solidFill>
                  <a:srgbClr val="1A2233"/>
                </a:solidFill>
                <a:latin typeface="Calibri" pitchFamily="34" charset="0"/>
                <a:ea typeface="Calibri" pitchFamily="34" charset="-122"/>
                <a:cs typeface="Calibri" pitchFamily="34" charset="-120"/>
              </a:rPr>
              <a:t>year 8,758</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2.7006 AU · 1,242 years to spare</a:t>
            </a:r>
            <a:endParaRPr lang="en-US" sz="1100" dirty="0"/>
          </a:p>
        </p:txBody>
      </p:sp>
      <p:sp>
        <p:nvSpPr>
          <p:cNvPr id="11" name="Shape 9"/>
          <p:cNvSpPr/>
          <p:nvPr/>
        </p:nvSpPr>
        <p:spPr>
          <a:xfrm>
            <a:off x="5897880" y="1975104"/>
            <a:ext cx="1143000" cy="91440"/>
          </a:xfrm>
          <a:prstGeom prst="rect">
            <a:avLst/>
          </a:prstGeom>
          <a:solidFill>
            <a:srgbClr val="D5DCE6"/>
          </a:solidFill>
          <a:ln/>
        </p:spPr>
      </p:sp>
      <p:sp>
        <p:nvSpPr>
          <p:cNvPr id="12" name="Shape 10"/>
          <p:cNvSpPr/>
          <p:nvPr/>
        </p:nvSpPr>
        <p:spPr>
          <a:xfrm>
            <a:off x="5897880" y="1975104"/>
            <a:ext cx="1001051" cy="91440"/>
          </a:xfrm>
          <a:prstGeom prst="rect">
            <a:avLst/>
          </a:prstGeom>
          <a:solidFill>
            <a:srgbClr val="2A9D8F"/>
          </a:solidFill>
          <a:ln/>
        </p:spPr>
      </p:sp>
      <p:sp>
        <p:nvSpPr>
          <p:cNvPr id="13" name="Shape 11"/>
          <p:cNvSpPr/>
          <p:nvPr/>
        </p:nvSpPr>
        <p:spPr>
          <a:xfrm>
            <a:off x="7040880" y="1892808"/>
            <a:ext cx="914" cy="256032"/>
          </a:xfrm>
          <a:prstGeom prst="line">
            <a:avLst/>
          </a:prstGeom>
          <a:noFill/>
          <a:ln w="19050">
            <a:solidFill>
              <a:srgbClr val="C8553D"/>
            </a:solidFill>
            <a:prstDash val="solid"/>
          </a:ln>
        </p:spPr>
      </p:sp>
      <p:sp>
        <p:nvSpPr>
          <p:cNvPr id="14" name="Text 12"/>
          <p:cNvSpPr/>
          <p:nvPr/>
        </p:nvSpPr>
        <p:spPr>
          <a:xfrm>
            <a:off x="7132320" y="1901952"/>
            <a:ext cx="566928" cy="237744"/>
          </a:xfrm>
          <a:prstGeom prst="roundRect">
            <a:avLst>
              <a:gd name="adj" fmla="val 23077"/>
            </a:avLst>
          </a:prstGeom>
          <a:solidFill>
            <a:srgbClr val="E3F3E9"/>
          </a:solidFill>
          <a:ln/>
        </p:spPr>
        <p:txBody>
          <a:bodyPr wrap="square" lIns="0" tIns="0" rIns="0" bIns="0" rtlCol="0" anchor="ctr"/>
          <a:lstStyle/>
          <a:p>
            <a:pPr algn="ctr" indent="0" marL="0">
              <a:buNone/>
            </a:pPr>
            <a:r>
              <a:rPr lang="en-US" sz="1000" b="1" dirty="0">
                <a:solidFill>
                  <a:srgbClr val="2F9E5B"/>
                </a:solidFill>
                <a:latin typeface="Calibri" pitchFamily="34" charset="0"/>
                <a:ea typeface="Calibri" pitchFamily="34" charset="-122"/>
                <a:cs typeface="Calibri" pitchFamily="34" charset="-120"/>
              </a:rPr>
              <a:t>PASS</a:t>
            </a:r>
            <a:endParaRPr lang="en-US" sz="1000" dirty="0"/>
          </a:p>
        </p:txBody>
      </p:sp>
      <p:sp>
        <p:nvSpPr>
          <p:cNvPr id="15" name="Shape 13"/>
          <p:cNvSpPr/>
          <p:nvPr/>
        </p:nvSpPr>
        <p:spPr>
          <a:xfrm>
            <a:off x="502920" y="2404872"/>
            <a:ext cx="7269480" cy="640080"/>
          </a:xfrm>
          <a:prstGeom prst="roundRect">
            <a:avLst>
              <a:gd name="adj" fmla="val 11429"/>
            </a:avLst>
          </a:prstGeom>
          <a:solidFill>
            <a:srgbClr val="F1F4F8"/>
          </a:solidFill>
          <a:ln/>
        </p:spPr>
      </p:sp>
      <p:sp>
        <p:nvSpPr>
          <p:cNvPr id="16" name="Text 14"/>
          <p:cNvSpPr/>
          <p:nvPr/>
        </p:nvSpPr>
        <p:spPr>
          <a:xfrm>
            <a:off x="612648" y="2551176"/>
            <a:ext cx="347472" cy="347472"/>
          </a:xfrm>
          <a:prstGeom prst="ellipse">
            <a:avLst/>
          </a:prstGeom>
          <a:solidFill>
            <a:srgbClr val="0B13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5"/>
          <p:cNvSpPr txBox="1"/>
          <p:nvPr/>
        </p:nvSpPr>
        <p:spPr>
          <a:xfrm>
            <a:off x="1097280" y="2496312"/>
            <a:ext cx="2788920" cy="5029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Every Earth-safety threshold holds all run</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required: all ten, at every 100-day check</a:t>
            </a:r>
            <a:endParaRPr lang="en-US" sz="1100" dirty="0"/>
          </a:p>
        </p:txBody>
      </p:sp>
      <p:sp>
        <p:nvSpPr>
          <p:cNvPr id="18" name="Text 16"/>
          <p:cNvSpPr txBox="1"/>
          <p:nvPr/>
        </p:nvSpPr>
        <p:spPr>
          <a:xfrm>
            <a:off x="3950208" y="2459736"/>
            <a:ext cx="1874520" cy="566928"/>
          </a:xfrm>
          <a:prstGeom prst="rect">
            <a:avLst/>
          </a:prstGeom>
          <a:noFill/>
          <a:ln/>
        </p:spPr>
        <p:txBody>
          <a:bodyPr wrap="square" lIns="0" tIns="0" rIns="0" bIns="0" rtlCol="0" anchor="t"/>
          <a:lstStyle/>
          <a:p>
            <a:pPr indent="0" marL="0">
              <a:buNone/>
            </a:pPr>
            <a:r>
              <a:rPr lang="en-US" sz="1700" b="1" dirty="0">
                <a:solidFill>
                  <a:srgbClr val="1A2233"/>
                </a:solidFill>
                <a:latin typeface="Calibri" pitchFamily="34" charset="0"/>
                <a:ea typeface="Calibri" pitchFamily="34" charset="-122"/>
                <a:cs typeface="Calibri" pitchFamily="34" charset="-120"/>
              </a:rPr>
              <a:t>10 of 10</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held at all 32,686 checks</a:t>
            </a:r>
            <a:endParaRPr lang="en-US" sz="1100" dirty="0"/>
          </a:p>
        </p:txBody>
      </p:sp>
      <p:sp>
        <p:nvSpPr>
          <p:cNvPr id="19" name="Shape 17"/>
          <p:cNvSpPr/>
          <p:nvPr/>
        </p:nvSpPr>
        <p:spPr>
          <a:xfrm>
            <a:off x="5902452" y="2683764"/>
            <a:ext cx="82296" cy="82296"/>
          </a:xfrm>
          <a:prstGeom prst="ellipse">
            <a:avLst/>
          </a:prstGeom>
          <a:solidFill>
            <a:srgbClr val="2F9E5B"/>
          </a:solidFill>
          <a:ln/>
        </p:spPr>
      </p:sp>
      <p:sp>
        <p:nvSpPr>
          <p:cNvPr id="20" name="Shape 18"/>
          <p:cNvSpPr/>
          <p:nvPr/>
        </p:nvSpPr>
        <p:spPr>
          <a:xfrm>
            <a:off x="6016752" y="2683764"/>
            <a:ext cx="82296" cy="82296"/>
          </a:xfrm>
          <a:prstGeom prst="ellipse">
            <a:avLst/>
          </a:prstGeom>
          <a:solidFill>
            <a:srgbClr val="2F9E5B"/>
          </a:solidFill>
          <a:ln/>
        </p:spPr>
      </p:sp>
      <p:sp>
        <p:nvSpPr>
          <p:cNvPr id="21" name="Shape 19"/>
          <p:cNvSpPr/>
          <p:nvPr/>
        </p:nvSpPr>
        <p:spPr>
          <a:xfrm>
            <a:off x="6131052" y="2683764"/>
            <a:ext cx="82296" cy="82296"/>
          </a:xfrm>
          <a:prstGeom prst="ellipse">
            <a:avLst/>
          </a:prstGeom>
          <a:solidFill>
            <a:srgbClr val="2F9E5B"/>
          </a:solidFill>
          <a:ln/>
        </p:spPr>
      </p:sp>
      <p:sp>
        <p:nvSpPr>
          <p:cNvPr id="22" name="Shape 20"/>
          <p:cNvSpPr/>
          <p:nvPr/>
        </p:nvSpPr>
        <p:spPr>
          <a:xfrm>
            <a:off x="6245352" y="2683764"/>
            <a:ext cx="82296" cy="82296"/>
          </a:xfrm>
          <a:prstGeom prst="ellipse">
            <a:avLst/>
          </a:prstGeom>
          <a:solidFill>
            <a:srgbClr val="2F9E5B"/>
          </a:solidFill>
          <a:ln/>
        </p:spPr>
      </p:sp>
      <p:sp>
        <p:nvSpPr>
          <p:cNvPr id="23" name="Shape 21"/>
          <p:cNvSpPr/>
          <p:nvPr/>
        </p:nvSpPr>
        <p:spPr>
          <a:xfrm>
            <a:off x="6359652" y="2683764"/>
            <a:ext cx="82296" cy="82296"/>
          </a:xfrm>
          <a:prstGeom prst="ellipse">
            <a:avLst/>
          </a:prstGeom>
          <a:solidFill>
            <a:srgbClr val="2F9E5B"/>
          </a:solidFill>
          <a:ln/>
        </p:spPr>
      </p:sp>
      <p:sp>
        <p:nvSpPr>
          <p:cNvPr id="24" name="Shape 22"/>
          <p:cNvSpPr/>
          <p:nvPr/>
        </p:nvSpPr>
        <p:spPr>
          <a:xfrm>
            <a:off x="6473952" y="2683764"/>
            <a:ext cx="82296" cy="82296"/>
          </a:xfrm>
          <a:prstGeom prst="ellipse">
            <a:avLst/>
          </a:prstGeom>
          <a:solidFill>
            <a:srgbClr val="2F9E5B"/>
          </a:solidFill>
          <a:ln/>
        </p:spPr>
      </p:sp>
      <p:sp>
        <p:nvSpPr>
          <p:cNvPr id="25" name="Shape 23"/>
          <p:cNvSpPr/>
          <p:nvPr/>
        </p:nvSpPr>
        <p:spPr>
          <a:xfrm>
            <a:off x="6588252" y="2683764"/>
            <a:ext cx="82296" cy="82296"/>
          </a:xfrm>
          <a:prstGeom prst="ellipse">
            <a:avLst/>
          </a:prstGeom>
          <a:solidFill>
            <a:srgbClr val="2F9E5B"/>
          </a:solidFill>
          <a:ln/>
        </p:spPr>
      </p:sp>
      <p:sp>
        <p:nvSpPr>
          <p:cNvPr id="26" name="Shape 24"/>
          <p:cNvSpPr/>
          <p:nvPr/>
        </p:nvSpPr>
        <p:spPr>
          <a:xfrm>
            <a:off x="6702552" y="2683764"/>
            <a:ext cx="82296" cy="82296"/>
          </a:xfrm>
          <a:prstGeom prst="ellipse">
            <a:avLst/>
          </a:prstGeom>
          <a:solidFill>
            <a:srgbClr val="2F9E5B"/>
          </a:solidFill>
          <a:ln/>
        </p:spPr>
      </p:sp>
      <p:sp>
        <p:nvSpPr>
          <p:cNvPr id="27" name="Shape 25"/>
          <p:cNvSpPr/>
          <p:nvPr/>
        </p:nvSpPr>
        <p:spPr>
          <a:xfrm>
            <a:off x="6816852" y="2683764"/>
            <a:ext cx="82296" cy="82296"/>
          </a:xfrm>
          <a:prstGeom prst="ellipse">
            <a:avLst/>
          </a:prstGeom>
          <a:solidFill>
            <a:srgbClr val="2F9E5B"/>
          </a:solidFill>
          <a:ln/>
        </p:spPr>
      </p:sp>
      <p:sp>
        <p:nvSpPr>
          <p:cNvPr id="28" name="Shape 26"/>
          <p:cNvSpPr/>
          <p:nvPr/>
        </p:nvSpPr>
        <p:spPr>
          <a:xfrm>
            <a:off x="6931152" y="2683764"/>
            <a:ext cx="82296" cy="82296"/>
          </a:xfrm>
          <a:prstGeom prst="ellipse">
            <a:avLst/>
          </a:prstGeom>
          <a:solidFill>
            <a:srgbClr val="2F9E5B"/>
          </a:solidFill>
          <a:ln/>
        </p:spPr>
      </p:sp>
      <p:sp>
        <p:nvSpPr>
          <p:cNvPr id="29" name="Text 27"/>
          <p:cNvSpPr/>
          <p:nvPr/>
        </p:nvSpPr>
        <p:spPr>
          <a:xfrm>
            <a:off x="7132320" y="2606040"/>
            <a:ext cx="566928" cy="237744"/>
          </a:xfrm>
          <a:prstGeom prst="roundRect">
            <a:avLst>
              <a:gd name="adj" fmla="val 23077"/>
            </a:avLst>
          </a:prstGeom>
          <a:solidFill>
            <a:srgbClr val="E3F3E9"/>
          </a:solidFill>
          <a:ln/>
        </p:spPr>
        <p:txBody>
          <a:bodyPr wrap="square" lIns="0" tIns="0" rIns="0" bIns="0" rtlCol="0" anchor="ctr"/>
          <a:lstStyle/>
          <a:p>
            <a:pPr algn="ctr" indent="0" marL="0">
              <a:buNone/>
            </a:pPr>
            <a:r>
              <a:rPr lang="en-US" sz="1000" b="1" dirty="0">
                <a:solidFill>
                  <a:srgbClr val="2F9E5B"/>
                </a:solidFill>
                <a:latin typeface="Calibri" pitchFamily="34" charset="0"/>
                <a:ea typeface="Calibri" pitchFamily="34" charset="-122"/>
                <a:cs typeface="Calibri" pitchFamily="34" charset="-120"/>
              </a:rPr>
              <a:t>PASS</a:t>
            </a:r>
            <a:endParaRPr lang="en-US" sz="1000" dirty="0"/>
          </a:p>
        </p:txBody>
      </p:sp>
      <p:sp>
        <p:nvSpPr>
          <p:cNvPr id="30" name="Shape 28"/>
          <p:cNvSpPr/>
          <p:nvPr/>
        </p:nvSpPr>
        <p:spPr>
          <a:xfrm>
            <a:off x="502920" y="3108960"/>
            <a:ext cx="7269480" cy="640080"/>
          </a:xfrm>
          <a:prstGeom prst="roundRect">
            <a:avLst>
              <a:gd name="adj" fmla="val 11429"/>
            </a:avLst>
          </a:prstGeom>
          <a:solidFill>
            <a:srgbClr val="F1F4F8"/>
          </a:solidFill>
          <a:ln/>
        </p:spPr>
      </p:sp>
      <p:sp>
        <p:nvSpPr>
          <p:cNvPr id="31" name="Text 29"/>
          <p:cNvSpPr/>
          <p:nvPr/>
        </p:nvSpPr>
        <p:spPr>
          <a:xfrm>
            <a:off x="612648" y="3255264"/>
            <a:ext cx="347472" cy="347472"/>
          </a:xfrm>
          <a:prstGeom prst="ellipse">
            <a:avLst/>
          </a:prstGeom>
          <a:solidFill>
            <a:srgbClr val="0B13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Text 30"/>
          <p:cNvSpPr txBox="1"/>
          <p:nvPr/>
        </p:nvSpPr>
        <p:spPr>
          <a:xfrm>
            <a:off x="1097280" y="3200400"/>
            <a:ext cx="2788920" cy="5029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Every structural safety factor ≥ 1.5</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sized at each tow's full power cap</a:t>
            </a:r>
            <a:endParaRPr lang="en-US" sz="1100" dirty="0"/>
          </a:p>
        </p:txBody>
      </p:sp>
      <p:sp>
        <p:nvSpPr>
          <p:cNvPr id="33" name="Text 31"/>
          <p:cNvSpPr txBox="1"/>
          <p:nvPr/>
        </p:nvSpPr>
        <p:spPr>
          <a:xfrm>
            <a:off x="3950208" y="3163824"/>
            <a:ext cx="1874520" cy="566928"/>
          </a:xfrm>
          <a:prstGeom prst="rect">
            <a:avLst/>
          </a:prstGeom>
          <a:noFill/>
          <a:ln/>
        </p:spPr>
        <p:txBody>
          <a:bodyPr wrap="square" lIns="0" tIns="0" rIns="0" bIns="0" rtlCol="0" anchor="t"/>
          <a:lstStyle/>
          <a:p>
            <a:pPr indent="0" marL="0">
              <a:buNone/>
            </a:pPr>
            <a:r>
              <a:rPr lang="en-US" sz="1700" b="1" dirty="0">
                <a:solidFill>
                  <a:srgbClr val="1A2233"/>
                </a:solidFill>
                <a:latin typeface="Calibri" pitchFamily="34" charset="0"/>
                <a:ea typeface="Calibri" pitchFamily="34" charset="-122"/>
                <a:cs typeface="Calibri" pitchFamily="34" charset="-120"/>
              </a:rPr>
              <a:t>1.57</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lowest: cables and anchors</a:t>
            </a:r>
            <a:endParaRPr lang="en-US" sz="1100" dirty="0"/>
          </a:p>
        </p:txBody>
      </p:sp>
      <p:sp>
        <p:nvSpPr>
          <p:cNvPr id="34" name="Shape 32"/>
          <p:cNvSpPr/>
          <p:nvPr/>
        </p:nvSpPr>
        <p:spPr>
          <a:xfrm>
            <a:off x="5897880" y="3383280"/>
            <a:ext cx="1143000" cy="91440"/>
          </a:xfrm>
          <a:prstGeom prst="rect">
            <a:avLst/>
          </a:prstGeom>
          <a:solidFill>
            <a:srgbClr val="D5DCE6"/>
          </a:solidFill>
          <a:ln/>
        </p:spPr>
      </p:sp>
      <p:sp>
        <p:nvSpPr>
          <p:cNvPr id="35" name="Shape 33"/>
          <p:cNvSpPr/>
          <p:nvPr/>
        </p:nvSpPr>
        <p:spPr>
          <a:xfrm>
            <a:off x="5897880" y="3383280"/>
            <a:ext cx="899490" cy="91440"/>
          </a:xfrm>
          <a:prstGeom prst="rect">
            <a:avLst/>
          </a:prstGeom>
          <a:solidFill>
            <a:srgbClr val="2F9E5B"/>
          </a:solidFill>
          <a:ln/>
        </p:spPr>
      </p:sp>
      <p:sp>
        <p:nvSpPr>
          <p:cNvPr id="36" name="Shape 34"/>
          <p:cNvSpPr/>
          <p:nvPr/>
        </p:nvSpPr>
        <p:spPr>
          <a:xfrm>
            <a:off x="6755130" y="3300984"/>
            <a:ext cx="914" cy="256032"/>
          </a:xfrm>
          <a:prstGeom prst="line">
            <a:avLst/>
          </a:prstGeom>
          <a:noFill/>
          <a:ln w="19050">
            <a:solidFill>
              <a:srgbClr val="C8553D"/>
            </a:solidFill>
            <a:prstDash val="solid"/>
          </a:ln>
        </p:spPr>
      </p:sp>
      <p:sp>
        <p:nvSpPr>
          <p:cNvPr id="37" name="Text 35"/>
          <p:cNvSpPr/>
          <p:nvPr/>
        </p:nvSpPr>
        <p:spPr>
          <a:xfrm>
            <a:off x="7132320" y="3310128"/>
            <a:ext cx="566928" cy="237744"/>
          </a:xfrm>
          <a:prstGeom prst="roundRect">
            <a:avLst>
              <a:gd name="adj" fmla="val 23077"/>
            </a:avLst>
          </a:prstGeom>
          <a:solidFill>
            <a:srgbClr val="E3F3E9"/>
          </a:solidFill>
          <a:ln/>
        </p:spPr>
        <p:txBody>
          <a:bodyPr wrap="square" lIns="0" tIns="0" rIns="0" bIns="0" rtlCol="0" anchor="ctr"/>
          <a:lstStyle/>
          <a:p>
            <a:pPr algn="ctr" indent="0" marL="0">
              <a:buNone/>
            </a:pPr>
            <a:r>
              <a:rPr lang="en-US" sz="1000" b="1" dirty="0">
                <a:solidFill>
                  <a:srgbClr val="2F9E5B"/>
                </a:solidFill>
                <a:latin typeface="Calibri" pitchFamily="34" charset="0"/>
                <a:ea typeface="Calibri" pitchFamily="34" charset="-122"/>
                <a:cs typeface="Calibri" pitchFamily="34" charset="-120"/>
              </a:rPr>
              <a:t>PASS</a:t>
            </a:r>
            <a:endParaRPr lang="en-US" sz="1000" dirty="0"/>
          </a:p>
        </p:txBody>
      </p:sp>
      <p:sp>
        <p:nvSpPr>
          <p:cNvPr id="38" name="Shape 36"/>
          <p:cNvSpPr/>
          <p:nvPr/>
        </p:nvSpPr>
        <p:spPr>
          <a:xfrm>
            <a:off x="502920" y="3813048"/>
            <a:ext cx="7269480" cy="640080"/>
          </a:xfrm>
          <a:prstGeom prst="roundRect">
            <a:avLst>
              <a:gd name="adj" fmla="val 11429"/>
            </a:avLst>
          </a:prstGeom>
          <a:solidFill>
            <a:srgbClr val="F1F4F8"/>
          </a:solidFill>
          <a:ln/>
        </p:spPr>
      </p:sp>
      <p:sp>
        <p:nvSpPr>
          <p:cNvPr id="39" name="Text 37"/>
          <p:cNvSpPr/>
          <p:nvPr/>
        </p:nvSpPr>
        <p:spPr>
          <a:xfrm>
            <a:off x="612648" y="3959352"/>
            <a:ext cx="347472" cy="347472"/>
          </a:xfrm>
          <a:prstGeom prst="ellipse">
            <a:avLst/>
          </a:prstGeom>
          <a:solidFill>
            <a:srgbClr val="0B13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0" name="Text 38"/>
          <p:cNvSpPr txBox="1"/>
          <p:nvPr/>
        </p:nvSpPr>
        <p:spPr>
          <a:xfrm>
            <a:off x="1097280" y="3904488"/>
            <a:ext cx="2788920" cy="5029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Every applicable benchmark passes</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the guide's ten, inputs changeable</a:t>
            </a:r>
            <a:endParaRPr lang="en-US" sz="1100" dirty="0"/>
          </a:p>
        </p:txBody>
      </p:sp>
      <p:sp>
        <p:nvSpPr>
          <p:cNvPr id="41" name="Text 39"/>
          <p:cNvSpPr txBox="1"/>
          <p:nvPr/>
        </p:nvSpPr>
        <p:spPr>
          <a:xfrm>
            <a:off x="3950208" y="3867912"/>
            <a:ext cx="1874520" cy="566928"/>
          </a:xfrm>
          <a:prstGeom prst="rect">
            <a:avLst/>
          </a:prstGeom>
          <a:noFill/>
          <a:ln/>
        </p:spPr>
        <p:txBody>
          <a:bodyPr wrap="square" lIns="0" tIns="0" rIns="0" bIns="0" rtlCol="0" anchor="t"/>
          <a:lstStyle/>
          <a:p>
            <a:pPr indent="0" marL="0">
              <a:buNone/>
            </a:pPr>
            <a:r>
              <a:rPr lang="en-US" sz="1700" b="1" dirty="0">
                <a:solidFill>
                  <a:srgbClr val="1A2233"/>
                </a:solidFill>
                <a:latin typeface="Calibri" pitchFamily="34" charset="0"/>
                <a:ea typeface="Calibri" pitchFamily="34" charset="-122"/>
                <a:cs typeface="Calibri" pitchFamily="34" charset="-120"/>
              </a:rPr>
              <a:t>10 of 10</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plus our checks X1–X9 and 49 tests</a:t>
            </a:r>
            <a:endParaRPr lang="en-US" sz="1100" dirty="0"/>
          </a:p>
        </p:txBody>
      </p:sp>
      <p:sp>
        <p:nvSpPr>
          <p:cNvPr id="42" name="Shape 40"/>
          <p:cNvSpPr/>
          <p:nvPr/>
        </p:nvSpPr>
        <p:spPr>
          <a:xfrm>
            <a:off x="5907024" y="4091940"/>
            <a:ext cx="82296" cy="82296"/>
          </a:xfrm>
          <a:prstGeom prst="rect">
            <a:avLst/>
          </a:prstGeom>
          <a:solidFill>
            <a:srgbClr val="2F9E5B"/>
          </a:solidFill>
          <a:ln/>
        </p:spPr>
      </p:sp>
      <p:sp>
        <p:nvSpPr>
          <p:cNvPr id="43" name="Shape 41"/>
          <p:cNvSpPr/>
          <p:nvPr/>
        </p:nvSpPr>
        <p:spPr>
          <a:xfrm>
            <a:off x="6021324" y="4091940"/>
            <a:ext cx="82296" cy="82296"/>
          </a:xfrm>
          <a:prstGeom prst="rect">
            <a:avLst/>
          </a:prstGeom>
          <a:solidFill>
            <a:srgbClr val="2F9E5B"/>
          </a:solidFill>
          <a:ln/>
        </p:spPr>
      </p:sp>
      <p:sp>
        <p:nvSpPr>
          <p:cNvPr id="44" name="Shape 42"/>
          <p:cNvSpPr/>
          <p:nvPr/>
        </p:nvSpPr>
        <p:spPr>
          <a:xfrm>
            <a:off x="6135624" y="4091940"/>
            <a:ext cx="82296" cy="82296"/>
          </a:xfrm>
          <a:prstGeom prst="rect">
            <a:avLst/>
          </a:prstGeom>
          <a:solidFill>
            <a:srgbClr val="2F9E5B"/>
          </a:solidFill>
          <a:ln/>
        </p:spPr>
      </p:sp>
      <p:sp>
        <p:nvSpPr>
          <p:cNvPr id="45" name="Shape 43"/>
          <p:cNvSpPr/>
          <p:nvPr/>
        </p:nvSpPr>
        <p:spPr>
          <a:xfrm>
            <a:off x="6249924" y="4091940"/>
            <a:ext cx="82296" cy="82296"/>
          </a:xfrm>
          <a:prstGeom prst="rect">
            <a:avLst/>
          </a:prstGeom>
          <a:solidFill>
            <a:srgbClr val="2F9E5B"/>
          </a:solidFill>
          <a:ln/>
        </p:spPr>
      </p:sp>
      <p:sp>
        <p:nvSpPr>
          <p:cNvPr id="46" name="Shape 44"/>
          <p:cNvSpPr/>
          <p:nvPr/>
        </p:nvSpPr>
        <p:spPr>
          <a:xfrm>
            <a:off x="6364224" y="4091940"/>
            <a:ext cx="82296" cy="82296"/>
          </a:xfrm>
          <a:prstGeom prst="rect">
            <a:avLst/>
          </a:prstGeom>
          <a:solidFill>
            <a:srgbClr val="2F9E5B"/>
          </a:solidFill>
          <a:ln/>
        </p:spPr>
      </p:sp>
      <p:sp>
        <p:nvSpPr>
          <p:cNvPr id="47" name="Shape 45"/>
          <p:cNvSpPr/>
          <p:nvPr/>
        </p:nvSpPr>
        <p:spPr>
          <a:xfrm>
            <a:off x="6478524" y="4091940"/>
            <a:ext cx="82296" cy="82296"/>
          </a:xfrm>
          <a:prstGeom prst="rect">
            <a:avLst/>
          </a:prstGeom>
          <a:solidFill>
            <a:srgbClr val="2F9E5B"/>
          </a:solidFill>
          <a:ln/>
        </p:spPr>
      </p:sp>
      <p:sp>
        <p:nvSpPr>
          <p:cNvPr id="48" name="Shape 46"/>
          <p:cNvSpPr/>
          <p:nvPr/>
        </p:nvSpPr>
        <p:spPr>
          <a:xfrm>
            <a:off x="6592824" y="4091940"/>
            <a:ext cx="82296" cy="82296"/>
          </a:xfrm>
          <a:prstGeom prst="rect">
            <a:avLst/>
          </a:prstGeom>
          <a:solidFill>
            <a:srgbClr val="2F9E5B"/>
          </a:solidFill>
          <a:ln/>
        </p:spPr>
      </p:sp>
      <p:sp>
        <p:nvSpPr>
          <p:cNvPr id="49" name="Shape 47"/>
          <p:cNvSpPr/>
          <p:nvPr/>
        </p:nvSpPr>
        <p:spPr>
          <a:xfrm>
            <a:off x="6707124" y="4091940"/>
            <a:ext cx="82296" cy="82296"/>
          </a:xfrm>
          <a:prstGeom prst="rect">
            <a:avLst/>
          </a:prstGeom>
          <a:solidFill>
            <a:srgbClr val="2F9E5B"/>
          </a:solidFill>
          <a:ln/>
        </p:spPr>
      </p:sp>
      <p:sp>
        <p:nvSpPr>
          <p:cNvPr id="50" name="Shape 48"/>
          <p:cNvSpPr/>
          <p:nvPr/>
        </p:nvSpPr>
        <p:spPr>
          <a:xfrm>
            <a:off x="6821424" y="4091940"/>
            <a:ext cx="82296" cy="82296"/>
          </a:xfrm>
          <a:prstGeom prst="rect">
            <a:avLst/>
          </a:prstGeom>
          <a:solidFill>
            <a:srgbClr val="2F9E5B"/>
          </a:solidFill>
          <a:ln/>
        </p:spPr>
      </p:sp>
      <p:sp>
        <p:nvSpPr>
          <p:cNvPr id="51" name="Shape 49"/>
          <p:cNvSpPr/>
          <p:nvPr/>
        </p:nvSpPr>
        <p:spPr>
          <a:xfrm>
            <a:off x="6935724" y="4091940"/>
            <a:ext cx="82296" cy="82296"/>
          </a:xfrm>
          <a:prstGeom prst="rect">
            <a:avLst/>
          </a:prstGeom>
          <a:solidFill>
            <a:srgbClr val="2F9E5B"/>
          </a:solidFill>
          <a:ln/>
        </p:spPr>
      </p:sp>
      <p:sp>
        <p:nvSpPr>
          <p:cNvPr id="52" name="Text 50"/>
          <p:cNvSpPr/>
          <p:nvPr/>
        </p:nvSpPr>
        <p:spPr>
          <a:xfrm>
            <a:off x="7132320" y="4014216"/>
            <a:ext cx="566928" cy="237744"/>
          </a:xfrm>
          <a:prstGeom prst="roundRect">
            <a:avLst>
              <a:gd name="adj" fmla="val 23077"/>
            </a:avLst>
          </a:prstGeom>
          <a:solidFill>
            <a:srgbClr val="E3F3E9"/>
          </a:solidFill>
          <a:ln/>
        </p:spPr>
        <p:txBody>
          <a:bodyPr wrap="square" lIns="0" tIns="0" rIns="0" bIns="0" rtlCol="0" anchor="ctr"/>
          <a:lstStyle/>
          <a:p>
            <a:pPr algn="ctr" indent="0" marL="0">
              <a:buNone/>
            </a:pPr>
            <a:r>
              <a:rPr lang="en-US" sz="1000" b="1" dirty="0">
                <a:solidFill>
                  <a:srgbClr val="2F9E5B"/>
                </a:solidFill>
                <a:latin typeface="Calibri" pitchFamily="34" charset="0"/>
                <a:ea typeface="Calibri" pitchFamily="34" charset="-122"/>
                <a:cs typeface="Calibri" pitchFamily="34" charset="-120"/>
              </a:rPr>
              <a:t>PASS</a:t>
            </a:r>
            <a:endParaRPr lang="en-US" sz="1000" dirty="0"/>
          </a:p>
        </p:txBody>
      </p:sp>
      <p:sp>
        <p:nvSpPr>
          <p:cNvPr id="53" name="Shape 51"/>
          <p:cNvSpPr/>
          <p:nvPr/>
        </p:nvSpPr>
        <p:spPr>
          <a:xfrm>
            <a:off x="502920" y="4517136"/>
            <a:ext cx="7269480" cy="640080"/>
          </a:xfrm>
          <a:prstGeom prst="roundRect">
            <a:avLst>
              <a:gd name="adj" fmla="val 11429"/>
            </a:avLst>
          </a:prstGeom>
          <a:solidFill>
            <a:srgbClr val="F1F4F8"/>
          </a:solidFill>
          <a:ln/>
        </p:spPr>
      </p:sp>
      <p:sp>
        <p:nvSpPr>
          <p:cNvPr id="54" name="Text 52"/>
          <p:cNvSpPr/>
          <p:nvPr/>
        </p:nvSpPr>
        <p:spPr>
          <a:xfrm>
            <a:off x="612648" y="4663440"/>
            <a:ext cx="347472" cy="347472"/>
          </a:xfrm>
          <a:prstGeom prst="ellipse">
            <a:avLst/>
          </a:prstGeom>
          <a:solidFill>
            <a:srgbClr val="0B13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5" name="Text 53"/>
          <p:cNvSpPr txBox="1"/>
          <p:nvPr/>
        </p:nvSpPr>
        <p:spPr>
          <a:xfrm>
            <a:off x="1097280" y="4608576"/>
            <a:ext cx="2788920" cy="5029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Forces booked; energy and momentum kept</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ledger within 10⁻⁹ of the applied impulse</a:t>
            </a:r>
            <a:endParaRPr lang="en-US" sz="1100" dirty="0"/>
          </a:p>
        </p:txBody>
      </p:sp>
      <p:sp>
        <p:nvSpPr>
          <p:cNvPr id="56" name="Text 54"/>
          <p:cNvSpPr txBox="1"/>
          <p:nvPr/>
        </p:nvSpPr>
        <p:spPr>
          <a:xfrm>
            <a:off x="3950208" y="4572000"/>
            <a:ext cx="1874520" cy="566928"/>
          </a:xfrm>
          <a:prstGeom prst="rect">
            <a:avLst/>
          </a:prstGeom>
          <a:noFill/>
          <a:ln/>
        </p:spPr>
        <p:txBody>
          <a:bodyPr wrap="square" lIns="0" tIns="0" rIns="0" bIns="0" rtlCol="0" anchor="t"/>
          <a:lstStyle/>
          <a:p>
            <a:pPr indent="0" marL="0">
              <a:buNone/>
            </a:pPr>
            <a:r>
              <a:rPr lang="en-US" sz="1700" b="1" dirty="0">
                <a:solidFill>
                  <a:srgbClr val="1A2233"/>
                </a:solidFill>
                <a:latin typeface="Calibri" pitchFamily="34" charset="0"/>
                <a:ea typeface="Calibri" pitchFamily="34" charset="-122"/>
                <a:cs typeface="Calibri" pitchFamily="34" charset="-120"/>
              </a:rPr>
              <a:t>5.6 × 10⁻¹⁶</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6.2 orders of magnitude inside</a:t>
            </a:r>
            <a:endParaRPr lang="en-US" sz="1100" dirty="0"/>
          </a:p>
        </p:txBody>
      </p:sp>
      <p:sp>
        <p:nvSpPr>
          <p:cNvPr id="57" name="Shape 55"/>
          <p:cNvSpPr/>
          <p:nvPr/>
        </p:nvSpPr>
        <p:spPr>
          <a:xfrm>
            <a:off x="5897880" y="4837176"/>
            <a:ext cx="1143000" cy="914"/>
          </a:xfrm>
          <a:prstGeom prst="line">
            <a:avLst/>
          </a:prstGeom>
          <a:noFill/>
          <a:ln w="25400">
            <a:solidFill>
              <a:srgbClr val="D5DCE6"/>
            </a:solidFill>
            <a:prstDash val="solid"/>
          </a:ln>
        </p:spPr>
      </p:sp>
      <p:sp>
        <p:nvSpPr>
          <p:cNvPr id="58" name="Shape 56"/>
          <p:cNvSpPr/>
          <p:nvPr/>
        </p:nvSpPr>
        <p:spPr>
          <a:xfrm>
            <a:off x="6755130" y="4709160"/>
            <a:ext cx="914" cy="256032"/>
          </a:xfrm>
          <a:prstGeom prst="line">
            <a:avLst/>
          </a:prstGeom>
          <a:noFill/>
          <a:ln w="19050">
            <a:solidFill>
              <a:srgbClr val="C8553D"/>
            </a:solidFill>
            <a:prstDash val="solid"/>
          </a:ln>
        </p:spPr>
      </p:sp>
      <p:sp>
        <p:nvSpPr>
          <p:cNvPr id="59" name="Shape 57"/>
          <p:cNvSpPr/>
          <p:nvPr/>
        </p:nvSpPr>
        <p:spPr>
          <a:xfrm>
            <a:off x="6105079" y="4782312"/>
            <a:ext cx="109728" cy="109728"/>
          </a:xfrm>
          <a:prstGeom prst="ellipse">
            <a:avLst/>
          </a:prstGeom>
          <a:solidFill>
            <a:srgbClr val="2F9E5B"/>
          </a:solidFill>
          <a:ln/>
        </p:spPr>
      </p:sp>
      <p:sp>
        <p:nvSpPr>
          <p:cNvPr id="60" name="Text 58"/>
          <p:cNvSpPr/>
          <p:nvPr/>
        </p:nvSpPr>
        <p:spPr>
          <a:xfrm>
            <a:off x="7132320" y="4718304"/>
            <a:ext cx="566928" cy="237744"/>
          </a:xfrm>
          <a:prstGeom prst="roundRect">
            <a:avLst>
              <a:gd name="adj" fmla="val 23077"/>
            </a:avLst>
          </a:prstGeom>
          <a:solidFill>
            <a:srgbClr val="E3F3E9"/>
          </a:solidFill>
          <a:ln/>
        </p:spPr>
        <p:txBody>
          <a:bodyPr wrap="square" lIns="0" tIns="0" rIns="0" bIns="0" rtlCol="0" anchor="ctr"/>
          <a:lstStyle/>
          <a:p>
            <a:pPr algn="ctr" indent="0" marL="0">
              <a:buNone/>
            </a:pPr>
            <a:r>
              <a:rPr lang="en-US" sz="1000" b="1" dirty="0">
                <a:solidFill>
                  <a:srgbClr val="2F9E5B"/>
                </a:solidFill>
                <a:latin typeface="Calibri" pitchFamily="34" charset="0"/>
                <a:ea typeface="Calibri" pitchFamily="34" charset="-122"/>
                <a:cs typeface="Calibri" pitchFamily="34" charset="-120"/>
              </a:rPr>
              <a:t>PASS</a:t>
            </a:r>
            <a:endParaRPr lang="en-US" sz="1000" dirty="0"/>
          </a:p>
        </p:txBody>
      </p:sp>
      <p:sp>
        <p:nvSpPr>
          <p:cNvPr id="61" name="Shape 59"/>
          <p:cNvSpPr/>
          <p:nvPr/>
        </p:nvSpPr>
        <p:spPr>
          <a:xfrm>
            <a:off x="502920" y="5221224"/>
            <a:ext cx="7269480" cy="640080"/>
          </a:xfrm>
          <a:prstGeom prst="roundRect">
            <a:avLst>
              <a:gd name="adj" fmla="val 11429"/>
            </a:avLst>
          </a:prstGeom>
          <a:solidFill>
            <a:srgbClr val="F1F4F8"/>
          </a:solidFill>
          <a:ln/>
        </p:spPr>
      </p:sp>
      <p:sp>
        <p:nvSpPr>
          <p:cNvPr id="62" name="Text 60"/>
          <p:cNvSpPr/>
          <p:nvPr/>
        </p:nvSpPr>
        <p:spPr>
          <a:xfrm>
            <a:off x="612648" y="5367528"/>
            <a:ext cx="347472" cy="347472"/>
          </a:xfrm>
          <a:prstGeom prst="ellipse">
            <a:avLst/>
          </a:prstGeom>
          <a:solidFill>
            <a:srgbClr val="0B1324"/>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63" name="Text 61"/>
          <p:cNvSpPr txBox="1"/>
          <p:nvPr/>
        </p:nvSpPr>
        <p:spPr>
          <a:xfrm>
            <a:off x="1097280" y="5312664"/>
            <a:ext cx="2788920" cy="5029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No unresolved flags</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a flag may stand only if an enabler covers it</a:t>
            </a:r>
            <a:endParaRPr lang="en-US" sz="1100" dirty="0"/>
          </a:p>
        </p:txBody>
      </p:sp>
      <p:sp>
        <p:nvSpPr>
          <p:cNvPr id="64" name="Text 62"/>
          <p:cNvSpPr txBox="1"/>
          <p:nvPr/>
        </p:nvSpPr>
        <p:spPr>
          <a:xfrm>
            <a:off x="3950208" y="5276088"/>
            <a:ext cx="1874520" cy="566928"/>
          </a:xfrm>
          <a:prstGeom prst="rect">
            <a:avLst/>
          </a:prstGeom>
          <a:noFill/>
          <a:ln/>
        </p:spPr>
        <p:txBody>
          <a:bodyPr wrap="square" lIns="0" tIns="0" rIns="0" bIns="0" rtlCol="0" anchor="t"/>
          <a:lstStyle/>
          <a:p>
            <a:pPr indent="0" marL="0">
              <a:buNone/>
            </a:pPr>
            <a:r>
              <a:rPr lang="en-US" sz="1700" b="1" dirty="0">
                <a:solidFill>
                  <a:srgbClr val="1A2233"/>
                </a:solidFill>
                <a:latin typeface="Calibri" pitchFamily="34" charset="0"/>
                <a:ea typeface="Calibri" pitchFamily="34" charset="-122"/>
                <a:cs typeface="Calibri" pitchFamily="34" charset="-120"/>
              </a:rPr>
              <a:t>0 open</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6 raised, each covered by E1, E2 or E3</a:t>
            </a:r>
            <a:endParaRPr lang="en-US" sz="1100" dirty="0"/>
          </a:p>
        </p:txBody>
      </p:sp>
      <p:sp>
        <p:nvSpPr>
          <p:cNvPr id="65" name="Text 63"/>
          <p:cNvSpPr/>
          <p:nvPr/>
        </p:nvSpPr>
        <p:spPr>
          <a:xfrm>
            <a:off x="5907024" y="5458968"/>
            <a:ext cx="164592" cy="164592"/>
          </a:xfrm>
          <a:prstGeom prst="ellipse">
            <a:avLst/>
          </a:prstGeom>
          <a:solidFill>
            <a:srgbClr val="1D6F66"/>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66" name="Text 64"/>
          <p:cNvSpPr/>
          <p:nvPr/>
        </p:nvSpPr>
        <p:spPr>
          <a:xfrm>
            <a:off x="6099048" y="5458968"/>
            <a:ext cx="164592" cy="164592"/>
          </a:xfrm>
          <a:prstGeom prst="ellipse">
            <a:avLst/>
          </a:prstGeom>
          <a:solidFill>
            <a:srgbClr val="5B6779"/>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67" name="Text 65"/>
          <p:cNvSpPr/>
          <p:nvPr/>
        </p:nvSpPr>
        <p:spPr>
          <a:xfrm>
            <a:off x="6291072" y="5458968"/>
            <a:ext cx="164592" cy="164592"/>
          </a:xfrm>
          <a:prstGeom prst="ellipse">
            <a:avLst/>
          </a:prstGeom>
          <a:solidFill>
            <a:srgbClr val="A9630A"/>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68" name="Text 66"/>
          <p:cNvSpPr/>
          <p:nvPr/>
        </p:nvSpPr>
        <p:spPr>
          <a:xfrm>
            <a:off x="6483096" y="5458968"/>
            <a:ext cx="164592" cy="164592"/>
          </a:xfrm>
          <a:prstGeom prst="ellipse">
            <a:avLst/>
          </a:prstGeom>
          <a:solidFill>
            <a:srgbClr val="A9630A"/>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69" name="Text 67"/>
          <p:cNvSpPr/>
          <p:nvPr/>
        </p:nvSpPr>
        <p:spPr>
          <a:xfrm>
            <a:off x="6675120" y="5458968"/>
            <a:ext cx="164592" cy="164592"/>
          </a:xfrm>
          <a:prstGeom prst="ellipse">
            <a:avLst/>
          </a:prstGeom>
          <a:solidFill>
            <a:srgbClr val="A9630A"/>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70" name="Text 68"/>
          <p:cNvSpPr/>
          <p:nvPr/>
        </p:nvSpPr>
        <p:spPr>
          <a:xfrm>
            <a:off x="6867144" y="5458968"/>
            <a:ext cx="164592" cy="164592"/>
          </a:xfrm>
          <a:prstGeom prst="ellipse">
            <a:avLst/>
          </a:prstGeom>
          <a:solidFill>
            <a:srgbClr val="A9630A"/>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71" name="Text 69"/>
          <p:cNvSpPr/>
          <p:nvPr/>
        </p:nvSpPr>
        <p:spPr>
          <a:xfrm>
            <a:off x="7132320" y="5422392"/>
            <a:ext cx="566928" cy="237744"/>
          </a:xfrm>
          <a:prstGeom prst="roundRect">
            <a:avLst>
              <a:gd name="adj" fmla="val 23077"/>
            </a:avLst>
          </a:prstGeom>
          <a:solidFill>
            <a:srgbClr val="E3F3E9"/>
          </a:solidFill>
          <a:ln/>
        </p:spPr>
        <p:txBody>
          <a:bodyPr wrap="square" lIns="0" tIns="0" rIns="0" bIns="0" rtlCol="0" anchor="ctr"/>
          <a:lstStyle/>
          <a:p>
            <a:pPr algn="ctr" indent="0" marL="0">
              <a:buNone/>
            </a:pPr>
            <a:r>
              <a:rPr lang="en-US" sz="1000" b="1" dirty="0">
                <a:solidFill>
                  <a:srgbClr val="2F9E5B"/>
                </a:solidFill>
                <a:latin typeface="Calibri" pitchFamily="34" charset="0"/>
                <a:ea typeface="Calibri" pitchFamily="34" charset="-122"/>
                <a:cs typeface="Calibri" pitchFamily="34" charset="-120"/>
              </a:rPr>
              <a:t>PASS</a:t>
            </a:r>
            <a:endParaRPr lang="en-US" sz="1000" dirty="0"/>
          </a:p>
        </p:txBody>
      </p:sp>
      <p:sp>
        <p:nvSpPr>
          <p:cNvPr id="72" name="Text 70"/>
          <p:cNvSpPr txBox="1"/>
          <p:nvPr/>
        </p:nvSpPr>
        <p:spPr>
          <a:xfrm>
            <a:off x="8046720" y="1700784"/>
            <a:ext cx="3657600" cy="274320"/>
          </a:xfrm>
          <a:prstGeom prst="rect">
            <a:avLst/>
          </a:prstGeom>
          <a:noFill/>
          <a:ln/>
        </p:spPr>
        <p:txBody>
          <a:bodyPr wrap="square" lIns="0" tIns="0" rIns="0" bIns="0" rtlCol="0" anchor="t"/>
          <a:lstStyle/>
          <a:p>
            <a:pPr indent="0" marL="0">
              <a:buNone/>
            </a:pPr>
            <a:r>
              <a:rPr lang="en-US" sz="1300" b="1" dirty="0">
                <a:solidFill>
                  <a:srgbClr val="1A2233"/>
                </a:solidFill>
                <a:latin typeface="Calibri" pitchFamily="34" charset="0"/>
                <a:ea typeface="Calibri" pitchFamily="34" charset="-122"/>
                <a:cs typeface="Calibri" pitchFamily="34" charset="-120"/>
              </a:rPr>
              <a:t>Three declared enablers, each with a hard limit</a:t>
            </a:r>
            <a:endParaRPr lang="en-US" sz="1300" dirty="0"/>
          </a:p>
        </p:txBody>
      </p:sp>
      <p:sp>
        <p:nvSpPr>
          <p:cNvPr id="73" name="Shape 71"/>
          <p:cNvSpPr/>
          <p:nvPr/>
        </p:nvSpPr>
        <p:spPr>
          <a:xfrm>
            <a:off x="8046720" y="2048256"/>
            <a:ext cx="3639312" cy="1188720"/>
          </a:xfrm>
          <a:prstGeom prst="roundRect">
            <a:avLst>
              <a:gd name="adj" fmla="val 6154"/>
            </a:avLst>
          </a:prstGeom>
          <a:solidFill>
            <a:srgbClr val="FFFFFF"/>
          </a:solidFill>
          <a:ln w="9525">
            <a:solidFill>
              <a:srgbClr val="D5DCE6"/>
            </a:solidFill>
            <a:prstDash val="solid"/>
          </a:ln>
        </p:spPr>
      </p:sp>
      <p:graphicFrame>
        <p:nvGraphicFramePr>
          <p:cNvPr id="74" name="Chart 0" descr=""/>
          <p:cNvGraphicFramePr/>
          <p:nvPr/>
        </p:nvGraphicFramePr>
        <p:xfrm>
          <a:off x="8119872" y="2139696"/>
          <a:ext cx="1005840" cy="1005840"/>
        </p:xfrm>
        <a:graphic xmlns:a="http://schemas.openxmlformats.org/drawingml/2006/main">
          <a:graphicData uri="http://schemas.openxmlformats.org/drawingml/2006/chart">
            <c:chart xmlns:c="http://schemas.openxmlformats.org/drawingml/2006/chart" r:id="rId1"/>
          </a:graphicData>
        </a:graphic>
      </p:graphicFrame>
      <p:sp>
        <p:nvSpPr>
          <p:cNvPr id="75" name="Text 72"/>
          <p:cNvSpPr txBox="1"/>
          <p:nvPr/>
        </p:nvSpPr>
        <p:spPr>
          <a:xfrm>
            <a:off x="8119872" y="2505456"/>
            <a:ext cx="1005840" cy="274320"/>
          </a:xfrm>
          <a:prstGeom prst="rect">
            <a:avLst/>
          </a:prstGeom>
          <a:noFill/>
          <a:ln/>
        </p:spPr>
        <p:txBody>
          <a:bodyPr wrap="square" lIns="0" tIns="0" rIns="0" bIns="0" rtlCol="0" anchor="ctr"/>
          <a:lstStyle/>
          <a:p>
            <a:pPr algn="ctr" indent="0" marL="0">
              <a:buNone/>
            </a:pPr>
            <a:r>
              <a:rPr lang="en-US" sz="1300" b="1" dirty="0">
                <a:solidFill>
                  <a:srgbClr val="1A2233"/>
                </a:solidFill>
                <a:latin typeface="Calibri" pitchFamily="34" charset="0"/>
                <a:ea typeface="Calibri" pitchFamily="34" charset="-122"/>
                <a:cs typeface="Calibri" pitchFamily="34" charset="-120"/>
              </a:rPr>
              <a:t>93%</a:t>
            </a:r>
            <a:endParaRPr lang="en-US" sz="1300" dirty="0"/>
          </a:p>
        </p:txBody>
      </p:sp>
      <p:sp>
        <p:nvSpPr>
          <p:cNvPr id="76" name="Text 73"/>
          <p:cNvSpPr txBox="1"/>
          <p:nvPr/>
        </p:nvSpPr>
        <p:spPr>
          <a:xfrm>
            <a:off x="9189720" y="2139696"/>
            <a:ext cx="2423160" cy="105156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E1 · Power source</a:t>
            </a:r>
            <a:pPr indent="0" marL="0">
              <a:buNone/>
            </a:pPr>
            <a:endParaRPr lang="en-US" sz="1100" dirty="0"/>
          </a:p>
          <a:p>
            <a:pPr indent="0" marL="0">
              <a:buNone/>
            </a:pPr>
            <a:r>
              <a:rPr lang="en-US" sz="1000" dirty="0">
                <a:solidFill>
                  <a:srgbClr val="1A2233"/>
                </a:solidFill>
                <a:latin typeface="Calibri" pitchFamily="34" charset="0"/>
                <a:ea typeface="Calibri" pitchFamily="34" charset="-122"/>
                <a:cs typeface="Calibri" pitchFamily="34" charset="-120"/>
              </a:rPr>
              <a:t>9.27 × 10²⁵ W at peak, of 10²⁶ W</a:t>
            </a:r>
            <a:endParaRPr lang="en-US" sz="1100" dirty="0"/>
          </a:p>
          <a:p>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Covers: beam power above humanity's 2 × 10¹³ W; Vesta's 0.018 AU pass; belt impact rates.</a:t>
            </a:r>
            <a:endParaRPr lang="en-US" sz="1100" dirty="0"/>
          </a:p>
        </p:txBody>
      </p:sp>
      <p:sp>
        <p:nvSpPr>
          <p:cNvPr id="77" name="Shape 74"/>
          <p:cNvSpPr/>
          <p:nvPr/>
        </p:nvSpPr>
        <p:spPr>
          <a:xfrm>
            <a:off x="8046720" y="3328416"/>
            <a:ext cx="3639312" cy="1188720"/>
          </a:xfrm>
          <a:prstGeom prst="roundRect">
            <a:avLst>
              <a:gd name="adj" fmla="val 6154"/>
            </a:avLst>
          </a:prstGeom>
          <a:solidFill>
            <a:srgbClr val="FFFFFF"/>
          </a:solidFill>
          <a:ln w="9525">
            <a:solidFill>
              <a:srgbClr val="D5DCE6"/>
            </a:solidFill>
            <a:prstDash val="solid"/>
          </a:ln>
        </p:spPr>
      </p:sp>
      <p:graphicFrame>
        <p:nvGraphicFramePr>
          <p:cNvPr id="78" name="Chart 1" descr=""/>
          <p:cNvGraphicFramePr/>
          <p:nvPr/>
        </p:nvGraphicFramePr>
        <p:xfrm>
          <a:off x="8119872" y="3419856"/>
          <a:ext cx="1005840" cy="1005840"/>
        </p:xfrm>
        <a:graphic xmlns:a="http://schemas.openxmlformats.org/drawingml/2006/main">
          <a:graphicData uri="http://schemas.openxmlformats.org/drawingml/2006/chart">
            <c:chart xmlns:c="http://schemas.openxmlformats.org/drawingml/2006/chart" r:id="rId2"/>
          </a:graphicData>
        </a:graphic>
      </p:graphicFrame>
      <p:sp>
        <p:nvSpPr>
          <p:cNvPr id="79" name="Text 75"/>
          <p:cNvSpPr txBox="1"/>
          <p:nvPr/>
        </p:nvSpPr>
        <p:spPr>
          <a:xfrm>
            <a:off x="8119872" y="3785616"/>
            <a:ext cx="1005840" cy="274320"/>
          </a:xfrm>
          <a:prstGeom prst="rect">
            <a:avLst/>
          </a:prstGeom>
          <a:noFill/>
          <a:ln/>
        </p:spPr>
        <p:txBody>
          <a:bodyPr wrap="square" lIns="0" tIns="0" rIns="0" bIns="0" rtlCol="0" anchor="ctr"/>
          <a:lstStyle/>
          <a:p>
            <a:pPr algn="ctr" indent="0" marL="0">
              <a:buNone/>
            </a:pPr>
            <a:r>
              <a:rPr lang="en-US" sz="1300" b="1" dirty="0">
                <a:solidFill>
                  <a:srgbClr val="1A2233"/>
                </a:solidFill>
                <a:latin typeface="Calibri" pitchFamily="34" charset="0"/>
                <a:ea typeface="Calibri" pitchFamily="34" charset="-122"/>
                <a:cs typeface="Calibri" pitchFamily="34" charset="-120"/>
              </a:rPr>
              <a:t>98%</a:t>
            </a:r>
            <a:endParaRPr lang="en-US" sz="1300" dirty="0"/>
          </a:p>
        </p:txBody>
      </p:sp>
      <p:sp>
        <p:nvSpPr>
          <p:cNvPr id="80" name="Text 76"/>
          <p:cNvSpPr txBox="1"/>
          <p:nvPr/>
        </p:nvSpPr>
        <p:spPr>
          <a:xfrm>
            <a:off x="9189720" y="3419856"/>
            <a:ext cx="2423160" cy="105156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E2 · Super-mirror material</a:t>
            </a:r>
            <a:pPr indent="0" marL="0">
              <a:buNone/>
            </a:pPr>
            <a:endParaRPr lang="en-US" sz="1100" dirty="0"/>
          </a:p>
          <a:p>
            <a:pPr indent="0" marL="0">
              <a:buNone/>
            </a:pPr>
            <a:r>
              <a:rPr lang="en-US" sz="1000" dirty="0">
                <a:solidFill>
                  <a:srgbClr val="1A2233"/>
                </a:solidFill>
                <a:latin typeface="Calibri" pitchFamily="34" charset="0"/>
                <a:ea typeface="Calibri" pitchFamily="34" charset="-122"/>
                <a:cs typeface="Calibri" pitchFamily="34" charset="-120"/>
              </a:rPr>
              <a:t>mirror at 1,466 K of 1,500 K at the power cap</a:t>
            </a:r>
            <a:endParaRPr lang="en-US" sz="1100" dirty="0"/>
          </a:p>
          <a:p>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Covers: tow mirrors and cables (absorbs 10⁻⁷ of the light, 100 GPa strength).</a:t>
            </a:r>
            <a:endParaRPr lang="en-US" sz="1100" dirty="0"/>
          </a:p>
        </p:txBody>
      </p:sp>
      <p:sp>
        <p:nvSpPr>
          <p:cNvPr id="81" name="Shape 77"/>
          <p:cNvSpPr/>
          <p:nvPr/>
        </p:nvSpPr>
        <p:spPr>
          <a:xfrm>
            <a:off x="8046720" y="4608576"/>
            <a:ext cx="3639312" cy="1188720"/>
          </a:xfrm>
          <a:prstGeom prst="roundRect">
            <a:avLst>
              <a:gd name="adj" fmla="val 6154"/>
            </a:avLst>
          </a:prstGeom>
          <a:solidFill>
            <a:srgbClr val="FFFFFF"/>
          </a:solidFill>
          <a:ln w="9525">
            <a:solidFill>
              <a:srgbClr val="D5DCE6"/>
            </a:solidFill>
            <a:prstDash val="solid"/>
          </a:ln>
        </p:spPr>
      </p:sp>
      <p:graphicFrame>
        <p:nvGraphicFramePr>
          <p:cNvPr id="82" name="Chart 2" descr=""/>
          <p:cNvGraphicFramePr/>
          <p:nvPr/>
        </p:nvGraphicFramePr>
        <p:xfrm>
          <a:off x="8119872" y="4700016"/>
          <a:ext cx="1005840" cy="1005840"/>
        </p:xfrm>
        <a:graphic xmlns:a="http://schemas.openxmlformats.org/drawingml/2006/main">
          <a:graphicData uri="http://schemas.openxmlformats.org/drawingml/2006/chart">
            <c:chart xmlns:c="http://schemas.openxmlformats.org/drawingml/2006/chart" r:id="rId3"/>
          </a:graphicData>
        </a:graphic>
      </p:graphicFrame>
      <p:sp>
        <p:nvSpPr>
          <p:cNvPr id="83" name="Text 78"/>
          <p:cNvSpPr txBox="1"/>
          <p:nvPr/>
        </p:nvSpPr>
        <p:spPr>
          <a:xfrm>
            <a:off x="8119872" y="5065776"/>
            <a:ext cx="1005840" cy="274320"/>
          </a:xfrm>
          <a:prstGeom prst="rect">
            <a:avLst/>
          </a:prstGeom>
          <a:noFill/>
          <a:ln/>
        </p:spPr>
        <p:txBody>
          <a:bodyPr wrap="square" lIns="0" tIns="0" rIns="0" bIns="0" rtlCol="0" anchor="ctr"/>
          <a:lstStyle/>
          <a:p>
            <a:pPr algn="ctr" indent="0" marL="0">
              <a:buNone/>
            </a:pPr>
            <a:r>
              <a:rPr lang="en-US" sz="1300" b="1" dirty="0">
                <a:solidFill>
                  <a:srgbClr val="1A2233"/>
                </a:solidFill>
                <a:latin typeface="Calibri" pitchFamily="34" charset="0"/>
                <a:ea typeface="Calibri" pitchFamily="34" charset="-122"/>
                <a:cs typeface="Calibri" pitchFamily="34" charset="-120"/>
              </a:rPr>
              <a:t>85%</a:t>
            </a:r>
            <a:endParaRPr lang="en-US" sz="1300" dirty="0"/>
          </a:p>
        </p:txBody>
      </p:sp>
      <p:sp>
        <p:nvSpPr>
          <p:cNvPr id="84" name="Text 79"/>
          <p:cNvSpPr txBox="1"/>
          <p:nvPr/>
        </p:nvSpPr>
        <p:spPr>
          <a:xfrm>
            <a:off x="9189720" y="4700016"/>
            <a:ext cx="2423160" cy="105156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E3 · Planet-scale manufacturing</a:t>
            </a:r>
            <a:pPr indent="0" marL="0">
              <a:buNone/>
            </a:pPr>
            <a:endParaRPr lang="en-US" sz="1100" dirty="0"/>
          </a:p>
          <a:p>
            <a:pPr indent="0" marL="0">
              <a:buNone/>
            </a:pPr>
            <a:r>
              <a:rPr lang="en-US" sz="1000" dirty="0">
                <a:solidFill>
                  <a:srgbClr val="1A2233"/>
                </a:solidFill>
                <a:latin typeface="Calibri" pitchFamily="34" charset="0"/>
                <a:ea typeface="Calibri" pitchFamily="34" charset="-122"/>
                <a:cs typeface="Calibri" pitchFamily="34" charset="-120"/>
              </a:rPr>
              <a:t>8.5 × 10⁸ km² of optics, of 10⁹ km²</a:t>
            </a:r>
            <a:endParaRPr lang="en-US" sz="1100" dirty="0"/>
          </a:p>
          <a:p>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Covers: placing 5.5 × 10²⁰ kg of asteroids; building the mirrors.</a:t>
            </a:r>
            <a:endParaRPr lang="en-US" sz="1100" dirty="0"/>
          </a:p>
        </p:txBody>
      </p:sp>
      <p:sp>
        <p:nvSpPr>
          <p:cNvPr id="85" name="Shape 80"/>
          <p:cNvSpPr/>
          <p:nvPr/>
        </p:nvSpPr>
        <p:spPr>
          <a:xfrm>
            <a:off x="502920" y="5943600"/>
            <a:ext cx="11183112" cy="402336"/>
          </a:xfrm>
          <a:prstGeom prst="roundRect">
            <a:avLst>
              <a:gd name="adj" fmla="val 13636"/>
            </a:avLst>
          </a:prstGeom>
          <a:solidFill>
            <a:srgbClr val="0B1324"/>
          </a:solidFill>
          <a:ln/>
        </p:spPr>
      </p:sp>
      <p:sp>
        <p:nvSpPr>
          <p:cNvPr id="86" name="Text 81"/>
          <p:cNvSpPr txBox="1"/>
          <p:nvPr/>
        </p:nvSpPr>
        <p:spPr>
          <a:xfrm>
            <a:off x="685800" y="5943600"/>
            <a:ext cx="10881360" cy="402336"/>
          </a:xfrm>
          <a:prstGeom prst="rect">
            <a:avLst/>
          </a:prstGeom>
          <a:noFill/>
          <a:ln/>
        </p:spPr>
        <p:txBody>
          <a:bodyPr wrap="square" lIns="0" tIns="0" rIns="0" bIns="0" rtlCol="0" anchor="ctr"/>
          <a:lstStyle/>
          <a:p>
            <a:pPr indent="0" marL="0">
              <a:buNone/>
            </a:pPr>
            <a:r>
              <a:rPr lang="en-US" sz="1100" b="1" dirty="0">
                <a:solidFill>
                  <a:srgbClr val="F2A541"/>
                </a:solidFill>
                <a:latin typeface="Calibri" pitchFamily="34" charset="0"/>
                <a:ea typeface="Calibri" pitchFamily="34" charset="-122"/>
                <a:cs typeface="Calibri" pitchFamily="34" charset="-120"/>
              </a:rPr>
              <a:t>Re-checked from scratch: </a:t>
            </a:r>
            <a:pPr indent="0" marL="0">
              <a:buNone/>
            </a:pPr>
            <a:r>
              <a:rPr lang="en-US" sz="1100" dirty="0">
                <a:solidFill>
                  <a:srgbClr val="FFFFFF"/>
                </a:solidFill>
                <a:latin typeface="Calibri" pitchFamily="34" charset="0"/>
                <a:ea typeface="Calibri" pitchFamily="34" charset="-122"/>
                <a:cs typeface="Calibri" pitchFamily="34" charset="-120"/>
              </a:rPr>
              <a:t>run.bat verify → 10/10 benchmarks · 49 tests · a fresh engine run identical to the official one · the Moon stays bound · 3 studies reproduce (974 numbers, 0 differ) · 6/6 conditions → one results PDF</a:t>
            </a:r>
            <a:endParaRPr lang="en-US" sz="1100" dirty="0"/>
          </a:p>
        </p:txBody>
      </p:sp>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661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12064" y="329184"/>
            <a:ext cx="219456" cy="219456"/>
          </a:xfrm>
          <a:prstGeom prst="ellipse">
            <a:avLst/>
          </a:prstGeom>
          <a:noFill/>
          <a:ln w="15875">
            <a:solidFill>
              <a:srgbClr val="A9630A"/>
            </a:solidFill>
            <a:prstDash val="solid"/>
          </a:ln>
        </p:spPr>
      </p:sp>
      <p:sp>
        <p:nvSpPr>
          <p:cNvPr id="3" name="Shape 1"/>
          <p:cNvSpPr/>
          <p:nvPr/>
        </p:nvSpPr>
        <p:spPr>
          <a:xfrm>
            <a:off x="681228" y="347472"/>
            <a:ext cx="73152" cy="73152"/>
          </a:xfrm>
          <a:prstGeom prst="ellipse">
            <a:avLst/>
          </a:prstGeom>
          <a:solidFill>
            <a:srgbClr val="A9630A"/>
          </a:solidFill>
          <a:ln/>
        </p:spPr>
      </p:sp>
      <p:sp>
        <p:nvSpPr>
          <p:cNvPr id="4" name="Text 0"/>
          <p:cNvSpPr/>
          <p:nvPr>
            <p:ph idx="100" type="body" hasCustomPrompt="1"/>
          </p:nvPr>
        </p:nvSpPr>
        <p:spPr>
          <a:xfrm>
            <a:off x="868680" y="310896"/>
            <a:ext cx="10515600" cy="256032"/>
          </a:xfrm>
          <a:prstGeom prst="rect">
            <a:avLst/>
          </a:prstGeom>
          <a:noFill/>
          <a:ln/>
        </p:spPr>
        <p:txBody>
          <a:bodyPr wrap="square" lIns="0" tIns="0" rIns="0" bIns="0" rtlCol="0" anchor="ctr"/>
          <a:lstStyle/>
          <a:p>
            <a:pPr indent="0" marL="0">
              <a:buNone/>
            </a:pPr>
            <a:r>
              <a:rPr lang="en-US" sz="1050" b="1" spc="100" kern="0" dirty="0">
                <a:solidFill>
                  <a:srgbClr val="A9630A"/>
                </a:solidFill>
                <a:latin typeface="Calibri" pitchFamily="34" charset="0"/>
                <a:ea typeface="Calibri" pitchFamily="34" charset="-122"/>
                <a:cs typeface="Calibri" pitchFamily="34" charset="-120"/>
              </a:rPr>
              <a:t>02 · THE REFERENCE CONCEPT, AUDITED</a:t>
            </a:r>
            <a:endParaRPr lang="en-US" sz="1050" dirty="0"/>
          </a:p>
        </p:txBody>
      </p:sp>
      <p:sp>
        <p:nvSpPr>
          <p:cNvPr id="5" name="Text 0"/>
          <p:cNvSpPr/>
          <p:nvPr>
            <p:ph idx="101" type="title" hasCustomPrompt="1"/>
          </p:nvPr>
        </p:nvSpPr>
        <p:spPr>
          <a:xfrm>
            <a:off x="502920" y="585216"/>
            <a:ext cx="11183112" cy="512064"/>
          </a:xfrm>
          <a:prstGeom prst="rect">
            <a:avLst/>
          </a:prstGeom>
          <a:noFill/>
          <a:ln/>
        </p:spPr>
        <p:txBody>
          <a:bodyPr wrap="square" lIns="0" tIns="0" rIns="0" bIns="0" rtlCol="0" anchor="ctr"/>
          <a:lstStyle/>
          <a:p>
            <a:pPr indent="0" marL="0">
              <a:buNone/>
            </a:pPr>
            <a:r>
              <a:rPr lang="en-US" sz="2800" b="1" dirty="0">
                <a:solidFill>
                  <a:srgbClr val="1A2233"/>
                </a:solidFill>
                <a:latin typeface="Cambria" pitchFamily="34" charset="0"/>
                <a:ea typeface="Cambria" pitchFamily="34" charset="-122"/>
                <a:cs typeface="Cambria" pitchFamily="34" charset="-120"/>
              </a:rPr>
              <a:t>Why not Octo-Earth: it cannot push, and it cannot stand</a:t>
            </a:r>
            <a:endParaRPr lang="en-US" sz="2800" dirty="0"/>
          </a:p>
        </p:txBody>
      </p:sp>
      <p:sp>
        <p:nvSpPr>
          <p:cNvPr id="6" name="Text 0"/>
          <p:cNvSpPr/>
          <p:nvPr>
            <p:ph idx="102" type="body" hasCustomPrompt="1"/>
          </p:nvPr>
        </p:nvSpPr>
        <p:spPr>
          <a:xfrm>
            <a:off x="502920" y="1115568"/>
            <a:ext cx="11183112" cy="457200"/>
          </a:xfrm>
          <a:prstGeom prst="rect">
            <a:avLst/>
          </a:prstGeom>
          <a:noFill/>
          <a:ln/>
        </p:spPr>
        <p:txBody>
          <a:bodyPr wrap="square" lIns="0" tIns="0" rIns="0" bIns="0" rtlCol="0" anchor="t"/>
          <a:lstStyle/>
          <a:p>
            <a:pPr indent="0" marL="0">
              <a:buNone/>
            </a:pPr>
            <a:r>
              <a:rPr lang="en-US" sz="1250" dirty="0">
                <a:solidFill>
                  <a:srgbClr val="566173"/>
                </a:solidFill>
                <a:latin typeface="Calibri" pitchFamily="34" charset="0"/>
                <a:ea typeface="Calibri" pitchFamily="34" charset="-122"/>
                <a:cs typeface="Calibri" pitchFamily="34" charset="-120"/>
              </a:rPr>
              <a:t>We audited the company's eight-armed reference with the same physics as our machine, at the arm its demo draws: 8 arms of 12,000 km in 24 jointed segments, a 200 km tube with 2 km walls carrying 1 MA, curling 72° round the globe.</a:t>
            </a:r>
            <a:endParaRPr lang="en-US" sz="1250" dirty="0"/>
          </a:p>
        </p:txBody>
      </p:sp>
      <p:sp>
        <p:nvSpPr>
          <p:cNvPr id="7" name="Shape 5"/>
          <p:cNvSpPr/>
          <p:nvPr/>
        </p:nvSpPr>
        <p:spPr>
          <a:xfrm>
            <a:off x="502920" y="1700784"/>
            <a:ext cx="4069080" cy="4645152"/>
          </a:xfrm>
          <a:prstGeom prst="roundRect">
            <a:avLst>
              <a:gd name="adj" fmla="val 1348"/>
            </a:avLst>
          </a:prstGeom>
          <a:solidFill>
            <a:srgbClr val="0B1324"/>
          </a:solidFill>
          <a:ln/>
        </p:spPr>
      </p:sp>
      <p:sp>
        <p:nvSpPr>
          <p:cNvPr id="8" name="Text 6"/>
          <p:cNvSpPr txBox="1"/>
          <p:nvPr/>
        </p:nvSpPr>
        <p:spPr>
          <a:xfrm>
            <a:off x="685800" y="1810512"/>
            <a:ext cx="3749040" cy="201168"/>
          </a:xfrm>
          <a:prstGeom prst="rect">
            <a:avLst/>
          </a:prstGeom>
          <a:noFill/>
          <a:ln/>
        </p:spPr>
        <p:txBody>
          <a:bodyPr wrap="square" lIns="0" tIns="0" rIns="0" bIns="0" rtlCol="0" anchor="t"/>
          <a:lstStyle/>
          <a:p>
            <a:pPr indent="0" marL="0">
              <a:buNone/>
            </a:pPr>
            <a:r>
              <a:rPr lang="en-US" sz="950" b="1" dirty="0">
                <a:solidFill>
                  <a:srgbClr val="9AA7BA"/>
                </a:solidFill>
                <a:latin typeface="Calibri" pitchFamily="34" charset="0"/>
                <a:ea typeface="Calibri" pitchFamily="34" charset="-122"/>
                <a:cs typeface="Calibri" pitchFamily="34" charset="-120"/>
              </a:rPr>
              <a:t>THE ARMS AS THE DEMO DRAWS THEM (Earth and lengths to scale)</a:t>
            </a:r>
            <a:endParaRPr lang="en-US" sz="950" dirty="0"/>
          </a:p>
        </p:txBody>
      </p:sp>
      <p:sp>
        <p:nvSpPr>
          <p:cNvPr id="9" name="Shape 7"/>
          <p:cNvSpPr/>
          <p:nvPr/>
        </p:nvSpPr>
        <p:spPr>
          <a:xfrm>
            <a:off x="1581912" y="3200400"/>
            <a:ext cx="1920240" cy="1920240"/>
          </a:xfrm>
          <a:prstGeom prst="ellipse">
            <a:avLst/>
          </a:prstGeom>
          <a:solidFill>
            <a:srgbClr val="1E5F68"/>
          </a:solidFill>
          <a:ln w="15875">
            <a:solidFill>
              <a:srgbClr val="2A9D8F"/>
            </a:solidFill>
            <a:prstDash val="solid"/>
          </a:ln>
        </p:spPr>
      </p:sp>
      <p:sp>
        <p:nvSpPr>
          <p:cNvPr id="10" name="Shape 8"/>
          <p:cNvSpPr/>
          <p:nvPr/>
        </p:nvSpPr>
        <p:spPr>
          <a:xfrm>
            <a:off x="1472184" y="4041648"/>
            <a:ext cx="2139696" cy="237744"/>
          </a:xfrm>
          <a:prstGeom prst="ellipse">
            <a:avLst/>
          </a:prstGeom>
          <a:noFill/>
          <a:ln w="25400">
            <a:solidFill>
              <a:srgbClr val="8A94A6"/>
            </a:solidFill>
            <a:prstDash val="solid"/>
          </a:ln>
        </p:spPr>
      </p:sp>
      <p:sp>
        <p:nvSpPr>
          <p:cNvPr id="11" name="Shape 9"/>
          <p:cNvSpPr/>
          <p:nvPr/>
        </p:nvSpPr>
        <p:spPr>
          <a:xfrm>
            <a:off x="2340864" y="4096512"/>
            <a:ext cx="402336" cy="128016"/>
          </a:xfrm>
          <a:prstGeom prst="ellipse">
            <a:avLst/>
          </a:prstGeom>
          <a:noFill/>
          <a:ln w="19050">
            <a:solidFill>
              <a:srgbClr val="F2A541"/>
            </a:solidFill>
            <a:prstDash val="solid"/>
          </a:ln>
        </p:spPr>
      </p:sp>
      <p:sp>
        <p:nvSpPr>
          <p:cNvPr id="12" name="Shape 10"/>
          <p:cNvSpPr/>
          <p:nvPr/>
        </p:nvSpPr>
        <p:spPr>
          <a:xfrm>
            <a:off x="2542032" y="4251960"/>
            <a:ext cx="914" cy="566928"/>
          </a:xfrm>
          <a:prstGeom prst="line">
            <a:avLst/>
          </a:prstGeom>
          <a:noFill/>
          <a:ln w="28575">
            <a:solidFill>
              <a:srgbClr val="C8553D"/>
            </a:solidFill>
            <a:prstDash val="solid"/>
            <a:tailEnd type="triangle"/>
          </a:ln>
        </p:spPr>
      </p:sp>
      <p:sp>
        <p:nvSpPr>
          <p:cNvPr id="13" name="Text 11"/>
          <p:cNvSpPr txBox="1"/>
          <p:nvPr/>
        </p:nvSpPr>
        <p:spPr>
          <a:xfrm>
            <a:off x="2615184" y="4544568"/>
            <a:ext cx="1188720" cy="365760"/>
          </a:xfrm>
          <a:prstGeom prst="rect">
            <a:avLst/>
          </a:prstGeom>
          <a:noFill/>
          <a:ln/>
        </p:spPr>
        <p:txBody>
          <a:bodyPr wrap="square" lIns="0" tIns="0" rIns="0" bIns="0" rtlCol="0" anchor="t"/>
          <a:lstStyle/>
          <a:p>
            <a:pPr indent="0" marL="0">
              <a:buNone/>
            </a:pPr>
            <a:r>
              <a:rPr lang="en-US" sz="1000" b="1" dirty="0">
                <a:solidFill>
                  <a:srgbClr val="F3B6A8"/>
                </a:solidFill>
                <a:latin typeface="Calibri" pitchFamily="34" charset="0"/>
                <a:ea typeface="Calibri" pitchFamily="34" charset="-122"/>
                <a:cs typeface="Calibri" pitchFamily="34" charset="-120"/>
              </a:rPr>
              <a:t>−1.94 × 10⁶ N</a:t>
            </a:r>
            <a:endParaRPr lang="en-US" sz="1000" dirty="0"/>
          </a:p>
          <a:p>
            <a:pPr indent="0" marL="0">
              <a:buNone/>
            </a:pPr>
            <a:r>
              <a:rPr lang="en-US" sz="1000" b="1" dirty="0">
                <a:solidFill>
                  <a:srgbClr val="F3B6A8"/>
                </a:solidFill>
                <a:latin typeface="Calibri" pitchFamily="34" charset="0"/>
                <a:ea typeface="Calibri" pitchFamily="34" charset="-122"/>
                <a:cs typeface="Calibri" pitchFamily="34" charset="-120"/>
              </a:rPr>
              <a:t>on the core</a:t>
            </a:r>
            <a:endParaRPr lang="en-US" sz="1000" dirty="0"/>
          </a:p>
        </p:txBody>
      </p:sp>
      <p:sp>
        <p:nvSpPr>
          <p:cNvPr id="14" name="Shape 12"/>
          <p:cNvSpPr/>
          <p:nvPr/>
        </p:nvSpPr>
        <p:spPr>
          <a:xfrm>
            <a:off x="2833892" y="2505276"/>
            <a:ext cx="878615" cy="1517803"/>
          </a:xfrm>
          <a:custGeom>
            <a:avLst/>
            <a:gdLst/>
            <a:ahLst/>
            <a:cxnLst/>
            <a:rect l="l" t="t" r="r" b="b"/>
            <a:pathLst>
              <a:path w="878615" h="1517803">
                <a:moveTo>
                  <a:pt x="686081" y="1517803"/>
                </a:moveTo>
                <a:lnTo>
                  <a:pt x="728718" y="1456864"/>
                </a:lnTo>
                <a:lnTo>
                  <a:pt x="767230" y="1391183"/>
                </a:lnTo>
                <a:lnTo>
                  <a:pt x="800964" y="1321134"/>
                </a:lnTo>
                <a:lnTo>
                  <a:pt x="829308" y="1247172"/>
                </a:lnTo>
                <a:lnTo>
                  <a:pt x="851705" y="1169829"/>
                </a:lnTo>
                <a:lnTo>
                  <a:pt x="867658" y="1089708"/>
                </a:lnTo>
                <a:lnTo>
                  <a:pt x="876743" y="1007476"/>
                </a:lnTo>
                <a:lnTo>
                  <a:pt x="878615" y="923849"/>
                </a:lnTo>
                <a:lnTo>
                  <a:pt x="873013" y="839590"/>
                </a:lnTo>
                <a:lnTo>
                  <a:pt x="859766" y="755493"/>
                </a:lnTo>
                <a:lnTo>
                  <a:pt x="838800" y="672374"/>
                </a:lnTo>
                <a:lnTo>
                  <a:pt x="810134" y="591058"/>
                </a:lnTo>
                <a:lnTo>
                  <a:pt x="773887" y="512367"/>
                </a:lnTo>
                <a:lnTo>
                  <a:pt x="730273" y="437110"/>
                </a:lnTo>
                <a:lnTo>
                  <a:pt x="679600" y="366068"/>
                </a:lnTo>
                <a:lnTo>
                  <a:pt x="622270" y="299986"/>
                </a:lnTo>
                <a:lnTo>
                  <a:pt x="558766" y="239560"/>
                </a:lnTo>
                <a:lnTo>
                  <a:pt x="489653" y="185425"/>
                </a:lnTo>
                <a:lnTo>
                  <a:pt x="415569" y="138150"/>
                </a:lnTo>
                <a:lnTo>
                  <a:pt x="337211" y="98229"/>
                </a:lnTo>
                <a:lnTo>
                  <a:pt x="255344" y="66036"/>
                </a:lnTo>
                <a:lnTo>
                  <a:pt x="171422" y="39575"/>
                </a:lnTo>
                <a:lnTo>
                  <a:pt x="86229" y="17543"/>
                </a:lnTo>
                <a:lnTo>
                  <a:pt x="0" y="0"/>
                </a:lnTo>
              </a:path>
            </a:pathLst>
          </a:custGeom>
          <a:noFill/>
          <a:ln w="38100">
            <a:solidFill>
              <a:srgbClr val="C9D3E0"/>
            </a:solidFill>
            <a:prstDash val="solid"/>
          </a:ln>
        </p:spPr>
      </p:sp>
      <p:sp>
        <p:nvSpPr>
          <p:cNvPr id="15" name="Shape 13"/>
          <p:cNvSpPr/>
          <p:nvPr/>
        </p:nvSpPr>
        <p:spPr>
          <a:xfrm>
            <a:off x="3497113" y="4000219"/>
            <a:ext cx="45720" cy="45720"/>
          </a:xfrm>
          <a:prstGeom prst="ellipse">
            <a:avLst/>
          </a:prstGeom>
          <a:solidFill>
            <a:srgbClr val="FFFFFF"/>
          </a:solidFill>
          <a:ln/>
        </p:spPr>
      </p:sp>
      <p:sp>
        <p:nvSpPr>
          <p:cNvPr id="16" name="Shape 14"/>
          <p:cNvSpPr/>
          <p:nvPr/>
        </p:nvSpPr>
        <p:spPr>
          <a:xfrm>
            <a:off x="3611996" y="3803550"/>
            <a:ext cx="45720" cy="45720"/>
          </a:xfrm>
          <a:prstGeom prst="ellipse">
            <a:avLst/>
          </a:prstGeom>
          <a:solidFill>
            <a:srgbClr val="FFFFFF"/>
          </a:solidFill>
          <a:ln/>
        </p:spPr>
      </p:sp>
      <p:sp>
        <p:nvSpPr>
          <p:cNvPr id="17" name="Shape 15"/>
          <p:cNvSpPr/>
          <p:nvPr/>
        </p:nvSpPr>
        <p:spPr>
          <a:xfrm>
            <a:off x="3678690" y="3572124"/>
            <a:ext cx="45720" cy="45720"/>
          </a:xfrm>
          <a:prstGeom prst="ellipse">
            <a:avLst/>
          </a:prstGeom>
          <a:solidFill>
            <a:srgbClr val="FFFFFF"/>
          </a:solidFill>
          <a:ln/>
        </p:spPr>
      </p:sp>
      <p:sp>
        <p:nvSpPr>
          <p:cNvPr id="18" name="Shape 16"/>
          <p:cNvSpPr/>
          <p:nvPr/>
        </p:nvSpPr>
        <p:spPr>
          <a:xfrm>
            <a:off x="3684045" y="3322006"/>
            <a:ext cx="45720" cy="45720"/>
          </a:xfrm>
          <a:prstGeom prst="ellipse">
            <a:avLst/>
          </a:prstGeom>
          <a:solidFill>
            <a:srgbClr val="FFFFFF"/>
          </a:solidFill>
          <a:ln/>
        </p:spPr>
      </p:sp>
      <p:sp>
        <p:nvSpPr>
          <p:cNvPr id="19" name="Shape 17"/>
          <p:cNvSpPr/>
          <p:nvPr/>
        </p:nvSpPr>
        <p:spPr>
          <a:xfrm>
            <a:off x="3621166" y="3073474"/>
            <a:ext cx="45720" cy="45720"/>
          </a:xfrm>
          <a:prstGeom prst="ellipse">
            <a:avLst/>
          </a:prstGeom>
          <a:solidFill>
            <a:srgbClr val="FFFFFF"/>
          </a:solidFill>
          <a:ln/>
        </p:spPr>
      </p:sp>
      <p:sp>
        <p:nvSpPr>
          <p:cNvPr id="20" name="Shape 18"/>
          <p:cNvSpPr/>
          <p:nvPr/>
        </p:nvSpPr>
        <p:spPr>
          <a:xfrm>
            <a:off x="3490632" y="2848484"/>
            <a:ext cx="45720" cy="45720"/>
          </a:xfrm>
          <a:prstGeom prst="ellipse">
            <a:avLst/>
          </a:prstGeom>
          <a:solidFill>
            <a:srgbClr val="FFFFFF"/>
          </a:solidFill>
          <a:ln/>
        </p:spPr>
      </p:sp>
      <p:sp>
        <p:nvSpPr>
          <p:cNvPr id="21" name="Shape 19"/>
          <p:cNvSpPr/>
          <p:nvPr/>
        </p:nvSpPr>
        <p:spPr>
          <a:xfrm>
            <a:off x="3300685" y="2667841"/>
            <a:ext cx="45720" cy="45720"/>
          </a:xfrm>
          <a:prstGeom prst="ellipse">
            <a:avLst/>
          </a:prstGeom>
          <a:solidFill>
            <a:srgbClr val="FFFFFF"/>
          </a:solidFill>
          <a:ln/>
        </p:spPr>
      </p:sp>
      <p:sp>
        <p:nvSpPr>
          <p:cNvPr id="22" name="Shape 20"/>
          <p:cNvSpPr/>
          <p:nvPr/>
        </p:nvSpPr>
        <p:spPr>
          <a:xfrm>
            <a:off x="3066376" y="2548452"/>
            <a:ext cx="45720" cy="45720"/>
          </a:xfrm>
          <a:prstGeom prst="ellipse">
            <a:avLst/>
          </a:prstGeom>
          <a:solidFill>
            <a:srgbClr val="FFFFFF"/>
          </a:solidFill>
          <a:ln/>
        </p:spPr>
      </p:sp>
      <p:sp>
        <p:nvSpPr>
          <p:cNvPr id="23" name="Shape 21"/>
          <p:cNvSpPr/>
          <p:nvPr/>
        </p:nvSpPr>
        <p:spPr>
          <a:xfrm>
            <a:off x="2811032" y="2482416"/>
            <a:ext cx="45720" cy="45720"/>
          </a:xfrm>
          <a:prstGeom prst="ellipse">
            <a:avLst/>
          </a:prstGeom>
          <a:solidFill>
            <a:srgbClr val="FFFFFF"/>
          </a:solidFill>
          <a:ln/>
        </p:spPr>
      </p:sp>
      <p:sp>
        <p:nvSpPr>
          <p:cNvPr id="24" name="Shape 22"/>
          <p:cNvSpPr/>
          <p:nvPr/>
        </p:nvSpPr>
        <p:spPr>
          <a:xfrm flipH="1" flipV="1">
            <a:off x="2719693" y="2332741"/>
            <a:ext cx="114199" cy="172535"/>
          </a:xfrm>
          <a:prstGeom prst="line">
            <a:avLst/>
          </a:prstGeom>
          <a:noFill/>
          <a:ln w="19050">
            <a:solidFill>
              <a:srgbClr val="FFFFFF"/>
            </a:solidFill>
            <a:prstDash val="solid"/>
          </a:ln>
        </p:spPr>
      </p:sp>
      <p:sp>
        <p:nvSpPr>
          <p:cNvPr id="25" name="Shape 23"/>
          <p:cNvSpPr/>
          <p:nvPr/>
        </p:nvSpPr>
        <p:spPr>
          <a:xfrm flipH="1">
            <a:off x="2661357" y="2505276"/>
            <a:ext cx="172535" cy="114199"/>
          </a:xfrm>
          <a:prstGeom prst="line">
            <a:avLst/>
          </a:prstGeom>
          <a:noFill/>
          <a:ln w="19050">
            <a:solidFill>
              <a:srgbClr val="FFFFFF"/>
            </a:solidFill>
            <a:prstDash val="solid"/>
          </a:ln>
        </p:spPr>
      </p:sp>
      <p:sp>
        <p:nvSpPr>
          <p:cNvPr id="26" name="Shape 24"/>
          <p:cNvSpPr/>
          <p:nvPr/>
        </p:nvSpPr>
        <p:spPr>
          <a:xfrm>
            <a:off x="1371557" y="2505276"/>
            <a:ext cx="878615" cy="1517803"/>
          </a:xfrm>
          <a:custGeom>
            <a:avLst/>
            <a:gdLst/>
            <a:ahLst/>
            <a:cxnLst/>
            <a:rect l="l" t="t" r="r" b="b"/>
            <a:pathLst>
              <a:path w="878615" h="1517803">
                <a:moveTo>
                  <a:pt x="192534" y="1517803"/>
                </a:moveTo>
                <a:lnTo>
                  <a:pt x="149897" y="1456864"/>
                </a:lnTo>
                <a:lnTo>
                  <a:pt x="111385" y="1391183"/>
                </a:lnTo>
                <a:lnTo>
                  <a:pt x="77651" y="1321134"/>
                </a:lnTo>
                <a:lnTo>
                  <a:pt x="49307" y="1247172"/>
                </a:lnTo>
                <a:lnTo>
                  <a:pt x="26910" y="1169829"/>
                </a:lnTo>
                <a:lnTo>
                  <a:pt x="10957" y="1089708"/>
                </a:lnTo>
                <a:lnTo>
                  <a:pt x="1872" y="1007476"/>
                </a:lnTo>
                <a:lnTo>
                  <a:pt x="0" y="923849"/>
                </a:lnTo>
                <a:lnTo>
                  <a:pt x="5602" y="839590"/>
                </a:lnTo>
                <a:lnTo>
                  <a:pt x="18849" y="755493"/>
                </a:lnTo>
                <a:lnTo>
                  <a:pt x="39815" y="672374"/>
                </a:lnTo>
                <a:lnTo>
                  <a:pt x="68481" y="591058"/>
                </a:lnTo>
                <a:lnTo>
                  <a:pt x="104728" y="512367"/>
                </a:lnTo>
                <a:lnTo>
                  <a:pt x="148342" y="437110"/>
                </a:lnTo>
                <a:lnTo>
                  <a:pt x="199015" y="366068"/>
                </a:lnTo>
                <a:lnTo>
                  <a:pt x="256345" y="299986"/>
                </a:lnTo>
                <a:lnTo>
                  <a:pt x="319849" y="239560"/>
                </a:lnTo>
                <a:lnTo>
                  <a:pt x="388962" y="185425"/>
                </a:lnTo>
                <a:lnTo>
                  <a:pt x="463046" y="138150"/>
                </a:lnTo>
                <a:lnTo>
                  <a:pt x="541404" y="98229"/>
                </a:lnTo>
                <a:lnTo>
                  <a:pt x="623271" y="66036"/>
                </a:lnTo>
                <a:lnTo>
                  <a:pt x="707193" y="39575"/>
                </a:lnTo>
                <a:lnTo>
                  <a:pt x="792386" y="17543"/>
                </a:lnTo>
                <a:lnTo>
                  <a:pt x="878615" y="0"/>
                </a:lnTo>
              </a:path>
            </a:pathLst>
          </a:custGeom>
          <a:noFill/>
          <a:ln w="38100">
            <a:solidFill>
              <a:srgbClr val="C9D3E0"/>
            </a:solidFill>
            <a:prstDash val="solid"/>
          </a:ln>
        </p:spPr>
      </p:sp>
      <p:sp>
        <p:nvSpPr>
          <p:cNvPr id="27" name="Shape 25"/>
          <p:cNvSpPr/>
          <p:nvPr/>
        </p:nvSpPr>
        <p:spPr>
          <a:xfrm>
            <a:off x="1541231" y="4000219"/>
            <a:ext cx="45720" cy="45720"/>
          </a:xfrm>
          <a:prstGeom prst="ellipse">
            <a:avLst/>
          </a:prstGeom>
          <a:solidFill>
            <a:srgbClr val="FFFFFF"/>
          </a:solidFill>
          <a:ln/>
        </p:spPr>
      </p:sp>
      <p:sp>
        <p:nvSpPr>
          <p:cNvPr id="28" name="Shape 26"/>
          <p:cNvSpPr/>
          <p:nvPr/>
        </p:nvSpPr>
        <p:spPr>
          <a:xfrm>
            <a:off x="1426348" y="3803550"/>
            <a:ext cx="45720" cy="45720"/>
          </a:xfrm>
          <a:prstGeom prst="ellipse">
            <a:avLst/>
          </a:prstGeom>
          <a:solidFill>
            <a:srgbClr val="FFFFFF"/>
          </a:solidFill>
          <a:ln/>
        </p:spPr>
      </p:sp>
      <p:sp>
        <p:nvSpPr>
          <p:cNvPr id="29" name="Shape 27"/>
          <p:cNvSpPr/>
          <p:nvPr/>
        </p:nvSpPr>
        <p:spPr>
          <a:xfrm>
            <a:off x="1359654" y="3572124"/>
            <a:ext cx="45720" cy="45720"/>
          </a:xfrm>
          <a:prstGeom prst="ellipse">
            <a:avLst/>
          </a:prstGeom>
          <a:solidFill>
            <a:srgbClr val="FFFFFF"/>
          </a:solidFill>
          <a:ln/>
        </p:spPr>
      </p:sp>
      <p:sp>
        <p:nvSpPr>
          <p:cNvPr id="30" name="Shape 28"/>
          <p:cNvSpPr/>
          <p:nvPr/>
        </p:nvSpPr>
        <p:spPr>
          <a:xfrm>
            <a:off x="1354299" y="3322006"/>
            <a:ext cx="45720" cy="45720"/>
          </a:xfrm>
          <a:prstGeom prst="ellipse">
            <a:avLst/>
          </a:prstGeom>
          <a:solidFill>
            <a:srgbClr val="FFFFFF"/>
          </a:solidFill>
          <a:ln/>
        </p:spPr>
      </p:sp>
      <p:sp>
        <p:nvSpPr>
          <p:cNvPr id="31" name="Shape 29"/>
          <p:cNvSpPr/>
          <p:nvPr/>
        </p:nvSpPr>
        <p:spPr>
          <a:xfrm>
            <a:off x="1417178" y="3073474"/>
            <a:ext cx="45720" cy="45720"/>
          </a:xfrm>
          <a:prstGeom prst="ellipse">
            <a:avLst/>
          </a:prstGeom>
          <a:solidFill>
            <a:srgbClr val="FFFFFF"/>
          </a:solidFill>
          <a:ln/>
        </p:spPr>
      </p:sp>
      <p:sp>
        <p:nvSpPr>
          <p:cNvPr id="32" name="Shape 30"/>
          <p:cNvSpPr/>
          <p:nvPr/>
        </p:nvSpPr>
        <p:spPr>
          <a:xfrm>
            <a:off x="1547712" y="2848484"/>
            <a:ext cx="45720" cy="45720"/>
          </a:xfrm>
          <a:prstGeom prst="ellipse">
            <a:avLst/>
          </a:prstGeom>
          <a:solidFill>
            <a:srgbClr val="FFFFFF"/>
          </a:solidFill>
          <a:ln/>
        </p:spPr>
      </p:sp>
      <p:sp>
        <p:nvSpPr>
          <p:cNvPr id="33" name="Shape 31"/>
          <p:cNvSpPr/>
          <p:nvPr/>
        </p:nvSpPr>
        <p:spPr>
          <a:xfrm>
            <a:off x="1737659" y="2667841"/>
            <a:ext cx="45720" cy="45720"/>
          </a:xfrm>
          <a:prstGeom prst="ellipse">
            <a:avLst/>
          </a:prstGeom>
          <a:solidFill>
            <a:srgbClr val="FFFFFF"/>
          </a:solidFill>
          <a:ln/>
        </p:spPr>
      </p:sp>
      <p:sp>
        <p:nvSpPr>
          <p:cNvPr id="34" name="Shape 32"/>
          <p:cNvSpPr/>
          <p:nvPr/>
        </p:nvSpPr>
        <p:spPr>
          <a:xfrm>
            <a:off x="1971968" y="2548452"/>
            <a:ext cx="45720" cy="45720"/>
          </a:xfrm>
          <a:prstGeom prst="ellipse">
            <a:avLst/>
          </a:prstGeom>
          <a:solidFill>
            <a:srgbClr val="FFFFFF"/>
          </a:solidFill>
          <a:ln/>
        </p:spPr>
      </p:sp>
      <p:sp>
        <p:nvSpPr>
          <p:cNvPr id="35" name="Shape 33"/>
          <p:cNvSpPr/>
          <p:nvPr/>
        </p:nvSpPr>
        <p:spPr>
          <a:xfrm>
            <a:off x="2227312" y="2482416"/>
            <a:ext cx="45720" cy="45720"/>
          </a:xfrm>
          <a:prstGeom prst="ellipse">
            <a:avLst/>
          </a:prstGeom>
          <a:solidFill>
            <a:srgbClr val="FFFFFF"/>
          </a:solidFill>
          <a:ln/>
        </p:spPr>
      </p:sp>
      <p:sp>
        <p:nvSpPr>
          <p:cNvPr id="36" name="Shape 34"/>
          <p:cNvSpPr/>
          <p:nvPr/>
        </p:nvSpPr>
        <p:spPr>
          <a:xfrm>
            <a:off x="2250172" y="2505276"/>
            <a:ext cx="172535" cy="114199"/>
          </a:xfrm>
          <a:prstGeom prst="line">
            <a:avLst/>
          </a:prstGeom>
          <a:noFill/>
          <a:ln w="19050">
            <a:solidFill>
              <a:srgbClr val="FFFFFF"/>
            </a:solidFill>
            <a:prstDash val="solid"/>
          </a:ln>
        </p:spPr>
      </p:sp>
      <p:sp>
        <p:nvSpPr>
          <p:cNvPr id="37" name="Shape 35"/>
          <p:cNvSpPr/>
          <p:nvPr/>
        </p:nvSpPr>
        <p:spPr>
          <a:xfrm flipV="1">
            <a:off x="2250172" y="2332741"/>
            <a:ext cx="114199" cy="172535"/>
          </a:xfrm>
          <a:prstGeom prst="line">
            <a:avLst/>
          </a:prstGeom>
          <a:noFill/>
          <a:ln w="19050">
            <a:solidFill>
              <a:srgbClr val="FFFFFF"/>
            </a:solidFill>
            <a:prstDash val="solid"/>
          </a:ln>
        </p:spPr>
      </p:sp>
      <p:sp>
        <p:nvSpPr>
          <p:cNvPr id="38" name="Shape 36"/>
          <p:cNvSpPr/>
          <p:nvPr/>
        </p:nvSpPr>
        <p:spPr>
          <a:xfrm flipV="1">
            <a:off x="3644026" y="2529406"/>
            <a:ext cx="914" cy="566928"/>
          </a:xfrm>
          <a:prstGeom prst="line">
            <a:avLst/>
          </a:prstGeom>
          <a:noFill/>
          <a:ln w="28575">
            <a:solidFill>
              <a:srgbClr val="F2A541"/>
            </a:solidFill>
            <a:prstDash val="solid"/>
            <a:tailEnd type="triangle"/>
          </a:ln>
        </p:spPr>
      </p:sp>
      <p:sp>
        <p:nvSpPr>
          <p:cNvPr id="39" name="Text 37"/>
          <p:cNvSpPr txBox="1"/>
          <p:nvPr/>
        </p:nvSpPr>
        <p:spPr>
          <a:xfrm>
            <a:off x="1952386" y="2492830"/>
            <a:ext cx="1627632" cy="201168"/>
          </a:xfrm>
          <a:prstGeom prst="rect">
            <a:avLst/>
          </a:prstGeom>
          <a:noFill/>
          <a:ln/>
        </p:spPr>
        <p:txBody>
          <a:bodyPr wrap="square" lIns="0" tIns="0" rIns="0" bIns="0" rtlCol="0" anchor="t"/>
          <a:lstStyle/>
          <a:p>
            <a:pPr algn="r" indent="0" marL="0">
              <a:buNone/>
            </a:pPr>
            <a:r>
              <a:rPr lang="en-US" sz="1000" b="1" dirty="0">
                <a:solidFill>
                  <a:srgbClr val="F2A541"/>
                </a:solidFill>
                <a:latin typeface="Calibri" pitchFamily="34" charset="0"/>
                <a:ea typeface="Calibri" pitchFamily="34" charset="-122"/>
                <a:cs typeface="Calibri" pitchFamily="34" charset="-120"/>
              </a:rPr>
              <a:t>+1.94 × 10⁶ N on the arms</a:t>
            </a:r>
            <a:endParaRPr lang="en-US" sz="1000" dirty="0"/>
          </a:p>
        </p:txBody>
      </p:sp>
      <p:sp>
        <p:nvSpPr>
          <p:cNvPr id="40" name="Text 38"/>
          <p:cNvSpPr txBox="1"/>
          <p:nvPr/>
        </p:nvSpPr>
        <p:spPr>
          <a:xfrm>
            <a:off x="685800" y="5504688"/>
            <a:ext cx="3749040" cy="77724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Sum of the two: </a:t>
            </a:r>
            <a:pPr indent="0" marL="0">
              <a:buNone/>
            </a:pPr>
            <a:r>
              <a:rPr lang="en-US" sz="1000" dirty="0">
                <a:solidFill>
                  <a:srgbClr val="E8EDF5"/>
                </a:solidFill>
                <a:latin typeface="Calibri" pitchFamily="34" charset="0"/>
                <a:ea typeface="Calibri" pitchFamily="34" charset="-122"/>
                <a:cs typeface="Calibri" pitchFamily="34" charset="-120"/>
              </a:rPr>
              <a:t>3.4 × 10⁻¹³ of either force (test X8). Earth's field comes from its own core, so the arms' push on the field comes back on the core: whatever their shape, the arms only push on Earth itself.</a:t>
            </a:r>
            <a:endParaRPr lang="en-US" sz="1000" dirty="0"/>
          </a:p>
        </p:txBody>
      </p:sp>
      <p:sp>
        <p:nvSpPr>
          <p:cNvPr id="41" name="Text 39"/>
          <p:cNvSpPr txBox="1"/>
          <p:nvPr/>
        </p:nvSpPr>
        <p:spPr>
          <a:xfrm>
            <a:off x="4800600" y="1737360"/>
            <a:ext cx="2743200" cy="566928"/>
          </a:xfrm>
          <a:prstGeom prst="rect">
            <a:avLst/>
          </a:prstGeom>
          <a:noFill/>
          <a:ln/>
        </p:spPr>
        <p:txBody>
          <a:bodyPr wrap="square" lIns="0" tIns="0" rIns="0" bIns="0" rtlCol="0" anchor="t"/>
          <a:lstStyle/>
          <a:p>
            <a:pPr indent="0" marL="0">
              <a:buNone/>
            </a:pPr>
            <a:r>
              <a:rPr lang="en-US" sz="3200" b="1" dirty="0">
                <a:solidFill>
                  <a:srgbClr val="C8553D"/>
                </a:solidFill>
                <a:latin typeface="Cambria" pitchFamily="34" charset="0"/>
                <a:ea typeface="Cambria" pitchFamily="34" charset="-122"/>
                <a:cs typeface="Cambria" pitchFamily="34" charset="-120"/>
              </a:rPr>
              <a:t>3.4 × 10⁻¹³</a:t>
            </a:r>
            <a:endParaRPr lang="en-US" sz="3200" dirty="0"/>
          </a:p>
        </p:txBody>
      </p:sp>
      <p:sp>
        <p:nvSpPr>
          <p:cNvPr id="42" name="Text 40"/>
          <p:cNvSpPr txBox="1"/>
          <p:nvPr/>
        </p:nvSpPr>
        <p:spPr>
          <a:xfrm>
            <a:off x="4800600" y="2340864"/>
            <a:ext cx="2743200" cy="146304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net push, as a share of the force</a:t>
            </a:r>
            <a:pPr indent="0" marL="0">
              <a:buNone/>
            </a:pPr>
            <a:endParaRPr lang="en-US" sz="1100" dirty="0"/>
          </a:p>
          <a:p>
            <a:pPr indent="0" marL="0">
              <a:buNone/>
            </a:pPr>
            <a:r>
              <a:rPr lang="en-US" sz="1050" dirty="0">
                <a:solidFill>
                  <a:srgbClr val="566173"/>
                </a:solidFill>
                <a:latin typeface="Calibri" pitchFamily="34" charset="0"/>
                <a:ea typeface="Calibri" pitchFamily="34" charset="-122"/>
                <a:cs typeface="Calibri" pitchFamily="34" charset="-120"/>
              </a:rPr>
              <a:t>Each side feels 1.94 × 10⁶ N; they cancel to rounding error. In the demo's 0.5 nT outside field, all closed circuits together feel 2 × 10⁻¹² N.</a:t>
            </a:r>
            <a:endParaRPr lang="en-US" sz="1100" dirty="0"/>
          </a:p>
        </p:txBody>
      </p:sp>
      <p:sp>
        <p:nvSpPr>
          <p:cNvPr id="43" name="Text 41"/>
          <p:cNvSpPr txBox="1"/>
          <p:nvPr/>
        </p:nvSpPr>
        <p:spPr>
          <a:xfrm>
            <a:off x="4800600" y="3977640"/>
            <a:ext cx="2743200" cy="566928"/>
          </a:xfrm>
          <a:prstGeom prst="rect">
            <a:avLst/>
          </a:prstGeom>
          <a:noFill/>
          <a:ln/>
        </p:spPr>
        <p:txBody>
          <a:bodyPr wrap="square" lIns="0" tIns="0" rIns="0" bIns="0" rtlCol="0" anchor="t"/>
          <a:lstStyle/>
          <a:p>
            <a:pPr indent="0" marL="0">
              <a:buNone/>
            </a:pPr>
            <a:r>
              <a:rPr lang="en-US" sz="3200" b="1" dirty="0">
                <a:solidFill>
                  <a:srgbClr val="C8553D"/>
                </a:solidFill>
                <a:latin typeface="Cambria" pitchFamily="34" charset="0"/>
                <a:ea typeface="Cambria" pitchFamily="34" charset="-122"/>
                <a:cs typeface="Cambria" pitchFamily="34" charset="-120"/>
              </a:rPr>
              <a:t>0.012</a:t>
            </a:r>
            <a:endParaRPr lang="en-US" sz="3200" dirty="0"/>
          </a:p>
        </p:txBody>
      </p:sp>
      <p:sp>
        <p:nvSpPr>
          <p:cNvPr id="44" name="Text 42"/>
          <p:cNvSpPr txBox="1"/>
          <p:nvPr/>
        </p:nvSpPr>
        <p:spPr>
          <a:xfrm>
            <a:off x="4800600" y="4581144"/>
            <a:ext cx="2743200" cy="146304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safety factor at an arm's root</a:t>
            </a:r>
            <a:pPr indent="0" marL="0">
              <a:buNone/>
            </a:pPr>
            <a:endParaRPr lang="en-US" sz="1100" dirty="0"/>
          </a:p>
          <a:p>
            <a:pPr indent="0" marL="0">
              <a:buNone/>
            </a:pPr>
            <a:r>
              <a:rPr lang="en-US" sz="1050" dirty="0">
                <a:solidFill>
                  <a:srgbClr val="566173"/>
                </a:solidFill>
                <a:latin typeface="Calibri" pitchFamily="34" charset="0"/>
                <a:ea typeface="Calibri" pitchFamily="34" charset="-122"/>
                <a:cs typeface="Calibri" pitchFamily="34" charset="-120"/>
              </a:rPr>
              <a:t>Curled as drawn, a 12,000 km arm is a beam held only at its root: 5,500 GPa there even in ideal nanotube, whose measured strength is 63 GPa. It needs 1.5.</a:t>
            </a:r>
            <a:endParaRPr lang="en-US" sz="1100" dirty="0"/>
          </a:p>
        </p:txBody>
      </p:sp>
      <p:sp>
        <p:nvSpPr>
          <p:cNvPr id="45" name="Text 43"/>
          <p:cNvSpPr txBox="1"/>
          <p:nvPr/>
        </p:nvSpPr>
        <p:spPr>
          <a:xfrm>
            <a:off x="7726680" y="1700784"/>
            <a:ext cx="3959352" cy="384048"/>
          </a:xfrm>
          <a:prstGeom prst="rect">
            <a:avLst/>
          </a:prstGeom>
          <a:noFill/>
          <a:ln/>
        </p:spPr>
        <p:txBody>
          <a:bodyPr wrap="square" lIns="0" tIns="0" rIns="0" bIns="0" rtlCol="0" anchor="t"/>
          <a:lstStyle/>
          <a:p>
            <a:pPr indent="0" marL="0">
              <a:buNone/>
            </a:pPr>
            <a:r>
              <a:rPr lang="en-US" sz="1100" b="1" dirty="0">
                <a:solidFill>
                  <a:srgbClr val="1A2233"/>
                </a:solidFill>
                <a:latin typeface="Calibri" pitchFamily="34" charset="0"/>
                <a:ea typeface="Calibri" pitchFamily="34" charset="-122"/>
                <a:cs typeface="Calibri" pitchFamily="34" charset="-120"/>
              </a:rPr>
              <a:t>Longest arm that holds itself up, at safety factor 1.5 (km, log scale)</a:t>
            </a:r>
            <a:endParaRPr lang="en-US" sz="1100" dirty="0"/>
          </a:p>
        </p:txBody>
      </p:sp>
      <p:graphicFrame>
        <p:nvGraphicFramePr>
          <p:cNvPr id="46" name="Chart 0" descr=""/>
          <p:cNvGraphicFramePr/>
          <p:nvPr/>
        </p:nvGraphicFramePr>
        <p:xfrm>
          <a:off x="7726680" y="1975104"/>
          <a:ext cx="3959352" cy="3154680"/>
        </p:xfrm>
        <a:graphic xmlns:a="http://schemas.openxmlformats.org/drawingml/2006/main">
          <a:graphicData uri="http://schemas.openxmlformats.org/drawingml/2006/chart">
            <c:chart xmlns:c="http://schemas.openxmlformats.org/drawingml/2006/chart" r:id="rId1"/>
          </a:graphicData>
        </a:graphic>
      </p:graphicFrame>
      <p:sp>
        <p:nvSpPr>
          <p:cNvPr id="47" name="Shape 44"/>
          <p:cNvSpPr/>
          <p:nvPr/>
        </p:nvSpPr>
        <p:spPr>
          <a:xfrm>
            <a:off x="10989094" y="2385212"/>
            <a:ext cx="914" cy="1955902"/>
          </a:xfrm>
          <a:prstGeom prst="line">
            <a:avLst/>
          </a:prstGeom>
          <a:noFill/>
          <a:ln w="22225">
            <a:solidFill>
              <a:srgbClr val="C8553D"/>
            </a:solidFill>
            <a:prstDash val="dash"/>
          </a:ln>
        </p:spPr>
      </p:sp>
      <p:sp>
        <p:nvSpPr>
          <p:cNvPr id="48" name="Text 45"/>
          <p:cNvSpPr txBox="1"/>
          <p:nvPr/>
        </p:nvSpPr>
        <p:spPr>
          <a:xfrm>
            <a:off x="9937534" y="2366924"/>
            <a:ext cx="1005840" cy="365760"/>
          </a:xfrm>
          <a:prstGeom prst="rect">
            <a:avLst/>
          </a:prstGeom>
          <a:noFill/>
          <a:ln/>
        </p:spPr>
        <p:txBody>
          <a:bodyPr wrap="square" lIns="0" tIns="0" rIns="0" bIns="0" rtlCol="0" anchor="t"/>
          <a:lstStyle/>
          <a:p>
            <a:pPr algn="r" indent="0" marL="0">
              <a:buNone/>
            </a:pPr>
            <a:r>
              <a:rPr lang="en-US" sz="1000" b="1" dirty="0">
                <a:solidFill>
                  <a:srgbClr val="C8553D"/>
                </a:solidFill>
                <a:latin typeface="Calibri" pitchFamily="34" charset="0"/>
                <a:ea typeface="Calibri" pitchFamily="34" charset="-122"/>
                <a:cs typeface="Calibri" pitchFamily="34" charset="-120"/>
              </a:rPr>
              <a:t>arm as drawn:</a:t>
            </a:r>
            <a:endParaRPr lang="en-US" sz="1000" dirty="0"/>
          </a:p>
          <a:p>
            <a:pPr algn="r" indent="0" marL="0">
              <a:buNone/>
            </a:pPr>
            <a:r>
              <a:rPr lang="en-US" sz="1000" b="1" dirty="0">
                <a:solidFill>
                  <a:srgbClr val="C8553D"/>
                </a:solidFill>
                <a:latin typeface="Calibri" pitchFamily="34" charset="0"/>
                <a:ea typeface="Calibri" pitchFamily="34" charset="-122"/>
                <a:cs typeface="Calibri" pitchFamily="34" charset="-120"/>
              </a:rPr>
              <a:t>12,000 km</a:t>
            </a:r>
            <a:endParaRPr lang="en-US" sz="1000" dirty="0"/>
          </a:p>
        </p:txBody>
      </p:sp>
      <p:sp>
        <p:nvSpPr>
          <p:cNvPr id="49" name="Shape 46"/>
          <p:cNvSpPr/>
          <p:nvPr/>
        </p:nvSpPr>
        <p:spPr>
          <a:xfrm>
            <a:off x="7726680" y="5257800"/>
            <a:ext cx="3959352" cy="1088136"/>
          </a:xfrm>
          <a:prstGeom prst="roundRect">
            <a:avLst>
              <a:gd name="adj" fmla="val 6723"/>
            </a:avLst>
          </a:prstGeom>
          <a:solidFill>
            <a:srgbClr val="F1F4F8"/>
          </a:solidFill>
          <a:ln/>
        </p:spPr>
      </p:sp>
      <p:sp>
        <p:nvSpPr>
          <p:cNvPr id="50" name="Text 47"/>
          <p:cNvSpPr txBox="1"/>
          <p:nvPr/>
        </p:nvSpPr>
        <p:spPr>
          <a:xfrm>
            <a:off x="7882128" y="5349240"/>
            <a:ext cx="3657600" cy="914400"/>
          </a:xfrm>
          <a:prstGeom prst="rect">
            <a:avLst/>
          </a:prstGeom>
          <a:noFill/>
          <a:ln/>
        </p:spPr>
        <p:txBody>
          <a:bodyPr wrap="square" lIns="0" tIns="0" rIns="0" bIns="0" rtlCol="0" anchor="t"/>
          <a:lstStyle/>
          <a:p>
            <a:pPr indent="0" marL="0">
              <a:buNone/>
            </a:pPr>
            <a:r>
              <a:rPr lang="en-US" sz="1100" b="1" dirty="0">
                <a:solidFill>
                  <a:srgbClr val="1A2233"/>
                </a:solidFill>
                <a:latin typeface="Calibri" pitchFamily="34" charset="0"/>
                <a:ea typeface="Calibri" pitchFamily="34" charset="-122"/>
                <a:cs typeface="Calibri" pitchFamily="34" charset="-120"/>
              </a:rPr>
              <a:t>So we move Earth with an outside mass. </a:t>
            </a:r>
            <a:pPr indent="0" marL="0">
              <a:buNone/>
            </a:pPr>
            <a:r>
              <a:rPr lang="en-US" sz="1100" dirty="0">
                <a:solidFill>
                  <a:srgbClr val="566173"/>
                </a:solidFill>
                <a:latin typeface="Calibri" pitchFamily="34" charset="0"/>
                <a:ea typeface="Calibri" pitchFamily="34" charset="-122"/>
                <a:cs typeface="Calibri" pitchFamily="34" charset="-120"/>
              </a:rPr>
              <a:t>An asteroid's gravity is a real external force: no structure on the planet, nothing to push against, and every reaction is booked in the ledger.</a:t>
            </a:r>
            <a:endParaRPr lang="en-US" sz="1100" dirty="0"/>
          </a:p>
        </p:txBody>
      </p:sp>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661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12064" y="329184"/>
            <a:ext cx="219456" cy="219456"/>
          </a:xfrm>
          <a:prstGeom prst="ellipse">
            <a:avLst/>
          </a:prstGeom>
          <a:noFill/>
          <a:ln w="15875">
            <a:solidFill>
              <a:srgbClr val="A9630A"/>
            </a:solidFill>
            <a:prstDash val="solid"/>
          </a:ln>
        </p:spPr>
      </p:sp>
      <p:sp>
        <p:nvSpPr>
          <p:cNvPr id="3" name="Shape 1"/>
          <p:cNvSpPr/>
          <p:nvPr/>
        </p:nvSpPr>
        <p:spPr>
          <a:xfrm>
            <a:off x="681228" y="347472"/>
            <a:ext cx="73152" cy="73152"/>
          </a:xfrm>
          <a:prstGeom prst="ellipse">
            <a:avLst/>
          </a:prstGeom>
          <a:solidFill>
            <a:srgbClr val="A9630A"/>
          </a:solidFill>
          <a:ln/>
        </p:spPr>
      </p:sp>
      <p:sp>
        <p:nvSpPr>
          <p:cNvPr id="4" name="Text 0"/>
          <p:cNvSpPr/>
          <p:nvPr>
            <p:ph idx="100" type="body" hasCustomPrompt="1"/>
          </p:nvPr>
        </p:nvSpPr>
        <p:spPr>
          <a:xfrm>
            <a:off x="868680" y="310896"/>
            <a:ext cx="10515600" cy="256032"/>
          </a:xfrm>
          <a:prstGeom prst="rect">
            <a:avLst/>
          </a:prstGeom>
          <a:noFill/>
          <a:ln/>
        </p:spPr>
        <p:txBody>
          <a:bodyPr wrap="square" lIns="0" tIns="0" rIns="0" bIns="0" rtlCol="0" anchor="ctr"/>
          <a:lstStyle/>
          <a:p>
            <a:pPr indent="0" marL="0">
              <a:buNone/>
            </a:pPr>
            <a:r>
              <a:rPr lang="en-US" sz="1050" b="1" spc="100" kern="0" dirty="0">
                <a:solidFill>
                  <a:srgbClr val="A9630A"/>
                </a:solidFill>
                <a:latin typeface="Calibri" pitchFamily="34" charset="0"/>
                <a:ea typeface="Calibri" pitchFamily="34" charset="-122"/>
                <a:cs typeface="Calibri" pitchFamily="34" charset="-120"/>
              </a:rPr>
              <a:t>03 · THE MACHINE</a:t>
            </a:r>
            <a:endParaRPr lang="en-US" sz="1050" dirty="0"/>
          </a:p>
        </p:txBody>
      </p:sp>
      <p:sp>
        <p:nvSpPr>
          <p:cNvPr id="5" name="Text 0"/>
          <p:cNvSpPr/>
          <p:nvPr>
            <p:ph idx="101" type="title" hasCustomPrompt="1"/>
          </p:nvPr>
        </p:nvSpPr>
        <p:spPr>
          <a:xfrm>
            <a:off x="502920" y="585216"/>
            <a:ext cx="11183112" cy="512064"/>
          </a:xfrm>
          <a:prstGeom prst="rect">
            <a:avLst/>
          </a:prstGeom>
          <a:noFill/>
          <a:ln/>
        </p:spPr>
        <p:txBody>
          <a:bodyPr wrap="square" lIns="0" tIns="0" rIns="0" bIns="0" rtlCol="0" anchor="ctr"/>
          <a:lstStyle/>
          <a:p>
            <a:pPr indent="0" marL="0">
              <a:buNone/>
            </a:pPr>
            <a:r>
              <a:rPr lang="en-US" sz="2800" b="1" dirty="0">
                <a:solidFill>
                  <a:srgbClr val="1A2233"/>
                </a:solidFill>
                <a:latin typeface="Cambria" pitchFamily="34" charset="0"/>
                <a:ea typeface="Cambria" pitchFamily="34" charset="-122"/>
                <a:cs typeface="Cambria" pitchFamily="34" charset="-120"/>
              </a:rPr>
              <a:t>A gravity tractor held by light</a:t>
            </a:r>
            <a:endParaRPr lang="en-US" sz="2800" dirty="0"/>
          </a:p>
        </p:txBody>
      </p:sp>
      <p:sp>
        <p:nvSpPr>
          <p:cNvPr id="6" name="Text 0"/>
          <p:cNvSpPr/>
          <p:nvPr>
            <p:ph idx="102" type="body" hasCustomPrompt="1"/>
          </p:nvPr>
        </p:nvSpPr>
        <p:spPr>
          <a:xfrm>
            <a:off x="502920" y="1115568"/>
            <a:ext cx="11183112" cy="457200"/>
          </a:xfrm>
          <a:prstGeom prst="rect">
            <a:avLst/>
          </a:prstGeom>
          <a:noFill/>
          <a:ln/>
        </p:spPr>
        <p:txBody>
          <a:bodyPr wrap="square" lIns="0" tIns="0" rIns="0" bIns="0" rtlCol="0" anchor="t"/>
          <a:lstStyle/>
          <a:p>
            <a:pPr indent="0" marL="0">
              <a:buNone/>
            </a:pPr>
            <a:r>
              <a:rPr lang="en-US" sz="1250" dirty="0">
                <a:solidFill>
                  <a:srgbClr val="566173"/>
                </a:solidFill>
                <a:latin typeface="Calibri" pitchFamily="34" charset="0"/>
                <a:ea typeface="Calibri" pitchFamily="34" charset="-122"/>
                <a:cs typeface="Calibri" pitchFamily="34" charset="-120"/>
              </a:rPr>
              <a:t>An asteroid 1.66 times the Moon's distance away pulls Earth outward with 3.90 × 10¹⁷ N. Earth pulls it back just as hard, so focused light on a mirror tied to the asteroid holds it on its spot. Earth feels only gravity.</a:t>
            </a:r>
            <a:endParaRPr lang="en-US" sz="1250" dirty="0"/>
          </a:p>
        </p:txBody>
      </p:sp>
      <p:sp>
        <p:nvSpPr>
          <p:cNvPr id="7" name="Shape 5"/>
          <p:cNvSpPr/>
          <p:nvPr/>
        </p:nvSpPr>
        <p:spPr>
          <a:xfrm>
            <a:off x="502920" y="1700784"/>
            <a:ext cx="7315200" cy="4645152"/>
          </a:xfrm>
          <a:prstGeom prst="roundRect">
            <a:avLst>
              <a:gd name="adj" fmla="val 1181"/>
            </a:avLst>
          </a:prstGeom>
          <a:solidFill>
            <a:srgbClr val="0B1324"/>
          </a:solidFill>
          <a:ln/>
        </p:spPr>
      </p:sp>
      <p:sp>
        <p:nvSpPr>
          <p:cNvPr id="8" name="Text 6"/>
          <p:cNvSpPr txBox="1"/>
          <p:nvPr/>
        </p:nvSpPr>
        <p:spPr>
          <a:xfrm>
            <a:off x="685800" y="1810512"/>
            <a:ext cx="5486400" cy="201168"/>
          </a:xfrm>
          <a:prstGeom prst="rect">
            <a:avLst/>
          </a:prstGeom>
          <a:noFill/>
          <a:ln/>
        </p:spPr>
        <p:txBody>
          <a:bodyPr wrap="square" lIns="0" tIns="0" rIns="0" bIns="0" rtlCol="0" anchor="t"/>
          <a:lstStyle/>
          <a:p>
            <a:pPr indent="0" marL="0">
              <a:buNone/>
            </a:pPr>
            <a:r>
              <a:rPr lang="en-US" sz="950" b="1" dirty="0">
                <a:solidFill>
                  <a:srgbClr val="9AA7BA"/>
                </a:solidFill>
                <a:latin typeface="Calibri" pitchFamily="34" charset="0"/>
                <a:ea typeface="Calibri" pitchFamily="34" charset="-122"/>
                <a:cs typeface="Calibri" pitchFamily="34" charset="-120"/>
              </a:rPr>
              <a:t>THE EARTH TOW, DISTANCES TO SCALE (bodies enlarged)</a:t>
            </a:r>
            <a:endParaRPr lang="en-US" sz="950" dirty="0"/>
          </a:p>
        </p:txBody>
      </p:sp>
      <p:sp>
        <p:nvSpPr>
          <p:cNvPr id="9" name="Shape 7"/>
          <p:cNvSpPr/>
          <p:nvPr/>
        </p:nvSpPr>
        <p:spPr>
          <a:xfrm flipV="1">
            <a:off x="2953512" y="2103120"/>
            <a:ext cx="914" cy="4160520"/>
          </a:xfrm>
          <a:prstGeom prst="line">
            <a:avLst/>
          </a:prstGeom>
          <a:noFill/>
          <a:ln w="12700">
            <a:solidFill>
              <a:srgbClr val="34445F"/>
            </a:solidFill>
            <a:prstDash val="dash"/>
          </a:ln>
        </p:spPr>
      </p:sp>
      <p:sp>
        <p:nvSpPr>
          <p:cNvPr id="10" name="Text 8"/>
          <p:cNvSpPr txBox="1"/>
          <p:nvPr/>
        </p:nvSpPr>
        <p:spPr>
          <a:xfrm>
            <a:off x="1874520" y="2121408"/>
            <a:ext cx="1005840" cy="182880"/>
          </a:xfrm>
          <a:prstGeom prst="rect">
            <a:avLst/>
          </a:prstGeom>
          <a:noFill/>
          <a:ln/>
        </p:spPr>
        <p:txBody>
          <a:bodyPr wrap="square" lIns="0" tIns="0" rIns="0" bIns="0" rtlCol="0" anchor="t"/>
          <a:lstStyle/>
          <a:p>
            <a:pPr algn="r" indent="0" marL="0">
              <a:buNone/>
            </a:pPr>
            <a:r>
              <a:rPr lang="en-US" sz="1000" dirty="0">
                <a:solidFill>
                  <a:srgbClr val="9AA7BA"/>
                </a:solidFill>
                <a:latin typeface="Calibri" pitchFamily="34" charset="0"/>
                <a:ea typeface="Calibri" pitchFamily="34" charset="-122"/>
                <a:cs typeface="Calibri" pitchFamily="34" charset="-120"/>
              </a:rPr>
              <a:t>Earth's orbit</a:t>
            </a:r>
            <a:endParaRPr lang="en-US" sz="1000" dirty="0"/>
          </a:p>
        </p:txBody>
      </p:sp>
      <p:sp>
        <p:nvSpPr>
          <p:cNvPr id="11" name="Shape 9"/>
          <p:cNvSpPr/>
          <p:nvPr/>
        </p:nvSpPr>
        <p:spPr>
          <a:xfrm>
            <a:off x="1592521" y="3147001"/>
            <a:ext cx="2758557" cy="2758557"/>
          </a:xfrm>
          <a:prstGeom prst="ellipse">
            <a:avLst/>
          </a:prstGeom>
          <a:noFill/>
          <a:ln w="9525">
            <a:solidFill>
              <a:srgbClr val="5A6A86"/>
            </a:solidFill>
            <a:prstDash val="sysDot"/>
          </a:ln>
        </p:spPr>
      </p:sp>
      <p:sp>
        <p:nvSpPr>
          <p:cNvPr id="12" name="Shape 10"/>
          <p:cNvSpPr/>
          <p:nvPr/>
        </p:nvSpPr>
        <p:spPr>
          <a:xfrm>
            <a:off x="1785928" y="5257605"/>
            <a:ext cx="109728" cy="109728"/>
          </a:xfrm>
          <a:prstGeom prst="ellipse">
            <a:avLst/>
          </a:prstGeom>
          <a:solidFill>
            <a:srgbClr val="C9D3E0"/>
          </a:solidFill>
          <a:ln/>
        </p:spPr>
      </p:sp>
      <p:sp>
        <p:nvSpPr>
          <p:cNvPr id="13" name="Text 11"/>
          <p:cNvSpPr txBox="1"/>
          <p:nvPr/>
        </p:nvSpPr>
        <p:spPr>
          <a:xfrm>
            <a:off x="1490472" y="5367528"/>
            <a:ext cx="822960" cy="182880"/>
          </a:xfrm>
          <a:prstGeom prst="rect">
            <a:avLst/>
          </a:prstGeom>
          <a:noFill/>
          <a:ln/>
        </p:spPr>
        <p:txBody>
          <a:bodyPr wrap="square" lIns="0" tIns="0" rIns="0" bIns="0" rtlCol="0" anchor="t"/>
          <a:lstStyle/>
          <a:p>
            <a:pPr indent="0" marL="0">
              <a:buNone/>
            </a:pPr>
            <a:r>
              <a:rPr lang="en-US" sz="1000" dirty="0">
                <a:solidFill>
                  <a:srgbClr val="9AA7BA"/>
                </a:solidFill>
                <a:latin typeface="Calibri" pitchFamily="34" charset="0"/>
                <a:ea typeface="Calibri" pitchFamily="34" charset="-122"/>
                <a:cs typeface="Calibri" pitchFamily="34" charset="-120"/>
              </a:rPr>
              <a:t>Moon's orbit</a:t>
            </a:r>
            <a:endParaRPr lang="en-US" sz="1000" dirty="0"/>
          </a:p>
        </p:txBody>
      </p:sp>
      <p:sp>
        <p:nvSpPr>
          <p:cNvPr id="14" name="Shape 12"/>
          <p:cNvSpPr/>
          <p:nvPr/>
        </p:nvSpPr>
        <p:spPr>
          <a:xfrm>
            <a:off x="1464784" y="3019264"/>
            <a:ext cx="3014032" cy="3014032"/>
          </a:xfrm>
          <a:prstGeom prst="ellipse">
            <a:avLst/>
          </a:prstGeom>
          <a:noFill/>
          <a:ln w="12700">
            <a:solidFill>
              <a:srgbClr val="C8553D"/>
            </a:solidFill>
            <a:prstDash val="dash"/>
          </a:ln>
        </p:spPr>
      </p:sp>
      <p:sp>
        <p:nvSpPr>
          <p:cNvPr id="15" name="Text 13"/>
          <p:cNvSpPr txBox="1"/>
          <p:nvPr/>
        </p:nvSpPr>
        <p:spPr>
          <a:xfrm>
            <a:off x="640080" y="3200400"/>
            <a:ext cx="1600200" cy="365760"/>
          </a:xfrm>
          <a:prstGeom prst="rect">
            <a:avLst/>
          </a:prstGeom>
          <a:noFill/>
          <a:ln/>
        </p:spPr>
        <p:txBody>
          <a:bodyPr wrap="square" lIns="0" tIns="0" rIns="0" bIns="0" rtlCol="0" anchor="t"/>
          <a:lstStyle/>
          <a:p>
            <a:pPr algn="r" indent="0" marL="0">
              <a:buNone/>
            </a:pPr>
            <a:r>
              <a:rPr lang="en-US" sz="1000" dirty="0">
                <a:solidFill>
                  <a:srgbClr val="F3B6A8"/>
                </a:solidFill>
                <a:latin typeface="Calibri" pitchFamily="34" charset="0"/>
                <a:ea typeface="Calibri" pitchFamily="34" charset="-122"/>
                <a:cs typeface="Calibri" pitchFamily="34" charset="-120"/>
              </a:rPr>
              <a:t>no beam inside 420,000 km</a:t>
            </a:r>
            <a:endParaRPr lang="en-US" sz="1000" dirty="0"/>
          </a:p>
          <a:p>
            <a:pPr algn="r" indent="0" marL="0">
              <a:buNone/>
            </a:pPr>
            <a:r>
              <a:rPr lang="en-US" sz="1000" dirty="0">
                <a:solidFill>
                  <a:srgbClr val="F3B6A8"/>
                </a:solidFill>
                <a:latin typeface="Calibri" pitchFamily="34" charset="0"/>
                <a:ea typeface="Calibri" pitchFamily="34" charset="-122"/>
                <a:cs typeface="Calibri" pitchFamily="34" charset="-120"/>
              </a:rPr>
              <a:t>(closest 448,909 km)</a:t>
            </a:r>
            <a:endParaRPr lang="en-US" sz="1000" dirty="0"/>
          </a:p>
        </p:txBody>
      </p:sp>
      <p:sp>
        <p:nvSpPr>
          <p:cNvPr id="16" name="Shape 14"/>
          <p:cNvSpPr/>
          <p:nvPr/>
        </p:nvSpPr>
        <p:spPr>
          <a:xfrm>
            <a:off x="2697480" y="4251960"/>
            <a:ext cx="548640" cy="548640"/>
          </a:xfrm>
          <a:prstGeom prst="ellipse">
            <a:avLst/>
          </a:prstGeom>
          <a:solidFill>
            <a:srgbClr val="1E5F68"/>
          </a:solidFill>
          <a:ln w="19050">
            <a:solidFill>
              <a:srgbClr val="2A9D8F"/>
            </a:solidFill>
            <a:prstDash val="solid"/>
          </a:ln>
        </p:spPr>
      </p:sp>
      <p:sp>
        <p:nvSpPr>
          <p:cNvPr id="17" name="Text 15"/>
          <p:cNvSpPr txBox="1"/>
          <p:nvPr/>
        </p:nvSpPr>
        <p:spPr>
          <a:xfrm>
            <a:off x="2514600" y="4828032"/>
            <a:ext cx="914400" cy="182880"/>
          </a:xfrm>
          <a:prstGeom prst="rect">
            <a:avLst/>
          </a:prstGeom>
          <a:noFill/>
          <a:ln/>
        </p:spPr>
        <p:txBody>
          <a:bodyPr wrap="square" lIns="0" tIns="0" rIns="0" bIns="0" rtlCol="0" anchor="t"/>
          <a:lstStyle/>
          <a:p>
            <a:pPr algn="ctr" indent="0" marL="0">
              <a:buNone/>
            </a:pPr>
            <a:r>
              <a:rPr lang="en-US" sz="1000" b="1" dirty="0">
                <a:solidFill>
                  <a:srgbClr val="2A9D8F"/>
                </a:solidFill>
                <a:latin typeface="Calibri" pitchFamily="34" charset="0"/>
                <a:ea typeface="Calibri" pitchFamily="34" charset="-122"/>
                <a:cs typeface="Calibri" pitchFamily="34" charset="-120"/>
              </a:rPr>
              <a:t>Earth</a:t>
            </a:r>
            <a:endParaRPr lang="en-US" sz="1000" dirty="0"/>
          </a:p>
        </p:txBody>
      </p:sp>
      <p:sp>
        <p:nvSpPr>
          <p:cNvPr id="18" name="Shape 16"/>
          <p:cNvSpPr/>
          <p:nvPr/>
        </p:nvSpPr>
        <p:spPr>
          <a:xfrm flipV="1">
            <a:off x="2971800" y="3474720"/>
            <a:ext cx="914" cy="758952"/>
          </a:xfrm>
          <a:prstGeom prst="line">
            <a:avLst/>
          </a:prstGeom>
          <a:noFill/>
          <a:ln w="15875">
            <a:solidFill>
              <a:srgbClr val="9AA7BA"/>
            </a:solidFill>
            <a:prstDash val="solid"/>
            <a:tailEnd type="triangle"/>
          </a:ln>
        </p:spPr>
      </p:sp>
      <p:sp>
        <p:nvSpPr>
          <p:cNvPr id="19" name="Text 17"/>
          <p:cNvSpPr txBox="1"/>
          <p:nvPr/>
        </p:nvSpPr>
        <p:spPr>
          <a:xfrm>
            <a:off x="1737360" y="3447288"/>
            <a:ext cx="1170432" cy="182880"/>
          </a:xfrm>
          <a:prstGeom prst="rect">
            <a:avLst/>
          </a:prstGeom>
          <a:noFill/>
          <a:ln/>
        </p:spPr>
        <p:txBody>
          <a:bodyPr wrap="square" lIns="0" tIns="0" rIns="0" bIns="0" rtlCol="0" anchor="t"/>
          <a:lstStyle/>
          <a:p>
            <a:pPr algn="r" indent="0" marL="0">
              <a:buNone/>
            </a:pPr>
            <a:r>
              <a:rPr lang="en-US" sz="1000" dirty="0">
                <a:solidFill>
                  <a:srgbClr val="9AA7BA"/>
                </a:solidFill>
                <a:latin typeface="Calibri" pitchFamily="34" charset="0"/>
                <a:ea typeface="Calibri" pitchFamily="34" charset="-122"/>
                <a:cs typeface="Calibri" pitchFamily="34" charset="-120"/>
              </a:rPr>
              <a:t>orbital velocity</a:t>
            </a:r>
            <a:endParaRPr lang="en-US" sz="1000" dirty="0"/>
          </a:p>
        </p:txBody>
      </p:sp>
      <p:sp>
        <p:nvSpPr>
          <p:cNvPr id="20" name="Shape 18"/>
          <p:cNvSpPr/>
          <p:nvPr/>
        </p:nvSpPr>
        <p:spPr>
          <a:xfrm>
            <a:off x="3264408" y="4526280"/>
            <a:ext cx="758952" cy="914"/>
          </a:xfrm>
          <a:prstGeom prst="line">
            <a:avLst/>
          </a:prstGeom>
          <a:noFill/>
          <a:ln w="15875">
            <a:solidFill>
              <a:srgbClr val="9AA7BA"/>
            </a:solidFill>
            <a:prstDash val="solid"/>
            <a:tailEnd type="triangle"/>
          </a:ln>
        </p:spPr>
      </p:sp>
      <p:sp>
        <p:nvSpPr>
          <p:cNvPr id="21" name="Text 19"/>
          <p:cNvSpPr txBox="1"/>
          <p:nvPr/>
        </p:nvSpPr>
        <p:spPr>
          <a:xfrm>
            <a:off x="3474720" y="4572000"/>
            <a:ext cx="1280160" cy="182880"/>
          </a:xfrm>
          <a:prstGeom prst="rect">
            <a:avLst/>
          </a:prstGeom>
          <a:noFill/>
          <a:ln/>
        </p:spPr>
        <p:txBody>
          <a:bodyPr wrap="square" lIns="0" tIns="0" rIns="0" bIns="0" rtlCol="0" anchor="t"/>
          <a:lstStyle/>
          <a:p>
            <a:pPr indent="0" marL="0">
              <a:buNone/>
            </a:pPr>
            <a:r>
              <a:rPr lang="en-US" sz="1000" dirty="0">
                <a:solidFill>
                  <a:srgbClr val="9AA7BA"/>
                </a:solidFill>
                <a:latin typeface="Calibri" pitchFamily="34" charset="0"/>
                <a:ea typeface="Calibri" pitchFamily="34" charset="-122"/>
                <a:cs typeface="Calibri" pitchFamily="34" charset="-120"/>
              </a:rPr>
              <a:t>away from the Sun</a:t>
            </a:r>
            <a:endParaRPr lang="en-US" sz="1000" dirty="0"/>
          </a:p>
        </p:txBody>
      </p:sp>
      <p:sp>
        <p:nvSpPr>
          <p:cNvPr id="22" name="Shape 20"/>
          <p:cNvSpPr/>
          <p:nvPr/>
        </p:nvSpPr>
        <p:spPr>
          <a:xfrm>
            <a:off x="3372679" y="4125401"/>
            <a:ext cx="166049" cy="400879"/>
          </a:xfrm>
          <a:custGeom>
            <a:avLst/>
            <a:gdLst/>
            <a:ahLst/>
            <a:cxnLst/>
            <a:rect l="l" t="t" r="r" b="b"/>
            <a:pathLst>
              <a:path w="166049" h="400879">
                <a:moveTo>
                  <a:pt x="166049" y="400879"/>
                </a:moveTo>
                <a:lnTo>
                  <a:pt x="164836" y="363800"/>
                </a:lnTo>
                <a:lnTo>
                  <a:pt x="161199" y="326880"/>
                </a:lnTo>
                <a:lnTo>
                  <a:pt x="155156" y="290276"/>
                </a:lnTo>
                <a:lnTo>
                  <a:pt x="146732" y="254147"/>
                </a:lnTo>
                <a:lnTo>
                  <a:pt x="135963" y="218646"/>
                </a:lnTo>
                <a:lnTo>
                  <a:pt x="122895" y="183925"/>
                </a:lnTo>
                <a:lnTo>
                  <a:pt x="107584" y="150133"/>
                </a:lnTo>
                <a:lnTo>
                  <a:pt x="90095" y="117415"/>
                </a:lnTo>
                <a:lnTo>
                  <a:pt x="70505" y="85910"/>
                </a:lnTo>
                <a:lnTo>
                  <a:pt x="48896" y="55755"/>
                </a:lnTo>
                <a:lnTo>
                  <a:pt x="25360" y="27077"/>
                </a:lnTo>
                <a:lnTo>
                  <a:pt x="0" y="0"/>
                </a:lnTo>
              </a:path>
            </a:pathLst>
          </a:custGeom>
          <a:noFill/>
          <a:ln w="12700">
            <a:solidFill>
              <a:srgbClr val="F2A541"/>
            </a:solidFill>
            <a:prstDash val="solid"/>
          </a:ln>
        </p:spPr>
      </p:sp>
      <p:sp>
        <p:nvSpPr>
          <p:cNvPr id="23" name="Text 21"/>
          <p:cNvSpPr txBox="1"/>
          <p:nvPr/>
        </p:nvSpPr>
        <p:spPr>
          <a:xfrm>
            <a:off x="3538728" y="4142232"/>
            <a:ext cx="365760" cy="182880"/>
          </a:xfrm>
          <a:prstGeom prst="rect">
            <a:avLst/>
          </a:prstGeom>
          <a:noFill/>
          <a:ln/>
        </p:spPr>
        <p:txBody>
          <a:bodyPr wrap="square" lIns="0" tIns="0" rIns="0" bIns="0" rtlCol="0" anchor="t"/>
          <a:lstStyle/>
          <a:p>
            <a:pPr indent="0" marL="0">
              <a:buNone/>
            </a:pPr>
            <a:r>
              <a:rPr lang="en-US" sz="1000" b="1" dirty="0">
                <a:solidFill>
                  <a:srgbClr val="F2A541"/>
                </a:solidFill>
                <a:latin typeface="Calibri" pitchFamily="34" charset="0"/>
                <a:ea typeface="Calibri" pitchFamily="34" charset="-122"/>
                <a:cs typeface="Calibri" pitchFamily="34" charset="-120"/>
              </a:rPr>
              <a:t>45°</a:t>
            </a:r>
            <a:endParaRPr lang="en-US" sz="1000" dirty="0"/>
          </a:p>
        </p:txBody>
      </p:sp>
      <p:sp>
        <p:nvSpPr>
          <p:cNvPr id="24" name="Shape 22"/>
          <p:cNvSpPr/>
          <p:nvPr/>
        </p:nvSpPr>
        <p:spPr>
          <a:xfrm>
            <a:off x="4368790" y="2690378"/>
            <a:ext cx="438912" cy="438912"/>
          </a:xfrm>
          <a:prstGeom prst="ellipse">
            <a:avLst/>
          </a:prstGeom>
          <a:solidFill>
            <a:srgbClr val="7C8698"/>
          </a:solidFill>
          <a:ln w="9525">
            <a:solidFill>
              <a:srgbClr val="AEB6C4"/>
            </a:solidFill>
            <a:prstDash val="solid"/>
          </a:ln>
        </p:spPr>
      </p:sp>
      <p:sp>
        <p:nvSpPr>
          <p:cNvPr id="25" name="Shape 23"/>
          <p:cNvSpPr/>
          <p:nvPr/>
        </p:nvSpPr>
        <p:spPr>
          <a:xfrm>
            <a:off x="4478518" y="2818394"/>
            <a:ext cx="91440" cy="91440"/>
          </a:xfrm>
          <a:prstGeom prst="ellipse">
            <a:avLst/>
          </a:prstGeom>
          <a:solidFill>
            <a:srgbClr val="5F6878"/>
          </a:solidFill>
          <a:ln/>
        </p:spPr>
      </p:sp>
      <p:sp>
        <p:nvSpPr>
          <p:cNvPr id="26" name="Shape 24"/>
          <p:cNvSpPr/>
          <p:nvPr/>
        </p:nvSpPr>
        <p:spPr>
          <a:xfrm>
            <a:off x="4629394" y="2941838"/>
            <a:ext cx="64008" cy="64008"/>
          </a:xfrm>
          <a:prstGeom prst="ellipse">
            <a:avLst/>
          </a:prstGeom>
          <a:solidFill>
            <a:srgbClr val="5F6878"/>
          </a:solidFill>
          <a:ln/>
        </p:spPr>
      </p:sp>
      <p:sp>
        <p:nvSpPr>
          <p:cNvPr id="27" name="Shape 25"/>
          <p:cNvSpPr/>
          <p:nvPr/>
        </p:nvSpPr>
        <p:spPr>
          <a:xfrm flipV="1">
            <a:off x="4478518" y="2392571"/>
            <a:ext cx="239044" cy="370959"/>
          </a:xfrm>
          <a:prstGeom prst="line">
            <a:avLst/>
          </a:prstGeom>
          <a:noFill/>
          <a:ln w="9525">
            <a:solidFill>
              <a:srgbClr val="AEB6C4"/>
            </a:solidFill>
            <a:prstDash val="solid"/>
          </a:ln>
        </p:spPr>
      </p:sp>
      <p:sp>
        <p:nvSpPr>
          <p:cNvPr id="28" name="Shape 26"/>
          <p:cNvSpPr/>
          <p:nvPr/>
        </p:nvSpPr>
        <p:spPr>
          <a:xfrm flipV="1">
            <a:off x="4734550" y="2780518"/>
            <a:ext cx="370959" cy="239044"/>
          </a:xfrm>
          <a:prstGeom prst="line">
            <a:avLst/>
          </a:prstGeom>
          <a:noFill/>
          <a:ln w="9525">
            <a:solidFill>
              <a:srgbClr val="AEB6C4"/>
            </a:solidFill>
            <a:prstDash val="solid"/>
          </a:ln>
        </p:spPr>
      </p:sp>
      <p:sp>
        <p:nvSpPr>
          <p:cNvPr id="29" name="Shape 27"/>
          <p:cNvSpPr/>
          <p:nvPr/>
        </p:nvSpPr>
        <p:spPr>
          <a:xfrm>
            <a:off x="4717562" y="2392571"/>
            <a:ext cx="387947" cy="387947"/>
          </a:xfrm>
          <a:prstGeom prst="line">
            <a:avLst/>
          </a:prstGeom>
          <a:noFill/>
          <a:ln w="50800">
            <a:solidFill>
              <a:srgbClr val="FFFFFF"/>
            </a:solidFill>
            <a:prstDash val="solid"/>
          </a:ln>
        </p:spPr>
      </p:sp>
      <p:sp>
        <p:nvSpPr>
          <p:cNvPr id="30" name="Shape 28"/>
          <p:cNvSpPr/>
          <p:nvPr/>
        </p:nvSpPr>
        <p:spPr>
          <a:xfrm>
            <a:off x="685800" y="2586545"/>
            <a:ext cx="4207447" cy="914"/>
          </a:xfrm>
          <a:prstGeom prst="line">
            <a:avLst/>
          </a:prstGeom>
          <a:noFill/>
          <a:ln w="38100">
            <a:solidFill>
              <a:srgbClr val="F2A541">
                <a:alpha val="90000"/>
              </a:srgbClr>
            </a:solidFill>
            <a:prstDash val="solid"/>
            <a:tailEnd type="triangle"/>
          </a:ln>
        </p:spPr>
      </p:sp>
      <p:sp>
        <p:nvSpPr>
          <p:cNvPr id="31" name="Shape 29"/>
          <p:cNvSpPr/>
          <p:nvPr/>
        </p:nvSpPr>
        <p:spPr>
          <a:xfrm>
            <a:off x="4911535" y="2604833"/>
            <a:ext cx="914" cy="3613087"/>
          </a:xfrm>
          <a:prstGeom prst="line">
            <a:avLst/>
          </a:prstGeom>
          <a:noFill/>
          <a:ln w="19050">
            <a:solidFill>
              <a:srgbClr val="F2A541">
                <a:alpha val="70000"/>
              </a:srgbClr>
            </a:solidFill>
            <a:prstDash val="dash"/>
            <a:tailEnd type="triangle"/>
          </a:ln>
        </p:spPr>
      </p:sp>
      <p:sp>
        <p:nvSpPr>
          <p:cNvPr id="32" name="Text 30"/>
          <p:cNvSpPr txBox="1"/>
          <p:nvPr/>
        </p:nvSpPr>
        <p:spPr>
          <a:xfrm>
            <a:off x="685800" y="2330513"/>
            <a:ext cx="3291840" cy="201168"/>
          </a:xfrm>
          <a:prstGeom prst="rect">
            <a:avLst/>
          </a:prstGeom>
          <a:noFill/>
          <a:ln/>
        </p:spPr>
        <p:txBody>
          <a:bodyPr wrap="square" lIns="0" tIns="0" rIns="0" bIns="0" rtlCol="0" anchor="t"/>
          <a:lstStyle/>
          <a:p>
            <a:pPr indent="0" marL="0">
              <a:buNone/>
            </a:pPr>
            <a:r>
              <a:rPr lang="en-US" sz="1000" dirty="0">
                <a:solidFill>
                  <a:srgbClr val="F2A541"/>
                </a:solidFill>
                <a:latin typeface="Calibri" pitchFamily="34" charset="0"/>
                <a:ea typeface="Calibri" pitchFamily="34" charset="-122"/>
                <a:cs typeface="Calibri" pitchFamily="34" charset="-120"/>
              </a:rPr>
              <a:t>← from the beam stations on the Sun's side (E1)</a:t>
            </a:r>
            <a:endParaRPr lang="en-US" sz="1000" dirty="0"/>
          </a:p>
        </p:txBody>
      </p:sp>
      <p:sp>
        <p:nvSpPr>
          <p:cNvPr id="33" name="Text 31"/>
          <p:cNvSpPr txBox="1"/>
          <p:nvPr/>
        </p:nvSpPr>
        <p:spPr>
          <a:xfrm>
            <a:off x="5002975" y="5897880"/>
            <a:ext cx="2011680" cy="329184"/>
          </a:xfrm>
          <a:prstGeom prst="rect">
            <a:avLst/>
          </a:prstGeom>
          <a:noFill/>
          <a:ln/>
        </p:spPr>
        <p:txBody>
          <a:bodyPr wrap="square" lIns="0" tIns="0" rIns="0" bIns="0" rtlCol="0" anchor="t"/>
          <a:lstStyle/>
          <a:p>
            <a:pPr indent="0" marL="0">
              <a:buNone/>
            </a:pPr>
            <a:r>
              <a:rPr lang="en-US" sz="1000" dirty="0">
                <a:solidFill>
                  <a:srgbClr val="F2A541"/>
                </a:solidFill>
                <a:latin typeface="Calibri" pitchFamily="34" charset="0"/>
                <a:ea typeface="Calibri" pitchFamily="34" charset="-122"/>
                <a:cs typeface="Calibri" pitchFamily="34" charset="-120"/>
              </a:rPr>
              <a:t>light leaving: its momentum booked</a:t>
            </a:r>
            <a:endParaRPr lang="en-US" sz="1000" dirty="0"/>
          </a:p>
        </p:txBody>
      </p:sp>
      <p:sp>
        <p:nvSpPr>
          <p:cNvPr id="34" name="Shape 32"/>
          <p:cNvSpPr/>
          <p:nvPr/>
        </p:nvSpPr>
        <p:spPr>
          <a:xfrm flipV="1">
            <a:off x="3191256" y="3657600"/>
            <a:ext cx="649224" cy="649224"/>
          </a:xfrm>
          <a:prstGeom prst="line">
            <a:avLst/>
          </a:prstGeom>
          <a:noFill/>
          <a:ln w="31750">
            <a:solidFill>
              <a:srgbClr val="FFFFFF"/>
            </a:solidFill>
            <a:prstDash val="solid"/>
            <a:tailEnd type="triangle"/>
          </a:ln>
        </p:spPr>
      </p:sp>
      <p:sp>
        <p:nvSpPr>
          <p:cNvPr id="35" name="Text 33"/>
          <p:cNvSpPr txBox="1"/>
          <p:nvPr/>
        </p:nvSpPr>
        <p:spPr>
          <a:xfrm>
            <a:off x="3867912" y="3849624"/>
            <a:ext cx="1828800" cy="36576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asteroid's pull on Earth</a:t>
            </a:r>
            <a:endParaRPr lang="en-US" sz="1000" dirty="0"/>
          </a:p>
          <a:p>
            <a:pPr indent="0" marL="0">
              <a:buNone/>
            </a:pPr>
            <a:r>
              <a:rPr lang="en-US" sz="1000" b="1" dirty="0">
                <a:solidFill>
                  <a:srgbClr val="FFFFFF"/>
                </a:solidFill>
                <a:latin typeface="Calibri" pitchFamily="34" charset="0"/>
                <a:ea typeface="Calibri" pitchFamily="34" charset="-122"/>
                <a:cs typeface="Calibri" pitchFamily="34" charset="-120"/>
              </a:rPr>
              <a:t>3.90 × 10¹⁷ N, 6.53 × 10⁻⁸ m/s²</a:t>
            </a:r>
            <a:endParaRPr lang="en-US" sz="1000" dirty="0"/>
          </a:p>
        </p:txBody>
      </p:sp>
      <p:sp>
        <p:nvSpPr>
          <p:cNvPr id="36" name="Shape 34"/>
          <p:cNvSpPr/>
          <p:nvPr/>
        </p:nvSpPr>
        <p:spPr>
          <a:xfrm flipH="1">
            <a:off x="3902446" y="3092714"/>
            <a:ext cx="502920" cy="502920"/>
          </a:xfrm>
          <a:prstGeom prst="line">
            <a:avLst/>
          </a:prstGeom>
          <a:noFill/>
          <a:ln w="31750">
            <a:solidFill>
              <a:srgbClr val="C9D3E0"/>
            </a:solidFill>
            <a:prstDash val="solid"/>
            <a:tailEnd type="triangle"/>
          </a:ln>
        </p:spPr>
      </p:sp>
      <p:sp>
        <p:nvSpPr>
          <p:cNvPr id="37" name="Text 35"/>
          <p:cNvSpPr txBox="1"/>
          <p:nvPr/>
        </p:nvSpPr>
        <p:spPr>
          <a:xfrm>
            <a:off x="2713726" y="3202442"/>
            <a:ext cx="1188720" cy="365760"/>
          </a:xfrm>
          <a:prstGeom prst="rect">
            <a:avLst/>
          </a:prstGeom>
          <a:noFill/>
          <a:ln/>
        </p:spPr>
        <p:txBody>
          <a:bodyPr wrap="square" lIns="0" tIns="0" rIns="0" bIns="0" rtlCol="0" anchor="t"/>
          <a:lstStyle/>
          <a:p>
            <a:pPr algn="r" indent="0" marL="0">
              <a:buNone/>
            </a:pPr>
            <a:r>
              <a:rPr lang="en-US" sz="1000" dirty="0">
                <a:solidFill>
                  <a:srgbClr val="C9D3E0"/>
                </a:solidFill>
                <a:latin typeface="Calibri" pitchFamily="34" charset="0"/>
                <a:ea typeface="Calibri" pitchFamily="34" charset="-122"/>
                <a:cs typeface="Calibri" pitchFamily="34" charset="-120"/>
              </a:rPr>
              <a:t>Earth's pull back,</a:t>
            </a:r>
            <a:endParaRPr lang="en-US" sz="1000" dirty="0"/>
          </a:p>
          <a:p>
            <a:pPr algn="r" indent="0" marL="0">
              <a:buNone/>
            </a:pPr>
            <a:r>
              <a:rPr lang="en-US" sz="1000" dirty="0">
                <a:solidFill>
                  <a:srgbClr val="C9D3E0"/>
                </a:solidFill>
                <a:latin typeface="Calibri" pitchFamily="34" charset="0"/>
                <a:ea typeface="Calibri" pitchFamily="34" charset="-122"/>
                <a:cs typeface="Calibri" pitchFamily="34" charset="-120"/>
              </a:rPr>
              <a:t>just as strong</a:t>
            </a:r>
            <a:endParaRPr lang="en-US" sz="1000" dirty="0"/>
          </a:p>
        </p:txBody>
      </p:sp>
      <p:sp>
        <p:nvSpPr>
          <p:cNvPr id="38" name="Shape 36"/>
          <p:cNvSpPr/>
          <p:nvPr/>
        </p:nvSpPr>
        <p:spPr>
          <a:xfrm flipV="1">
            <a:off x="4984687" y="1946465"/>
            <a:ext cx="566928" cy="566928"/>
          </a:xfrm>
          <a:prstGeom prst="line">
            <a:avLst/>
          </a:prstGeom>
          <a:noFill/>
          <a:ln w="31750">
            <a:solidFill>
              <a:srgbClr val="F2A541"/>
            </a:solidFill>
            <a:prstDash val="solid"/>
            <a:tailEnd type="triangle"/>
          </a:ln>
        </p:spPr>
      </p:sp>
      <p:sp>
        <p:nvSpPr>
          <p:cNvPr id="39" name="Text 37"/>
          <p:cNvSpPr txBox="1"/>
          <p:nvPr/>
        </p:nvSpPr>
        <p:spPr>
          <a:xfrm>
            <a:off x="5231575" y="1717865"/>
            <a:ext cx="2011680" cy="365760"/>
          </a:xfrm>
          <a:prstGeom prst="rect">
            <a:avLst/>
          </a:prstGeom>
          <a:noFill/>
          <a:ln/>
        </p:spPr>
        <p:txBody>
          <a:bodyPr wrap="square" lIns="0" tIns="0" rIns="0" bIns="0" rtlCol="0" anchor="t"/>
          <a:lstStyle/>
          <a:p>
            <a:pPr indent="0" marL="0">
              <a:buNone/>
            </a:pPr>
            <a:r>
              <a:rPr lang="en-US" sz="1000" b="1" dirty="0">
                <a:solidFill>
                  <a:srgbClr val="F2A541"/>
                </a:solidFill>
                <a:latin typeface="Calibri" pitchFamily="34" charset="0"/>
                <a:ea typeface="Calibri" pitchFamily="34" charset="-122"/>
                <a:cs typeface="Calibri" pitchFamily="34" charset="-120"/>
              </a:rPr>
              <a:t>light push (P/c)(n̂in − n̂out)</a:t>
            </a:r>
            <a:endParaRPr lang="en-US" sz="1000" dirty="0"/>
          </a:p>
          <a:p>
            <a:pPr indent="0" marL="0">
              <a:buNone/>
            </a:pPr>
            <a:r>
              <a:rPr lang="en-US" sz="1000" b="1" dirty="0">
                <a:solidFill>
                  <a:srgbClr val="F2A541"/>
                </a:solidFill>
                <a:latin typeface="Calibri" pitchFamily="34" charset="0"/>
                <a:ea typeface="Calibri" pitchFamily="34" charset="-122"/>
                <a:cs typeface="Calibri" pitchFamily="34" charset="-120"/>
              </a:rPr>
              <a:t>holds the asteroid</a:t>
            </a:r>
            <a:endParaRPr lang="en-US" sz="1000" dirty="0"/>
          </a:p>
        </p:txBody>
      </p:sp>
      <p:sp>
        <p:nvSpPr>
          <p:cNvPr id="40" name="Text 38"/>
          <p:cNvSpPr txBox="1"/>
          <p:nvPr/>
        </p:nvSpPr>
        <p:spPr>
          <a:xfrm rot="-2700000">
            <a:off x="4050792" y="3182112"/>
            <a:ext cx="914400" cy="182880"/>
          </a:xfrm>
          <a:prstGeom prst="rect">
            <a:avLst/>
          </a:prstGeom>
          <a:noFill/>
          <a:ln/>
        </p:spPr>
        <p:txBody>
          <a:bodyPr wrap="square" lIns="0" tIns="0" rIns="0" bIns="0" rtlCol="0" anchor="t"/>
          <a:lstStyle/>
          <a:p>
            <a:pPr indent="0" marL="0">
              <a:buNone/>
            </a:pPr>
            <a:r>
              <a:rPr lang="en-US" sz="1000" dirty="0">
                <a:solidFill>
                  <a:srgbClr val="E8EDF5"/>
                </a:solidFill>
                <a:latin typeface="Calibri" pitchFamily="34" charset="0"/>
                <a:ea typeface="Calibri" pitchFamily="34" charset="-122"/>
                <a:cs typeface="Calibri" pitchFamily="34" charset="-120"/>
              </a:rPr>
              <a:t>637,100 km</a:t>
            </a:r>
            <a:endParaRPr lang="en-US" sz="1000" dirty="0"/>
          </a:p>
        </p:txBody>
      </p:sp>
      <p:sp>
        <p:nvSpPr>
          <p:cNvPr id="41" name="Shape 39"/>
          <p:cNvSpPr/>
          <p:nvPr/>
        </p:nvSpPr>
        <p:spPr>
          <a:xfrm>
            <a:off x="8046720" y="1700784"/>
            <a:ext cx="3639312" cy="868680"/>
          </a:xfrm>
          <a:prstGeom prst="roundRect">
            <a:avLst>
              <a:gd name="adj" fmla="val 8421"/>
            </a:avLst>
          </a:prstGeom>
          <a:solidFill>
            <a:srgbClr val="F1F4F8"/>
          </a:solidFill>
          <a:ln/>
        </p:spPr>
      </p:sp>
      <p:sp>
        <p:nvSpPr>
          <p:cNvPr id="42" name="Text 40"/>
          <p:cNvSpPr/>
          <p:nvPr/>
        </p:nvSpPr>
        <p:spPr>
          <a:xfrm>
            <a:off x="8156448" y="1828800"/>
            <a:ext cx="292608" cy="292608"/>
          </a:xfrm>
          <a:prstGeom prst="ellipse">
            <a:avLst/>
          </a:prstGeom>
          <a:solidFill>
            <a:srgbClr val="6C7A89"/>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3" name="Text 41"/>
          <p:cNvSpPr txBox="1"/>
          <p:nvPr/>
        </p:nvSpPr>
        <p:spPr>
          <a:xfrm>
            <a:off x="8549640" y="1773936"/>
            <a:ext cx="3063240" cy="768096"/>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Tow asteroid</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3.97 × 10²⁰ kg, 336 km radius at 2,500 kg/m³; held 637,100–849,900 km from Earth; E3 places it.</a:t>
            </a:r>
            <a:endParaRPr lang="en-US" sz="1100" dirty="0"/>
          </a:p>
        </p:txBody>
      </p:sp>
      <p:sp>
        <p:nvSpPr>
          <p:cNvPr id="44" name="Shape 42"/>
          <p:cNvSpPr/>
          <p:nvPr/>
        </p:nvSpPr>
        <p:spPr>
          <a:xfrm>
            <a:off x="8046720" y="2647188"/>
            <a:ext cx="3639312" cy="868680"/>
          </a:xfrm>
          <a:prstGeom prst="roundRect">
            <a:avLst>
              <a:gd name="adj" fmla="val 8421"/>
            </a:avLst>
          </a:prstGeom>
          <a:solidFill>
            <a:srgbClr val="F1F4F8"/>
          </a:solidFill>
          <a:ln/>
        </p:spPr>
      </p:sp>
      <p:sp>
        <p:nvSpPr>
          <p:cNvPr id="45" name="Text 43"/>
          <p:cNvSpPr/>
          <p:nvPr/>
        </p:nvSpPr>
        <p:spPr>
          <a:xfrm>
            <a:off x="8156448" y="2775204"/>
            <a:ext cx="292608" cy="292608"/>
          </a:xfrm>
          <a:prstGeom prst="ellipse">
            <a:avLst/>
          </a:prstGeom>
          <a:solidFill>
            <a:srgbClr val="1D6F66"/>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6" name="Text 44"/>
          <p:cNvSpPr txBox="1"/>
          <p:nvPr/>
        </p:nvSpPr>
        <p:spPr>
          <a:xfrm>
            <a:off x="8549640" y="2720340"/>
            <a:ext cx="3063240" cy="768096"/>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The pull</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3.90 × 10¹⁷ N on Earth, 6.53 × 10⁻⁸ m/s². Its along-orbit part widens Earth's orbit a little on every lap (Gauss).</a:t>
            </a:r>
            <a:endParaRPr lang="en-US" sz="1100" dirty="0"/>
          </a:p>
        </p:txBody>
      </p:sp>
      <p:sp>
        <p:nvSpPr>
          <p:cNvPr id="47" name="Shape 45"/>
          <p:cNvSpPr/>
          <p:nvPr/>
        </p:nvSpPr>
        <p:spPr>
          <a:xfrm>
            <a:off x="8046720" y="3593592"/>
            <a:ext cx="3639312" cy="868680"/>
          </a:xfrm>
          <a:prstGeom prst="roundRect">
            <a:avLst>
              <a:gd name="adj" fmla="val 8421"/>
            </a:avLst>
          </a:prstGeom>
          <a:solidFill>
            <a:srgbClr val="F1F4F8"/>
          </a:solidFill>
          <a:ln/>
        </p:spPr>
      </p:sp>
      <p:sp>
        <p:nvSpPr>
          <p:cNvPr id="48" name="Text 46"/>
          <p:cNvSpPr/>
          <p:nvPr/>
        </p:nvSpPr>
        <p:spPr>
          <a:xfrm>
            <a:off x="8156448" y="3721608"/>
            <a:ext cx="292608" cy="292608"/>
          </a:xfrm>
          <a:prstGeom prst="ellipse">
            <a:avLst/>
          </a:prstGeom>
          <a:solidFill>
            <a:srgbClr val="A9630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9" name="Text 47"/>
          <p:cNvSpPr txBox="1"/>
          <p:nvPr/>
        </p:nvSpPr>
        <p:spPr>
          <a:xfrm>
            <a:off x="8549640" y="3666744"/>
            <a:ext cx="3063240" cy="768096"/>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The beam (E1)</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4.7 × 10²⁵–8.9 × 10²⁵ W on the Earth tow; both beams peak at 9.27 × 10²⁵ W of 10²⁶; the stations' recoil (up to 3.1 × 10¹⁷ N) is booked.</a:t>
            </a:r>
            <a:endParaRPr lang="en-US" sz="1100" dirty="0"/>
          </a:p>
        </p:txBody>
      </p:sp>
      <p:sp>
        <p:nvSpPr>
          <p:cNvPr id="50" name="Shape 48"/>
          <p:cNvSpPr/>
          <p:nvPr/>
        </p:nvSpPr>
        <p:spPr>
          <a:xfrm>
            <a:off x="8046720" y="4539996"/>
            <a:ext cx="3639312" cy="868680"/>
          </a:xfrm>
          <a:prstGeom prst="roundRect">
            <a:avLst>
              <a:gd name="adj" fmla="val 8421"/>
            </a:avLst>
          </a:prstGeom>
          <a:solidFill>
            <a:srgbClr val="F1F4F8"/>
          </a:solidFill>
          <a:ln/>
        </p:spPr>
      </p:sp>
      <p:sp>
        <p:nvSpPr>
          <p:cNvPr id="51" name="Text 49"/>
          <p:cNvSpPr/>
          <p:nvPr/>
        </p:nvSpPr>
        <p:spPr>
          <a:xfrm>
            <a:off x="8156448" y="4668012"/>
            <a:ext cx="292608" cy="292608"/>
          </a:xfrm>
          <a:prstGeom prst="ellipse">
            <a:avLst/>
          </a:prstGeom>
          <a:solidFill>
            <a:srgbClr val="3D7DCA"/>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52" name="Text 50"/>
          <p:cNvSpPr txBox="1"/>
          <p:nvPr/>
        </p:nvSpPr>
        <p:spPr>
          <a:xfrm>
            <a:off x="8549640" y="4613148"/>
            <a:ext cx="3063240" cy="768096"/>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The controller</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Asks each step for the force that keeps the asteroid on its spot (10-day response); it strayed at most 2,715 km (0.4%).</a:t>
            </a:r>
            <a:endParaRPr lang="en-US" sz="1100" dirty="0"/>
          </a:p>
        </p:txBody>
      </p:sp>
      <p:sp>
        <p:nvSpPr>
          <p:cNvPr id="53" name="Shape 51"/>
          <p:cNvSpPr/>
          <p:nvPr/>
        </p:nvSpPr>
        <p:spPr>
          <a:xfrm>
            <a:off x="8046720" y="5486400"/>
            <a:ext cx="3639312" cy="868680"/>
          </a:xfrm>
          <a:prstGeom prst="roundRect">
            <a:avLst>
              <a:gd name="adj" fmla="val 8421"/>
            </a:avLst>
          </a:prstGeom>
          <a:solidFill>
            <a:srgbClr val="F1F4F8"/>
          </a:solidFill>
          <a:ln/>
        </p:spPr>
      </p:sp>
      <p:sp>
        <p:nvSpPr>
          <p:cNvPr id="54" name="Text 52"/>
          <p:cNvSpPr/>
          <p:nvPr/>
        </p:nvSpPr>
        <p:spPr>
          <a:xfrm>
            <a:off x="8156448" y="5614416"/>
            <a:ext cx="292608" cy="292608"/>
          </a:xfrm>
          <a:prstGeom prst="ellipse">
            <a:avLst/>
          </a:prstGeom>
          <a:solidFill>
            <a:srgbClr val="C8553D"/>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5" name="Text 53"/>
          <p:cNvSpPr txBox="1"/>
          <p:nvPr/>
        </p:nvSpPr>
        <p:spPr>
          <a:xfrm>
            <a:off x="8549640" y="5559552"/>
            <a:ext cx="3063240" cy="768096"/>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Why 45°</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Light can only push. At 45° the pull grows the orbit most per watt; the mirror stayed at 45.1°–48.7°.</a:t>
            </a:r>
            <a:endParaRPr lang="en-US" sz="1100" dirty="0"/>
          </a:p>
        </p:txBody>
      </p:sp>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6617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12064" y="329184"/>
            <a:ext cx="219456" cy="219456"/>
          </a:xfrm>
          <a:prstGeom prst="ellipse">
            <a:avLst/>
          </a:prstGeom>
          <a:noFill/>
          <a:ln w="15875">
            <a:solidFill>
              <a:srgbClr val="A9630A"/>
            </a:solidFill>
            <a:prstDash val="solid"/>
          </a:ln>
        </p:spPr>
      </p:sp>
      <p:sp>
        <p:nvSpPr>
          <p:cNvPr id="3" name="Shape 1"/>
          <p:cNvSpPr/>
          <p:nvPr/>
        </p:nvSpPr>
        <p:spPr>
          <a:xfrm>
            <a:off x="681228" y="347472"/>
            <a:ext cx="73152" cy="73152"/>
          </a:xfrm>
          <a:prstGeom prst="ellipse">
            <a:avLst/>
          </a:prstGeom>
          <a:solidFill>
            <a:srgbClr val="A9630A"/>
          </a:solidFill>
          <a:ln/>
        </p:spPr>
      </p:sp>
      <p:sp>
        <p:nvSpPr>
          <p:cNvPr id="4" name="Text 0"/>
          <p:cNvSpPr/>
          <p:nvPr>
            <p:ph idx="100" type="body" hasCustomPrompt="1"/>
          </p:nvPr>
        </p:nvSpPr>
        <p:spPr>
          <a:xfrm>
            <a:off x="868680" y="310896"/>
            <a:ext cx="10515600" cy="256032"/>
          </a:xfrm>
          <a:prstGeom prst="rect">
            <a:avLst/>
          </a:prstGeom>
          <a:noFill/>
          <a:ln/>
        </p:spPr>
        <p:txBody>
          <a:bodyPr wrap="square" lIns="0" tIns="0" rIns="0" bIns="0" rtlCol="0" anchor="ctr"/>
          <a:lstStyle/>
          <a:p>
            <a:pPr indent="0" marL="0">
              <a:buNone/>
            </a:pPr>
            <a:r>
              <a:rPr lang="en-US" sz="1050" b="1" spc="100" kern="0" dirty="0">
                <a:solidFill>
                  <a:srgbClr val="A9630A"/>
                </a:solidFill>
                <a:latin typeface="Calibri" pitchFamily="34" charset="0"/>
                <a:ea typeface="Calibri" pitchFamily="34" charset="-122"/>
                <a:cs typeface="Calibri" pitchFamily="34" charset="-120"/>
              </a:rPr>
              <a:t>04 · THE JOURNEY</a:t>
            </a:r>
            <a:endParaRPr lang="en-US" sz="1050" dirty="0"/>
          </a:p>
        </p:txBody>
      </p:sp>
      <p:sp>
        <p:nvSpPr>
          <p:cNvPr id="5" name="Text 0"/>
          <p:cNvSpPr/>
          <p:nvPr>
            <p:ph idx="101" type="title" hasCustomPrompt="1"/>
          </p:nvPr>
        </p:nvSpPr>
        <p:spPr>
          <a:xfrm>
            <a:off x="502920" y="585216"/>
            <a:ext cx="11183112" cy="512064"/>
          </a:xfrm>
          <a:prstGeom prst="rect">
            <a:avLst/>
          </a:prstGeom>
          <a:noFill/>
          <a:ln/>
        </p:spPr>
        <p:txBody>
          <a:bodyPr wrap="square" lIns="0" tIns="0" rIns="0" bIns="0" rtlCol="0" anchor="ctr"/>
          <a:lstStyle/>
          <a:p>
            <a:pPr indent="0" marL="0">
              <a:buNone/>
            </a:pPr>
            <a:r>
              <a:rPr lang="en-US" sz="2800" b="1" dirty="0">
                <a:solidFill>
                  <a:srgbClr val="1A2233"/>
                </a:solidFill>
                <a:latin typeface="Cambria" pitchFamily="34" charset="0"/>
                <a:ea typeface="Cambria" pitchFamily="34" charset="-122"/>
                <a:cs typeface="Cambria" pitchFamily="34" charset="-120"/>
              </a:rPr>
              <a:t>1 AU to 2.7006 AU in 8,758 years</a:t>
            </a:r>
            <a:endParaRPr lang="en-US" sz="2800" dirty="0"/>
          </a:p>
        </p:txBody>
      </p:sp>
      <p:sp>
        <p:nvSpPr>
          <p:cNvPr id="6" name="Text 0"/>
          <p:cNvSpPr/>
          <p:nvPr>
            <p:ph idx="102" type="body" hasCustomPrompt="1"/>
          </p:nvPr>
        </p:nvSpPr>
        <p:spPr>
          <a:xfrm>
            <a:off x="502920" y="1115568"/>
            <a:ext cx="11183112" cy="457200"/>
          </a:xfrm>
          <a:prstGeom prst="rect">
            <a:avLst/>
          </a:prstGeom>
          <a:noFill/>
          <a:ln/>
        </p:spPr>
        <p:txBody>
          <a:bodyPr wrap="square" lIns="0" tIns="0" rIns="0" bIns="0" rtlCol="0" anchor="t"/>
          <a:lstStyle/>
          <a:p>
            <a:pPr indent="0" marL="0">
              <a:buNone/>
            </a:pPr>
            <a:r>
              <a:rPr lang="en-US" sz="1250" dirty="0">
                <a:solidFill>
                  <a:srgbClr val="566173"/>
                </a:solidFill>
                <a:latin typeface="Calibri" pitchFamily="34" charset="0"/>
                <a:ea typeface="Calibri" pitchFamily="34" charset="-122"/>
                <a:cs typeface="Calibri" pitchFamily="34" charset="-120"/>
              </a:rPr>
              <a:t>Mars is moved first and parked at 3.64 AU in year 5,168, so the planets never come closer than 0.373 AU. From 2 AU, Earth's tow trims the arrival orbit to the one Jupiter forces at 2.7 AU.</a:t>
            </a:r>
            <a:endParaRPr lang="en-US" sz="1250" dirty="0"/>
          </a:p>
        </p:txBody>
      </p:sp>
      <p:graphicFrame>
        <p:nvGraphicFramePr>
          <p:cNvPr id="7" name="Chart 0" descr=""/>
          <p:cNvGraphicFramePr/>
          <p:nvPr/>
        </p:nvGraphicFramePr>
        <p:xfrm>
          <a:off x="502920" y="1700784"/>
          <a:ext cx="7178040" cy="30175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4526274" y="1851660"/>
            <a:ext cx="165043" cy="2293315"/>
          </a:xfrm>
          <a:prstGeom prst="rect">
            <a:avLst/>
          </a:prstGeom>
          <a:solidFill>
            <a:srgbClr val="C8553D">
              <a:alpha val="15000"/>
            </a:srgbClr>
          </a:solidFill>
          <a:ln/>
        </p:spPr>
      </p:sp>
      <p:sp>
        <p:nvSpPr>
          <p:cNvPr id="9" name="Text 6"/>
          <p:cNvSpPr txBox="1"/>
          <p:nvPr/>
        </p:nvSpPr>
        <p:spPr>
          <a:xfrm>
            <a:off x="2377434" y="2231841"/>
            <a:ext cx="2103120" cy="365760"/>
          </a:xfrm>
          <a:prstGeom prst="rect">
            <a:avLst/>
          </a:prstGeom>
          <a:noFill/>
          <a:ln/>
        </p:spPr>
        <p:txBody>
          <a:bodyPr wrap="square" lIns="0" tIns="0" rIns="0" bIns="0" rtlCol="0" anchor="t"/>
          <a:lstStyle/>
          <a:p>
            <a:pPr algn="r" indent="0" marL="0">
              <a:buNone/>
            </a:pPr>
            <a:r>
              <a:rPr lang="en-US" sz="1000" dirty="0">
                <a:solidFill>
                  <a:srgbClr val="C8553D"/>
                </a:solidFill>
                <a:latin typeface="Calibri" pitchFamily="34" charset="0"/>
                <a:ea typeface="Calibri" pitchFamily="34" charset="-122"/>
                <a:cs typeface="Calibri" pitchFamily="34" charset="-120"/>
              </a:rPr>
              <a:t>Mars's sprint across Jupiter's 2:1 resonance (3.28 AU)</a:t>
            </a:r>
            <a:endParaRPr lang="en-US" sz="1000" dirty="0"/>
          </a:p>
        </p:txBody>
      </p:sp>
      <p:sp>
        <p:nvSpPr>
          <p:cNvPr id="10" name="Shape 7"/>
          <p:cNvSpPr/>
          <p:nvPr/>
        </p:nvSpPr>
        <p:spPr>
          <a:xfrm>
            <a:off x="4750096" y="2032156"/>
            <a:ext cx="109728" cy="109728"/>
          </a:xfrm>
          <a:prstGeom prst="ellipse">
            <a:avLst/>
          </a:prstGeom>
          <a:solidFill>
            <a:srgbClr val="C8553D"/>
          </a:solidFill>
          <a:ln/>
        </p:spPr>
      </p:sp>
      <p:sp>
        <p:nvSpPr>
          <p:cNvPr id="11" name="Text 8"/>
          <p:cNvSpPr txBox="1"/>
          <p:nvPr/>
        </p:nvSpPr>
        <p:spPr>
          <a:xfrm>
            <a:off x="4914688" y="1684684"/>
            <a:ext cx="2194560" cy="365760"/>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Mars parked at 3.64 AU, year 5,168, e = 0.057</a:t>
            </a:r>
            <a:endParaRPr lang="en-US" sz="1000" dirty="0"/>
          </a:p>
        </p:txBody>
      </p:sp>
      <p:sp>
        <p:nvSpPr>
          <p:cNvPr id="12" name="Shape 9"/>
          <p:cNvSpPr/>
          <p:nvPr/>
        </p:nvSpPr>
        <p:spPr>
          <a:xfrm>
            <a:off x="5519389" y="3107262"/>
            <a:ext cx="109728" cy="109728"/>
          </a:xfrm>
          <a:prstGeom prst="ellipse">
            <a:avLst/>
          </a:prstGeom>
          <a:solidFill>
            <a:srgbClr val="2A9D8F"/>
          </a:solidFill>
          <a:ln/>
        </p:spPr>
      </p:sp>
      <p:sp>
        <p:nvSpPr>
          <p:cNvPr id="13" name="Text 10"/>
          <p:cNvSpPr txBox="1"/>
          <p:nvPr/>
        </p:nvSpPr>
        <p:spPr>
          <a:xfrm>
            <a:off x="3425413" y="3253566"/>
            <a:ext cx="2057400" cy="548640"/>
          </a:xfrm>
          <a:prstGeom prst="rect">
            <a:avLst/>
          </a:prstGeom>
          <a:noFill/>
          <a:ln/>
        </p:spPr>
        <p:txBody>
          <a:bodyPr wrap="square" lIns="0" tIns="0" rIns="0" bIns="0" rtlCol="0" anchor="t"/>
          <a:lstStyle/>
          <a:p>
            <a:pPr algn="r" indent="0" marL="0">
              <a:buNone/>
            </a:pPr>
            <a:r>
              <a:rPr lang="en-US" sz="1000" dirty="0">
                <a:solidFill>
                  <a:srgbClr val="1D6F66"/>
                </a:solidFill>
                <a:latin typeface="Calibri" pitchFamily="34" charset="0"/>
                <a:ea typeface="Calibri" pitchFamily="34" charset="-122"/>
                <a:cs typeface="Calibri" pitchFamily="34" charset="-120"/>
              </a:rPr>
              <a:t>2.0 AU in year 6,239: the arrival trim begins (pull varied up to 40% round each lap, up to 20° off the plane)</a:t>
            </a:r>
            <a:endParaRPr lang="en-US" sz="1000" dirty="0"/>
          </a:p>
        </p:txBody>
      </p:sp>
      <p:sp>
        <p:nvSpPr>
          <p:cNvPr id="14" name="Shape 11"/>
          <p:cNvSpPr/>
          <p:nvPr/>
        </p:nvSpPr>
        <p:spPr>
          <a:xfrm>
            <a:off x="7327616" y="2648206"/>
            <a:ext cx="109728" cy="109728"/>
          </a:xfrm>
          <a:prstGeom prst="ellipse">
            <a:avLst/>
          </a:prstGeom>
          <a:solidFill>
            <a:srgbClr val="2A9D8F"/>
          </a:solidFill>
          <a:ln/>
        </p:spPr>
      </p:sp>
      <p:sp>
        <p:nvSpPr>
          <p:cNvPr id="15" name="Text 12"/>
          <p:cNvSpPr txBox="1"/>
          <p:nvPr/>
        </p:nvSpPr>
        <p:spPr>
          <a:xfrm>
            <a:off x="5782280" y="2812798"/>
            <a:ext cx="1554480" cy="365760"/>
          </a:xfrm>
          <a:prstGeom prst="rect">
            <a:avLst/>
          </a:prstGeom>
          <a:noFill/>
          <a:ln/>
        </p:spPr>
        <p:txBody>
          <a:bodyPr wrap="square" lIns="0" tIns="0" rIns="0" bIns="0" rtlCol="0" anchor="t"/>
          <a:lstStyle/>
          <a:p>
            <a:pPr algn="r" indent="0" marL="0">
              <a:buNone/>
            </a:pPr>
            <a:r>
              <a:rPr lang="en-US" sz="1000" b="1" dirty="0">
                <a:solidFill>
                  <a:srgbClr val="1D6F66"/>
                </a:solidFill>
                <a:latin typeface="Calibri" pitchFamily="34" charset="0"/>
                <a:ea typeface="Calibri" pitchFamily="34" charset="-122"/>
                <a:cs typeface="Calibri" pitchFamily="34" charset="-120"/>
              </a:rPr>
              <a:t>arrives year 8,758</a:t>
            </a:r>
            <a:endParaRPr lang="en-US" sz="1000" dirty="0"/>
          </a:p>
          <a:p>
            <a:pPr algn="r" indent="0" marL="0">
              <a:buNone/>
            </a:pPr>
            <a:r>
              <a:rPr lang="en-US" sz="1000" b="1" dirty="0">
                <a:solidFill>
                  <a:srgbClr val="1D6F66"/>
                </a:solidFill>
                <a:latin typeface="Calibri" pitchFamily="34" charset="0"/>
                <a:ea typeface="Calibri" pitchFamily="34" charset="-122"/>
                <a:cs typeface="Calibri" pitchFamily="34" charset="-120"/>
              </a:rPr>
              <a:t>e = 0.033, tilt 1.29°</a:t>
            </a:r>
            <a:endParaRPr lang="en-US" sz="1000" dirty="0"/>
          </a:p>
        </p:txBody>
      </p:sp>
      <p:sp>
        <p:nvSpPr>
          <p:cNvPr id="16" name="Text 13"/>
          <p:cNvSpPr txBox="1"/>
          <p:nvPr/>
        </p:nvSpPr>
        <p:spPr>
          <a:xfrm>
            <a:off x="1186548" y="3405879"/>
            <a:ext cx="2377440" cy="365760"/>
          </a:xfrm>
          <a:prstGeom prst="rect">
            <a:avLst/>
          </a:prstGeom>
          <a:noFill/>
          <a:ln/>
        </p:spPr>
        <p:txBody>
          <a:bodyPr wrap="square" lIns="0" tIns="0" rIns="0" bIns="0" rtlCol="0" anchor="t"/>
          <a:lstStyle/>
          <a:p>
            <a:pPr indent="0" marL="0">
              <a:buNone/>
            </a:pPr>
            <a:r>
              <a:rPr lang="en-US" sz="1000" dirty="0">
                <a:solidFill>
                  <a:srgbClr val="566173"/>
                </a:solidFill>
                <a:latin typeface="Calibri" pitchFamily="34" charset="0"/>
                <a:ea typeface="Calibri" pitchFamily="34" charset="-122"/>
                <a:cs typeface="Calibri" pitchFamily="34" charset="-120"/>
              </a:rPr>
              <a:t>closest Earth–Mars: 0.373 AU, at the start</a:t>
            </a:r>
            <a:endParaRPr lang="en-US" sz="1000" dirty="0"/>
          </a:p>
        </p:txBody>
      </p:sp>
      <p:sp>
        <p:nvSpPr>
          <p:cNvPr id="17" name="Shape 14"/>
          <p:cNvSpPr/>
          <p:nvPr/>
        </p:nvSpPr>
        <p:spPr>
          <a:xfrm>
            <a:off x="7909560" y="1700784"/>
            <a:ext cx="3776472" cy="3017520"/>
          </a:xfrm>
          <a:prstGeom prst="roundRect">
            <a:avLst>
              <a:gd name="adj" fmla="val 2424"/>
            </a:avLst>
          </a:prstGeom>
          <a:solidFill>
            <a:srgbClr val="F1F4F8"/>
          </a:solidFill>
          <a:ln/>
        </p:spPr>
      </p:sp>
      <p:sp>
        <p:nvSpPr>
          <p:cNvPr id="18" name="Text 15"/>
          <p:cNvSpPr txBox="1"/>
          <p:nvPr/>
        </p:nvSpPr>
        <p:spPr>
          <a:xfrm>
            <a:off x="8065008" y="1792224"/>
            <a:ext cx="3520440" cy="914400"/>
          </a:xfrm>
          <a:prstGeom prst="rect">
            <a:avLst/>
          </a:prstGeom>
          <a:noFill/>
          <a:ln/>
        </p:spPr>
        <p:txBody>
          <a:bodyPr wrap="square" lIns="0" tIns="0" rIns="0" bIns="0" rtlCol="0" anchor="t"/>
          <a:lstStyle/>
          <a:p>
            <a:pPr indent="0" marL="0">
              <a:buNone/>
            </a:pPr>
            <a:r>
              <a:rPr lang="en-US" sz="1200" b="1" dirty="0">
                <a:solidFill>
                  <a:srgbClr val="1A2233"/>
                </a:solidFill>
                <a:latin typeface="Calibri" pitchFamily="34" charset="0"/>
                <a:ea typeface="Calibri" pitchFamily="34" charset="-122"/>
                <a:cs typeface="Calibri" pitchFamily="34" charset="-120"/>
              </a:rPr>
              <a:t>Crossing Jupiter's 2:1 resonance</a:t>
            </a:r>
            <a:pPr indent="0" marL="0">
              <a:buNone/>
            </a:pPr>
            <a:endParaRPr lang="en-US" sz="1100" dirty="0"/>
          </a:p>
          <a:p>
            <a:pPr indent="0" marL="0">
              <a:buNone/>
            </a:pPr>
            <a:r>
              <a:rPr lang="en-US" sz="1000" dirty="0">
                <a:solidFill>
                  <a:srgbClr val="566173"/>
                </a:solidFill>
                <a:latin typeface="Calibri" pitchFamily="34" charset="0"/>
                <a:ea typeface="Calibri" pitchFamily="34" charset="-122"/>
                <a:cs typeface="Calibri" pitchFamily="34" charset="-120"/>
              </a:rPr>
              <a:t>At 3.28 AU Mars's year is half Jupiter's, and a slow crossing gets caught. Eight starting points per pull; a filled dot never reached its parking orbit.</a:t>
            </a:r>
            <a:endParaRPr lang="en-US" sz="1100" dirty="0"/>
          </a:p>
        </p:txBody>
      </p:sp>
      <p:sp>
        <p:nvSpPr>
          <p:cNvPr id="19" name="Text 16"/>
          <p:cNvSpPr txBox="1"/>
          <p:nvPr/>
        </p:nvSpPr>
        <p:spPr>
          <a:xfrm>
            <a:off x="8065008" y="2724912"/>
            <a:ext cx="1234440" cy="201168"/>
          </a:xfrm>
          <a:prstGeom prst="rect">
            <a:avLst/>
          </a:prstGeom>
          <a:noFill/>
          <a:ln/>
        </p:spPr>
        <p:txBody>
          <a:bodyPr wrap="square" lIns="0" tIns="0" rIns="0" bIns="0" rtlCol="0" anchor="t"/>
          <a:lstStyle/>
          <a:p>
            <a:pPr indent="0" marL="0">
              <a:buNone/>
            </a:pPr>
            <a:r>
              <a:rPr lang="en-US" sz="1000" dirty="0">
                <a:solidFill>
                  <a:srgbClr val="1A2233"/>
                </a:solidFill>
                <a:latin typeface="Calibri" pitchFamily="34" charset="0"/>
                <a:ea typeface="Calibri" pitchFamily="34" charset="-122"/>
                <a:cs typeface="Calibri" pitchFamily="34" charset="-120"/>
              </a:rPr>
              <a:t>normal pull</a:t>
            </a:r>
            <a:endParaRPr lang="en-US" sz="1000" dirty="0"/>
          </a:p>
        </p:txBody>
      </p:sp>
      <p:sp>
        <p:nvSpPr>
          <p:cNvPr id="20" name="Shape 17"/>
          <p:cNvSpPr/>
          <p:nvPr/>
        </p:nvSpPr>
        <p:spPr>
          <a:xfrm>
            <a:off x="9340596" y="2747772"/>
            <a:ext cx="155448" cy="155448"/>
          </a:xfrm>
          <a:prstGeom prst="ellipse">
            <a:avLst/>
          </a:prstGeom>
          <a:solidFill>
            <a:srgbClr val="C8553D"/>
          </a:solidFill>
          <a:ln/>
        </p:spPr>
      </p:sp>
      <p:sp>
        <p:nvSpPr>
          <p:cNvPr id="21" name="Shape 18"/>
          <p:cNvSpPr/>
          <p:nvPr/>
        </p:nvSpPr>
        <p:spPr>
          <a:xfrm>
            <a:off x="9569196" y="2747772"/>
            <a:ext cx="155448" cy="155448"/>
          </a:xfrm>
          <a:prstGeom prst="ellipse">
            <a:avLst/>
          </a:prstGeom>
          <a:solidFill>
            <a:srgbClr val="C8553D"/>
          </a:solidFill>
          <a:ln/>
        </p:spPr>
      </p:sp>
      <p:sp>
        <p:nvSpPr>
          <p:cNvPr id="22" name="Shape 19"/>
          <p:cNvSpPr/>
          <p:nvPr/>
        </p:nvSpPr>
        <p:spPr>
          <a:xfrm>
            <a:off x="9797796" y="2747772"/>
            <a:ext cx="155448" cy="155448"/>
          </a:xfrm>
          <a:prstGeom prst="ellipse">
            <a:avLst/>
          </a:prstGeom>
          <a:solidFill>
            <a:srgbClr val="C8553D"/>
          </a:solidFill>
          <a:ln/>
        </p:spPr>
      </p:sp>
      <p:sp>
        <p:nvSpPr>
          <p:cNvPr id="23" name="Shape 20"/>
          <p:cNvSpPr/>
          <p:nvPr/>
        </p:nvSpPr>
        <p:spPr>
          <a:xfrm>
            <a:off x="10026396" y="2747772"/>
            <a:ext cx="155448" cy="155448"/>
          </a:xfrm>
          <a:prstGeom prst="ellipse">
            <a:avLst/>
          </a:prstGeom>
          <a:solidFill>
            <a:srgbClr val="C8553D"/>
          </a:solidFill>
          <a:ln/>
        </p:spPr>
      </p:sp>
      <p:sp>
        <p:nvSpPr>
          <p:cNvPr id="24" name="Shape 21"/>
          <p:cNvSpPr/>
          <p:nvPr/>
        </p:nvSpPr>
        <p:spPr>
          <a:xfrm>
            <a:off x="10254996" y="2747772"/>
            <a:ext cx="155448" cy="155448"/>
          </a:xfrm>
          <a:prstGeom prst="ellipse">
            <a:avLst/>
          </a:prstGeom>
          <a:solidFill>
            <a:srgbClr val="C8553D"/>
          </a:solidFill>
          <a:ln/>
        </p:spPr>
      </p:sp>
      <p:sp>
        <p:nvSpPr>
          <p:cNvPr id="25" name="Shape 22"/>
          <p:cNvSpPr/>
          <p:nvPr/>
        </p:nvSpPr>
        <p:spPr>
          <a:xfrm>
            <a:off x="10483596" y="2747772"/>
            <a:ext cx="155448" cy="155448"/>
          </a:xfrm>
          <a:prstGeom prst="ellipse">
            <a:avLst/>
          </a:prstGeom>
          <a:solidFill>
            <a:srgbClr val="C8553D"/>
          </a:solidFill>
          <a:ln/>
        </p:spPr>
      </p:sp>
      <p:sp>
        <p:nvSpPr>
          <p:cNvPr id="26" name="Shape 23"/>
          <p:cNvSpPr/>
          <p:nvPr/>
        </p:nvSpPr>
        <p:spPr>
          <a:xfrm>
            <a:off x="10712196" y="2747772"/>
            <a:ext cx="155448" cy="155448"/>
          </a:xfrm>
          <a:prstGeom prst="ellipse">
            <a:avLst/>
          </a:prstGeom>
          <a:noFill/>
          <a:ln w="15875">
            <a:solidFill>
              <a:srgbClr val="8A94A6"/>
            </a:solidFill>
            <a:prstDash val="solid"/>
          </a:ln>
        </p:spPr>
      </p:sp>
      <p:sp>
        <p:nvSpPr>
          <p:cNvPr id="27" name="Shape 24"/>
          <p:cNvSpPr/>
          <p:nvPr/>
        </p:nvSpPr>
        <p:spPr>
          <a:xfrm>
            <a:off x="10940796" y="2747772"/>
            <a:ext cx="155448" cy="155448"/>
          </a:xfrm>
          <a:prstGeom prst="ellipse">
            <a:avLst/>
          </a:prstGeom>
          <a:noFill/>
          <a:ln w="15875">
            <a:solidFill>
              <a:srgbClr val="8A94A6"/>
            </a:solidFill>
            <a:prstDash val="solid"/>
          </a:ln>
        </p:spPr>
      </p:sp>
      <p:sp>
        <p:nvSpPr>
          <p:cNvPr id="28" name="Text 25"/>
          <p:cNvSpPr txBox="1"/>
          <p:nvPr/>
        </p:nvSpPr>
        <p:spPr>
          <a:xfrm>
            <a:off x="11247120" y="2724912"/>
            <a:ext cx="365760" cy="201168"/>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6/8</a:t>
            </a:r>
            <a:endParaRPr lang="en-US" sz="1000" dirty="0"/>
          </a:p>
        </p:txBody>
      </p:sp>
      <p:sp>
        <p:nvSpPr>
          <p:cNvPr id="29" name="Text 26"/>
          <p:cNvSpPr txBox="1"/>
          <p:nvPr/>
        </p:nvSpPr>
        <p:spPr>
          <a:xfrm>
            <a:off x="8065008" y="3090672"/>
            <a:ext cx="1234440" cy="201168"/>
          </a:xfrm>
          <a:prstGeom prst="rect">
            <a:avLst/>
          </a:prstGeom>
          <a:noFill/>
          <a:ln/>
        </p:spPr>
        <p:txBody>
          <a:bodyPr wrap="square" lIns="0" tIns="0" rIns="0" bIns="0" rtlCol="0" anchor="t"/>
          <a:lstStyle/>
          <a:p>
            <a:pPr indent="0" marL="0">
              <a:buNone/>
            </a:pPr>
            <a:r>
              <a:rPr lang="en-US" sz="1000" dirty="0">
                <a:solidFill>
                  <a:srgbClr val="1A2233"/>
                </a:solidFill>
                <a:latin typeface="Calibri" pitchFamily="34" charset="0"/>
                <a:ea typeface="Calibri" pitchFamily="34" charset="-122"/>
                <a:cs typeface="Calibri" pitchFamily="34" charset="-120"/>
              </a:rPr>
              <a:t>1.56× sprint</a:t>
            </a:r>
            <a:endParaRPr lang="en-US" sz="1000" dirty="0"/>
          </a:p>
        </p:txBody>
      </p:sp>
      <p:sp>
        <p:nvSpPr>
          <p:cNvPr id="30" name="Shape 27"/>
          <p:cNvSpPr/>
          <p:nvPr/>
        </p:nvSpPr>
        <p:spPr>
          <a:xfrm>
            <a:off x="9340596" y="3113532"/>
            <a:ext cx="155448" cy="155448"/>
          </a:xfrm>
          <a:prstGeom prst="ellipse">
            <a:avLst/>
          </a:prstGeom>
          <a:solidFill>
            <a:srgbClr val="C8553D"/>
          </a:solidFill>
          <a:ln/>
        </p:spPr>
      </p:sp>
      <p:sp>
        <p:nvSpPr>
          <p:cNvPr id="31" name="Shape 28"/>
          <p:cNvSpPr/>
          <p:nvPr/>
        </p:nvSpPr>
        <p:spPr>
          <a:xfrm>
            <a:off x="9569196" y="3113532"/>
            <a:ext cx="155448" cy="155448"/>
          </a:xfrm>
          <a:prstGeom prst="ellipse">
            <a:avLst/>
          </a:prstGeom>
          <a:solidFill>
            <a:srgbClr val="C8553D"/>
          </a:solidFill>
          <a:ln/>
        </p:spPr>
      </p:sp>
      <p:sp>
        <p:nvSpPr>
          <p:cNvPr id="32" name="Shape 29"/>
          <p:cNvSpPr/>
          <p:nvPr/>
        </p:nvSpPr>
        <p:spPr>
          <a:xfrm>
            <a:off x="9797796" y="3113532"/>
            <a:ext cx="155448" cy="155448"/>
          </a:xfrm>
          <a:prstGeom prst="ellipse">
            <a:avLst/>
          </a:prstGeom>
          <a:noFill/>
          <a:ln w="15875">
            <a:solidFill>
              <a:srgbClr val="8A94A6"/>
            </a:solidFill>
            <a:prstDash val="solid"/>
          </a:ln>
        </p:spPr>
      </p:sp>
      <p:sp>
        <p:nvSpPr>
          <p:cNvPr id="33" name="Shape 30"/>
          <p:cNvSpPr/>
          <p:nvPr/>
        </p:nvSpPr>
        <p:spPr>
          <a:xfrm>
            <a:off x="10026396" y="3113532"/>
            <a:ext cx="155448" cy="155448"/>
          </a:xfrm>
          <a:prstGeom prst="ellipse">
            <a:avLst/>
          </a:prstGeom>
          <a:noFill/>
          <a:ln w="15875">
            <a:solidFill>
              <a:srgbClr val="8A94A6"/>
            </a:solidFill>
            <a:prstDash val="solid"/>
          </a:ln>
        </p:spPr>
      </p:sp>
      <p:sp>
        <p:nvSpPr>
          <p:cNvPr id="34" name="Shape 31"/>
          <p:cNvSpPr/>
          <p:nvPr/>
        </p:nvSpPr>
        <p:spPr>
          <a:xfrm>
            <a:off x="10254996" y="3113532"/>
            <a:ext cx="155448" cy="155448"/>
          </a:xfrm>
          <a:prstGeom prst="ellipse">
            <a:avLst/>
          </a:prstGeom>
          <a:noFill/>
          <a:ln w="15875">
            <a:solidFill>
              <a:srgbClr val="8A94A6"/>
            </a:solidFill>
            <a:prstDash val="solid"/>
          </a:ln>
        </p:spPr>
      </p:sp>
      <p:sp>
        <p:nvSpPr>
          <p:cNvPr id="35" name="Shape 32"/>
          <p:cNvSpPr/>
          <p:nvPr/>
        </p:nvSpPr>
        <p:spPr>
          <a:xfrm>
            <a:off x="10483596" y="3113532"/>
            <a:ext cx="155448" cy="155448"/>
          </a:xfrm>
          <a:prstGeom prst="ellipse">
            <a:avLst/>
          </a:prstGeom>
          <a:noFill/>
          <a:ln w="15875">
            <a:solidFill>
              <a:srgbClr val="8A94A6"/>
            </a:solidFill>
            <a:prstDash val="solid"/>
          </a:ln>
        </p:spPr>
      </p:sp>
      <p:sp>
        <p:nvSpPr>
          <p:cNvPr id="36" name="Shape 33"/>
          <p:cNvSpPr/>
          <p:nvPr/>
        </p:nvSpPr>
        <p:spPr>
          <a:xfrm>
            <a:off x="10712196" y="3113532"/>
            <a:ext cx="155448" cy="155448"/>
          </a:xfrm>
          <a:prstGeom prst="ellipse">
            <a:avLst/>
          </a:prstGeom>
          <a:noFill/>
          <a:ln w="15875">
            <a:solidFill>
              <a:srgbClr val="8A94A6"/>
            </a:solidFill>
            <a:prstDash val="solid"/>
          </a:ln>
        </p:spPr>
      </p:sp>
      <p:sp>
        <p:nvSpPr>
          <p:cNvPr id="37" name="Shape 34"/>
          <p:cNvSpPr/>
          <p:nvPr/>
        </p:nvSpPr>
        <p:spPr>
          <a:xfrm>
            <a:off x="10940796" y="3113532"/>
            <a:ext cx="155448" cy="155448"/>
          </a:xfrm>
          <a:prstGeom prst="ellipse">
            <a:avLst/>
          </a:prstGeom>
          <a:noFill/>
          <a:ln w="15875">
            <a:solidFill>
              <a:srgbClr val="8A94A6"/>
            </a:solidFill>
            <a:prstDash val="solid"/>
          </a:ln>
        </p:spPr>
      </p:sp>
      <p:sp>
        <p:nvSpPr>
          <p:cNvPr id="38" name="Text 35"/>
          <p:cNvSpPr txBox="1"/>
          <p:nvPr/>
        </p:nvSpPr>
        <p:spPr>
          <a:xfrm>
            <a:off x="11247120" y="3090672"/>
            <a:ext cx="365760" cy="201168"/>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2/8</a:t>
            </a:r>
            <a:endParaRPr lang="en-US" sz="1000" dirty="0"/>
          </a:p>
        </p:txBody>
      </p:sp>
      <p:sp>
        <p:nvSpPr>
          <p:cNvPr id="39" name="Text 36"/>
          <p:cNvSpPr txBox="1"/>
          <p:nvPr/>
        </p:nvSpPr>
        <p:spPr>
          <a:xfrm>
            <a:off x="8065008" y="3456432"/>
            <a:ext cx="1234440" cy="201168"/>
          </a:xfrm>
          <a:prstGeom prst="rect">
            <a:avLst/>
          </a:prstGeom>
          <a:noFill/>
          <a:ln/>
        </p:spPr>
        <p:txBody>
          <a:bodyPr wrap="square" lIns="0" tIns="0" rIns="0" bIns="0" rtlCol="0" anchor="t"/>
          <a:lstStyle/>
          <a:p>
            <a:pPr indent="0" marL="0">
              <a:buNone/>
            </a:pPr>
            <a:r>
              <a:rPr lang="en-US" sz="1000" dirty="0">
                <a:solidFill>
                  <a:srgbClr val="1A2233"/>
                </a:solidFill>
                <a:latin typeface="Calibri" pitchFamily="34" charset="0"/>
                <a:ea typeface="Calibri" pitchFamily="34" charset="-122"/>
                <a:cs typeface="Calibri" pitchFamily="34" charset="-120"/>
              </a:rPr>
              <a:t>3.3× sprint</a:t>
            </a:r>
            <a:endParaRPr lang="en-US" sz="1000" dirty="0"/>
          </a:p>
        </p:txBody>
      </p:sp>
      <p:sp>
        <p:nvSpPr>
          <p:cNvPr id="40" name="Shape 37"/>
          <p:cNvSpPr/>
          <p:nvPr/>
        </p:nvSpPr>
        <p:spPr>
          <a:xfrm>
            <a:off x="9340596" y="3479292"/>
            <a:ext cx="155448" cy="155448"/>
          </a:xfrm>
          <a:prstGeom prst="ellipse">
            <a:avLst/>
          </a:prstGeom>
          <a:noFill/>
          <a:ln w="15875">
            <a:solidFill>
              <a:srgbClr val="8A94A6"/>
            </a:solidFill>
            <a:prstDash val="solid"/>
          </a:ln>
        </p:spPr>
      </p:sp>
      <p:sp>
        <p:nvSpPr>
          <p:cNvPr id="41" name="Shape 38"/>
          <p:cNvSpPr/>
          <p:nvPr/>
        </p:nvSpPr>
        <p:spPr>
          <a:xfrm>
            <a:off x="9569196" y="3479292"/>
            <a:ext cx="155448" cy="155448"/>
          </a:xfrm>
          <a:prstGeom prst="ellipse">
            <a:avLst/>
          </a:prstGeom>
          <a:noFill/>
          <a:ln w="15875">
            <a:solidFill>
              <a:srgbClr val="8A94A6"/>
            </a:solidFill>
            <a:prstDash val="solid"/>
          </a:ln>
        </p:spPr>
      </p:sp>
      <p:sp>
        <p:nvSpPr>
          <p:cNvPr id="42" name="Shape 39"/>
          <p:cNvSpPr/>
          <p:nvPr/>
        </p:nvSpPr>
        <p:spPr>
          <a:xfrm>
            <a:off x="9797796" y="3479292"/>
            <a:ext cx="155448" cy="155448"/>
          </a:xfrm>
          <a:prstGeom prst="ellipse">
            <a:avLst/>
          </a:prstGeom>
          <a:noFill/>
          <a:ln w="15875">
            <a:solidFill>
              <a:srgbClr val="8A94A6"/>
            </a:solidFill>
            <a:prstDash val="solid"/>
          </a:ln>
        </p:spPr>
      </p:sp>
      <p:sp>
        <p:nvSpPr>
          <p:cNvPr id="43" name="Shape 40"/>
          <p:cNvSpPr/>
          <p:nvPr/>
        </p:nvSpPr>
        <p:spPr>
          <a:xfrm>
            <a:off x="10026396" y="3479292"/>
            <a:ext cx="155448" cy="155448"/>
          </a:xfrm>
          <a:prstGeom prst="ellipse">
            <a:avLst/>
          </a:prstGeom>
          <a:noFill/>
          <a:ln w="15875">
            <a:solidFill>
              <a:srgbClr val="8A94A6"/>
            </a:solidFill>
            <a:prstDash val="solid"/>
          </a:ln>
        </p:spPr>
      </p:sp>
      <p:sp>
        <p:nvSpPr>
          <p:cNvPr id="44" name="Shape 41"/>
          <p:cNvSpPr/>
          <p:nvPr/>
        </p:nvSpPr>
        <p:spPr>
          <a:xfrm>
            <a:off x="10254996" y="3479292"/>
            <a:ext cx="155448" cy="155448"/>
          </a:xfrm>
          <a:prstGeom prst="ellipse">
            <a:avLst/>
          </a:prstGeom>
          <a:noFill/>
          <a:ln w="15875">
            <a:solidFill>
              <a:srgbClr val="8A94A6"/>
            </a:solidFill>
            <a:prstDash val="solid"/>
          </a:ln>
        </p:spPr>
      </p:sp>
      <p:sp>
        <p:nvSpPr>
          <p:cNvPr id="45" name="Shape 42"/>
          <p:cNvSpPr/>
          <p:nvPr/>
        </p:nvSpPr>
        <p:spPr>
          <a:xfrm>
            <a:off x="10483596" y="3479292"/>
            <a:ext cx="155448" cy="155448"/>
          </a:xfrm>
          <a:prstGeom prst="ellipse">
            <a:avLst/>
          </a:prstGeom>
          <a:noFill/>
          <a:ln w="15875">
            <a:solidFill>
              <a:srgbClr val="8A94A6"/>
            </a:solidFill>
            <a:prstDash val="solid"/>
          </a:ln>
        </p:spPr>
      </p:sp>
      <p:sp>
        <p:nvSpPr>
          <p:cNvPr id="46" name="Shape 43"/>
          <p:cNvSpPr/>
          <p:nvPr/>
        </p:nvSpPr>
        <p:spPr>
          <a:xfrm>
            <a:off x="10712196" y="3479292"/>
            <a:ext cx="155448" cy="155448"/>
          </a:xfrm>
          <a:prstGeom prst="ellipse">
            <a:avLst/>
          </a:prstGeom>
          <a:noFill/>
          <a:ln w="15875">
            <a:solidFill>
              <a:srgbClr val="8A94A6"/>
            </a:solidFill>
            <a:prstDash val="solid"/>
          </a:ln>
        </p:spPr>
      </p:sp>
      <p:sp>
        <p:nvSpPr>
          <p:cNvPr id="47" name="Shape 44"/>
          <p:cNvSpPr/>
          <p:nvPr/>
        </p:nvSpPr>
        <p:spPr>
          <a:xfrm>
            <a:off x="10940796" y="3479292"/>
            <a:ext cx="155448" cy="155448"/>
          </a:xfrm>
          <a:prstGeom prst="ellipse">
            <a:avLst/>
          </a:prstGeom>
          <a:noFill/>
          <a:ln w="15875">
            <a:solidFill>
              <a:srgbClr val="8A94A6"/>
            </a:solidFill>
            <a:prstDash val="solid"/>
          </a:ln>
        </p:spPr>
      </p:sp>
      <p:sp>
        <p:nvSpPr>
          <p:cNvPr id="48" name="Text 45"/>
          <p:cNvSpPr txBox="1"/>
          <p:nvPr/>
        </p:nvSpPr>
        <p:spPr>
          <a:xfrm>
            <a:off x="11247120" y="3456432"/>
            <a:ext cx="365760" cy="201168"/>
          </a:xfrm>
          <a:prstGeom prst="rect">
            <a:avLst/>
          </a:prstGeom>
          <a:noFill/>
          <a:ln/>
        </p:spPr>
        <p:txBody>
          <a:bodyPr wrap="square" lIns="0" tIns="0" rIns="0" bIns="0" rtlCol="0" anchor="t"/>
          <a:lstStyle/>
          <a:p>
            <a:pPr indent="0" marL="0">
              <a:buNone/>
            </a:pPr>
            <a:r>
              <a:rPr lang="en-US" sz="1000" b="1" dirty="0">
                <a:solidFill>
                  <a:srgbClr val="2F9E5B"/>
                </a:solidFill>
                <a:latin typeface="Calibri" pitchFamily="34" charset="0"/>
                <a:ea typeface="Calibri" pitchFamily="34" charset="-122"/>
                <a:cs typeface="Calibri" pitchFamily="34" charset="-120"/>
              </a:rPr>
              <a:t>0/8</a:t>
            </a:r>
            <a:endParaRPr lang="en-US" sz="1000" dirty="0"/>
          </a:p>
        </p:txBody>
      </p:sp>
      <p:sp>
        <p:nvSpPr>
          <p:cNvPr id="49" name="Text 46"/>
          <p:cNvSpPr txBox="1"/>
          <p:nvPr/>
        </p:nvSpPr>
        <p:spPr>
          <a:xfrm>
            <a:off x="8065008" y="3822192"/>
            <a:ext cx="1234440" cy="201168"/>
          </a:xfrm>
          <a:prstGeom prst="rect">
            <a:avLst/>
          </a:prstGeom>
          <a:noFill/>
          <a:ln/>
        </p:spPr>
        <p:txBody>
          <a:bodyPr wrap="square" lIns="0" tIns="0" rIns="0" bIns="0" rtlCol="0" anchor="t"/>
          <a:lstStyle/>
          <a:p>
            <a:pPr indent="0" marL="0">
              <a:buNone/>
            </a:pPr>
            <a:r>
              <a:rPr lang="en-US" sz="1000" dirty="0">
                <a:solidFill>
                  <a:srgbClr val="1A2233"/>
                </a:solidFill>
                <a:latin typeface="Calibri" pitchFamily="34" charset="0"/>
                <a:ea typeface="Calibri" pitchFamily="34" charset="-122"/>
                <a:cs typeface="Calibri" pitchFamily="34" charset="-120"/>
              </a:rPr>
              <a:t>4.9× sprint</a:t>
            </a:r>
            <a:endParaRPr lang="en-US" sz="1000" dirty="0"/>
          </a:p>
        </p:txBody>
      </p:sp>
      <p:sp>
        <p:nvSpPr>
          <p:cNvPr id="50" name="Shape 47"/>
          <p:cNvSpPr/>
          <p:nvPr/>
        </p:nvSpPr>
        <p:spPr>
          <a:xfrm>
            <a:off x="9340596" y="3845052"/>
            <a:ext cx="155448" cy="155448"/>
          </a:xfrm>
          <a:prstGeom prst="ellipse">
            <a:avLst/>
          </a:prstGeom>
          <a:noFill/>
          <a:ln w="15875">
            <a:solidFill>
              <a:srgbClr val="8A94A6"/>
            </a:solidFill>
            <a:prstDash val="solid"/>
          </a:ln>
        </p:spPr>
      </p:sp>
      <p:sp>
        <p:nvSpPr>
          <p:cNvPr id="51" name="Shape 48"/>
          <p:cNvSpPr/>
          <p:nvPr/>
        </p:nvSpPr>
        <p:spPr>
          <a:xfrm>
            <a:off x="9569196" y="3845052"/>
            <a:ext cx="155448" cy="155448"/>
          </a:xfrm>
          <a:prstGeom prst="ellipse">
            <a:avLst/>
          </a:prstGeom>
          <a:noFill/>
          <a:ln w="15875">
            <a:solidFill>
              <a:srgbClr val="8A94A6"/>
            </a:solidFill>
            <a:prstDash val="solid"/>
          </a:ln>
        </p:spPr>
      </p:sp>
      <p:sp>
        <p:nvSpPr>
          <p:cNvPr id="52" name="Shape 49"/>
          <p:cNvSpPr/>
          <p:nvPr/>
        </p:nvSpPr>
        <p:spPr>
          <a:xfrm>
            <a:off x="9797796" y="3845052"/>
            <a:ext cx="155448" cy="155448"/>
          </a:xfrm>
          <a:prstGeom prst="ellipse">
            <a:avLst/>
          </a:prstGeom>
          <a:noFill/>
          <a:ln w="15875">
            <a:solidFill>
              <a:srgbClr val="8A94A6"/>
            </a:solidFill>
            <a:prstDash val="solid"/>
          </a:ln>
        </p:spPr>
      </p:sp>
      <p:sp>
        <p:nvSpPr>
          <p:cNvPr id="53" name="Shape 50"/>
          <p:cNvSpPr/>
          <p:nvPr/>
        </p:nvSpPr>
        <p:spPr>
          <a:xfrm>
            <a:off x="10026396" y="3845052"/>
            <a:ext cx="155448" cy="155448"/>
          </a:xfrm>
          <a:prstGeom prst="ellipse">
            <a:avLst/>
          </a:prstGeom>
          <a:noFill/>
          <a:ln w="15875">
            <a:solidFill>
              <a:srgbClr val="8A94A6"/>
            </a:solidFill>
            <a:prstDash val="solid"/>
          </a:ln>
        </p:spPr>
      </p:sp>
      <p:sp>
        <p:nvSpPr>
          <p:cNvPr id="54" name="Shape 51"/>
          <p:cNvSpPr/>
          <p:nvPr/>
        </p:nvSpPr>
        <p:spPr>
          <a:xfrm>
            <a:off x="10254996" y="3845052"/>
            <a:ext cx="155448" cy="155448"/>
          </a:xfrm>
          <a:prstGeom prst="ellipse">
            <a:avLst/>
          </a:prstGeom>
          <a:noFill/>
          <a:ln w="15875">
            <a:solidFill>
              <a:srgbClr val="8A94A6"/>
            </a:solidFill>
            <a:prstDash val="solid"/>
          </a:ln>
        </p:spPr>
      </p:sp>
      <p:sp>
        <p:nvSpPr>
          <p:cNvPr id="55" name="Shape 52"/>
          <p:cNvSpPr/>
          <p:nvPr/>
        </p:nvSpPr>
        <p:spPr>
          <a:xfrm>
            <a:off x="10483596" y="3845052"/>
            <a:ext cx="155448" cy="155448"/>
          </a:xfrm>
          <a:prstGeom prst="ellipse">
            <a:avLst/>
          </a:prstGeom>
          <a:noFill/>
          <a:ln w="15875">
            <a:solidFill>
              <a:srgbClr val="8A94A6"/>
            </a:solidFill>
            <a:prstDash val="solid"/>
          </a:ln>
        </p:spPr>
      </p:sp>
      <p:sp>
        <p:nvSpPr>
          <p:cNvPr id="56" name="Shape 53"/>
          <p:cNvSpPr/>
          <p:nvPr/>
        </p:nvSpPr>
        <p:spPr>
          <a:xfrm>
            <a:off x="10712196" y="3845052"/>
            <a:ext cx="155448" cy="155448"/>
          </a:xfrm>
          <a:prstGeom prst="ellipse">
            <a:avLst/>
          </a:prstGeom>
          <a:noFill/>
          <a:ln w="15875">
            <a:solidFill>
              <a:srgbClr val="8A94A6"/>
            </a:solidFill>
            <a:prstDash val="solid"/>
          </a:ln>
        </p:spPr>
      </p:sp>
      <p:sp>
        <p:nvSpPr>
          <p:cNvPr id="57" name="Shape 54"/>
          <p:cNvSpPr/>
          <p:nvPr/>
        </p:nvSpPr>
        <p:spPr>
          <a:xfrm>
            <a:off x="10940796" y="3845052"/>
            <a:ext cx="155448" cy="155448"/>
          </a:xfrm>
          <a:prstGeom prst="ellipse">
            <a:avLst/>
          </a:prstGeom>
          <a:noFill/>
          <a:ln w="15875">
            <a:solidFill>
              <a:srgbClr val="8A94A6"/>
            </a:solidFill>
            <a:prstDash val="solid"/>
          </a:ln>
        </p:spPr>
      </p:sp>
      <p:sp>
        <p:nvSpPr>
          <p:cNvPr id="58" name="Text 55"/>
          <p:cNvSpPr txBox="1"/>
          <p:nvPr/>
        </p:nvSpPr>
        <p:spPr>
          <a:xfrm>
            <a:off x="11247120" y="3822192"/>
            <a:ext cx="365760" cy="201168"/>
          </a:xfrm>
          <a:prstGeom prst="rect">
            <a:avLst/>
          </a:prstGeom>
          <a:noFill/>
          <a:ln/>
        </p:spPr>
        <p:txBody>
          <a:bodyPr wrap="square" lIns="0" tIns="0" rIns="0" bIns="0" rtlCol="0" anchor="t"/>
          <a:lstStyle/>
          <a:p>
            <a:pPr indent="0" marL="0">
              <a:buNone/>
            </a:pPr>
            <a:r>
              <a:rPr lang="en-US" sz="1000" b="1" dirty="0">
                <a:solidFill>
                  <a:srgbClr val="2F9E5B"/>
                </a:solidFill>
                <a:latin typeface="Calibri" pitchFamily="34" charset="0"/>
                <a:ea typeface="Calibri" pitchFamily="34" charset="-122"/>
                <a:cs typeface="Calibri" pitchFamily="34" charset="-120"/>
              </a:rPr>
              <a:t>0/8</a:t>
            </a:r>
            <a:endParaRPr lang="en-US" sz="1000" dirty="0"/>
          </a:p>
        </p:txBody>
      </p:sp>
      <p:sp>
        <p:nvSpPr>
          <p:cNvPr id="59" name="Text 56"/>
          <p:cNvSpPr txBox="1"/>
          <p:nvPr/>
        </p:nvSpPr>
        <p:spPr>
          <a:xfrm>
            <a:off x="8065008" y="4187952"/>
            <a:ext cx="1234440" cy="201168"/>
          </a:xfrm>
          <a:prstGeom prst="rect">
            <a:avLst/>
          </a:prstGeom>
          <a:noFill/>
          <a:ln/>
        </p:spPr>
        <p:txBody>
          <a:bodyPr wrap="square" lIns="0" tIns="0" rIns="0" bIns="0" rtlCol="0" anchor="t"/>
          <a:lstStyle/>
          <a:p>
            <a:pPr indent="0" marL="0">
              <a:buNone/>
            </a:pPr>
            <a:r>
              <a:rPr lang="en-US" sz="1000" b="1" dirty="0">
                <a:solidFill>
                  <a:srgbClr val="1D6F66"/>
                </a:solidFill>
                <a:latin typeface="Calibri" pitchFamily="34" charset="0"/>
                <a:ea typeface="Calibri" pitchFamily="34" charset="-122"/>
                <a:cs typeface="Calibri" pitchFamily="34" charset="-120"/>
              </a:rPr>
              <a:t>4× sprint (chosen)</a:t>
            </a:r>
            <a:endParaRPr lang="en-US" sz="1000" dirty="0"/>
          </a:p>
        </p:txBody>
      </p:sp>
      <p:sp>
        <p:nvSpPr>
          <p:cNvPr id="60" name="Shape 57"/>
          <p:cNvSpPr/>
          <p:nvPr/>
        </p:nvSpPr>
        <p:spPr>
          <a:xfrm>
            <a:off x="9340596" y="4210812"/>
            <a:ext cx="155448" cy="155448"/>
          </a:xfrm>
          <a:prstGeom prst="ellipse">
            <a:avLst/>
          </a:prstGeom>
          <a:noFill/>
          <a:ln w="15875">
            <a:solidFill>
              <a:srgbClr val="2A9D8F"/>
            </a:solidFill>
            <a:prstDash val="solid"/>
          </a:ln>
        </p:spPr>
      </p:sp>
      <p:sp>
        <p:nvSpPr>
          <p:cNvPr id="61" name="Shape 58"/>
          <p:cNvSpPr/>
          <p:nvPr/>
        </p:nvSpPr>
        <p:spPr>
          <a:xfrm>
            <a:off x="9569196" y="4210812"/>
            <a:ext cx="155448" cy="155448"/>
          </a:xfrm>
          <a:prstGeom prst="ellipse">
            <a:avLst/>
          </a:prstGeom>
          <a:noFill/>
          <a:ln w="15875">
            <a:solidFill>
              <a:srgbClr val="2A9D8F"/>
            </a:solidFill>
            <a:prstDash val="solid"/>
          </a:ln>
        </p:spPr>
      </p:sp>
      <p:sp>
        <p:nvSpPr>
          <p:cNvPr id="62" name="Shape 59"/>
          <p:cNvSpPr/>
          <p:nvPr/>
        </p:nvSpPr>
        <p:spPr>
          <a:xfrm>
            <a:off x="9797796" y="4210812"/>
            <a:ext cx="155448" cy="155448"/>
          </a:xfrm>
          <a:prstGeom prst="ellipse">
            <a:avLst/>
          </a:prstGeom>
          <a:noFill/>
          <a:ln w="15875">
            <a:solidFill>
              <a:srgbClr val="2A9D8F"/>
            </a:solidFill>
            <a:prstDash val="solid"/>
          </a:ln>
        </p:spPr>
      </p:sp>
      <p:sp>
        <p:nvSpPr>
          <p:cNvPr id="63" name="Shape 60"/>
          <p:cNvSpPr/>
          <p:nvPr/>
        </p:nvSpPr>
        <p:spPr>
          <a:xfrm>
            <a:off x="10026396" y="4210812"/>
            <a:ext cx="155448" cy="155448"/>
          </a:xfrm>
          <a:prstGeom prst="ellipse">
            <a:avLst/>
          </a:prstGeom>
          <a:noFill/>
          <a:ln w="15875">
            <a:solidFill>
              <a:srgbClr val="2A9D8F"/>
            </a:solidFill>
            <a:prstDash val="solid"/>
          </a:ln>
        </p:spPr>
      </p:sp>
      <p:sp>
        <p:nvSpPr>
          <p:cNvPr id="64" name="Shape 61"/>
          <p:cNvSpPr/>
          <p:nvPr/>
        </p:nvSpPr>
        <p:spPr>
          <a:xfrm>
            <a:off x="10254996" y="4210812"/>
            <a:ext cx="155448" cy="155448"/>
          </a:xfrm>
          <a:prstGeom prst="ellipse">
            <a:avLst/>
          </a:prstGeom>
          <a:noFill/>
          <a:ln w="15875">
            <a:solidFill>
              <a:srgbClr val="2A9D8F"/>
            </a:solidFill>
            <a:prstDash val="solid"/>
          </a:ln>
        </p:spPr>
      </p:sp>
      <p:sp>
        <p:nvSpPr>
          <p:cNvPr id="65" name="Shape 62"/>
          <p:cNvSpPr/>
          <p:nvPr/>
        </p:nvSpPr>
        <p:spPr>
          <a:xfrm>
            <a:off x="10483596" y="4210812"/>
            <a:ext cx="155448" cy="155448"/>
          </a:xfrm>
          <a:prstGeom prst="ellipse">
            <a:avLst/>
          </a:prstGeom>
          <a:noFill/>
          <a:ln w="15875">
            <a:solidFill>
              <a:srgbClr val="2A9D8F"/>
            </a:solidFill>
            <a:prstDash val="solid"/>
          </a:ln>
        </p:spPr>
      </p:sp>
      <p:sp>
        <p:nvSpPr>
          <p:cNvPr id="66" name="Shape 63"/>
          <p:cNvSpPr/>
          <p:nvPr/>
        </p:nvSpPr>
        <p:spPr>
          <a:xfrm>
            <a:off x="10712196" y="4210812"/>
            <a:ext cx="155448" cy="155448"/>
          </a:xfrm>
          <a:prstGeom prst="ellipse">
            <a:avLst/>
          </a:prstGeom>
          <a:noFill/>
          <a:ln w="15875">
            <a:solidFill>
              <a:srgbClr val="2A9D8F"/>
            </a:solidFill>
            <a:prstDash val="solid"/>
          </a:ln>
        </p:spPr>
      </p:sp>
      <p:sp>
        <p:nvSpPr>
          <p:cNvPr id="67" name="Shape 64"/>
          <p:cNvSpPr/>
          <p:nvPr/>
        </p:nvSpPr>
        <p:spPr>
          <a:xfrm>
            <a:off x="10940796" y="4210812"/>
            <a:ext cx="155448" cy="155448"/>
          </a:xfrm>
          <a:prstGeom prst="ellipse">
            <a:avLst/>
          </a:prstGeom>
          <a:noFill/>
          <a:ln w="15875">
            <a:solidFill>
              <a:srgbClr val="2A9D8F"/>
            </a:solidFill>
            <a:prstDash val="solid"/>
          </a:ln>
        </p:spPr>
      </p:sp>
      <p:sp>
        <p:nvSpPr>
          <p:cNvPr id="68" name="Text 65"/>
          <p:cNvSpPr txBox="1"/>
          <p:nvPr/>
        </p:nvSpPr>
        <p:spPr>
          <a:xfrm>
            <a:off x="11247120" y="4187952"/>
            <a:ext cx="365760" cy="201168"/>
          </a:xfrm>
          <a:prstGeom prst="rect">
            <a:avLst/>
          </a:prstGeom>
          <a:noFill/>
          <a:ln/>
        </p:spPr>
        <p:txBody>
          <a:bodyPr wrap="square" lIns="0" tIns="0" rIns="0" bIns="0" rtlCol="0" anchor="t"/>
          <a:lstStyle/>
          <a:p>
            <a:pPr indent="0" marL="0">
              <a:buNone/>
            </a:pPr>
            <a:r>
              <a:rPr lang="en-US" sz="1000" b="1" dirty="0">
                <a:solidFill>
                  <a:srgbClr val="2F9E5B"/>
                </a:solidFill>
                <a:latin typeface="Calibri" pitchFamily="34" charset="0"/>
                <a:ea typeface="Calibri" pitchFamily="34" charset="-122"/>
                <a:cs typeface="Calibri" pitchFamily="34" charset="-120"/>
              </a:rPr>
              <a:t>0/8</a:t>
            </a:r>
            <a:endParaRPr lang="en-US" sz="1000" dirty="0"/>
          </a:p>
        </p:txBody>
      </p:sp>
      <p:sp>
        <p:nvSpPr>
          <p:cNvPr id="69" name="Text 66"/>
          <p:cNvSpPr txBox="1"/>
          <p:nvPr/>
        </p:nvSpPr>
        <p:spPr>
          <a:xfrm>
            <a:off x="502920" y="4919472"/>
            <a:ext cx="1417320" cy="201168"/>
          </a:xfrm>
          <a:prstGeom prst="rect">
            <a:avLst/>
          </a:prstGeom>
          <a:noFill/>
          <a:ln/>
        </p:spPr>
        <p:txBody>
          <a:bodyPr wrap="square" lIns="0" tIns="0" rIns="0" bIns="0" rtlCol="0" anchor="t"/>
          <a:lstStyle/>
          <a:p>
            <a:pPr algn="r" indent="0" marL="0">
              <a:buNone/>
            </a:pPr>
            <a:r>
              <a:rPr lang="en-US" sz="1000" b="1" dirty="0">
                <a:solidFill>
                  <a:srgbClr val="1A2233"/>
                </a:solidFill>
                <a:latin typeface="Calibri" pitchFamily="34" charset="0"/>
                <a:ea typeface="Calibri" pitchFamily="34" charset="-122"/>
                <a:cs typeface="Calibri" pitchFamily="34" charset="-120"/>
              </a:rPr>
              <a:t>Mars tow</a:t>
            </a:r>
            <a:endParaRPr lang="en-US" sz="1000" dirty="0"/>
          </a:p>
        </p:txBody>
      </p:sp>
      <p:sp>
        <p:nvSpPr>
          <p:cNvPr id="70" name="Shape 67"/>
          <p:cNvSpPr/>
          <p:nvPr/>
        </p:nvSpPr>
        <p:spPr>
          <a:xfrm>
            <a:off x="1965960" y="4901184"/>
            <a:ext cx="4914359" cy="237744"/>
          </a:xfrm>
          <a:prstGeom prst="rect">
            <a:avLst/>
          </a:prstGeom>
          <a:solidFill>
            <a:srgbClr val="C8553D"/>
          </a:solidFill>
          <a:ln/>
        </p:spPr>
      </p:sp>
      <p:sp>
        <p:nvSpPr>
          <p:cNvPr id="71" name="Text 68"/>
          <p:cNvSpPr txBox="1"/>
          <p:nvPr/>
        </p:nvSpPr>
        <p:spPr>
          <a:xfrm>
            <a:off x="2039112" y="4919472"/>
            <a:ext cx="4822919" cy="201168"/>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towing Mars out to 3.64 AU</a:t>
            </a:r>
            <a:endParaRPr lang="en-US" sz="1000" dirty="0"/>
          </a:p>
        </p:txBody>
      </p:sp>
      <p:sp>
        <p:nvSpPr>
          <p:cNvPr id="72" name="Shape 69"/>
          <p:cNvSpPr/>
          <p:nvPr/>
        </p:nvSpPr>
        <p:spPr>
          <a:xfrm>
            <a:off x="6511150" y="4901184"/>
            <a:ext cx="218629" cy="237744"/>
          </a:xfrm>
          <a:prstGeom prst="rect">
            <a:avLst/>
          </a:prstGeom>
          <a:solidFill>
            <a:srgbClr val="8E2F1E"/>
          </a:solidFill>
          <a:ln/>
        </p:spPr>
      </p:sp>
      <p:sp>
        <p:nvSpPr>
          <p:cNvPr id="73" name="Text 70"/>
          <p:cNvSpPr txBox="1"/>
          <p:nvPr/>
        </p:nvSpPr>
        <p:spPr>
          <a:xfrm>
            <a:off x="502920" y="5230368"/>
            <a:ext cx="1417320" cy="201168"/>
          </a:xfrm>
          <a:prstGeom prst="rect">
            <a:avLst/>
          </a:prstGeom>
          <a:noFill/>
          <a:ln/>
        </p:spPr>
        <p:txBody>
          <a:bodyPr wrap="square" lIns="0" tIns="0" rIns="0" bIns="0" rtlCol="0" anchor="t"/>
          <a:lstStyle/>
          <a:p>
            <a:pPr algn="r" indent="0" marL="0">
              <a:buNone/>
            </a:pPr>
            <a:r>
              <a:rPr lang="en-US" sz="1000" b="1" dirty="0">
                <a:solidFill>
                  <a:srgbClr val="1A2233"/>
                </a:solidFill>
                <a:latin typeface="Calibri" pitchFamily="34" charset="0"/>
                <a:ea typeface="Calibri" pitchFamily="34" charset="-122"/>
                <a:cs typeface="Calibri" pitchFamily="34" charset="-120"/>
              </a:rPr>
              <a:t>Earth tow</a:t>
            </a:r>
            <a:endParaRPr lang="en-US" sz="1000" dirty="0"/>
          </a:p>
        </p:txBody>
      </p:sp>
      <p:sp>
        <p:nvSpPr>
          <p:cNvPr id="74" name="Shape 71"/>
          <p:cNvSpPr/>
          <p:nvPr/>
        </p:nvSpPr>
        <p:spPr>
          <a:xfrm>
            <a:off x="1965960" y="5212080"/>
            <a:ext cx="5933425" cy="237744"/>
          </a:xfrm>
          <a:prstGeom prst="rect">
            <a:avLst/>
          </a:prstGeom>
          <a:solidFill>
            <a:srgbClr val="2A9D8F"/>
          </a:solidFill>
          <a:ln/>
        </p:spPr>
      </p:sp>
      <p:sp>
        <p:nvSpPr>
          <p:cNvPr id="75" name="Text 72"/>
          <p:cNvSpPr txBox="1"/>
          <p:nvPr/>
        </p:nvSpPr>
        <p:spPr>
          <a:xfrm>
            <a:off x="2039112" y="5230368"/>
            <a:ext cx="5841985" cy="201168"/>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towing Earth out from 637,100 km away</a:t>
            </a:r>
            <a:endParaRPr lang="en-US" sz="1000" dirty="0"/>
          </a:p>
        </p:txBody>
      </p:sp>
      <p:sp>
        <p:nvSpPr>
          <p:cNvPr id="76" name="Shape 73"/>
          <p:cNvSpPr/>
          <p:nvPr/>
        </p:nvSpPr>
        <p:spPr>
          <a:xfrm>
            <a:off x="7899385" y="5212080"/>
            <a:ext cx="2395318" cy="237744"/>
          </a:xfrm>
          <a:prstGeom prst="rect">
            <a:avLst/>
          </a:prstGeom>
          <a:solidFill>
            <a:srgbClr val="1D6F66"/>
          </a:solidFill>
          <a:ln/>
        </p:spPr>
      </p:sp>
      <p:sp>
        <p:nvSpPr>
          <p:cNvPr id="77" name="Text 74"/>
          <p:cNvSpPr txBox="1"/>
          <p:nvPr/>
        </p:nvSpPr>
        <p:spPr>
          <a:xfrm>
            <a:off x="7972537" y="5230368"/>
            <a:ext cx="2303878" cy="201168"/>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arrival trim</a:t>
            </a:r>
            <a:endParaRPr lang="en-US" sz="1000" dirty="0"/>
          </a:p>
        </p:txBody>
      </p:sp>
      <p:sp>
        <p:nvSpPr>
          <p:cNvPr id="78" name="Text 75"/>
          <p:cNvSpPr txBox="1"/>
          <p:nvPr/>
        </p:nvSpPr>
        <p:spPr>
          <a:xfrm>
            <a:off x="502920" y="5541264"/>
            <a:ext cx="1417320" cy="201168"/>
          </a:xfrm>
          <a:prstGeom prst="rect">
            <a:avLst/>
          </a:prstGeom>
          <a:noFill/>
          <a:ln/>
        </p:spPr>
        <p:txBody>
          <a:bodyPr wrap="square" lIns="0" tIns="0" rIns="0" bIns="0" rtlCol="0" anchor="t"/>
          <a:lstStyle/>
          <a:p>
            <a:pPr algn="r" indent="0" marL="0">
              <a:buNone/>
            </a:pPr>
            <a:r>
              <a:rPr lang="en-US" sz="1000" b="1" dirty="0">
                <a:solidFill>
                  <a:srgbClr val="1A2233"/>
                </a:solidFill>
                <a:latin typeface="Calibri" pitchFamily="34" charset="0"/>
                <a:ea typeface="Calibri" pitchFamily="34" charset="-122"/>
                <a:cs typeface="Calibri" pitchFamily="34" charset="-120"/>
              </a:rPr>
              <a:t>Sunlight optics (E3)</a:t>
            </a:r>
            <a:endParaRPr lang="en-US" sz="1000" dirty="0"/>
          </a:p>
        </p:txBody>
      </p:sp>
      <p:sp>
        <p:nvSpPr>
          <p:cNvPr id="79" name="Shape 76"/>
          <p:cNvSpPr/>
          <p:nvPr/>
        </p:nvSpPr>
        <p:spPr>
          <a:xfrm>
            <a:off x="1994584" y="5522976"/>
            <a:ext cx="8490409" cy="237744"/>
          </a:xfrm>
          <a:prstGeom prst="rect">
            <a:avLst/>
          </a:prstGeom>
          <a:solidFill>
            <a:srgbClr val="F2A541"/>
          </a:solidFill>
          <a:ln/>
        </p:spPr>
      </p:sp>
      <p:sp>
        <p:nvSpPr>
          <p:cNvPr id="80" name="Text 77"/>
          <p:cNvSpPr txBox="1"/>
          <p:nvPr/>
        </p:nvSpPr>
        <p:spPr>
          <a:xfrm>
            <a:off x="2067736" y="5541264"/>
            <a:ext cx="8398969" cy="201168"/>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built in 25-year batches, up to 8.5 × 10⁸ km²</a:t>
            </a:r>
            <a:endParaRPr lang="en-US" sz="1000" dirty="0"/>
          </a:p>
        </p:txBody>
      </p:sp>
      <p:sp>
        <p:nvSpPr>
          <p:cNvPr id="81" name="Shape 78"/>
          <p:cNvSpPr/>
          <p:nvPr/>
        </p:nvSpPr>
        <p:spPr>
          <a:xfrm>
            <a:off x="1965960" y="5989320"/>
            <a:ext cx="9509760" cy="914"/>
          </a:xfrm>
          <a:prstGeom prst="line">
            <a:avLst/>
          </a:prstGeom>
          <a:noFill/>
          <a:ln w="12700">
            <a:solidFill>
              <a:srgbClr val="566173"/>
            </a:solidFill>
            <a:prstDash val="solid"/>
          </a:ln>
        </p:spPr>
      </p:sp>
      <p:sp>
        <p:nvSpPr>
          <p:cNvPr id="82" name="Shape 79"/>
          <p:cNvSpPr/>
          <p:nvPr/>
        </p:nvSpPr>
        <p:spPr>
          <a:xfrm>
            <a:off x="1965960" y="5989320"/>
            <a:ext cx="914" cy="54864"/>
          </a:xfrm>
          <a:prstGeom prst="line">
            <a:avLst/>
          </a:prstGeom>
          <a:noFill/>
          <a:ln w="9525">
            <a:solidFill>
              <a:srgbClr val="566173"/>
            </a:solidFill>
            <a:prstDash val="solid"/>
          </a:ln>
        </p:spPr>
      </p:sp>
      <p:sp>
        <p:nvSpPr>
          <p:cNvPr id="83" name="Text 80"/>
          <p:cNvSpPr txBox="1"/>
          <p:nvPr/>
        </p:nvSpPr>
        <p:spPr>
          <a:xfrm>
            <a:off x="1645920" y="6062472"/>
            <a:ext cx="64008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0</a:t>
            </a:r>
            <a:endParaRPr lang="en-US" sz="1000" dirty="0"/>
          </a:p>
        </p:txBody>
      </p:sp>
      <p:sp>
        <p:nvSpPr>
          <p:cNvPr id="84" name="Shape 81"/>
          <p:cNvSpPr/>
          <p:nvPr/>
        </p:nvSpPr>
        <p:spPr>
          <a:xfrm>
            <a:off x="2916936" y="5989320"/>
            <a:ext cx="914" cy="54864"/>
          </a:xfrm>
          <a:prstGeom prst="line">
            <a:avLst/>
          </a:prstGeom>
          <a:noFill/>
          <a:ln w="9525">
            <a:solidFill>
              <a:srgbClr val="566173"/>
            </a:solidFill>
            <a:prstDash val="solid"/>
          </a:ln>
        </p:spPr>
      </p:sp>
      <p:sp>
        <p:nvSpPr>
          <p:cNvPr id="85" name="Text 82"/>
          <p:cNvSpPr txBox="1"/>
          <p:nvPr/>
        </p:nvSpPr>
        <p:spPr>
          <a:xfrm>
            <a:off x="2596896" y="6062472"/>
            <a:ext cx="64008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1,000</a:t>
            </a:r>
            <a:endParaRPr lang="en-US" sz="1000" dirty="0"/>
          </a:p>
        </p:txBody>
      </p:sp>
      <p:sp>
        <p:nvSpPr>
          <p:cNvPr id="86" name="Shape 83"/>
          <p:cNvSpPr/>
          <p:nvPr/>
        </p:nvSpPr>
        <p:spPr>
          <a:xfrm>
            <a:off x="3867912" y="5989320"/>
            <a:ext cx="914" cy="54864"/>
          </a:xfrm>
          <a:prstGeom prst="line">
            <a:avLst/>
          </a:prstGeom>
          <a:noFill/>
          <a:ln w="9525">
            <a:solidFill>
              <a:srgbClr val="566173"/>
            </a:solidFill>
            <a:prstDash val="solid"/>
          </a:ln>
        </p:spPr>
      </p:sp>
      <p:sp>
        <p:nvSpPr>
          <p:cNvPr id="87" name="Text 84"/>
          <p:cNvSpPr txBox="1"/>
          <p:nvPr/>
        </p:nvSpPr>
        <p:spPr>
          <a:xfrm>
            <a:off x="3547872" y="6062472"/>
            <a:ext cx="64008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2,000</a:t>
            </a:r>
            <a:endParaRPr lang="en-US" sz="1000" dirty="0"/>
          </a:p>
        </p:txBody>
      </p:sp>
      <p:sp>
        <p:nvSpPr>
          <p:cNvPr id="88" name="Shape 85"/>
          <p:cNvSpPr/>
          <p:nvPr/>
        </p:nvSpPr>
        <p:spPr>
          <a:xfrm>
            <a:off x="4818888" y="5989320"/>
            <a:ext cx="914" cy="54864"/>
          </a:xfrm>
          <a:prstGeom prst="line">
            <a:avLst/>
          </a:prstGeom>
          <a:noFill/>
          <a:ln w="9525">
            <a:solidFill>
              <a:srgbClr val="566173"/>
            </a:solidFill>
            <a:prstDash val="solid"/>
          </a:ln>
        </p:spPr>
      </p:sp>
      <p:sp>
        <p:nvSpPr>
          <p:cNvPr id="89" name="Text 86"/>
          <p:cNvSpPr txBox="1"/>
          <p:nvPr/>
        </p:nvSpPr>
        <p:spPr>
          <a:xfrm>
            <a:off x="4498848" y="6062472"/>
            <a:ext cx="64008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3,000</a:t>
            </a:r>
            <a:endParaRPr lang="en-US" sz="1000" dirty="0"/>
          </a:p>
        </p:txBody>
      </p:sp>
      <p:sp>
        <p:nvSpPr>
          <p:cNvPr id="90" name="Shape 87"/>
          <p:cNvSpPr/>
          <p:nvPr/>
        </p:nvSpPr>
        <p:spPr>
          <a:xfrm>
            <a:off x="5769864" y="5989320"/>
            <a:ext cx="914" cy="54864"/>
          </a:xfrm>
          <a:prstGeom prst="line">
            <a:avLst/>
          </a:prstGeom>
          <a:noFill/>
          <a:ln w="9525">
            <a:solidFill>
              <a:srgbClr val="566173"/>
            </a:solidFill>
            <a:prstDash val="solid"/>
          </a:ln>
        </p:spPr>
      </p:sp>
      <p:sp>
        <p:nvSpPr>
          <p:cNvPr id="91" name="Text 88"/>
          <p:cNvSpPr txBox="1"/>
          <p:nvPr/>
        </p:nvSpPr>
        <p:spPr>
          <a:xfrm>
            <a:off x="5449824" y="6062472"/>
            <a:ext cx="64008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4,000</a:t>
            </a:r>
            <a:endParaRPr lang="en-US" sz="1000" dirty="0"/>
          </a:p>
        </p:txBody>
      </p:sp>
      <p:sp>
        <p:nvSpPr>
          <p:cNvPr id="92" name="Shape 89"/>
          <p:cNvSpPr/>
          <p:nvPr/>
        </p:nvSpPr>
        <p:spPr>
          <a:xfrm>
            <a:off x="6720840" y="5989320"/>
            <a:ext cx="914" cy="54864"/>
          </a:xfrm>
          <a:prstGeom prst="line">
            <a:avLst/>
          </a:prstGeom>
          <a:noFill/>
          <a:ln w="9525">
            <a:solidFill>
              <a:srgbClr val="566173"/>
            </a:solidFill>
            <a:prstDash val="solid"/>
          </a:ln>
        </p:spPr>
      </p:sp>
      <p:sp>
        <p:nvSpPr>
          <p:cNvPr id="93" name="Text 90"/>
          <p:cNvSpPr txBox="1"/>
          <p:nvPr/>
        </p:nvSpPr>
        <p:spPr>
          <a:xfrm>
            <a:off x="6400800" y="6062472"/>
            <a:ext cx="64008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5,000</a:t>
            </a:r>
            <a:endParaRPr lang="en-US" sz="1000" dirty="0"/>
          </a:p>
        </p:txBody>
      </p:sp>
      <p:sp>
        <p:nvSpPr>
          <p:cNvPr id="94" name="Shape 91"/>
          <p:cNvSpPr/>
          <p:nvPr/>
        </p:nvSpPr>
        <p:spPr>
          <a:xfrm>
            <a:off x="7671816" y="5989320"/>
            <a:ext cx="914" cy="54864"/>
          </a:xfrm>
          <a:prstGeom prst="line">
            <a:avLst/>
          </a:prstGeom>
          <a:noFill/>
          <a:ln w="9525">
            <a:solidFill>
              <a:srgbClr val="566173"/>
            </a:solidFill>
            <a:prstDash val="solid"/>
          </a:ln>
        </p:spPr>
      </p:sp>
      <p:sp>
        <p:nvSpPr>
          <p:cNvPr id="95" name="Text 92"/>
          <p:cNvSpPr txBox="1"/>
          <p:nvPr/>
        </p:nvSpPr>
        <p:spPr>
          <a:xfrm>
            <a:off x="7351776" y="6062472"/>
            <a:ext cx="64008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6,000</a:t>
            </a:r>
            <a:endParaRPr lang="en-US" sz="1000" dirty="0"/>
          </a:p>
        </p:txBody>
      </p:sp>
      <p:sp>
        <p:nvSpPr>
          <p:cNvPr id="96" name="Shape 93"/>
          <p:cNvSpPr/>
          <p:nvPr/>
        </p:nvSpPr>
        <p:spPr>
          <a:xfrm>
            <a:off x="8622792" y="5989320"/>
            <a:ext cx="914" cy="54864"/>
          </a:xfrm>
          <a:prstGeom prst="line">
            <a:avLst/>
          </a:prstGeom>
          <a:noFill/>
          <a:ln w="9525">
            <a:solidFill>
              <a:srgbClr val="566173"/>
            </a:solidFill>
            <a:prstDash val="solid"/>
          </a:ln>
        </p:spPr>
      </p:sp>
      <p:sp>
        <p:nvSpPr>
          <p:cNvPr id="97" name="Text 94"/>
          <p:cNvSpPr txBox="1"/>
          <p:nvPr/>
        </p:nvSpPr>
        <p:spPr>
          <a:xfrm>
            <a:off x="8302752" y="6062472"/>
            <a:ext cx="64008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7,000</a:t>
            </a:r>
            <a:endParaRPr lang="en-US" sz="1000" dirty="0"/>
          </a:p>
        </p:txBody>
      </p:sp>
      <p:sp>
        <p:nvSpPr>
          <p:cNvPr id="98" name="Shape 95"/>
          <p:cNvSpPr/>
          <p:nvPr/>
        </p:nvSpPr>
        <p:spPr>
          <a:xfrm>
            <a:off x="9573768" y="5989320"/>
            <a:ext cx="914" cy="54864"/>
          </a:xfrm>
          <a:prstGeom prst="line">
            <a:avLst/>
          </a:prstGeom>
          <a:noFill/>
          <a:ln w="9525">
            <a:solidFill>
              <a:srgbClr val="566173"/>
            </a:solidFill>
            <a:prstDash val="solid"/>
          </a:ln>
        </p:spPr>
      </p:sp>
      <p:sp>
        <p:nvSpPr>
          <p:cNvPr id="99" name="Text 96"/>
          <p:cNvSpPr txBox="1"/>
          <p:nvPr/>
        </p:nvSpPr>
        <p:spPr>
          <a:xfrm>
            <a:off x="9253728" y="6062472"/>
            <a:ext cx="64008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8,000</a:t>
            </a:r>
            <a:endParaRPr lang="en-US" sz="1000" dirty="0"/>
          </a:p>
        </p:txBody>
      </p:sp>
      <p:sp>
        <p:nvSpPr>
          <p:cNvPr id="100" name="Shape 97"/>
          <p:cNvSpPr/>
          <p:nvPr/>
        </p:nvSpPr>
        <p:spPr>
          <a:xfrm>
            <a:off x="10524744" y="5989320"/>
            <a:ext cx="914" cy="54864"/>
          </a:xfrm>
          <a:prstGeom prst="line">
            <a:avLst/>
          </a:prstGeom>
          <a:noFill/>
          <a:ln w="9525">
            <a:solidFill>
              <a:srgbClr val="566173"/>
            </a:solidFill>
            <a:prstDash val="solid"/>
          </a:ln>
        </p:spPr>
      </p:sp>
      <p:sp>
        <p:nvSpPr>
          <p:cNvPr id="101" name="Text 98"/>
          <p:cNvSpPr txBox="1"/>
          <p:nvPr/>
        </p:nvSpPr>
        <p:spPr>
          <a:xfrm>
            <a:off x="10204704" y="6062472"/>
            <a:ext cx="64008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9,000</a:t>
            </a:r>
            <a:endParaRPr lang="en-US" sz="1000" dirty="0"/>
          </a:p>
        </p:txBody>
      </p:sp>
      <p:sp>
        <p:nvSpPr>
          <p:cNvPr id="102" name="Shape 99"/>
          <p:cNvSpPr/>
          <p:nvPr/>
        </p:nvSpPr>
        <p:spPr>
          <a:xfrm>
            <a:off x="11475720" y="5989320"/>
            <a:ext cx="914" cy="54864"/>
          </a:xfrm>
          <a:prstGeom prst="line">
            <a:avLst/>
          </a:prstGeom>
          <a:noFill/>
          <a:ln w="9525">
            <a:solidFill>
              <a:srgbClr val="566173"/>
            </a:solidFill>
            <a:prstDash val="solid"/>
          </a:ln>
        </p:spPr>
      </p:sp>
      <p:sp>
        <p:nvSpPr>
          <p:cNvPr id="103" name="Text 100"/>
          <p:cNvSpPr txBox="1"/>
          <p:nvPr/>
        </p:nvSpPr>
        <p:spPr>
          <a:xfrm>
            <a:off x="11155680" y="6062472"/>
            <a:ext cx="64008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10,000</a:t>
            </a:r>
            <a:endParaRPr lang="en-US" sz="1000" dirty="0"/>
          </a:p>
        </p:txBody>
      </p:sp>
      <p:sp>
        <p:nvSpPr>
          <p:cNvPr id="104" name="Shape 101"/>
          <p:cNvSpPr/>
          <p:nvPr/>
        </p:nvSpPr>
        <p:spPr>
          <a:xfrm>
            <a:off x="8719784" y="5833872"/>
            <a:ext cx="128016" cy="128016"/>
          </a:xfrm>
          <a:prstGeom prst="diamond">
            <a:avLst/>
          </a:prstGeom>
          <a:solidFill>
            <a:srgbClr val="A9630A"/>
          </a:solidFill>
          <a:ln/>
        </p:spPr>
      </p:sp>
      <p:sp>
        <p:nvSpPr>
          <p:cNvPr id="105" name="Shape 102"/>
          <p:cNvSpPr/>
          <p:nvPr/>
        </p:nvSpPr>
        <p:spPr>
          <a:xfrm>
            <a:off x="9803707" y="5833872"/>
            <a:ext cx="128016" cy="128016"/>
          </a:xfrm>
          <a:prstGeom prst="diamond">
            <a:avLst/>
          </a:prstGeom>
          <a:solidFill>
            <a:srgbClr val="A9630A"/>
          </a:solidFill>
          <a:ln/>
        </p:spPr>
      </p:sp>
      <p:sp>
        <p:nvSpPr>
          <p:cNvPr id="106" name="Text 103"/>
          <p:cNvSpPr txBox="1"/>
          <p:nvPr/>
        </p:nvSpPr>
        <p:spPr>
          <a:xfrm>
            <a:off x="5857712" y="5806440"/>
            <a:ext cx="2816352" cy="182880"/>
          </a:xfrm>
          <a:prstGeom prst="rect">
            <a:avLst/>
          </a:prstGeom>
          <a:noFill/>
          <a:ln/>
        </p:spPr>
        <p:txBody>
          <a:bodyPr wrap="square" lIns="0" tIns="0" rIns="0" bIns="0" rtlCol="0" anchor="t"/>
          <a:lstStyle/>
          <a:p>
            <a:pPr algn="r" indent="0" marL="0">
              <a:buNone/>
            </a:pPr>
            <a:r>
              <a:rPr lang="en-US" sz="1000" dirty="0">
                <a:solidFill>
                  <a:srgbClr val="A9630A"/>
                </a:solidFill>
                <a:latin typeface="Calibri" pitchFamily="34" charset="0"/>
                <a:ea typeface="Calibri" pitchFamily="34" charset="-122"/>
                <a:cs typeface="Calibri" pitchFamily="34" charset="-120"/>
              </a:rPr>
              <a:t>E1 nudges Vesta (0.057 h of beam each) ◆</a:t>
            </a:r>
            <a:endParaRPr lang="en-US" sz="1000" dirty="0"/>
          </a:p>
        </p:txBody>
      </p:sp>
      <p:sp>
        <p:nvSpPr>
          <p:cNvPr id="107" name="Shape 104"/>
          <p:cNvSpPr/>
          <p:nvPr/>
        </p:nvSpPr>
        <p:spPr>
          <a:xfrm>
            <a:off x="11475720" y="4901184"/>
            <a:ext cx="914" cy="1088136"/>
          </a:xfrm>
          <a:prstGeom prst="line">
            <a:avLst/>
          </a:prstGeom>
          <a:noFill/>
          <a:ln w="19050">
            <a:solidFill>
              <a:srgbClr val="C8553D"/>
            </a:solidFill>
            <a:prstDash val="dash"/>
          </a:ln>
        </p:spPr>
      </p:sp>
      <p:sp>
        <p:nvSpPr>
          <p:cNvPr id="108" name="Text 105"/>
          <p:cNvSpPr txBox="1"/>
          <p:nvPr/>
        </p:nvSpPr>
        <p:spPr>
          <a:xfrm>
            <a:off x="11064240" y="4681728"/>
            <a:ext cx="822960" cy="182880"/>
          </a:xfrm>
          <a:prstGeom prst="rect">
            <a:avLst/>
          </a:prstGeom>
          <a:noFill/>
          <a:ln/>
        </p:spPr>
        <p:txBody>
          <a:bodyPr wrap="square" lIns="0" tIns="0" rIns="0" bIns="0" rtlCol="0" anchor="t"/>
          <a:lstStyle/>
          <a:p>
            <a:pPr algn="ctr" indent="0" marL="0">
              <a:buNone/>
            </a:pPr>
            <a:r>
              <a:rPr lang="en-US" sz="1000" b="1" dirty="0">
                <a:solidFill>
                  <a:srgbClr val="C8553D"/>
                </a:solidFill>
                <a:latin typeface="Calibri" pitchFamily="34" charset="0"/>
                <a:ea typeface="Calibri" pitchFamily="34" charset="-122"/>
                <a:cs typeface="Calibri" pitchFamily="34" charset="-120"/>
              </a:rPr>
              <a:t>limit</a:t>
            </a:r>
            <a:endParaRPr lang="en-US" sz="1000" dirty="0"/>
          </a:p>
        </p:txBody>
      </p:sp>
      <p:sp>
        <p:nvSpPr>
          <p:cNvPr id="109" name="Text 106"/>
          <p:cNvSpPr txBox="1"/>
          <p:nvPr/>
        </p:nvSpPr>
        <p:spPr>
          <a:xfrm>
            <a:off x="502920" y="6062472"/>
            <a:ext cx="1417320" cy="182880"/>
          </a:xfrm>
          <a:prstGeom prst="rect">
            <a:avLst/>
          </a:prstGeom>
          <a:noFill/>
          <a:ln/>
        </p:spPr>
        <p:txBody>
          <a:bodyPr wrap="square" lIns="0" tIns="0" rIns="0" bIns="0" rtlCol="0" anchor="t"/>
          <a:lstStyle/>
          <a:p>
            <a:pPr algn="r" indent="0" marL="0">
              <a:buNone/>
            </a:pPr>
            <a:r>
              <a:rPr lang="en-US" sz="1000" dirty="0">
                <a:solidFill>
                  <a:srgbClr val="566173"/>
                </a:solidFill>
                <a:latin typeface="Calibri" pitchFamily="34" charset="0"/>
                <a:ea typeface="Calibri" pitchFamily="34" charset="-122"/>
                <a:cs typeface="Calibri" pitchFamily="34" charset="-120"/>
              </a:rPr>
              <a:t>years →</a:t>
            </a:r>
            <a:endParaRPr lang="en-US" sz="1000" dirty="0"/>
          </a:p>
        </p:txBody>
      </p:sp>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661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12064" y="329184"/>
            <a:ext cx="219456" cy="219456"/>
          </a:xfrm>
          <a:prstGeom prst="ellipse">
            <a:avLst/>
          </a:prstGeom>
          <a:noFill/>
          <a:ln w="15875">
            <a:solidFill>
              <a:srgbClr val="A9630A"/>
            </a:solidFill>
            <a:prstDash val="solid"/>
          </a:ln>
        </p:spPr>
      </p:sp>
      <p:sp>
        <p:nvSpPr>
          <p:cNvPr id="3" name="Shape 1"/>
          <p:cNvSpPr/>
          <p:nvPr/>
        </p:nvSpPr>
        <p:spPr>
          <a:xfrm>
            <a:off x="681228" y="347472"/>
            <a:ext cx="73152" cy="73152"/>
          </a:xfrm>
          <a:prstGeom prst="ellipse">
            <a:avLst/>
          </a:prstGeom>
          <a:solidFill>
            <a:srgbClr val="A9630A"/>
          </a:solidFill>
          <a:ln/>
        </p:spPr>
      </p:sp>
      <p:sp>
        <p:nvSpPr>
          <p:cNvPr id="4" name="Text 0"/>
          <p:cNvSpPr/>
          <p:nvPr>
            <p:ph idx="100" type="body" hasCustomPrompt="1"/>
          </p:nvPr>
        </p:nvSpPr>
        <p:spPr>
          <a:xfrm>
            <a:off x="868680" y="310896"/>
            <a:ext cx="10515600" cy="256032"/>
          </a:xfrm>
          <a:prstGeom prst="rect">
            <a:avLst/>
          </a:prstGeom>
          <a:noFill/>
          <a:ln/>
        </p:spPr>
        <p:txBody>
          <a:bodyPr wrap="square" lIns="0" tIns="0" rIns="0" bIns="0" rtlCol="0" anchor="ctr"/>
          <a:lstStyle/>
          <a:p>
            <a:pPr indent="0" marL="0">
              <a:buNone/>
            </a:pPr>
            <a:r>
              <a:rPr lang="en-US" sz="1050" b="1" spc="100" kern="0" dirty="0">
                <a:solidFill>
                  <a:srgbClr val="A9630A"/>
                </a:solidFill>
                <a:latin typeface="Calibri" pitchFamily="34" charset="0"/>
                <a:ea typeface="Calibri" pitchFamily="34" charset="-122"/>
                <a:cs typeface="Calibri" pitchFamily="34" charset="-120"/>
              </a:rPr>
              <a:t>05 · THE ENGINE</a:t>
            </a:r>
            <a:endParaRPr lang="en-US" sz="1050" dirty="0"/>
          </a:p>
        </p:txBody>
      </p:sp>
      <p:sp>
        <p:nvSpPr>
          <p:cNvPr id="5" name="Text 0"/>
          <p:cNvSpPr/>
          <p:nvPr>
            <p:ph idx="101" type="title" hasCustomPrompt="1"/>
          </p:nvPr>
        </p:nvSpPr>
        <p:spPr>
          <a:xfrm>
            <a:off x="502920" y="585216"/>
            <a:ext cx="11183112" cy="512064"/>
          </a:xfrm>
          <a:prstGeom prst="rect">
            <a:avLst/>
          </a:prstGeom>
          <a:noFill/>
          <a:ln/>
        </p:spPr>
        <p:txBody>
          <a:bodyPr wrap="square" lIns="0" tIns="0" rIns="0" bIns="0" rtlCol="0" anchor="ctr"/>
          <a:lstStyle/>
          <a:p>
            <a:pPr indent="0" marL="0">
              <a:buNone/>
            </a:pPr>
            <a:r>
              <a:rPr lang="en-US" sz="2800" b="1" dirty="0">
                <a:solidFill>
                  <a:srgbClr val="1A2233"/>
                </a:solidFill>
                <a:latin typeface="Cambria" pitchFamily="34" charset="0"/>
                <a:ea typeface="Cambria" pitchFamily="34" charset="-122"/>
                <a:cs typeface="Cambria" pitchFamily="34" charset="-120"/>
              </a:rPr>
              <a:t>Every push is booked with its partner</a:t>
            </a:r>
            <a:endParaRPr lang="en-US" sz="2800" dirty="0"/>
          </a:p>
        </p:txBody>
      </p:sp>
      <p:sp>
        <p:nvSpPr>
          <p:cNvPr id="6" name="Text 0"/>
          <p:cNvSpPr/>
          <p:nvPr>
            <p:ph idx="102" type="body" hasCustomPrompt="1"/>
          </p:nvPr>
        </p:nvSpPr>
        <p:spPr>
          <a:xfrm>
            <a:off x="502920" y="1115568"/>
            <a:ext cx="11183112" cy="457200"/>
          </a:xfrm>
          <a:prstGeom prst="rect">
            <a:avLst/>
          </a:prstGeom>
          <a:noFill/>
          <a:ln/>
        </p:spPr>
        <p:txBody>
          <a:bodyPr wrap="square" lIns="0" tIns="0" rIns="0" bIns="0" rtlCol="0" anchor="t"/>
          <a:lstStyle/>
          <a:p>
            <a:pPr indent="0" marL="0">
              <a:buNone/>
            </a:pPr>
            <a:r>
              <a:rPr lang="en-US" sz="1250" dirty="0">
                <a:solidFill>
                  <a:srgbClr val="566173"/>
                </a:solidFill>
                <a:latin typeface="Calibri" pitchFamily="34" charset="0"/>
                <a:ea typeface="Calibri" pitchFamily="34" charset="-122"/>
                <a:cs typeface="Calibri" pitchFamily="34" charset="-120"/>
              </a:rPr>
              <a:t>A Newtonian N-body engine with an error-free momentum ledger. The only outside forces are the beams on the two tow asteroids, and their partners (the stations' recoil, the light that leaves) are booked too.</a:t>
            </a:r>
            <a:endParaRPr lang="en-US" sz="1250" dirty="0"/>
          </a:p>
        </p:txBody>
      </p:sp>
      <p:sp>
        <p:nvSpPr>
          <p:cNvPr id="7" name="Shape 5"/>
          <p:cNvSpPr/>
          <p:nvPr/>
        </p:nvSpPr>
        <p:spPr>
          <a:xfrm>
            <a:off x="502920" y="1700784"/>
            <a:ext cx="2615184" cy="1005840"/>
          </a:xfrm>
          <a:prstGeom prst="roundRect">
            <a:avLst>
              <a:gd name="adj" fmla="val 7273"/>
            </a:avLst>
          </a:prstGeom>
          <a:solidFill>
            <a:srgbClr val="F1F4F8"/>
          </a:solidFill>
          <a:ln/>
        </p:spPr>
      </p:sp>
      <p:sp>
        <p:nvSpPr>
          <p:cNvPr id="8" name="Text 6"/>
          <p:cNvSpPr txBox="1"/>
          <p:nvPr/>
        </p:nvSpPr>
        <p:spPr>
          <a:xfrm>
            <a:off x="612648" y="1773936"/>
            <a:ext cx="2423160" cy="18288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Gravity, every pair once</a:t>
            </a:r>
            <a:endParaRPr lang="en-US" sz="1050" dirty="0"/>
          </a:p>
        </p:txBody>
      </p:sp>
      <p:sp>
        <p:nvSpPr>
          <p:cNvPr id="9" name="Text 7"/>
          <p:cNvSpPr txBox="1"/>
          <p:nvPr/>
        </p:nvSpPr>
        <p:spPr>
          <a:xfrm>
            <a:off x="612648" y="1975104"/>
            <a:ext cx="2468880" cy="274320"/>
          </a:xfrm>
          <a:prstGeom prst="rect">
            <a:avLst/>
          </a:prstGeom>
          <a:noFill/>
          <a:ln/>
        </p:spPr>
        <p:txBody>
          <a:bodyPr wrap="square" lIns="0" tIns="0" rIns="0" bIns="0" rtlCol="0" anchor="t"/>
          <a:lstStyle/>
          <a:p>
            <a:pPr indent="0" marL="0">
              <a:buNone/>
            </a:pPr>
            <a:r>
              <a:rPr lang="en-US" sz="1150" dirty="0">
                <a:solidFill>
                  <a:srgbClr val="1A2233"/>
                </a:solidFill>
                <a:latin typeface="Cambria" pitchFamily="34" charset="0"/>
                <a:ea typeface="Cambria" pitchFamily="34" charset="-122"/>
                <a:cs typeface="Cambria" pitchFamily="34" charset="-120"/>
              </a:rPr>
              <a:t>r̈ᵢ = Σⱼ G mⱼ (rⱼ−rᵢ)/|rⱼ−rᵢ|³ + Fᵢ/mᵢ</a:t>
            </a:r>
            <a:endParaRPr lang="en-US" sz="1150" dirty="0"/>
          </a:p>
        </p:txBody>
      </p:sp>
      <p:sp>
        <p:nvSpPr>
          <p:cNvPr id="10" name="Text 8"/>
          <p:cNvSpPr txBox="1"/>
          <p:nvPr/>
        </p:nvSpPr>
        <p:spPr>
          <a:xfrm>
            <a:off x="612648" y="2267712"/>
            <a:ext cx="2423160" cy="411480"/>
          </a:xfrm>
          <a:prstGeom prst="rect">
            <a:avLst/>
          </a:prstGeom>
          <a:noFill/>
          <a:ln/>
        </p:spPr>
        <p:txBody>
          <a:bodyPr wrap="square" lIns="0" tIns="0" rIns="0" bIns="0" rtlCol="0" anchor="t"/>
          <a:lstStyle/>
          <a:p>
            <a:pPr indent="0" marL="0">
              <a:buNone/>
            </a:pPr>
            <a:r>
              <a:rPr lang="en-US" sz="1000" dirty="0">
                <a:solidFill>
                  <a:srgbClr val="566173"/>
                </a:solidFill>
                <a:latin typeface="Calibri" pitchFamily="34" charset="0"/>
                <a:ea typeface="Calibri" pitchFamily="34" charset="-122"/>
                <a:cs typeface="Calibri" pitchFamily="34" charset="-120"/>
              </a:rPr>
              <a:t>Sun; Venus to Neptune on J2000 orbits; Ceres, Pallas, Vesta, Hygiea; both tow asteroids</a:t>
            </a:r>
            <a:endParaRPr lang="en-US" sz="1000" dirty="0"/>
          </a:p>
        </p:txBody>
      </p:sp>
      <p:sp>
        <p:nvSpPr>
          <p:cNvPr id="11" name="Shape 9"/>
          <p:cNvSpPr/>
          <p:nvPr/>
        </p:nvSpPr>
        <p:spPr>
          <a:xfrm>
            <a:off x="3227832" y="1700784"/>
            <a:ext cx="2615184" cy="1005840"/>
          </a:xfrm>
          <a:prstGeom prst="roundRect">
            <a:avLst>
              <a:gd name="adj" fmla="val 7273"/>
            </a:avLst>
          </a:prstGeom>
          <a:solidFill>
            <a:srgbClr val="F1F4F8"/>
          </a:solidFill>
          <a:ln/>
        </p:spPr>
      </p:sp>
      <p:sp>
        <p:nvSpPr>
          <p:cNvPr id="12" name="Text 10"/>
          <p:cNvSpPr txBox="1"/>
          <p:nvPr/>
        </p:nvSpPr>
        <p:spPr>
          <a:xfrm>
            <a:off x="3337560" y="1773936"/>
            <a:ext cx="2423160" cy="18288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Light pressure</a:t>
            </a:r>
            <a:endParaRPr lang="en-US" sz="1050" dirty="0"/>
          </a:p>
        </p:txBody>
      </p:sp>
      <p:sp>
        <p:nvSpPr>
          <p:cNvPr id="13" name="Text 11"/>
          <p:cNvSpPr txBox="1"/>
          <p:nvPr/>
        </p:nvSpPr>
        <p:spPr>
          <a:xfrm>
            <a:off x="3337560" y="1975104"/>
            <a:ext cx="2468880" cy="274320"/>
          </a:xfrm>
          <a:prstGeom prst="rect">
            <a:avLst/>
          </a:prstGeom>
          <a:noFill/>
          <a:ln/>
        </p:spPr>
        <p:txBody>
          <a:bodyPr wrap="square" lIns="0" tIns="0" rIns="0" bIns="0" rtlCol="0" anchor="t"/>
          <a:lstStyle/>
          <a:p>
            <a:pPr indent="0" marL="0">
              <a:buNone/>
            </a:pPr>
            <a:r>
              <a:rPr lang="en-US" sz="1150" dirty="0">
                <a:solidFill>
                  <a:srgbClr val="1A2233"/>
                </a:solidFill>
                <a:latin typeface="Cambria" pitchFamily="34" charset="0"/>
                <a:ea typeface="Cambria" pitchFamily="34" charset="-122"/>
                <a:cs typeface="Cambria" pitchFamily="34" charset="-120"/>
              </a:rPr>
              <a:t>F = (P/c)(n̂in − n̂out)</a:t>
            </a:r>
            <a:endParaRPr lang="en-US" sz="1150" dirty="0"/>
          </a:p>
        </p:txBody>
      </p:sp>
      <p:sp>
        <p:nvSpPr>
          <p:cNvPr id="14" name="Text 12"/>
          <p:cNvSpPr txBox="1"/>
          <p:nvPr/>
        </p:nvSpPr>
        <p:spPr>
          <a:xfrm>
            <a:off x="3337560" y="2267712"/>
            <a:ext cx="2423160" cy="411480"/>
          </a:xfrm>
          <a:prstGeom prst="rect">
            <a:avLst/>
          </a:prstGeom>
          <a:noFill/>
          <a:ln/>
        </p:spPr>
        <p:txBody>
          <a:bodyPr wrap="square" lIns="0" tIns="0" rIns="0" bIns="0" rtlCol="0" anchor="t"/>
          <a:lstStyle/>
          <a:p>
            <a:pPr indent="0" marL="0">
              <a:buNone/>
            </a:pPr>
            <a:r>
              <a:rPr lang="en-US" sz="1000" dirty="0">
                <a:solidFill>
                  <a:srgbClr val="566173"/>
                </a:solidFill>
                <a:latin typeface="Calibri" pitchFamily="34" charset="0"/>
                <a:ea typeface="Calibri" pitchFamily="34" charset="-122"/>
                <a:cs typeface="Calibri" pitchFamily="34" charset="-120"/>
              </a:rPr>
              <a:t>a mirror is only ever pushed; the power for a wanted force: P = |F|²c / (2 n̂in·F)</a:t>
            </a:r>
            <a:endParaRPr lang="en-US" sz="1000" dirty="0"/>
          </a:p>
        </p:txBody>
      </p:sp>
      <p:sp>
        <p:nvSpPr>
          <p:cNvPr id="15" name="Shape 13"/>
          <p:cNvSpPr/>
          <p:nvPr/>
        </p:nvSpPr>
        <p:spPr>
          <a:xfrm>
            <a:off x="502920" y="2798064"/>
            <a:ext cx="2615184" cy="1005840"/>
          </a:xfrm>
          <a:prstGeom prst="roundRect">
            <a:avLst>
              <a:gd name="adj" fmla="val 7273"/>
            </a:avLst>
          </a:prstGeom>
          <a:solidFill>
            <a:srgbClr val="F1F4F8"/>
          </a:solidFill>
          <a:ln/>
        </p:spPr>
      </p:sp>
      <p:sp>
        <p:nvSpPr>
          <p:cNvPr id="16" name="Text 14"/>
          <p:cNvSpPr txBox="1"/>
          <p:nvPr/>
        </p:nvSpPr>
        <p:spPr>
          <a:xfrm>
            <a:off x="612648" y="2871216"/>
            <a:ext cx="2423160" cy="18288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Orbit growth (Gauss)</a:t>
            </a:r>
            <a:endParaRPr lang="en-US" sz="1050" dirty="0"/>
          </a:p>
        </p:txBody>
      </p:sp>
      <p:sp>
        <p:nvSpPr>
          <p:cNvPr id="17" name="Text 15"/>
          <p:cNvSpPr txBox="1"/>
          <p:nvPr/>
        </p:nvSpPr>
        <p:spPr>
          <a:xfrm>
            <a:off x="612648" y="3072384"/>
            <a:ext cx="2468880" cy="274320"/>
          </a:xfrm>
          <a:prstGeom prst="rect">
            <a:avLst/>
          </a:prstGeom>
          <a:noFill/>
          <a:ln/>
        </p:spPr>
        <p:txBody>
          <a:bodyPr wrap="square" lIns="0" tIns="0" rIns="0" bIns="0" rtlCol="0" anchor="t"/>
          <a:lstStyle/>
          <a:p>
            <a:pPr indent="0" marL="0">
              <a:buNone/>
            </a:pPr>
            <a:r>
              <a:rPr lang="en-US" sz="1150" dirty="0">
                <a:solidFill>
                  <a:srgbClr val="1A2233"/>
                </a:solidFill>
                <a:latin typeface="Cambria" pitchFamily="34" charset="0"/>
                <a:ea typeface="Cambria" pitchFamily="34" charset="-122"/>
                <a:cs typeface="Cambria" pitchFamily="34" charset="-120"/>
              </a:rPr>
              <a:t>da/dt = (2a² / μ) v · f</a:t>
            </a:r>
            <a:endParaRPr lang="en-US" sz="1150" dirty="0"/>
          </a:p>
        </p:txBody>
      </p:sp>
      <p:sp>
        <p:nvSpPr>
          <p:cNvPr id="18" name="Text 16"/>
          <p:cNvSpPr txBox="1"/>
          <p:nvPr/>
        </p:nvSpPr>
        <p:spPr>
          <a:xfrm>
            <a:off x="612648" y="3364992"/>
            <a:ext cx="2423160" cy="411480"/>
          </a:xfrm>
          <a:prstGeom prst="rect">
            <a:avLst/>
          </a:prstGeom>
          <a:noFill/>
          <a:ln/>
        </p:spPr>
        <p:txBody>
          <a:bodyPr wrap="square" lIns="0" tIns="0" rIns="0" bIns="0" rtlCol="0" anchor="t"/>
          <a:lstStyle/>
          <a:p>
            <a:pPr indent="0" marL="0">
              <a:buNone/>
            </a:pPr>
            <a:r>
              <a:rPr lang="en-US" sz="1000" dirty="0">
                <a:solidFill>
                  <a:srgbClr val="566173"/>
                </a:solidFill>
                <a:latin typeface="Calibri" pitchFamily="34" charset="0"/>
                <a:ea typeface="Calibri" pitchFamily="34" charset="-122"/>
                <a:cs typeface="Calibri" pitchFamily="34" charset="-120"/>
              </a:rPr>
              <a:t>only the along-orbit part of the pull grows the orbit; benchmark 8 checks it</a:t>
            </a:r>
            <a:endParaRPr lang="en-US" sz="1000" dirty="0"/>
          </a:p>
        </p:txBody>
      </p:sp>
      <p:sp>
        <p:nvSpPr>
          <p:cNvPr id="19" name="Shape 17"/>
          <p:cNvSpPr/>
          <p:nvPr/>
        </p:nvSpPr>
        <p:spPr>
          <a:xfrm>
            <a:off x="3227832" y="2798064"/>
            <a:ext cx="2615184" cy="1005840"/>
          </a:xfrm>
          <a:prstGeom prst="roundRect">
            <a:avLst>
              <a:gd name="adj" fmla="val 7273"/>
            </a:avLst>
          </a:prstGeom>
          <a:solidFill>
            <a:srgbClr val="F1F4F8"/>
          </a:solidFill>
          <a:ln/>
        </p:spPr>
      </p:sp>
      <p:sp>
        <p:nvSpPr>
          <p:cNvPr id="20" name="Text 18"/>
          <p:cNvSpPr txBox="1"/>
          <p:nvPr/>
        </p:nvSpPr>
        <p:spPr>
          <a:xfrm>
            <a:off x="3337560" y="2871216"/>
            <a:ext cx="2423160" cy="18288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Climate (Budyko–Sellers)</a:t>
            </a:r>
            <a:endParaRPr lang="en-US" sz="1050" dirty="0"/>
          </a:p>
        </p:txBody>
      </p:sp>
      <p:sp>
        <p:nvSpPr>
          <p:cNvPr id="21" name="Text 19"/>
          <p:cNvSpPr txBox="1"/>
          <p:nvPr/>
        </p:nvSpPr>
        <p:spPr>
          <a:xfrm>
            <a:off x="3337560" y="3072384"/>
            <a:ext cx="2468880" cy="274320"/>
          </a:xfrm>
          <a:prstGeom prst="rect">
            <a:avLst/>
          </a:prstGeom>
          <a:noFill/>
          <a:ln/>
        </p:spPr>
        <p:txBody>
          <a:bodyPr wrap="square" lIns="0" tIns="0" rIns="0" bIns="0" rtlCol="0" anchor="t"/>
          <a:lstStyle/>
          <a:p>
            <a:pPr indent="0" marL="0">
              <a:buNone/>
            </a:pPr>
            <a:r>
              <a:rPr lang="en-US" sz="1150" dirty="0">
                <a:solidFill>
                  <a:srgbClr val="1A2233"/>
                </a:solidFill>
                <a:latin typeface="Cambria" pitchFamily="34" charset="0"/>
                <a:ea typeface="Cambria" pitchFamily="34" charset="-122"/>
                <a:cs typeface="Cambria" pitchFamily="34" charset="-120"/>
              </a:rPr>
              <a:t>(S/4)(1 − α(T)) = ε σ T⁴</a:t>
            </a:r>
            <a:endParaRPr lang="en-US" sz="1150" dirty="0"/>
          </a:p>
        </p:txBody>
      </p:sp>
      <p:sp>
        <p:nvSpPr>
          <p:cNvPr id="22" name="Text 20"/>
          <p:cNvSpPr txBox="1"/>
          <p:nvPr/>
        </p:nvSpPr>
        <p:spPr>
          <a:xfrm>
            <a:off x="3337560" y="3364992"/>
            <a:ext cx="2423160" cy="411480"/>
          </a:xfrm>
          <a:prstGeom prst="rect">
            <a:avLst/>
          </a:prstGeom>
          <a:noFill/>
          <a:ln/>
        </p:spPr>
        <p:txBody>
          <a:bodyPr wrap="square" lIns="0" tIns="0" rIns="0" bIns="0" rtlCol="0" anchor="t"/>
          <a:lstStyle/>
          <a:p>
            <a:pPr indent="0" marL="0">
              <a:buNone/>
            </a:pPr>
            <a:r>
              <a:rPr lang="en-US" sz="1000" dirty="0">
                <a:solidFill>
                  <a:srgbClr val="566173"/>
                </a:solidFill>
                <a:latin typeface="Calibri" pitchFamily="34" charset="0"/>
                <a:ea typeface="Calibri" pitchFamily="34" charset="-122"/>
                <a:cs typeface="Calibri" pitchFamily="34" charset="-120"/>
              </a:rPr>
              <a:t>albedo 0.30 → 0.62 as ice spreads; a latitude profile gives the liquid-water share</a:t>
            </a:r>
            <a:endParaRPr lang="en-US" sz="1000" dirty="0"/>
          </a:p>
        </p:txBody>
      </p:sp>
      <p:sp>
        <p:nvSpPr>
          <p:cNvPr id="23" name="Shape 21"/>
          <p:cNvSpPr/>
          <p:nvPr/>
        </p:nvSpPr>
        <p:spPr>
          <a:xfrm>
            <a:off x="502920" y="3895344"/>
            <a:ext cx="2615184" cy="1005840"/>
          </a:xfrm>
          <a:prstGeom prst="roundRect">
            <a:avLst>
              <a:gd name="adj" fmla="val 7273"/>
            </a:avLst>
          </a:prstGeom>
          <a:solidFill>
            <a:srgbClr val="F1F4F8"/>
          </a:solidFill>
          <a:ln/>
        </p:spPr>
      </p:sp>
      <p:sp>
        <p:nvSpPr>
          <p:cNvPr id="24" name="Text 22"/>
          <p:cNvSpPr txBox="1"/>
          <p:nvPr/>
        </p:nvSpPr>
        <p:spPr>
          <a:xfrm>
            <a:off x="612648" y="3968496"/>
            <a:ext cx="2423160" cy="18288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The Moon stays (Hill)</a:t>
            </a:r>
            <a:endParaRPr lang="en-US" sz="1050" dirty="0"/>
          </a:p>
        </p:txBody>
      </p:sp>
      <p:sp>
        <p:nvSpPr>
          <p:cNvPr id="25" name="Text 23"/>
          <p:cNvSpPr txBox="1"/>
          <p:nvPr/>
        </p:nvSpPr>
        <p:spPr>
          <a:xfrm>
            <a:off x="612648" y="4169664"/>
            <a:ext cx="2468880" cy="274320"/>
          </a:xfrm>
          <a:prstGeom prst="rect">
            <a:avLst/>
          </a:prstGeom>
          <a:noFill/>
          <a:ln/>
        </p:spPr>
        <p:txBody>
          <a:bodyPr wrap="square" lIns="0" tIns="0" rIns="0" bIns="0" rtlCol="0" anchor="t"/>
          <a:lstStyle/>
          <a:p>
            <a:pPr indent="0" marL="0">
              <a:buNone/>
            </a:pPr>
            <a:r>
              <a:rPr lang="en-US" sz="1150" dirty="0">
                <a:solidFill>
                  <a:srgbClr val="1A2233"/>
                </a:solidFill>
                <a:latin typeface="Cambria" pitchFamily="34" charset="0"/>
                <a:ea typeface="Cambria" pitchFamily="34" charset="-122"/>
                <a:cs typeface="Cambria" pitchFamily="34" charset="-120"/>
              </a:rPr>
              <a:t>r_H = a (m⊕ / 3M☉)^⅓</a:t>
            </a:r>
            <a:endParaRPr lang="en-US" sz="1150" dirty="0"/>
          </a:p>
        </p:txBody>
      </p:sp>
      <p:sp>
        <p:nvSpPr>
          <p:cNvPr id="26" name="Text 24"/>
          <p:cNvSpPr txBox="1"/>
          <p:nvPr/>
        </p:nvSpPr>
        <p:spPr>
          <a:xfrm>
            <a:off x="612648" y="4462272"/>
            <a:ext cx="2423160" cy="411480"/>
          </a:xfrm>
          <a:prstGeom prst="rect">
            <a:avLst/>
          </a:prstGeom>
          <a:noFill/>
          <a:ln/>
        </p:spPr>
        <p:txBody>
          <a:bodyPr wrap="square" lIns="0" tIns="0" rIns="0" bIns="0" rtlCol="0" anchor="t"/>
          <a:lstStyle/>
          <a:p>
            <a:pPr indent="0" marL="0">
              <a:buNone/>
            </a:pPr>
            <a:r>
              <a:rPr lang="en-US" sz="1000" dirty="0">
                <a:solidFill>
                  <a:srgbClr val="566173"/>
                </a:solidFill>
                <a:latin typeface="Calibri" pitchFamily="34" charset="0"/>
                <a:ea typeface="Calibri" pitchFamily="34" charset="-122"/>
                <a:cs typeface="Calibri" pitchFamily="34" charset="-120"/>
              </a:rPr>
              <a:t>the Moon at 0.256 of Earth's Hill radius today, 0.095 at 2.7 AU</a:t>
            </a:r>
            <a:endParaRPr lang="en-US" sz="1000" dirty="0"/>
          </a:p>
        </p:txBody>
      </p:sp>
      <p:sp>
        <p:nvSpPr>
          <p:cNvPr id="27" name="Shape 25"/>
          <p:cNvSpPr/>
          <p:nvPr/>
        </p:nvSpPr>
        <p:spPr>
          <a:xfrm>
            <a:off x="3227832" y="3895344"/>
            <a:ext cx="2615184" cy="1005840"/>
          </a:xfrm>
          <a:prstGeom prst="roundRect">
            <a:avLst>
              <a:gd name="adj" fmla="val 7273"/>
            </a:avLst>
          </a:prstGeom>
          <a:solidFill>
            <a:srgbClr val="F1F4F8"/>
          </a:solidFill>
          <a:ln/>
        </p:spPr>
      </p:sp>
      <p:sp>
        <p:nvSpPr>
          <p:cNvPr id="28" name="Text 26"/>
          <p:cNvSpPr txBox="1"/>
          <p:nvPr/>
        </p:nvSpPr>
        <p:spPr>
          <a:xfrm>
            <a:off x="3337560" y="3968496"/>
            <a:ext cx="2423160" cy="18288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Air and magnetic shield</a:t>
            </a:r>
            <a:endParaRPr lang="en-US" sz="1050" dirty="0"/>
          </a:p>
        </p:txBody>
      </p:sp>
      <p:sp>
        <p:nvSpPr>
          <p:cNvPr id="29" name="Text 27"/>
          <p:cNvSpPr txBox="1"/>
          <p:nvPr/>
        </p:nvSpPr>
        <p:spPr>
          <a:xfrm>
            <a:off x="3337560" y="4169664"/>
            <a:ext cx="2468880" cy="274320"/>
          </a:xfrm>
          <a:prstGeom prst="rect">
            <a:avLst/>
          </a:prstGeom>
          <a:noFill/>
          <a:ln/>
        </p:spPr>
        <p:txBody>
          <a:bodyPr wrap="square" lIns="0" tIns="0" rIns="0" bIns="0" rtlCol="0" anchor="t"/>
          <a:lstStyle/>
          <a:p>
            <a:pPr indent="0" marL="0">
              <a:buNone/>
            </a:pPr>
            <a:r>
              <a:rPr lang="en-US" sz="1150" dirty="0">
                <a:solidFill>
                  <a:srgbClr val="1A2233"/>
                </a:solidFill>
                <a:latin typeface="Cambria" pitchFamily="34" charset="0"/>
                <a:ea typeface="Cambria" pitchFamily="34" charset="-122"/>
                <a:cs typeface="Cambria" pitchFamily="34" charset="-120"/>
              </a:rPr>
              <a:t>λ = GMm / (kT r)</a:t>
            </a:r>
            <a:endParaRPr lang="en-US" sz="1150" dirty="0"/>
          </a:p>
        </p:txBody>
      </p:sp>
      <p:sp>
        <p:nvSpPr>
          <p:cNvPr id="30" name="Text 28"/>
          <p:cNvSpPr txBox="1"/>
          <p:nvPr/>
        </p:nvSpPr>
        <p:spPr>
          <a:xfrm>
            <a:off x="3337560" y="4462272"/>
            <a:ext cx="2423160" cy="411480"/>
          </a:xfrm>
          <a:prstGeom prst="rect">
            <a:avLst/>
          </a:prstGeom>
          <a:noFill/>
          <a:ln/>
        </p:spPr>
        <p:txBody>
          <a:bodyPr wrap="square" lIns="0" tIns="0" rIns="0" bIns="0" rtlCol="0" anchor="t"/>
          <a:lstStyle/>
          <a:p>
            <a:pPr indent="0" marL="0">
              <a:buNone/>
            </a:pPr>
            <a:r>
              <a:rPr lang="en-US" sz="1000" dirty="0">
                <a:solidFill>
                  <a:srgbClr val="566173"/>
                </a:solidFill>
                <a:latin typeface="Calibri" pitchFamily="34" charset="0"/>
                <a:ea typeface="Calibri" pitchFamily="34" charset="-122"/>
                <a:cs typeface="Calibri" pitchFamily="34" charset="-120"/>
              </a:rPr>
              <a:t>nitrogen's Jeans λ stays ≥ 194 (escape needs &lt; 30); magnetopause 10 → 13.9 R⊕</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5074920"/>
          <a:ext cx="5340096" cy="914400"/>
        </p:xfrm>
        <a:graphic>
          <a:graphicData uri="http://schemas.openxmlformats.org/drawingml/2006/table">
            <a:tbl>
              <a:tblPr/>
              <a:tblGrid>
                <a:gridCol w="2377440"/>
                <a:gridCol w="2962656"/>
              </a:tblGrid>
              <a:tr h="24688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Integrator</a:t>
                      </a:r>
                      <a:endParaRPr lang="en-US" sz="1000" dirty="0">
                        <a:latin typeface="Calibri" charset="0"/>
                        <a:ea typeface="Calibri" charset="0"/>
                        <a:cs typeface="Calibri" charset="0"/>
                      </a:endParaRPr>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32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Used for</a:t>
                      </a:r>
                      <a:endParaRPr lang="en-US" sz="1000" dirty="0">
                        <a:latin typeface="Calibri" charset="0"/>
                        <a:ea typeface="Calibri" charset="0"/>
                        <a:cs typeface="Calibri" charset="0"/>
                      </a:endParaRPr>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324"/>
                    </a:solidFill>
                  </a:tcPr>
                </a:tc>
              </a:tr>
              <a:tr h="246888">
                <a:tc>
                  <a:txBody>
                    <a:bodyPr/>
                    <a:lstStyle/>
                    <a:p>
                      <a:pPr indent="0" marL="0">
                        <a:buNone/>
                      </a:pPr>
                      <a:r>
                        <a:rPr lang="en-US" sz="1000" b="1" dirty="0">
                          <a:solidFill>
                            <a:srgbClr val="1A2233"/>
                          </a:solidFill>
                          <a:latin typeface="Calibri" pitchFamily="34" charset="0"/>
                          <a:ea typeface="Calibri" pitchFamily="34" charset="-122"/>
                          <a:cs typeface="Calibri" pitchFamily="34" charset="-120"/>
                        </a:rPr>
                        <a:t>Leapfrog (kick–drift–kick), 1 day</a:t>
                      </a:r>
                      <a:endParaRPr lang="en-US" sz="1000" dirty="0">
                        <a:latin typeface="Calibri" charset="0"/>
                        <a:ea typeface="Calibri" charset="0"/>
                        <a:cs typeface="Calibri" charset="0"/>
                      </a:endParaRPr>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the journey; half the step moves arrival 0.3%</a:t>
                      </a:r>
                      <a:endParaRPr lang="en-US" sz="1000" dirty="0">
                        <a:latin typeface="Calibri" charset="0"/>
                        <a:ea typeface="Calibri" charset="0"/>
                        <a:cs typeface="Calibri" charset="0"/>
                      </a:endParaRPr>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46888">
                <a:tc>
                  <a:txBody>
                    <a:bodyPr/>
                    <a:lstStyle/>
                    <a:p>
                      <a:pPr indent="0" marL="0">
                        <a:buNone/>
                      </a:pPr>
                      <a:r>
                        <a:rPr lang="en-US" sz="1000" b="1" dirty="0">
                          <a:solidFill>
                            <a:srgbClr val="1A2233"/>
                          </a:solidFill>
                          <a:latin typeface="Calibri" pitchFamily="34" charset="0"/>
                          <a:ea typeface="Calibri" pitchFamily="34" charset="-122"/>
                          <a:cs typeface="Calibri" pitchFamily="34" charset="-120"/>
                        </a:rPr>
                        <a:t>Yoshida 4th order</a:t>
                      </a:r>
                      <a:endParaRPr lang="en-US" sz="1000" dirty="0">
                        <a:latin typeface="Calibri" charset="0"/>
                        <a:ea typeface="Calibri" charset="0"/>
                        <a:cs typeface="Calibri" charset="0"/>
                      </a:endParaRPr>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the ten official benchmarks</a:t>
                      </a:r>
                      <a:endParaRPr lang="en-US" sz="1000" dirty="0">
                        <a:latin typeface="Calibri" charset="0"/>
                        <a:ea typeface="Calibri" charset="0"/>
                        <a:cs typeface="Calibri" charset="0"/>
                      </a:endParaRPr>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46888">
                <a:tc>
                  <a:txBody>
                    <a:bodyPr/>
                    <a:lstStyle/>
                    <a:p>
                      <a:pPr indent="0" marL="0">
                        <a:buNone/>
                      </a:pPr>
                      <a:r>
                        <a:rPr lang="en-US" sz="1000" b="1" dirty="0">
                          <a:solidFill>
                            <a:srgbClr val="1A2233"/>
                          </a:solidFill>
                          <a:latin typeface="Calibri" pitchFamily="34" charset="0"/>
                          <a:ea typeface="Calibri" pitchFamily="34" charset="-122"/>
                          <a:cs typeface="Calibri" pitchFamily="34" charset="-120"/>
                        </a:rPr>
                        <a:t>REBOUND MERCURIUS, 5 days</a:t>
                      </a:r>
                      <a:endParaRPr lang="en-US" sz="1000" dirty="0">
                        <a:latin typeface="Calibri" charset="0"/>
                        <a:ea typeface="Calibri" charset="0"/>
                        <a:cs typeface="Calibri" charset="0"/>
                      </a:endParaRPr>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a million years after arrival</a:t>
                      </a:r>
                      <a:endParaRPr lang="en-US" sz="1000" dirty="0">
                        <a:latin typeface="Calibri" charset="0"/>
                        <a:ea typeface="Calibri" charset="0"/>
                        <a:cs typeface="Calibri" charset="0"/>
                      </a:endParaRPr>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46888">
                <a:tc>
                  <a:txBody>
                    <a:bodyPr/>
                    <a:lstStyle/>
                    <a:p>
                      <a:pPr indent="0" marL="0">
                        <a:buNone/>
                      </a:pPr>
                      <a:r>
                        <a:rPr lang="en-US" sz="1000" b="1" dirty="0">
                          <a:solidFill>
                            <a:srgbClr val="1A2233"/>
                          </a:solidFill>
                          <a:latin typeface="Calibri" pitchFamily="34" charset="0"/>
                          <a:ea typeface="Calibri" pitchFamily="34" charset="-122"/>
                          <a:cs typeface="Calibri" pitchFamily="34" charset="-120"/>
                        </a:rPr>
                        <a:t>REBOUND IAS15</a:t>
                      </a:r>
                      <a:endParaRPr lang="en-US" sz="1000" dirty="0">
                        <a:latin typeface="Calibri" charset="0"/>
                        <a:ea typeface="Calibri" charset="0"/>
                        <a:cs typeface="Calibri" charset="0"/>
                      </a:endParaRPr>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an independent cross-check (X6)</a:t>
                      </a:r>
                      <a:endParaRPr lang="en-US" sz="1000" dirty="0">
                        <a:latin typeface="Calibri" charset="0"/>
                        <a:ea typeface="Calibri" charset="0"/>
                        <a:cs typeface="Calibri" charset="0"/>
                      </a:endParaRPr>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32" name="Shape 29"/>
          <p:cNvSpPr/>
          <p:nvPr/>
        </p:nvSpPr>
        <p:spPr>
          <a:xfrm>
            <a:off x="6035040" y="1700784"/>
            <a:ext cx="5650992" cy="2615184"/>
          </a:xfrm>
          <a:prstGeom prst="roundRect">
            <a:avLst>
              <a:gd name="adj" fmla="val 2797"/>
            </a:avLst>
          </a:prstGeom>
          <a:solidFill>
            <a:srgbClr val="F1F4F8"/>
          </a:solidFill>
          <a:ln/>
        </p:spPr>
      </p:sp>
      <p:sp>
        <p:nvSpPr>
          <p:cNvPr id="33" name="Text 30"/>
          <p:cNvSpPr txBox="1"/>
          <p:nvPr/>
        </p:nvSpPr>
        <p:spPr>
          <a:xfrm>
            <a:off x="6199632" y="1783080"/>
            <a:ext cx="3657600" cy="201168"/>
          </a:xfrm>
          <a:prstGeom prst="rect">
            <a:avLst/>
          </a:prstGeom>
          <a:noFill/>
          <a:ln/>
        </p:spPr>
        <p:txBody>
          <a:bodyPr wrap="square" lIns="0" tIns="0" rIns="0" bIns="0" rtlCol="0" anchor="t"/>
          <a:lstStyle/>
          <a:p>
            <a:pPr indent="0" marL="0">
              <a:buNone/>
            </a:pPr>
            <a:r>
              <a:rPr lang="en-US" sz="950" b="1" dirty="0">
                <a:solidFill>
                  <a:srgbClr val="566173"/>
                </a:solidFill>
                <a:latin typeface="Calibri" pitchFamily="34" charset="0"/>
                <a:ea typeface="Calibri" pitchFamily="34" charset="-122"/>
                <a:cs typeface="Calibri" pitchFamily="34" charset="-120"/>
              </a:rPr>
              <a:t>WHERE EVERY PUSH GOES</a:t>
            </a:r>
            <a:endParaRPr lang="en-US" sz="950" dirty="0"/>
          </a:p>
        </p:txBody>
      </p:sp>
      <p:sp>
        <p:nvSpPr>
          <p:cNvPr id="34" name="Text 31"/>
          <p:cNvSpPr/>
          <p:nvPr/>
        </p:nvSpPr>
        <p:spPr>
          <a:xfrm>
            <a:off x="6217920" y="2103120"/>
            <a:ext cx="1463040" cy="548640"/>
          </a:xfrm>
          <a:prstGeom prst="roundRect">
            <a:avLst>
              <a:gd name="adj" fmla="val 10000"/>
            </a:avLst>
          </a:prstGeom>
          <a:solidFill>
            <a:srgbClr val="FFFFFF"/>
          </a:solidFill>
          <a:ln w="19050">
            <a:solidFill>
              <a:srgbClr val="F2A541"/>
            </a:solidFill>
          </a:ln>
        </p:spPr>
        <p:txBody>
          <a:bodyPr wrap="square" lIns="508" tIns="508" rIns="508" bIns="508"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Beam stations (E1)</a:t>
            </a:r>
            <a:endParaRPr lang="en-US" sz="1050" dirty="0"/>
          </a:p>
        </p:txBody>
      </p:sp>
      <p:sp>
        <p:nvSpPr>
          <p:cNvPr id="35" name="Text 32"/>
          <p:cNvSpPr/>
          <p:nvPr/>
        </p:nvSpPr>
        <p:spPr>
          <a:xfrm>
            <a:off x="8183880" y="2103120"/>
            <a:ext cx="1463040" cy="548640"/>
          </a:xfrm>
          <a:prstGeom prst="roundRect">
            <a:avLst>
              <a:gd name="adj" fmla="val 10000"/>
            </a:avLst>
          </a:prstGeom>
          <a:solidFill>
            <a:srgbClr val="FFFFFF"/>
          </a:solidFill>
          <a:ln w="19050">
            <a:solidFill>
              <a:srgbClr val="F2A541"/>
            </a:solidFill>
          </a:ln>
        </p:spPr>
        <p:txBody>
          <a:bodyPr wrap="square" lIns="508" tIns="508" rIns="508" bIns="508"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Tow mirror and cables</a:t>
            </a:r>
            <a:endParaRPr lang="en-US" sz="1050" dirty="0"/>
          </a:p>
        </p:txBody>
      </p:sp>
      <p:sp>
        <p:nvSpPr>
          <p:cNvPr id="36" name="Text 33"/>
          <p:cNvSpPr/>
          <p:nvPr/>
        </p:nvSpPr>
        <p:spPr>
          <a:xfrm>
            <a:off x="10104120" y="2103120"/>
            <a:ext cx="1417320" cy="548640"/>
          </a:xfrm>
          <a:prstGeom prst="roundRect">
            <a:avLst>
              <a:gd name="adj" fmla="val 10000"/>
            </a:avLst>
          </a:prstGeom>
          <a:solidFill>
            <a:srgbClr val="FFFFFF"/>
          </a:solidFill>
          <a:ln w="19050">
            <a:solidFill>
              <a:srgbClr val="8A94A6"/>
            </a:solidFill>
          </a:ln>
        </p:spPr>
        <p:txBody>
          <a:bodyPr wrap="square" lIns="508" tIns="508" rIns="508" bIns="508"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Tow asteroid</a:t>
            </a:r>
            <a:endParaRPr lang="en-US" sz="1050" dirty="0"/>
          </a:p>
        </p:txBody>
      </p:sp>
      <p:sp>
        <p:nvSpPr>
          <p:cNvPr id="37" name="Text 34"/>
          <p:cNvSpPr/>
          <p:nvPr/>
        </p:nvSpPr>
        <p:spPr>
          <a:xfrm>
            <a:off x="10104120" y="3291840"/>
            <a:ext cx="1417320" cy="548640"/>
          </a:xfrm>
          <a:prstGeom prst="roundRect">
            <a:avLst>
              <a:gd name="adj" fmla="val 10000"/>
            </a:avLst>
          </a:prstGeom>
          <a:solidFill>
            <a:srgbClr val="FFFFFF"/>
          </a:solidFill>
          <a:ln w="19050">
            <a:solidFill>
              <a:srgbClr val="2A9D8F"/>
            </a:solidFill>
          </a:ln>
        </p:spPr>
        <p:txBody>
          <a:bodyPr wrap="square" lIns="508" tIns="508" rIns="508" bIns="508"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Earth (with the Moon's mass)</a:t>
            </a:r>
            <a:endParaRPr lang="en-US" sz="1050" dirty="0"/>
          </a:p>
        </p:txBody>
      </p:sp>
      <p:sp>
        <p:nvSpPr>
          <p:cNvPr id="38" name="Text 35"/>
          <p:cNvSpPr/>
          <p:nvPr/>
        </p:nvSpPr>
        <p:spPr>
          <a:xfrm>
            <a:off x="6217920" y="3291840"/>
            <a:ext cx="1463040" cy="548640"/>
          </a:xfrm>
          <a:prstGeom prst="roundRect">
            <a:avLst>
              <a:gd name="adj" fmla="val 10000"/>
            </a:avLst>
          </a:prstGeom>
          <a:solidFill>
            <a:srgbClr val="FFFFFF"/>
          </a:solidFill>
          <a:ln w="19050">
            <a:solidFill>
              <a:srgbClr val="C8553D"/>
            </a:solidFill>
          </a:ln>
        </p:spPr>
        <p:txBody>
          <a:bodyPr wrap="square" lIns="508" tIns="508" rIns="508" bIns="508"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Stations' recoil: booked</a:t>
            </a:r>
            <a:endParaRPr lang="en-US" sz="1050" dirty="0"/>
          </a:p>
        </p:txBody>
      </p:sp>
      <p:sp>
        <p:nvSpPr>
          <p:cNvPr id="39" name="Text 36"/>
          <p:cNvSpPr/>
          <p:nvPr/>
        </p:nvSpPr>
        <p:spPr>
          <a:xfrm>
            <a:off x="8183880" y="3291840"/>
            <a:ext cx="1463040" cy="548640"/>
          </a:xfrm>
          <a:prstGeom prst="roundRect">
            <a:avLst>
              <a:gd name="adj" fmla="val 10000"/>
            </a:avLst>
          </a:prstGeom>
          <a:solidFill>
            <a:srgbClr val="FFFFFF"/>
          </a:solidFill>
          <a:ln w="19050">
            <a:solidFill>
              <a:srgbClr val="C8553D"/>
            </a:solidFill>
          </a:ln>
        </p:spPr>
        <p:txBody>
          <a:bodyPr wrap="square" lIns="508" tIns="508" rIns="508" bIns="508" rtlCol="0" anchor="ctr"/>
          <a:lstStyle/>
          <a:p>
            <a:pPr algn="ctr" indent="0" marL="0">
              <a:buNone/>
            </a:pPr>
            <a:r>
              <a:rPr lang="en-US" sz="1050" b="1" dirty="0">
                <a:solidFill>
                  <a:srgbClr val="1A2233"/>
                </a:solidFill>
                <a:latin typeface="Calibri" pitchFamily="34" charset="0"/>
                <a:ea typeface="Calibri" pitchFamily="34" charset="-122"/>
                <a:cs typeface="Calibri" pitchFamily="34" charset="-120"/>
              </a:rPr>
              <a:t>Light leaving: booked</a:t>
            </a:r>
            <a:endParaRPr lang="en-US" sz="1050" dirty="0"/>
          </a:p>
        </p:txBody>
      </p:sp>
      <p:sp>
        <p:nvSpPr>
          <p:cNvPr id="40" name="Shape 37"/>
          <p:cNvSpPr/>
          <p:nvPr/>
        </p:nvSpPr>
        <p:spPr>
          <a:xfrm>
            <a:off x="7680960" y="2377440"/>
            <a:ext cx="484632" cy="914"/>
          </a:xfrm>
          <a:prstGeom prst="line">
            <a:avLst/>
          </a:prstGeom>
          <a:noFill/>
          <a:ln w="25400">
            <a:solidFill>
              <a:srgbClr val="A9630A"/>
            </a:solidFill>
            <a:prstDash val="solid"/>
            <a:tailEnd type="triangle"/>
          </a:ln>
        </p:spPr>
      </p:sp>
      <p:sp>
        <p:nvSpPr>
          <p:cNvPr id="41" name="Text 38"/>
          <p:cNvSpPr txBox="1"/>
          <p:nvPr/>
        </p:nvSpPr>
        <p:spPr>
          <a:xfrm>
            <a:off x="7635240" y="2130552"/>
            <a:ext cx="566928" cy="182880"/>
          </a:xfrm>
          <a:prstGeom prst="rect">
            <a:avLst/>
          </a:prstGeom>
          <a:noFill/>
          <a:ln/>
        </p:spPr>
        <p:txBody>
          <a:bodyPr wrap="square" lIns="0" tIns="0" rIns="0" bIns="0" rtlCol="0" anchor="t"/>
          <a:lstStyle/>
          <a:p>
            <a:pPr algn="ctr" indent="0" marL="0">
              <a:buNone/>
            </a:pPr>
            <a:r>
              <a:rPr lang="en-US" sz="950" dirty="0">
                <a:solidFill>
                  <a:srgbClr val="A9630A"/>
                </a:solidFill>
                <a:latin typeface="Calibri" pitchFamily="34" charset="0"/>
                <a:ea typeface="Calibri" pitchFamily="34" charset="-122"/>
                <a:cs typeface="Calibri" pitchFamily="34" charset="-120"/>
              </a:rPr>
              <a:t>light, P/c</a:t>
            </a:r>
            <a:endParaRPr lang="en-US" sz="950" dirty="0"/>
          </a:p>
        </p:txBody>
      </p:sp>
      <p:sp>
        <p:nvSpPr>
          <p:cNvPr id="42" name="Shape 39"/>
          <p:cNvSpPr/>
          <p:nvPr/>
        </p:nvSpPr>
        <p:spPr>
          <a:xfrm>
            <a:off x="9646920" y="2377440"/>
            <a:ext cx="438912" cy="914"/>
          </a:xfrm>
          <a:prstGeom prst="line">
            <a:avLst/>
          </a:prstGeom>
          <a:noFill/>
          <a:ln w="25400">
            <a:solidFill>
              <a:srgbClr val="1A2233"/>
            </a:solidFill>
            <a:prstDash val="solid"/>
            <a:tailEnd type="triangle"/>
          </a:ln>
        </p:spPr>
      </p:sp>
      <p:sp>
        <p:nvSpPr>
          <p:cNvPr id="43" name="Text 40"/>
          <p:cNvSpPr txBox="1"/>
          <p:nvPr/>
        </p:nvSpPr>
        <p:spPr>
          <a:xfrm>
            <a:off x="9601200" y="2130552"/>
            <a:ext cx="548640" cy="182880"/>
          </a:xfrm>
          <a:prstGeom prst="rect">
            <a:avLst/>
          </a:prstGeom>
          <a:noFill/>
          <a:ln/>
        </p:spPr>
        <p:txBody>
          <a:bodyPr wrap="square" lIns="0" tIns="0" rIns="0" bIns="0" rtlCol="0" anchor="t"/>
          <a:lstStyle/>
          <a:p>
            <a:pPr algn="ctr" indent="0" marL="0">
              <a:buNone/>
            </a:pPr>
            <a:r>
              <a:rPr lang="en-US" sz="950" dirty="0">
                <a:solidFill>
                  <a:srgbClr val="566173"/>
                </a:solidFill>
                <a:latin typeface="Calibri" pitchFamily="34" charset="0"/>
                <a:ea typeface="Calibri" pitchFamily="34" charset="-122"/>
                <a:cs typeface="Calibri" pitchFamily="34" charset="-120"/>
              </a:rPr>
              <a:t>cables</a:t>
            </a:r>
            <a:endParaRPr lang="en-US" sz="950" dirty="0"/>
          </a:p>
        </p:txBody>
      </p:sp>
      <p:sp>
        <p:nvSpPr>
          <p:cNvPr id="44" name="Shape 41"/>
          <p:cNvSpPr/>
          <p:nvPr/>
        </p:nvSpPr>
        <p:spPr>
          <a:xfrm>
            <a:off x="10808208" y="2670048"/>
            <a:ext cx="914" cy="603504"/>
          </a:xfrm>
          <a:prstGeom prst="line">
            <a:avLst/>
          </a:prstGeom>
          <a:noFill/>
          <a:ln w="25400">
            <a:solidFill>
              <a:srgbClr val="1D6F66"/>
            </a:solidFill>
            <a:prstDash val="solid"/>
            <a:headEnd type="triangle"/>
            <a:tailEnd type="triangle"/>
          </a:ln>
        </p:spPr>
      </p:sp>
      <p:sp>
        <p:nvSpPr>
          <p:cNvPr id="45" name="Text 42"/>
          <p:cNvSpPr txBox="1"/>
          <p:nvPr/>
        </p:nvSpPr>
        <p:spPr>
          <a:xfrm>
            <a:off x="10881360" y="2788920"/>
            <a:ext cx="777240" cy="384048"/>
          </a:xfrm>
          <a:prstGeom prst="rect">
            <a:avLst/>
          </a:prstGeom>
          <a:noFill/>
          <a:ln/>
        </p:spPr>
        <p:txBody>
          <a:bodyPr wrap="square" lIns="0" tIns="0" rIns="0" bIns="0" rtlCol="0" anchor="t"/>
          <a:lstStyle/>
          <a:p>
            <a:pPr indent="0" marL="0">
              <a:buNone/>
            </a:pPr>
            <a:r>
              <a:rPr lang="en-US" sz="950" dirty="0">
                <a:solidFill>
                  <a:srgbClr val="1D6F66"/>
                </a:solidFill>
                <a:latin typeface="Calibri" pitchFamily="34" charset="0"/>
                <a:ea typeface="Calibri" pitchFamily="34" charset="-122"/>
                <a:cs typeface="Calibri" pitchFamily="34" charset="-120"/>
              </a:rPr>
              <a:t>gravity: exact</a:t>
            </a:r>
            <a:endParaRPr lang="en-US" sz="950" dirty="0"/>
          </a:p>
          <a:p>
            <a:pPr indent="0" marL="0">
              <a:buNone/>
            </a:pPr>
            <a:r>
              <a:rPr lang="en-US" sz="950" dirty="0">
                <a:solidFill>
                  <a:srgbClr val="1D6F66"/>
                </a:solidFill>
                <a:latin typeface="Calibri" pitchFamily="34" charset="0"/>
                <a:ea typeface="Calibri" pitchFamily="34" charset="-122"/>
                <a:cs typeface="Calibri" pitchFamily="34" charset="-120"/>
              </a:rPr>
              <a:t>opposite pairs</a:t>
            </a:r>
            <a:endParaRPr lang="en-US" sz="950" dirty="0"/>
          </a:p>
        </p:txBody>
      </p:sp>
      <p:sp>
        <p:nvSpPr>
          <p:cNvPr id="46" name="Shape 43"/>
          <p:cNvSpPr/>
          <p:nvPr/>
        </p:nvSpPr>
        <p:spPr>
          <a:xfrm>
            <a:off x="6949440" y="2670048"/>
            <a:ext cx="914" cy="603504"/>
          </a:xfrm>
          <a:prstGeom prst="line">
            <a:avLst/>
          </a:prstGeom>
          <a:noFill/>
          <a:ln w="19050">
            <a:solidFill>
              <a:srgbClr val="C8553D"/>
            </a:solidFill>
            <a:prstDash val="solid"/>
            <a:tailEnd type="triangle"/>
          </a:ln>
        </p:spPr>
      </p:sp>
      <p:sp>
        <p:nvSpPr>
          <p:cNvPr id="47" name="Shape 44"/>
          <p:cNvSpPr/>
          <p:nvPr/>
        </p:nvSpPr>
        <p:spPr>
          <a:xfrm>
            <a:off x="8915400" y="2670048"/>
            <a:ext cx="914" cy="603504"/>
          </a:xfrm>
          <a:prstGeom prst="line">
            <a:avLst/>
          </a:prstGeom>
          <a:noFill/>
          <a:ln w="19050">
            <a:solidFill>
              <a:srgbClr val="C8553D"/>
            </a:solidFill>
            <a:prstDash val="solid"/>
            <a:tailEnd type="triangle"/>
          </a:ln>
        </p:spPr>
      </p:sp>
      <p:sp>
        <p:nvSpPr>
          <p:cNvPr id="48" name="Text 45"/>
          <p:cNvSpPr txBox="1"/>
          <p:nvPr/>
        </p:nvSpPr>
        <p:spPr>
          <a:xfrm>
            <a:off x="6217920" y="3886200"/>
            <a:ext cx="5349240" cy="384048"/>
          </a:xfrm>
          <a:prstGeom prst="rect">
            <a:avLst/>
          </a:prstGeom>
          <a:noFill/>
          <a:ln/>
        </p:spPr>
        <p:txBody>
          <a:bodyPr wrap="square" lIns="0" tIns="0" rIns="0" bIns="0" rtlCol="0" anchor="t"/>
          <a:lstStyle/>
          <a:p>
            <a:pPr indent="0" marL="0">
              <a:buNone/>
            </a:pPr>
            <a:r>
              <a:rPr lang="en-US" sz="1000" dirty="0">
                <a:solidFill>
                  <a:srgbClr val="566173"/>
                </a:solidFill>
                <a:latin typeface="Calibri" pitchFamily="34" charset="0"/>
                <a:ea typeface="Calibri" pitchFamily="34" charset="-122"/>
                <a:cs typeface="Calibri" pitchFamily="34" charset="-120"/>
              </a:rPr>
              <a:t>Applied impulse over the journey: 8.78 × 10²⁶ kg m/s. Asteroids sent away after arrival take their momentum with them, booked.</a:t>
            </a:r>
            <a:endParaRPr lang="en-US" sz="1000" dirty="0"/>
          </a:p>
        </p:txBody>
      </p:sp>
      <p:sp>
        <p:nvSpPr>
          <p:cNvPr id="49" name="Text 46"/>
          <p:cNvSpPr txBox="1"/>
          <p:nvPr/>
        </p:nvSpPr>
        <p:spPr>
          <a:xfrm>
            <a:off x="6035040" y="4462272"/>
            <a:ext cx="5650992" cy="201168"/>
          </a:xfrm>
          <a:prstGeom prst="rect">
            <a:avLst/>
          </a:prstGeom>
          <a:noFill/>
          <a:ln/>
        </p:spPr>
        <p:txBody>
          <a:bodyPr wrap="square" lIns="0" tIns="0" rIns="0" bIns="0" rtlCol="0" anchor="t"/>
          <a:lstStyle/>
          <a:p>
            <a:pPr indent="0" marL="0">
              <a:buNone/>
            </a:pPr>
            <a:r>
              <a:rPr lang="en-US" sz="1100" b="1" dirty="0">
                <a:solidFill>
                  <a:srgbClr val="1A2233"/>
                </a:solidFill>
                <a:latin typeface="Calibri" pitchFamily="34" charset="0"/>
                <a:ea typeface="Calibri" pitchFamily="34" charset="-122"/>
                <a:cs typeface="Calibri" pitchFamily="34" charset="-120"/>
              </a:rPr>
              <a:t>The guide's two ledger checks, worst over the journey (log scale)</a:t>
            </a:r>
            <a:endParaRPr lang="en-US" sz="1100" dirty="0"/>
          </a:p>
        </p:txBody>
      </p:sp>
      <p:sp>
        <p:nvSpPr>
          <p:cNvPr id="50" name="Shape 47"/>
          <p:cNvSpPr/>
          <p:nvPr/>
        </p:nvSpPr>
        <p:spPr>
          <a:xfrm>
            <a:off x="6172200" y="5138928"/>
            <a:ext cx="5349240" cy="914"/>
          </a:xfrm>
          <a:prstGeom prst="line">
            <a:avLst/>
          </a:prstGeom>
          <a:noFill/>
          <a:ln w="38100">
            <a:solidFill>
              <a:srgbClr val="D5DCE6"/>
            </a:solidFill>
            <a:prstDash val="solid"/>
          </a:ln>
        </p:spPr>
      </p:sp>
      <p:sp>
        <p:nvSpPr>
          <p:cNvPr id="51" name="Shape 48"/>
          <p:cNvSpPr/>
          <p:nvPr/>
        </p:nvSpPr>
        <p:spPr>
          <a:xfrm>
            <a:off x="6172200" y="5093208"/>
            <a:ext cx="914" cy="91440"/>
          </a:xfrm>
          <a:prstGeom prst="line">
            <a:avLst/>
          </a:prstGeom>
          <a:noFill/>
          <a:ln w="9525">
            <a:solidFill>
              <a:srgbClr val="566173"/>
            </a:solidFill>
            <a:prstDash val="solid"/>
          </a:ln>
        </p:spPr>
      </p:sp>
      <p:sp>
        <p:nvSpPr>
          <p:cNvPr id="52" name="Text 49"/>
          <p:cNvSpPr txBox="1"/>
          <p:nvPr/>
        </p:nvSpPr>
        <p:spPr>
          <a:xfrm>
            <a:off x="5897880" y="5212080"/>
            <a:ext cx="54864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10⁻²⁴</a:t>
            </a:r>
            <a:endParaRPr lang="en-US" sz="1000" dirty="0"/>
          </a:p>
        </p:txBody>
      </p:sp>
      <p:sp>
        <p:nvSpPr>
          <p:cNvPr id="53" name="Shape 50"/>
          <p:cNvSpPr/>
          <p:nvPr/>
        </p:nvSpPr>
        <p:spPr>
          <a:xfrm>
            <a:off x="7063740" y="5093208"/>
            <a:ext cx="914" cy="91440"/>
          </a:xfrm>
          <a:prstGeom prst="line">
            <a:avLst/>
          </a:prstGeom>
          <a:noFill/>
          <a:ln w="9525">
            <a:solidFill>
              <a:srgbClr val="566173"/>
            </a:solidFill>
            <a:prstDash val="solid"/>
          </a:ln>
        </p:spPr>
      </p:sp>
      <p:sp>
        <p:nvSpPr>
          <p:cNvPr id="54" name="Text 51"/>
          <p:cNvSpPr txBox="1"/>
          <p:nvPr/>
        </p:nvSpPr>
        <p:spPr>
          <a:xfrm>
            <a:off x="6789420" y="5212080"/>
            <a:ext cx="54864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10⁻²¹</a:t>
            </a:r>
            <a:endParaRPr lang="en-US" sz="1000" dirty="0"/>
          </a:p>
        </p:txBody>
      </p:sp>
      <p:sp>
        <p:nvSpPr>
          <p:cNvPr id="55" name="Shape 52"/>
          <p:cNvSpPr/>
          <p:nvPr/>
        </p:nvSpPr>
        <p:spPr>
          <a:xfrm>
            <a:off x="7955280" y="5093208"/>
            <a:ext cx="914" cy="91440"/>
          </a:xfrm>
          <a:prstGeom prst="line">
            <a:avLst/>
          </a:prstGeom>
          <a:noFill/>
          <a:ln w="9525">
            <a:solidFill>
              <a:srgbClr val="566173"/>
            </a:solidFill>
            <a:prstDash val="solid"/>
          </a:ln>
        </p:spPr>
      </p:sp>
      <p:sp>
        <p:nvSpPr>
          <p:cNvPr id="56" name="Text 53"/>
          <p:cNvSpPr txBox="1"/>
          <p:nvPr/>
        </p:nvSpPr>
        <p:spPr>
          <a:xfrm>
            <a:off x="7680960" y="5212080"/>
            <a:ext cx="54864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10⁻¹⁸</a:t>
            </a:r>
            <a:endParaRPr lang="en-US" sz="1000" dirty="0"/>
          </a:p>
        </p:txBody>
      </p:sp>
      <p:sp>
        <p:nvSpPr>
          <p:cNvPr id="57" name="Shape 54"/>
          <p:cNvSpPr/>
          <p:nvPr/>
        </p:nvSpPr>
        <p:spPr>
          <a:xfrm>
            <a:off x="8846820" y="5093208"/>
            <a:ext cx="914" cy="91440"/>
          </a:xfrm>
          <a:prstGeom prst="line">
            <a:avLst/>
          </a:prstGeom>
          <a:noFill/>
          <a:ln w="9525">
            <a:solidFill>
              <a:srgbClr val="566173"/>
            </a:solidFill>
            <a:prstDash val="solid"/>
          </a:ln>
        </p:spPr>
      </p:sp>
      <p:sp>
        <p:nvSpPr>
          <p:cNvPr id="58" name="Text 55"/>
          <p:cNvSpPr txBox="1"/>
          <p:nvPr/>
        </p:nvSpPr>
        <p:spPr>
          <a:xfrm>
            <a:off x="8572500" y="5212080"/>
            <a:ext cx="54864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10⁻¹⁵</a:t>
            </a:r>
            <a:endParaRPr lang="en-US" sz="1000" dirty="0"/>
          </a:p>
        </p:txBody>
      </p:sp>
      <p:sp>
        <p:nvSpPr>
          <p:cNvPr id="59" name="Shape 56"/>
          <p:cNvSpPr/>
          <p:nvPr/>
        </p:nvSpPr>
        <p:spPr>
          <a:xfrm>
            <a:off x="9738360" y="5093208"/>
            <a:ext cx="914" cy="91440"/>
          </a:xfrm>
          <a:prstGeom prst="line">
            <a:avLst/>
          </a:prstGeom>
          <a:noFill/>
          <a:ln w="9525">
            <a:solidFill>
              <a:srgbClr val="566173"/>
            </a:solidFill>
            <a:prstDash val="solid"/>
          </a:ln>
        </p:spPr>
      </p:sp>
      <p:sp>
        <p:nvSpPr>
          <p:cNvPr id="60" name="Text 57"/>
          <p:cNvSpPr txBox="1"/>
          <p:nvPr/>
        </p:nvSpPr>
        <p:spPr>
          <a:xfrm>
            <a:off x="9464040" y="5212080"/>
            <a:ext cx="54864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10⁻¹²</a:t>
            </a:r>
            <a:endParaRPr lang="en-US" sz="1000" dirty="0"/>
          </a:p>
        </p:txBody>
      </p:sp>
      <p:sp>
        <p:nvSpPr>
          <p:cNvPr id="61" name="Shape 58"/>
          <p:cNvSpPr/>
          <p:nvPr/>
        </p:nvSpPr>
        <p:spPr>
          <a:xfrm>
            <a:off x="10629900" y="5093208"/>
            <a:ext cx="914" cy="91440"/>
          </a:xfrm>
          <a:prstGeom prst="line">
            <a:avLst/>
          </a:prstGeom>
          <a:noFill/>
          <a:ln w="9525">
            <a:solidFill>
              <a:srgbClr val="566173"/>
            </a:solidFill>
            <a:prstDash val="solid"/>
          </a:ln>
        </p:spPr>
      </p:sp>
      <p:sp>
        <p:nvSpPr>
          <p:cNvPr id="62" name="Text 59"/>
          <p:cNvSpPr txBox="1"/>
          <p:nvPr/>
        </p:nvSpPr>
        <p:spPr>
          <a:xfrm>
            <a:off x="10355580" y="5212080"/>
            <a:ext cx="54864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10⁻⁹</a:t>
            </a:r>
            <a:endParaRPr lang="en-US" sz="1000" dirty="0"/>
          </a:p>
        </p:txBody>
      </p:sp>
      <p:sp>
        <p:nvSpPr>
          <p:cNvPr id="63" name="Shape 60"/>
          <p:cNvSpPr/>
          <p:nvPr/>
        </p:nvSpPr>
        <p:spPr>
          <a:xfrm>
            <a:off x="11521440" y="5093208"/>
            <a:ext cx="914" cy="91440"/>
          </a:xfrm>
          <a:prstGeom prst="line">
            <a:avLst/>
          </a:prstGeom>
          <a:noFill/>
          <a:ln w="9525">
            <a:solidFill>
              <a:srgbClr val="566173"/>
            </a:solidFill>
            <a:prstDash val="solid"/>
          </a:ln>
        </p:spPr>
      </p:sp>
      <p:sp>
        <p:nvSpPr>
          <p:cNvPr id="64" name="Text 61"/>
          <p:cNvSpPr txBox="1"/>
          <p:nvPr/>
        </p:nvSpPr>
        <p:spPr>
          <a:xfrm>
            <a:off x="11247120" y="5212080"/>
            <a:ext cx="54864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10⁻⁶</a:t>
            </a:r>
            <a:endParaRPr lang="en-US" sz="1000" dirty="0"/>
          </a:p>
        </p:txBody>
      </p:sp>
      <p:sp>
        <p:nvSpPr>
          <p:cNvPr id="65" name="Shape 62"/>
          <p:cNvSpPr/>
          <p:nvPr/>
        </p:nvSpPr>
        <p:spPr>
          <a:xfrm>
            <a:off x="10629900" y="5047488"/>
            <a:ext cx="891540" cy="182880"/>
          </a:xfrm>
          <a:prstGeom prst="rect">
            <a:avLst/>
          </a:prstGeom>
          <a:solidFill>
            <a:srgbClr val="C8553D">
              <a:alpha val="20000"/>
            </a:srgbClr>
          </a:solidFill>
          <a:ln/>
        </p:spPr>
      </p:sp>
      <p:sp>
        <p:nvSpPr>
          <p:cNvPr id="66" name="Shape 63"/>
          <p:cNvSpPr/>
          <p:nvPr/>
        </p:nvSpPr>
        <p:spPr>
          <a:xfrm>
            <a:off x="10629900" y="4846320"/>
            <a:ext cx="914" cy="402336"/>
          </a:xfrm>
          <a:prstGeom prst="line">
            <a:avLst/>
          </a:prstGeom>
          <a:noFill/>
          <a:ln w="22225">
            <a:solidFill>
              <a:srgbClr val="C8553D"/>
            </a:solidFill>
            <a:prstDash val="solid"/>
          </a:ln>
        </p:spPr>
      </p:sp>
      <p:sp>
        <p:nvSpPr>
          <p:cNvPr id="67" name="Text 64"/>
          <p:cNvSpPr txBox="1"/>
          <p:nvPr/>
        </p:nvSpPr>
        <p:spPr>
          <a:xfrm>
            <a:off x="10675620" y="4809744"/>
            <a:ext cx="1280160" cy="182880"/>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guide's limit 10⁻⁹</a:t>
            </a:r>
            <a:endParaRPr lang="en-US" sz="1000" dirty="0"/>
          </a:p>
        </p:txBody>
      </p:sp>
      <p:sp>
        <p:nvSpPr>
          <p:cNvPr id="68" name="Shape 65"/>
          <p:cNvSpPr/>
          <p:nvPr/>
        </p:nvSpPr>
        <p:spPr>
          <a:xfrm>
            <a:off x="6922625" y="5074920"/>
            <a:ext cx="128016" cy="128016"/>
          </a:xfrm>
          <a:prstGeom prst="ellipse">
            <a:avLst/>
          </a:prstGeom>
          <a:solidFill>
            <a:srgbClr val="2F9E5B"/>
          </a:solidFill>
          <a:ln w="9525">
            <a:solidFill>
              <a:srgbClr val="FFFFFF"/>
            </a:solidFill>
            <a:prstDash val="solid"/>
          </a:ln>
        </p:spPr>
      </p:sp>
      <p:sp>
        <p:nvSpPr>
          <p:cNvPr id="69" name="Text 66"/>
          <p:cNvSpPr txBox="1"/>
          <p:nvPr/>
        </p:nvSpPr>
        <p:spPr>
          <a:xfrm>
            <a:off x="6072233" y="4636008"/>
            <a:ext cx="1828800" cy="365760"/>
          </a:xfrm>
          <a:prstGeom prst="rect">
            <a:avLst/>
          </a:prstGeom>
          <a:noFill/>
          <a:ln/>
        </p:spPr>
        <p:txBody>
          <a:bodyPr wrap="square" lIns="0" tIns="0" rIns="0" bIns="0" rtlCol="0" anchor="t"/>
          <a:lstStyle/>
          <a:p>
            <a:pPr algn="ctr" indent="0" marL="0">
              <a:buNone/>
            </a:pPr>
            <a:r>
              <a:rPr lang="en-US" sz="1000" b="1" dirty="0">
                <a:solidFill>
                  <a:srgbClr val="1A2233"/>
                </a:solidFill>
                <a:latin typeface="Calibri" pitchFamily="34" charset="0"/>
                <a:ea typeface="Calibri" pitchFamily="34" charset="-122"/>
                <a:cs typeface="Calibri" pitchFamily="34" charset="-120"/>
              </a:rPr>
              <a:t>integrator honest</a:t>
            </a:r>
            <a:endParaRPr lang="en-US" sz="1000" dirty="0"/>
          </a:p>
          <a:p>
            <a:pPr algn="ctr" indent="0" marL="0">
              <a:buNone/>
            </a:pPr>
            <a:r>
              <a:rPr lang="en-US" sz="1000" b="1" dirty="0">
                <a:solidFill>
                  <a:srgbClr val="1A2233"/>
                </a:solidFill>
                <a:latin typeface="Calibri" pitchFamily="34" charset="0"/>
                <a:ea typeface="Calibri" pitchFamily="34" charset="-122"/>
                <a:cs typeface="Calibri" pitchFamily="34" charset="-120"/>
              </a:rPr>
              <a:t>5.5 × 10⁻²²</a:t>
            </a:r>
            <a:endParaRPr lang="en-US" sz="1000" dirty="0"/>
          </a:p>
        </p:txBody>
      </p:sp>
      <p:sp>
        <p:nvSpPr>
          <p:cNvPr id="70" name="Shape 67"/>
          <p:cNvSpPr/>
          <p:nvPr/>
        </p:nvSpPr>
        <p:spPr>
          <a:xfrm>
            <a:off x="8708909" y="5074920"/>
            <a:ext cx="128016" cy="128016"/>
          </a:xfrm>
          <a:prstGeom prst="ellipse">
            <a:avLst/>
          </a:prstGeom>
          <a:solidFill>
            <a:srgbClr val="2F9E5B"/>
          </a:solidFill>
          <a:ln w="9525">
            <a:solidFill>
              <a:srgbClr val="FFFFFF"/>
            </a:solidFill>
            <a:prstDash val="solid"/>
          </a:ln>
        </p:spPr>
      </p:sp>
      <p:sp>
        <p:nvSpPr>
          <p:cNvPr id="71" name="Text 68"/>
          <p:cNvSpPr txBox="1"/>
          <p:nvPr/>
        </p:nvSpPr>
        <p:spPr>
          <a:xfrm>
            <a:off x="7858517" y="4636008"/>
            <a:ext cx="1828800" cy="365760"/>
          </a:xfrm>
          <a:prstGeom prst="rect">
            <a:avLst/>
          </a:prstGeom>
          <a:noFill/>
          <a:ln/>
        </p:spPr>
        <p:txBody>
          <a:bodyPr wrap="square" lIns="0" tIns="0" rIns="0" bIns="0" rtlCol="0" anchor="t"/>
          <a:lstStyle/>
          <a:p>
            <a:pPr algn="ctr" indent="0" marL="0">
              <a:buNone/>
            </a:pPr>
            <a:r>
              <a:rPr lang="en-US" sz="1000" b="1" dirty="0">
                <a:solidFill>
                  <a:srgbClr val="1A2233"/>
                </a:solidFill>
                <a:latin typeface="Calibri" pitchFamily="34" charset="0"/>
                <a:ea typeface="Calibri" pitchFamily="34" charset="-122"/>
                <a:cs typeface="Calibri" pitchFamily="34" charset="-120"/>
              </a:rPr>
              <a:t>nothing from nothing</a:t>
            </a:r>
            <a:endParaRPr lang="en-US" sz="1000" dirty="0"/>
          </a:p>
          <a:p>
            <a:pPr algn="ctr" indent="0" marL="0">
              <a:buNone/>
            </a:pPr>
            <a:r>
              <a:rPr lang="en-US" sz="1000" b="1" dirty="0">
                <a:solidFill>
                  <a:srgbClr val="1A2233"/>
                </a:solidFill>
                <a:latin typeface="Calibri" pitchFamily="34" charset="0"/>
                <a:ea typeface="Calibri" pitchFamily="34" charset="-122"/>
                <a:cs typeface="Calibri" pitchFamily="34" charset="-120"/>
              </a:rPr>
              <a:t>5.6 × 10⁻¹⁶</a:t>
            </a:r>
            <a:endParaRPr lang="en-US" sz="1000" dirty="0"/>
          </a:p>
        </p:txBody>
      </p:sp>
      <p:sp>
        <p:nvSpPr>
          <p:cNvPr id="72" name="Text 69"/>
          <p:cNvSpPr txBox="1"/>
          <p:nvPr/>
        </p:nvSpPr>
        <p:spPr>
          <a:xfrm>
            <a:off x="7863840" y="5413248"/>
            <a:ext cx="1463040" cy="182880"/>
          </a:xfrm>
          <a:prstGeom prst="rect">
            <a:avLst/>
          </a:prstGeom>
          <a:noFill/>
          <a:ln/>
        </p:spPr>
        <p:txBody>
          <a:bodyPr wrap="square" lIns="0" tIns="0" rIns="0" bIns="0" rtlCol="0" anchor="t"/>
          <a:lstStyle/>
          <a:p>
            <a:pPr algn="ctr" indent="0" marL="0">
              <a:buNone/>
            </a:pPr>
            <a:r>
              <a:rPr lang="en-US" sz="1000" dirty="0">
                <a:solidFill>
                  <a:srgbClr val="566173"/>
                </a:solidFill>
                <a:latin typeface="Calibri" pitchFamily="34" charset="0"/>
                <a:ea typeface="Calibri" pitchFamily="34" charset="-122"/>
                <a:cs typeface="Calibri" pitchFamily="34" charset="-120"/>
              </a:rPr>
              <a:t>float64 rounding ≈ 10⁻¹⁶ ↑</a:t>
            </a:r>
            <a:endParaRPr lang="en-US" sz="1000" dirty="0"/>
          </a:p>
        </p:txBody>
      </p:sp>
      <p:sp>
        <p:nvSpPr>
          <p:cNvPr id="73" name="Shape 70"/>
          <p:cNvSpPr/>
          <p:nvPr/>
        </p:nvSpPr>
        <p:spPr>
          <a:xfrm>
            <a:off x="6035040" y="5833872"/>
            <a:ext cx="5650992" cy="512064"/>
          </a:xfrm>
          <a:prstGeom prst="roundRect">
            <a:avLst>
              <a:gd name="adj" fmla="val 10714"/>
            </a:avLst>
          </a:prstGeom>
          <a:solidFill>
            <a:srgbClr val="0B1324"/>
          </a:solidFill>
          <a:ln/>
        </p:spPr>
      </p:sp>
      <p:sp>
        <p:nvSpPr>
          <p:cNvPr id="74" name="Text 71"/>
          <p:cNvSpPr txBox="1"/>
          <p:nvPr/>
        </p:nvSpPr>
        <p:spPr>
          <a:xfrm>
            <a:off x="6199632" y="5833872"/>
            <a:ext cx="5394960" cy="512064"/>
          </a:xfrm>
          <a:prstGeom prst="rect">
            <a:avLst/>
          </a:prstGeom>
          <a:noFill/>
          <a:ln/>
        </p:spPr>
        <p:txBody>
          <a:bodyPr wrap="square" lIns="0" tIns="0" rIns="0" bIns="0" rtlCol="0" anchor="ctr"/>
          <a:lstStyle/>
          <a:p>
            <a:pPr indent="0" marL="0">
              <a:buNone/>
            </a:pPr>
            <a:r>
              <a:rPr lang="en-US" sz="1050" b="1" dirty="0">
                <a:solidFill>
                  <a:srgbClr val="F2A541"/>
                </a:solidFill>
                <a:latin typeface="Calibri" pitchFamily="34" charset="0"/>
                <a:ea typeface="Calibri" pitchFamily="34" charset="-122"/>
                <a:cs typeface="Calibri" pitchFamily="34" charset="-120"/>
              </a:rPr>
              <a:t>Energy: </a:t>
            </a:r>
            <a:pPr indent="0" marL="0">
              <a:buNone/>
            </a:pPr>
            <a:r>
              <a:rPr lang="en-US" sz="1050" dirty="0">
                <a:solidFill>
                  <a:srgbClr val="FFFFFF"/>
                </a:solidFill>
                <a:latin typeface="Calibri" pitchFamily="34" charset="0"/>
                <a:ea typeface="Calibri" pitchFamily="34" charset="-122"/>
                <a:cs typeface="Calibri" pitchFamily="34" charset="-120"/>
              </a:rPr>
              <a:t>the beams did 1.7969 × 10³³ J of work and the bodies gained 1.7970 × 10³³ J, counting what left with the asteroids: a 0.007% match.</a:t>
            </a:r>
            <a:endParaRPr lang="en-US" sz="1050" dirty="0"/>
          </a:p>
        </p:txBody>
      </p:sp>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661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12064" y="329184"/>
            <a:ext cx="219456" cy="219456"/>
          </a:xfrm>
          <a:prstGeom prst="ellipse">
            <a:avLst/>
          </a:prstGeom>
          <a:noFill/>
          <a:ln w="15875">
            <a:solidFill>
              <a:srgbClr val="A9630A"/>
            </a:solidFill>
            <a:prstDash val="solid"/>
          </a:ln>
        </p:spPr>
      </p:sp>
      <p:sp>
        <p:nvSpPr>
          <p:cNvPr id="3" name="Shape 1"/>
          <p:cNvSpPr/>
          <p:nvPr/>
        </p:nvSpPr>
        <p:spPr>
          <a:xfrm>
            <a:off x="681228" y="347472"/>
            <a:ext cx="73152" cy="73152"/>
          </a:xfrm>
          <a:prstGeom prst="ellipse">
            <a:avLst/>
          </a:prstGeom>
          <a:solidFill>
            <a:srgbClr val="A9630A"/>
          </a:solidFill>
          <a:ln/>
        </p:spPr>
      </p:sp>
      <p:sp>
        <p:nvSpPr>
          <p:cNvPr id="4" name="Text 0"/>
          <p:cNvSpPr/>
          <p:nvPr>
            <p:ph idx="100" type="body" hasCustomPrompt="1"/>
          </p:nvPr>
        </p:nvSpPr>
        <p:spPr>
          <a:xfrm>
            <a:off x="868680" y="310896"/>
            <a:ext cx="10515600" cy="256032"/>
          </a:xfrm>
          <a:prstGeom prst="rect">
            <a:avLst/>
          </a:prstGeom>
          <a:noFill/>
          <a:ln/>
        </p:spPr>
        <p:txBody>
          <a:bodyPr wrap="square" lIns="0" tIns="0" rIns="0" bIns="0" rtlCol="0" anchor="ctr"/>
          <a:lstStyle/>
          <a:p>
            <a:pPr indent="0" marL="0">
              <a:buNone/>
            </a:pPr>
            <a:r>
              <a:rPr lang="en-US" sz="1050" b="1" spc="100" kern="0" dirty="0">
                <a:solidFill>
                  <a:srgbClr val="A9630A"/>
                </a:solidFill>
                <a:latin typeface="Calibri" pitchFamily="34" charset="0"/>
                <a:ea typeface="Calibri" pitchFamily="34" charset="-122"/>
                <a:cs typeface="Calibri" pitchFamily="34" charset="-120"/>
              </a:rPr>
              <a:t>06 · VALIDATION</a:t>
            </a:r>
            <a:endParaRPr lang="en-US" sz="1050" dirty="0"/>
          </a:p>
        </p:txBody>
      </p:sp>
      <p:sp>
        <p:nvSpPr>
          <p:cNvPr id="5" name="Text 0"/>
          <p:cNvSpPr/>
          <p:nvPr>
            <p:ph idx="101" type="title" hasCustomPrompt="1"/>
          </p:nvPr>
        </p:nvSpPr>
        <p:spPr>
          <a:xfrm>
            <a:off x="502920" y="585216"/>
            <a:ext cx="11183112" cy="512064"/>
          </a:xfrm>
          <a:prstGeom prst="rect">
            <a:avLst/>
          </a:prstGeom>
          <a:noFill/>
          <a:ln/>
        </p:spPr>
        <p:txBody>
          <a:bodyPr wrap="square" lIns="0" tIns="0" rIns="0" bIns="0" rtlCol="0" anchor="ctr"/>
          <a:lstStyle/>
          <a:p>
            <a:pPr indent="0" marL="0">
              <a:buNone/>
            </a:pPr>
            <a:r>
              <a:rPr lang="en-US" sz="2800" b="1" dirty="0">
                <a:solidFill>
                  <a:srgbClr val="1A2233"/>
                </a:solidFill>
                <a:latin typeface="Cambria" pitchFamily="34" charset="0"/>
                <a:ea typeface="Cambria" pitchFamily="34" charset="-122"/>
                <a:cs typeface="Cambria" pitchFamily="34" charset="-120"/>
              </a:rPr>
              <a:t>10 of 10 benchmarks, 49 tests, one command to check it all</a:t>
            </a:r>
            <a:endParaRPr lang="en-US" sz="2800" dirty="0"/>
          </a:p>
        </p:txBody>
      </p:sp>
      <p:sp>
        <p:nvSpPr>
          <p:cNvPr id="6" name="Text 0"/>
          <p:cNvSpPr/>
          <p:nvPr>
            <p:ph idx="102" type="body" hasCustomPrompt="1"/>
          </p:nvPr>
        </p:nvSpPr>
        <p:spPr>
          <a:xfrm>
            <a:off x="502920" y="1115568"/>
            <a:ext cx="11183112" cy="457200"/>
          </a:xfrm>
          <a:prstGeom prst="rect">
            <a:avLst/>
          </a:prstGeom>
          <a:noFill/>
          <a:ln/>
        </p:spPr>
        <p:txBody>
          <a:bodyPr wrap="square" lIns="0" tIns="0" rIns="0" bIns="0" rtlCol="0" anchor="t"/>
          <a:lstStyle/>
          <a:p>
            <a:pPr indent="0" marL="0">
              <a:buNone/>
            </a:pPr>
            <a:r>
              <a:rPr lang="en-US" sz="1250" dirty="0">
                <a:solidFill>
                  <a:srgbClr val="566173"/>
                </a:solidFill>
                <a:latin typeface="Calibri" pitchFamily="34" charset="0"/>
                <a:ea typeface="Calibri" pitchFamily="34" charset="-122"/>
                <a:cs typeface="Calibri" pitchFamily="34" charset="-120"/>
              </a:rPr>
              <a:t>Every official benchmark passes, also with inputs a judge changes (python -m sim.benchmarks 4 --set e=0.5); run.bat verify re-runs everything and writes a results PDF.</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700784"/>
          <a:ext cx="6446520" cy="914400"/>
        </p:xfrm>
        <a:graphic>
          <a:graphicData uri="http://schemas.openxmlformats.org/drawingml/2006/table">
            <a:tbl>
              <a:tblPr/>
              <a:tblGrid>
                <a:gridCol w="274320"/>
                <a:gridCol w="1874520"/>
                <a:gridCol w="2240280"/>
                <a:gridCol w="1783080"/>
                <a:gridCol w="274320"/>
              </a:tblGrid>
              <a:tr h="26517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32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Benchmark</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32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Measured</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32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Expected (tolerance)</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324"/>
                    </a:solidFill>
                  </a:tcPr>
                </a:tc>
                <a:tc>
                  <a:txBody>
                    <a:bodyPr/>
                    <a:lstStyle/>
                    <a:p>
                      <a:pPr indent="0" marL="0">
                        <a:buNone/>
                      </a:pP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324"/>
                    </a:solidFill>
                  </a:tcPr>
                </a:tc>
              </a:tr>
              <a:tr h="265176">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Wire in a field</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(0, 0, 10) N</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(0, 0, 10) N (10⁻⁹)</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ctr" indent="0" marL="0">
                        <a:buNone/>
                      </a:pPr>
                      <a:r>
                        <a:rPr lang="en-US" sz="1000" b="1" dirty="0">
                          <a:solidFill>
                            <a:srgbClr val="2F9E5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65176">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Closed loop, uniform field</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4.3 × 10⁻¹⁶ of I L B</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0 (10⁻⁹ of I L B)</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ctr" indent="0" marL="0">
                        <a:buNone/>
                      </a:pPr>
                      <a:r>
                        <a:rPr lang="en-US" sz="1000" b="1" dirty="0">
                          <a:solidFill>
                            <a:srgbClr val="2F9E5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65176">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Long wire field</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2.00000 × 10⁻⁴ 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μ₀I/2πr (10⁻⁶)</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ctr" indent="0" marL="0">
                        <a:buNone/>
                      </a:pPr>
                      <a:r>
                        <a:rPr lang="en-US" sz="1000" b="1" dirty="0">
                          <a:solidFill>
                            <a:srgbClr val="2F9E5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65176">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Kepler orbit back to start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back within 1.8 × 10⁻⁸ a; energy 1.1 × 10⁻¹⁰</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10⁻⁶ a; 10⁻⁹</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ctr" indent="0" marL="0">
                        <a:buNone/>
                      </a:pPr>
                      <a:r>
                        <a:rPr lang="en-US" sz="1000" b="1" dirty="0">
                          <a:solidFill>
                            <a:srgbClr val="2F9E5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65176">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Solar system energy, no push</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energy error 8.9 × 10⁻¹¹</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10⁻⁹</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ctr" indent="0" marL="0">
                        <a:buNone/>
                      </a:pPr>
                      <a:r>
                        <a:rPr lang="en-US" sz="1000" b="1" dirty="0">
                          <a:solidFill>
                            <a:srgbClr val="2F9E5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65176">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Earth–Moon barycentre period</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365.260 days</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365.256 (0.1 day)</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ctr" indent="0" marL="0">
                        <a:buNone/>
                      </a:pPr>
                      <a:r>
                        <a:rPr lang="en-US" sz="1000" b="1" dirty="0">
                          <a:solidFill>
                            <a:srgbClr val="2F9E5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65176">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Hohmann transfer</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2.946, 2.650 km/s; 258.9 days</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2.94, 2.65 km/s; 259 d (±0.02; ±2)</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ctr" indent="0" marL="0">
                        <a:buNone/>
                      </a:pPr>
                      <a:r>
                        <a:rPr lang="en-US" sz="1000" b="1" dirty="0">
                          <a:solidFill>
                            <a:srgbClr val="2F9E5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65176">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Push along velocity, orbit growth</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3,169.7 km</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3,170.1 km, Gauss (1%)</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ctr" indent="0" marL="0">
                        <a:buNone/>
                      </a:pPr>
                      <a:r>
                        <a:rPr lang="en-US" sz="1000" b="1" dirty="0">
                          <a:solidFill>
                            <a:srgbClr val="2F9E5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65176">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Cantilever under self-weight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root moment, tip deflection within 10⁻⁹</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qL²/2, qL⁴/8EI (1%)</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ctr" indent="0" marL="0">
                        <a:buNone/>
                      </a:pPr>
                      <a:r>
                        <a:rPr lang="en-US" sz="1000" b="1" dirty="0">
                          <a:solidFill>
                            <a:srgbClr val="2F9E5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65176">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Equilibrium temperature</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254.0 K</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254 K (2 K)</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ctr" indent="0" marL="0">
                        <a:buNone/>
                      </a:pPr>
                      <a:r>
                        <a:rPr lang="en-US" sz="1000" b="1" dirty="0">
                          <a:solidFill>
                            <a:srgbClr val="2F9E5B"/>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8" name="Text 5"/>
          <p:cNvSpPr txBox="1"/>
          <p:nvPr/>
        </p:nvSpPr>
        <p:spPr>
          <a:xfrm>
            <a:off x="502920" y="4754880"/>
            <a:ext cx="6446520" cy="347472"/>
          </a:xfrm>
          <a:prstGeom prst="rect">
            <a:avLst/>
          </a:prstGeom>
          <a:noFill/>
          <a:ln/>
        </p:spPr>
        <p:txBody>
          <a:bodyPr wrap="square" lIns="0" tIns="0" rIns="0" bIns="0" rtlCol="0" anchor="t"/>
          <a:lstStyle/>
          <a:p>
            <a:pPr indent="0" marL="0">
              <a:buNone/>
            </a:pPr>
            <a:r>
              <a:rPr lang="en-US" sz="1000" dirty="0">
                <a:solidFill>
                  <a:srgbClr val="566173"/>
                </a:solidFill>
                <a:latin typeface="Calibri" pitchFamily="34" charset="0"/>
                <a:ea typeface="Calibri" pitchFamily="34" charset="-122"/>
                <a:cs typeface="Calibri" pitchFamily="34" charset="-120"/>
              </a:rPr>
              <a:t>Convergence: halving the step to 0.5 day moves arrival from year 8,758 to 8,730 (0.3%), with the same orbit and 0 unresolved flags.</a:t>
            </a:r>
            <a:endParaRPr lang="en-US" sz="1000" dirty="0"/>
          </a:p>
        </p:txBody>
      </p:sp>
      <p:sp>
        <p:nvSpPr>
          <p:cNvPr id="9" name="Text 6"/>
          <p:cNvSpPr txBox="1"/>
          <p:nvPr/>
        </p:nvSpPr>
        <p:spPr>
          <a:xfrm>
            <a:off x="7178040" y="1700784"/>
            <a:ext cx="4480560" cy="219456"/>
          </a:xfrm>
          <a:prstGeom prst="rect">
            <a:avLst/>
          </a:prstGeom>
          <a:noFill/>
          <a:ln/>
        </p:spPr>
        <p:txBody>
          <a:bodyPr wrap="square" lIns="0" tIns="0" rIns="0" bIns="0" rtlCol="0" anchor="t"/>
          <a:lstStyle/>
          <a:p>
            <a:pPr indent="0" marL="0">
              <a:buNone/>
            </a:pPr>
            <a:r>
              <a:rPr lang="en-US" sz="1200" b="1" dirty="0">
                <a:solidFill>
                  <a:srgbClr val="1A2233"/>
                </a:solidFill>
                <a:latin typeface="Calibri" pitchFamily="34" charset="0"/>
                <a:ea typeface="Calibri" pitchFamily="34" charset="-122"/>
                <a:cs typeface="Calibri" pitchFamily="34" charset="-120"/>
              </a:rPr>
              <a:t>Our own checks, X1–X9</a:t>
            </a:r>
            <a:endParaRPr lang="en-US" sz="1200" dirty="0"/>
          </a:p>
        </p:txBody>
      </p:sp>
      <p:sp>
        <p:nvSpPr>
          <p:cNvPr id="10" name="Shape 7"/>
          <p:cNvSpPr/>
          <p:nvPr/>
        </p:nvSpPr>
        <p:spPr>
          <a:xfrm>
            <a:off x="7178040" y="1993392"/>
            <a:ext cx="1444752" cy="475488"/>
          </a:xfrm>
          <a:prstGeom prst="roundRect">
            <a:avLst>
              <a:gd name="adj" fmla="val 15385"/>
            </a:avLst>
          </a:prstGeom>
          <a:solidFill>
            <a:srgbClr val="F1F4F8"/>
          </a:solidFill>
          <a:ln/>
        </p:spPr>
      </p:sp>
      <p:sp>
        <p:nvSpPr>
          <p:cNvPr id="11" name="Text 8"/>
          <p:cNvSpPr/>
          <p:nvPr/>
        </p:nvSpPr>
        <p:spPr>
          <a:xfrm>
            <a:off x="7232904" y="2103120"/>
            <a:ext cx="256032" cy="256032"/>
          </a:xfrm>
          <a:prstGeom prst="ellipse">
            <a:avLst/>
          </a:prstGeom>
          <a:solidFill>
            <a:srgbClr val="1D6F66"/>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X1</a:t>
            </a:r>
            <a:endParaRPr lang="en-US" sz="900" dirty="0"/>
          </a:p>
        </p:txBody>
      </p:sp>
      <p:sp>
        <p:nvSpPr>
          <p:cNvPr id="12" name="Text 9"/>
          <p:cNvSpPr txBox="1"/>
          <p:nvPr/>
        </p:nvSpPr>
        <p:spPr>
          <a:xfrm>
            <a:off x="7543800" y="2039112"/>
            <a:ext cx="1042416" cy="402336"/>
          </a:xfrm>
          <a:prstGeom prst="rect">
            <a:avLst/>
          </a:prstGeom>
          <a:noFill/>
          <a:ln/>
        </p:spPr>
        <p:txBody>
          <a:bodyPr wrap="square" lIns="0" tIns="0" rIns="0" bIns="0" rtlCol="0" anchor="ctr"/>
          <a:lstStyle/>
          <a:p>
            <a:pPr indent="0" marL="0">
              <a:buNone/>
            </a:pPr>
            <a:r>
              <a:rPr lang="en-US" sz="1000" dirty="0">
                <a:solidFill>
                  <a:srgbClr val="1A2233"/>
                </a:solidFill>
                <a:latin typeface="Calibri" pitchFamily="34" charset="0"/>
                <a:ea typeface="Calibri" pitchFamily="34" charset="-122"/>
                <a:cs typeface="Calibri" pitchFamily="34" charset="-120"/>
              </a:rPr>
              <a:t>Kepler's third law</a:t>
            </a:r>
            <a:endParaRPr lang="en-US" sz="1000" dirty="0"/>
          </a:p>
        </p:txBody>
      </p:sp>
      <p:sp>
        <p:nvSpPr>
          <p:cNvPr id="13" name="Shape 10"/>
          <p:cNvSpPr/>
          <p:nvPr/>
        </p:nvSpPr>
        <p:spPr>
          <a:xfrm>
            <a:off x="8695944" y="1993392"/>
            <a:ext cx="1444752" cy="475488"/>
          </a:xfrm>
          <a:prstGeom prst="roundRect">
            <a:avLst>
              <a:gd name="adj" fmla="val 15385"/>
            </a:avLst>
          </a:prstGeom>
          <a:solidFill>
            <a:srgbClr val="F1F4F8"/>
          </a:solidFill>
          <a:ln/>
        </p:spPr>
      </p:sp>
      <p:sp>
        <p:nvSpPr>
          <p:cNvPr id="14" name="Text 11"/>
          <p:cNvSpPr/>
          <p:nvPr/>
        </p:nvSpPr>
        <p:spPr>
          <a:xfrm>
            <a:off x="8750808" y="2103120"/>
            <a:ext cx="256032" cy="256032"/>
          </a:xfrm>
          <a:prstGeom prst="ellipse">
            <a:avLst/>
          </a:prstGeom>
          <a:solidFill>
            <a:srgbClr val="1D6F66"/>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X2</a:t>
            </a:r>
            <a:endParaRPr lang="en-US" sz="900" dirty="0"/>
          </a:p>
        </p:txBody>
      </p:sp>
      <p:sp>
        <p:nvSpPr>
          <p:cNvPr id="15" name="Text 12"/>
          <p:cNvSpPr txBox="1"/>
          <p:nvPr/>
        </p:nvSpPr>
        <p:spPr>
          <a:xfrm>
            <a:off x="9061704" y="2039112"/>
            <a:ext cx="1042416" cy="402336"/>
          </a:xfrm>
          <a:prstGeom prst="rect">
            <a:avLst/>
          </a:prstGeom>
          <a:noFill/>
          <a:ln/>
        </p:spPr>
        <p:txBody>
          <a:bodyPr wrap="square" lIns="0" tIns="0" rIns="0" bIns="0" rtlCol="0" anchor="ctr"/>
          <a:lstStyle/>
          <a:p>
            <a:pPr indent="0" marL="0">
              <a:buNone/>
            </a:pPr>
            <a:r>
              <a:rPr lang="en-US" sz="1000" dirty="0">
                <a:solidFill>
                  <a:srgbClr val="1A2233"/>
                </a:solidFill>
                <a:latin typeface="Calibri" pitchFamily="34" charset="0"/>
                <a:ea typeface="Calibri" pitchFamily="34" charset="-122"/>
                <a:cs typeface="Calibri" pitchFamily="34" charset="-120"/>
              </a:rPr>
              <a:t>Energy steady for 1,000 years</a:t>
            </a:r>
            <a:endParaRPr lang="en-US" sz="1000" dirty="0"/>
          </a:p>
        </p:txBody>
      </p:sp>
      <p:sp>
        <p:nvSpPr>
          <p:cNvPr id="16" name="Shape 13"/>
          <p:cNvSpPr/>
          <p:nvPr/>
        </p:nvSpPr>
        <p:spPr>
          <a:xfrm>
            <a:off x="10213848" y="1993392"/>
            <a:ext cx="1444752" cy="475488"/>
          </a:xfrm>
          <a:prstGeom prst="roundRect">
            <a:avLst>
              <a:gd name="adj" fmla="val 15385"/>
            </a:avLst>
          </a:prstGeom>
          <a:solidFill>
            <a:srgbClr val="F1F4F8"/>
          </a:solidFill>
          <a:ln/>
        </p:spPr>
      </p:sp>
      <p:sp>
        <p:nvSpPr>
          <p:cNvPr id="17" name="Text 14"/>
          <p:cNvSpPr/>
          <p:nvPr/>
        </p:nvSpPr>
        <p:spPr>
          <a:xfrm>
            <a:off x="10268712" y="2103120"/>
            <a:ext cx="256032" cy="256032"/>
          </a:xfrm>
          <a:prstGeom prst="ellipse">
            <a:avLst/>
          </a:prstGeom>
          <a:solidFill>
            <a:srgbClr val="1D6F66"/>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X3</a:t>
            </a:r>
            <a:endParaRPr lang="en-US" sz="900" dirty="0"/>
          </a:p>
        </p:txBody>
      </p:sp>
      <p:sp>
        <p:nvSpPr>
          <p:cNvPr id="18" name="Text 15"/>
          <p:cNvSpPr txBox="1"/>
          <p:nvPr/>
        </p:nvSpPr>
        <p:spPr>
          <a:xfrm>
            <a:off x="10579608" y="2039112"/>
            <a:ext cx="1042416" cy="402336"/>
          </a:xfrm>
          <a:prstGeom prst="rect">
            <a:avLst/>
          </a:prstGeom>
          <a:noFill/>
          <a:ln/>
        </p:spPr>
        <p:txBody>
          <a:bodyPr wrap="square" lIns="0" tIns="0" rIns="0" bIns="0" rtlCol="0" anchor="ctr"/>
          <a:lstStyle/>
          <a:p>
            <a:pPr indent="0" marL="0">
              <a:buNone/>
            </a:pPr>
            <a:r>
              <a:rPr lang="en-US" sz="1000" dirty="0">
                <a:solidFill>
                  <a:srgbClr val="1A2233"/>
                </a:solidFill>
                <a:latin typeface="Calibri" pitchFamily="34" charset="0"/>
                <a:ea typeface="Calibri" pitchFamily="34" charset="-122"/>
                <a:cs typeface="Calibri" pitchFamily="34" charset="-120"/>
              </a:rPr>
              <a:t>Ledger with a push on</a:t>
            </a:r>
            <a:endParaRPr lang="en-US" sz="1000" dirty="0"/>
          </a:p>
        </p:txBody>
      </p:sp>
      <p:sp>
        <p:nvSpPr>
          <p:cNvPr id="19" name="Shape 16"/>
          <p:cNvSpPr/>
          <p:nvPr/>
        </p:nvSpPr>
        <p:spPr>
          <a:xfrm>
            <a:off x="7178040" y="2542032"/>
            <a:ext cx="1444752" cy="475488"/>
          </a:xfrm>
          <a:prstGeom prst="roundRect">
            <a:avLst>
              <a:gd name="adj" fmla="val 15385"/>
            </a:avLst>
          </a:prstGeom>
          <a:solidFill>
            <a:srgbClr val="F1F4F8"/>
          </a:solidFill>
          <a:ln/>
        </p:spPr>
      </p:sp>
      <p:sp>
        <p:nvSpPr>
          <p:cNvPr id="20" name="Text 17"/>
          <p:cNvSpPr/>
          <p:nvPr/>
        </p:nvSpPr>
        <p:spPr>
          <a:xfrm>
            <a:off x="7232904" y="2651760"/>
            <a:ext cx="256032" cy="256032"/>
          </a:xfrm>
          <a:prstGeom prst="ellipse">
            <a:avLst/>
          </a:prstGeom>
          <a:solidFill>
            <a:srgbClr val="1D6F66"/>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X4</a:t>
            </a:r>
            <a:endParaRPr lang="en-US" sz="900" dirty="0"/>
          </a:p>
        </p:txBody>
      </p:sp>
      <p:sp>
        <p:nvSpPr>
          <p:cNvPr id="21" name="Text 18"/>
          <p:cNvSpPr txBox="1"/>
          <p:nvPr/>
        </p:nvSpPr>
        <p:spPr>
          <a:xfrm>
            <a:off x="7543800" y="2587752"/>
            <a:ext cx="1042416" cy="402336"/>
          </a:xfrm>
          <a:prstGeom prst="rect">
            <a:avLst/>
          </a:prstGeom>
          <a:noFill/>
          <a:ln/>
        </p:spPr>
        <p:txBody>
          <a:bodyPr wrap="square" lIns="0" tIns="0" rIns="0" bIns="0" rtlCol="0" anchor="ctr"/>
          <a:lstStyle/>
          <a:p>
            <a:pPr indent="0" marL="0">
              <a:buNone/>
            </a:pPr>
            <a:r>
              <a:rPr lang="en-US" sz="1000" dirty="0">
                <a:solidFill>
                  <a:srgbClr val="1A2233"/>
                </a:solidFill>
                <a:latin typeface="Calibri" pitchFamily="34" charset="0"/>
                <a:ea typeface="Calibri" pitchFamily="34" charset="-122"/>
                <a:cs typeface="Calibri" pitchFamily="34" charset="-120"/>
              </a:rPr>
              <a:t>A Hohmann transfer, flown</a:t>
            </a:r>
            <a:endParaRPr lang="en-US" sz="1000" dirty="0"/>
          </a:p>
        </p:txBody>
      </p:sp>
      <p:sp>
        <p:nvSpPr>
          <p:cNvPr id="22" name="Shape 19"/>
          <p:cNvSpPr/>
          <p:nvPr/>
        </p:nvSpPr>
        <p:spPr>
          <a:xfrm>
            <a:off x="8695944" y="2542032"/>
            <a:ext cx="1444752" cy="475488"/>
          </a:xfrm>
          <a:prstGeom prst="roundRect">
            <a:avLst>
              <a:gd name="adj" fmla="val 15385"/>
            </a:avLst>
          </a:prstGeom>
          <a:solidFill>
            <a:srgbClr val="F1F4F8"/>
          </a:solidFill>
          <a:ln/>
        </p:spPr>
      </p:sp>
      <p:sp>
        <p:nvSpPr>
          <p:cNvPr id="23" name="Text 20"/>
          <p:cNvSpPr/>
          <p:nvPr/>
        </p:nvSpPr>
        <p:spPr>
          <a:xfrm>
            <a:off x="8750808" y="2651760"/>
            <a:ext cx="256032" cy="256032"/>
          </a:xfrm>
          <a:prstGeom prst="ellipse">
            <a:avLst/>
          </a:prstGeom>
          <a:solidFill>
            <a:srgbClr val="1D6F66"/>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X5</a:t>
            </a:r>
            <a:endParaRPr lang="en-US" sz="900" dirty="0"/>
          </a:p>
        </p:txBody>
      </p:sp>
      <p:sp>
        <p:nvSpPr>
          <p:cNvPr id="24" name="Text 21"/>
          <p:cNvSpPr txBox="1"/>
          <p:nvPr/>
        </p:nvSpPr>
        <p:spPr>
          <a:xfrm>
            <a:off x="9061704" y="2587752"/>
            <a:ext cx="1042416" cy="402336"/>
          </a:xfrm>
          <a:prstGeom prst="rect">
            <a:avLst/>
          </a:prstGeom>
          <a:noFill/>
          <a:ln/>
        </p:spPr>
        <p:txBody>
          <a:bodyPr wrap="square" lIns="0" tIns="0" rIns="0" bIns="0" rtlCol="0" anchor="ctr"/>
          <a:lstStyle/>
          <a:p>
            <a:pPr indent="0" marL="0">
              <a:buNone/>
            </a:pPr>
            <a:r>
              <a:rPr lang="en-US" sz="1000" dirty="0">
                <a:solidFill>
                  <a:srgbClr val="1A2233"/>
                </a:solidFill>
                <a:latin typeface="Calibri" pitchFamily="34" charset="0"/>
                <a:ea typeface="Calibri" pitchFamily="34" charset="-122"/>
                <a:cs typeface="Calibri" pitchFamily="34" charset="-120"/>
              </a:rPr>
              <a:t>Arrival time under steady push</a:t>
            </a:r>
            <a:endParaRPr lang="en-US" sz="1000" dirty="0"/>
          </a:p>
        </p:txBody>
      </p:sp>
      <p:sp>
        <p:nvSpPr>
          <p:cNvPr id="25" name="Shape 22"/>
          <p:cNvSpPr/>
          <p:nvPr/>
        </p:nvSpPr>
        <p:spPr>
          <a:xfrm>
            <a:off x="10213848" y="2542032"/>
            <a:ext cx="1444752" cy="475488"/>
          </a:xfrm>
          <a:prstGeom prst="roundRect">
            <a:avLst>
              <a:gd name="adj" fmla="val 15385"/>
            </a:avLst>
          </a:prstGeom>
          <a:solidFill>
            <a:srgbClr val="F1F4F8"/>
          </a:solidFill>
          <a:ln/>
        </p:spPr>
      </p:sp>
      <p:sp>
        <p:nvSpPr>
          <p:cNvPr id="26" name="Text 23"/>
          <p:cNvSpPr/>
          <p:nvPr/>
        </p:nvSpPr>
        <p:spPr>
          <a:xfrm>
            <a:off x="10268712" y="2651760"/>
            <a:ext cx="256032" cy="256032"/>
          </a:xfrm>
          <a:prstGeom prst="ellipse">
            <a:avLst/>
          </a:prstGeom>
          <a:solidFill>
            <a:srgbClr val="1D6F66"/>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X6</a:t>
            </a:r>
            <a:endParaRPr lang="en-US" sz="900" dirty="0"/>
          </a:p>
        </p:txBody>
      </p:sp>
      <p:sp>
        <p:nvSpPr>
          <p:cNvPr id="27" name="Text 24"/>
          <p:cNvSpPr txBox="1"/>
          <p:nvPr/>
        </p:nvSpPr>
        <p:spPr>
          <a:xfrm>
            <a:off x="10579608" y="2587752"/>
            <a:ext cx="1042416" cy="402336"/>
          </a:xfrm>
          <a:prstGeom prst="rect">
            <a:avLst/>
          </a:prstGeom>
          <a:noFill/>
          <a:ln/>
        </p:spPr>
        <p:txBody>
          <a:bodyPr wrap="square" lIns="0" tIns="0" rIns="0" bIns="0" rtlCol="0" anchor="ctr"/>
          <a:lstStyle/>
          <a:p>
            <a:pPr indent="0" marL="0">
              <a:buNone/>
            </a:pPr>
            <a:r>
              <a:rPr lang="en-US" sz="1000" dirty="0">
                <a:solidFill>
                  <a:srgbClr val="1A2233"/>
                </a:solidFill>
                <a:latin typeface="Calibri" pitchFamily="34" charset="0"/>
                <a:ea typeface="Calibri" pitchFamily="34" charset="-122"/>
                <a:cs typeface="Calibri" pitchFamily="34" charset="-120"/>
              </a:rPr>
              <a:t>Agrees with REBOUND IAS15</a:t>
            </a:r>
            <a:endParaRPr lang="en-US" sz="1000" dirty="0"/>
          </a:p>
        </p:txBody>
      </p:sp>
      <p:sp>
        <p:nvSpPr>
          <p:cNvPr id="28" name="Shape 25"/>
          <p:cNvSpPr/>
          <p:nvPr/>
        </p:nvSpPr>
        <p:spPr>
          <a:xfrm>
            <a:off x="7178040" y="3090672"/>
            <a:ext cx="1444752" cy="475488"/>
          </a:xfrm>
          <a:prstGeom prst="roundRect">
            <a:avLst>
              <a:gd name="adj" fmla="val 15385"/>
            </a:avLst>
          </a:prstGeom>
          <a:solidFill>
            <a:srgbClr val="F1F4F8"/>
          </a:solidFill>
          <a:ln/>
        </p:spPr>
      </p:sp>
      <p:sp>
        <p:nvSpPr>
          <p:cNvPr id="29" name="Text 26"/>
          <p:cNvSpPr/>
          <p:nvPr/>
        </p:nvSpPr>
        <p:spPr>
          <a:xfrm>
            <a:off x="7232904" y="3200400"/>
            <a:ext cx="256032" cy="256032"/>
          </a:xfrm>
          <a:prstGeom prst="ellipse">
            <a:avLst/>
          </a:prstGeom>
          <a:solidFill>
            <a:srgbClr val="1D6F66"/>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X7</a:t>
            </a:r>
            <a:endParaRPr lang="en-US" sz="900" dirty="0"/>
          </a:p>
        </p:txBody>
      </p:sp>
      <p:sp>
        <p:nvSpPr>
          <p:cNvPr id="30" name="Text 27"/>
          <p:cNvSpPr txBox="1"/>
          <p:nvPr/>
        </p:nvSpPr>
        <p:spPr>
          <a:xfrm>
            <a:off x="7543800" y="3136392"/>
            <a:ext cx="1042416" cy="402336"/>
          </a:xfrm>
          <a:prstGeom prst="rect">
            <a:avLst/>
          </a:prstGeom>
          <a:noFill/>
          <a:ln/>
        </p:spPr>
        <p:txBody>
          <a:bodyPr wrap="square" lIns="0" tIns="0" rIns="0" bIns="0" rtlCol="0" anchor="ctr"/>
          <a:lstStyle/>
          <a:p>
            <a:pPr indent="0" marL="0">
              <a:buNone/>
            </a:pPr>
            <a:r>
              <a:rPr lang="en-US" sz="1000" dirty="0">
                <a:solidFill>
                  <a:srgbClr val="1A2233"/>
                </a:solidFill>
                <a:latin typeface="Calibri" pitchFamily="34" charset="0"/>
                <a:ea typeface="Calibri" pitchFamily="34" charset="-122"/>
                <a:cs typeface="Calibri" pitchFamily="34" charset="-120"/>
              </a:rPr>
              <a:t>The asteroid's pull and hold</a:t>
            </a:r>
            <a:endParaRPr lang="en-US" sz="1000" dirty="0"/>
          </a:p>
        </p:txBody>
      </p:sp>
      <p:sp>
        <p:nvSpPr>
          <p:cNvPr id="31" name="Shape 28"/>
          <p:cNvSpPr/>
          <p:nvPr/>
        </p:nvSpPr>
        <p:spPr>
          <a:xfrm>
            <a:off x="8695944" y="3090672"/>
            <a:ext cx="1444752" cy="475488"/>
          </a:xfrm>
          <a:prstGeom prst="roundRect">
            <a:avLst>
              <a:gd name="adj" fmla="val 15385"/>
            </a:avLst>
          </a:prstGeom>
          <a:solidFill>
            <a:srgbClr val="F1F4F8"/>
          </a:solidFill>
          <a:ln/>
        </p:spPr>
      </p:sp>
      <p:sp>
        <p:nvSpPr>
          <p:cNvPr id="32" name="Text 29"/>
          <p:cNvSpPr/>
          <p:nvPr/>
        </p:nvSpPr>
        <p:spPr>
          <a:xfrm>
            <a:off x="8750808" y="3200400"/>
            <a:ext cx="256032" cy="256032"/>
          </a:xfrm>
          <a:prstGeom prst="ellipse">
            <a:avLst/>
          </a:prstGeom>
          <a:solidFill>
            <a:srgbClr val="1D6F66"/>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X8</a:t>
            </a:r>
            <a:endParaRPr lang="en-US" sz="900" dirty="0"/>
          </a:p>
        </p:txBody>
      </p:sp>
      <p:sp>
        <p:nvSpPr>
          <p:cNvPr id="33" name="Text 30"/>
          <p:cNvSpPr txBox="1"/>
          <p:nvPr/>
        </p:nvSpPr>
        <p:spPr>
          <a:xfrm>
            <a:off x="9061704" y="3136392"/>
            <a:ext cx="1042416" cy="402336"/>
          </a:xfrm>
          <a:prstGeom prst="rect">
            <a:avLst/>
          </a:prstGeom>
          <a:noFill/>
          <a:ln/>
        </p:spPr>
        <p:txBody>
          <a:bodyPr wrap="square" lIns="0" tIns="0" rIns="0" bIns="0" rtlCol="0" anchor="ctr"/>
          <a:lstStyle/>
          <a:p>
            <a:pPr indent="0" marL="0">
              <a:buNone/>
            </a:pPr>
            <a:r>
              <a:rPr lang="en-US" sz="1000" dirty="0">
                <a:solidFill>
                  <a:srgbClr val="1A2233"/>
                </a:solidFill>
                <a:latin typeface="Calibri" pitchFamily="34" charset="0"/>
                <a:ea typeface="Calibri" pitchFamily="34" charset="-122"/>
                <a:cs typeface="Calibri" pitchFamily="34" charset="-120"/>
              </a:rPr>
              <a:t>Octo-Earth: zero net push</a:t>
            </a:r>
            <a:endParaRPr lang="en-US" sz="1000" dirty="0"/>
          </a:p>
        </p:txBody>
      </p:sp>
      <p:sp>
        <p:nvSpPr>
          <p:cNvPr id="34" name="Shape 31"/>
          <p:cNvSpPr/>
          <p:nvPr/>
        </p:nvSpPr>
        <p:spPr>
          <a:xfrm>
            <a:off x="10213848" y="3090672"/>
            <a:ext cx="1444752" cy="475488"/>
          </a:xfrm>
          <a:prstGeom prst="roundRect">
            <a:avLst>
              <a:gd name="adj" fmla="val 15385"/>
            </a:avLst>
          </a:prstGeom>
          <a:solidFill>
            <a:srgbClr val="F1F4F8"/>
          </a:solidFill>
          <a:ln/>
        </p:spPr>
      </p:sp>
      <p:sp>
        <p:nvSpPr>
          <p:cNvPr id="35" name="Text 32"/>
          <p:cNvSpPr/>
          <p:nvPr/>
        </p:nvSpPr>
        <p:spPr>
          <a:xfrm>
            <a:off x="10268712" y="3200400"/>
            <a:ext cx="256032" cy="256032"/>
          </a:xfrm>
          <a:prstGeom prst="ellipse">
            <a:avLst/>
          </a:prstGeom>
          <a:solidFill>
            <a:srgbClr val="1D6F66"/>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X9</a:t>
            </a:r>
            <a:endParaRPr lang="en-US" sz="900" dirty="0"/>
          </a:p>
        </p:txBody>
      </p:sp>
      <p:sp>
        <p:nvSpPr>
          <p:cNvPr id="36" name="Text 33"/>
          <p:cNvSpPr txBox="1"/>
          <p:nvPr/>
        </p:nvSpPr>
        <p:spPr>
          <a:xfrm>
            <a:off x="10579608" y="3136392"/>
            <a:ext cx="1042416" cy="402336"/>
          </a:xfrm>
          <a:prstGeom prst="rect">
            <a:avLst/>
          </a:prstGeom>
          <a:noFill/>
          <a:ln/>
        </p:spPr>
        <p:txBody>
          <a:bodyPr wrap="square" lIns="0" tIns="0" rIns="0" bIns="0" rtlCol="0" anchor="ctr"/>
          <a:lstStyle/>
          <a:p>
            <a:pPr indent="0" marL="0">
              <a:buNone/>
            </a:pPr>
            <a:r>
              <a:rPr lang="en-US" sz="1000" dirty="0">
                <a:solidFill>
                  <a:srgbClr val="1A2233"/>
                </a:solidFill>
                <a:latin typeface="Calibri" pitchFamily="34" charset="0"/>
                <a:ea typeface="Calibri" pitchFamily="34" charset="-122"/>
                <a:cs typeface="Calibri" pitchFamily="34" charset="-120"/>
              </a:rPr>
              <a:t>Earth's real axial-tilt cycle</a:t>
            </a:r>
            <a:endParaRPr lang="en-US" sz="1000" dirty="0"/>
          </a:p>
        </p:txBody>
      </p:sp>
      <p:sp>
        <p:nvSpPr>
          <p:cNvPr id="37" name="Text 34"/>
          <p:cNvSpPr txBox="1"/>
          <p:nvPr/>
        </p:nvSpPr>
        <p:spPr>
          <a:xfrm>
            <a:off x="7178040" y="3749040"/>
            <a:ext cx="4507992" cy="219456"/>
          </a:xfrm>
          <a:prstGeom prst="rect">
            <a:avLst/>
          </a:prstGeom>
          <a:noFill/>
          <a:ln/>
        </p:spPr>
        <p:txBody>
          <a:bodyPr wrap="square" lIns="0" tIns="0" rIns="0" bIns="0" rtlCol="0" anchor="t"/>
          <a:lstStyle/>
          <a:p>
            <a:pPr indent="0" marL="0">
              <a:buNone/>
            </a:pPr>
            <a:r>
              <a:rPr lang="en-US" sz="1200" b="1" dirty="0">
                <a:solidFill>
                  <a:srgbClr val="1A2233"/>
                </a:solidFill>
                <a:latin typeface="Calibri" pitchFamily="34" charset="0"/>
                <a:ea typeface="Calibri" pitchFamily="34" charset="-122"/>
                <a:cs typeface="Calibri" pitchFamily="34" charset="-120"/>
              </a:rPr>
              <a:t>run.bat verify: the whole check, one command, one PDF</a:t>
            </a:r>
            <a:endParaRPr lang="en-US" sz="1200" dirty="0"/>
          </a:p>
        </p:txBody>
      </p:sp>
      <p:sp>
        <p:nvSpPr>
          <p:cNvPr id="38" name="Shape 35"/>
          <p:cNvSpPr/>
          <p:nvPr/>
        </p:nvSpPr>
        <p:spPr>
          <a:xfrm>
            <a:off x="7406640" y="4343400"/>
            <a:ext cx="4069080" cy="914"/>
          </a:xfrm>
          <a:prstGeom prst="line">
            <a:avLst/>
          </a:prstGeom>
          <a:noFill/>
          <a:ln w="25400">
            <a:solidFill>
              <a:srgbClr val="2F9E5B"/>
            </a:solidFill>
            <a:prstDash val="solid"/>
          </a:ln>
        </p:spPr>
      </p:sp>
      <p:sp>
        <p:nvSpPr>
          <p:cNvPr id="39" name="Text 36"/>
          <p:cNvSpPr/>
          <p:nvPr/>
        </p:nvSpPr>
        <p:spPr>
          <a:xfrm>
            <a:off x="7251192" y="4187952"/>
            <a:ext cx="310896" cy="310896"/>
          </a:xfrm>
          <a:prstGeom prst="ellipse">
            <a:avLst/>
          </a:prstGeom>
          <a:solidFill>
            <a:srgbClr val="2F9E5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0" name="Text 37"/>
          <p:cNvSpPr txBox="1"/>
          <p:nvPr/>
        </p:nvSpPr>
        <p:spPr>
          <a:xfrm>
            <a:off x="7114032" y="4544568"/>
            <a:ext cx="585216" cy="566928"/>
          </a:xfrm>
          <a:prstGeom prst="rect">
            <a:avLst/>
          </a:prstGeom>
          <a:noFill/>
          <a:ln/>
        </p:spPr>
        <p:txBody>
          <a:bodyPr wrap="square" lIns="0" tIns="0" rIns="0" bIns="0" rtlCol="0" anchor="t"/>
          <a:lstStyle/>
          <a:p>
            <a:pPr algn="ctr" indent="0" marL="0">
              <a:buNone/>
            </a:pPr>
            <a:r>
              <a:rPr lang="en-US" sz="950" dirty="0">
                <a:solidFill>
                  <a:srgbClr val="566173"/>
                </a:solidFill>
                <a:latin typeface="Calibri" pitchFamily="34" charset="0"/>
                <a:ea typeface="Calibri" pitchFamily="34" charset="-122"/>
                <a:cs typeface="Calibri" pitchFamily="34" charset="-120"/>
              </a:rPr>
              <a:t>Bench-</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marks</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11 s</a:t>
            </a:r>
            <a:endParaRPr lang="en-US" sz="950" dirty="0"/>
          </a:p>
        </p:txBody>
      </p:sp>
      <p:sp>
        <p:nvSpPr>
          <p:cNvPr id="41" name="Text 38"/>
          <p:cNvSpPr/>
          <p:nvPr/>
        </p:nvSpPr>
        <p:spPr>
          <a:xfrm>
            <a:off x="7832489" y="4187952"/>
            <a:ext cx="310896" cy="310896"/>
          </a:xfrm>
          <a:prstGeom prst="ellipse">
            <a:avLst/>
          </a:prstGeom>
          <a:solidFill>
            <a:srgbClr val="2F9E5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2" name="Text 39"/>
          <p:cNvSpPr txBox="1"/>
          <p:nvPr/>
        </p:nvSpPr>
        <p:spPr>
          <a:xfrm>
            <a:off x="7695329" y="4544568"/>
            <a:ext cx="585216" cy="566928"/>
          </a:xfrm>
          <a:prstGeom prst="rect">
            <a:avLst/>
          </a:prstGeom>
          <a:noFill/>
          <a:ln/>
        </p:spPr>
        <p:txBody>
          <a:bodyPr wrap="square" lIns="0" tIns="0" rIns="0" bIns="0" rtlCol="0" anchor="t"/>
          <a:lstStyle/>
          <a:p>
            <a:pPr algn="ctr" indent="0" marL="0">
              <a:buNone/>
            </a:pPr>
            <a:r>
              <a:rPr lang="en-US" sz="950" dirty="0">
                <a:solidFill>
                  <a:srgbClr val="566173"/>
                </a:solidFill>
                <a:latin typeface="Calibri" pitchFamily="34" charset="0"/>
                <a:ea typeface="Calibri" pitchFamily="34" charset="-122"/>
                <a:cs typeface="Calibri" pitchFamily="34" charset="-120"/>
              </a:rPr>
              <a:t>Tests</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108 s</a:t>
            </a:r>
            <a:endParaRPr lang="en-US" sz="950" dirty="0"/>
          </a:p>
        </p:txBody>
      </p:sp>
      <p:sp>
        <p:nvSpPr>
          <p:cNvPr id="43" name="Text 40"/>
          <p:cNvSpPr/>
          <p:nvPr/>
        </p:nvSpPr>
        <p:spPr>
          <a:xfrm>
            <a:off x="8413786" y="4187952"/>
            <a:ext cx="310896" cy="310896"/>
          </a:xfrm>
          <a:prstGeom prst="ellipse">
            <a:avLst/>
          </a:prstGeom>
          <a:solidFill>
            <a:srgbClr val="2F9E5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4" name="Text 41"/>
          <p:cNvSpPr txBox="1"/>
          <p:nvPr/>
        </p:nvSpPr>
        <p:spPr>
          <a:xfrm>
            <a:off x="8276626" y="4544568"/>
            <a:ext cx="585216" cy="566928"/>
          </a:xfrm>
          <a:prstGeom prst="rect">
            <a:avLst/>
          </a:prstGeom>
          <a:noFill/>
          <a:ln/>
        </p:spPr>
        <p:txBody>
          <a:bodyPr wrap="square" lIns="0" tIns="0" rIns="0" bIns="0" rtlCol="0" anchor="t"/>
          <a:lstStyle/>
          <a:p>
            <a:pPr algn="ctr" indent="0" marL="0">
              <a:buNone/>
            </a:pPr>
            <a:r>
              <a:rPr lang="en-US" sz="950" dirty="0">
                <a:solidFill>
                  <a:srgbClr val="566173"/>
                </a:solidFill>
                <a:latin typeface="Calibri" pitchFamily="34" charset="0"/>
                <a:ea typeface="Calibri" pitchFamily="34" charset="-122"/>
                <a:cs typeface="Calibri" pitchFamily="34" charset="-120"/>
              </a:rPr>
              <a:t>Engine</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re-run</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94 s</a:t>
            </a:r>
            <a:endParaRPr lang="en-US" sz="950" dirty="0"/>
          </a:p>
        </p:txBody>
      </p:sp>
      <p:sp>
        <p:nvSpPr>
          <p:cNvPr id="45" name="Text 42"/>
          <p:cNvSpPr/>
          <p:nvPr/>
        </p:nvSpPr>
        <p:spPr>
          <a:xfrm>
            <a:off x="8995083" y="4187952"/>
            <a:ext cx="310896" cy="310896"/>
          </a:xfrm>
          <a:prstGeom prst="ellipse">
            <a:avLst/>
          </a:prstGeom>
          <a:solidFill>
            <a:srgbClr val="2F9E5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6" name="Text 43"/>
          <p:cNvSpPr txBox="1"/>
          <p:nvPr/>
        </p:nvSpPr>
        <p:spPr>
          <a:xfrm>
            <a:off x="8857923" y="4544568"/>
            <a:ext cx="585216" cy="566928"/>
          </a:xfrm>
          <a:prstGeom prst="rect">
            <a:avLst/>
          </a:prstGeom>
          <a:noFill/>
          <a:ln/>
        </p:spPr>
        <p:txBody>
          <a:bodyPr wrap="square" lIns="0" tIns="0" rIns="0" bIns="0" rtlCol="0" anchor="t"/>
          <a:lstStyle/>
          <a:p>
            <a:pPr algn="ctr" indent="0" marL="0">
              <a:buNone/>
            </a:pPr>
            <a:r>
              <a:rPr lang="en-US" sz="950" dirty="0">
                <a:solidFill>
                  <a:srgbClr val="566173"/>
                </a:solidFill>
                <a:latin typeface="Calibri" pitchFamily="34" charset="0"/>
                <a:ea typeface="Calibri" pitchFamily="34" charset="-122"/>
                <a:cs typeface="Calibri" pitchFamily="34" charset="-120"/>
              </a:rPr>
              <a:t>Moon</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23 s</a:t>
            </a:r>
            <a:endParaRPr lang="en-US" sz="950" dirty="0"/>
          </a:p>
        </p:txBody>
      </p:sp>
      <p:sp>
        <p:nvSpPr>
          <p:cNvPr id="47" name="Text 44"/>
          <p:cNvSpPr/>
          <p:nvPr/>
        </p:nvSpPr>
        <p:spPr>
          <a:xfrm>
            <a:off x="9576381" y="4187952"/>
            <a:ext cx="310896" cy="310896"/>
          </a:xfrm>
          <a:prstGeom prst="ellipse">
            <a:avLst/>
          </a:prstGeom>
          <a:solidFill>
            <a:srgbClr val="2F9E5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8" name="Text 45"/>
          <p:cNvSpPr txBox="1"/>
          <p:nvPr/>
        </p:nvSpPr>
        <p:spPr>
          <a:xfrm>
            <a:off x="9439221" y="4544568"/>
            <a:ext cx="585216" cy="566928"/>
          </a:xfrm>
          <a:prstGeom prst="rect">
            <a:avLst/>
          </a:prstGeom>
          <a:noFill/>
          <a:ln/>
        </p:spPr>
        <p:txBody>
          <a:bodyPr wrap="square" lIns="0" tIns="0" rIns="0" bIns="0" rtlCol="0" anchor="t"/>
          <a:lstStyle/>
          <a:p>
            <a:pPr algn="ctr" indent="0" marL="0">
              <a:buNone/>
            </a:pPr>
            <a:r>
              <a:rPr lang="en-US" sz="950" dirty="0">
                <a:solidFill>
                  <a:srgbClr val="566173"/>
                </a:solidFill>
                <a:latin typeface="Calibri" pitchFamily="34" charset="0"/>
                <a:ea typeface="Calibri" pitchFamily="34" charset="-122"/>
                <a:cs typeface="Calibri" pitchFamily="34" charset="-120"/>
              </a:rPr>
              <a:t>Octo-</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Earth</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15 s</a:t>
            </a:r>
            <a:endParaRPr lang="en-US" sz="950" dirty="0"/>
          </a:p>
        </p:txBody>
      </p:sp>
      <p:sp>
        <p:nvSpPr>
          <p:cNvPr id="49" name="Text 46"/>
          <p:cNvSpPr/>
          <p:nvPr/>
        </p:nvSpPr>
        <p:spPr>
          <a:xfrm>
            <a:off x="10157678" y="4187952"/>
            <a:ext cx="310896" cy="310896"/>
          </a:xfrm>
          <a:prstGeom prst="ellipse">
            <a:avLst/>
          </a:prstGeom>
          <a:solidFill>
            <a:srgbClr val="2F9E5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0" name="Text 47"/>
          <p:cNvSpPr txBox="1"/>
          <p:nvPr/>
        </p:nvSpPr>
        <p:spPr>
          <a:xfrm>
            <a:off x="10020518" y="4544568"/>
            <a:ext cx="585216" cy="566928"/>
          </a:xfrm>
          <a:prstGeom prst="rect">
            <a:avLst/>
          </a:prstGeom>
          <a:noFill/>
          <a:ln/>
        </p:spPr>
        <p:txBody>
          <a:bodyPr wrap="square" lIns="0" tIns="0" rIns="0" bIns="0" rtlCol="0" anchor="t"/>
          <a:lstStyle/>
          <a:p>
            <a:pPr algn="ctr" indent="0" marL="0">
              <a:buNone/>
            </a:pPr>
            <a:r>
              <a:rPr lang="en-US" sz="950" dirty="0">
                <a:solidFill>
                  <a:srgbClr val="566173"/>
                </a:solidFill>
                <a:latin typeface="Calibri" pitchFamily="34" charset="0"/>
                <a:ea typeface="Calibri" pitchFamily="34" charset="-122"/>
                <a:cs typeface="Calibri" pitchFamily="34" charset="-120"/>
              </a:rPr>
              <a:t>Small</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rocks</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2 s</a:t>
            </a:r>
            <a:endParaRPr lang="en-US" sz="950" dirty="0"/>
          </a:p>
        </p:txBody>
      </p:sp>
      <p:sp>
        <p:nvSpPr>
          <p:cNvPr id="51" name="Text 48"/>
          <p:cNvSpPr/>
          <p:nvPr/>
        </p:nvSpPr>
        <p:spPr>
          <a:xfrm>
            <a:off x="10738975" y="4187952"/>
            <a:ext cx="310896" cy="310896"/>
          </a:xfrm>
          <a:prstGeom prst="ellipse">
            <a:avLst/>
          </a:prstGeom>
          <a:solidFill>
            <a:srgbClr val="2F9E5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2" name="Text 49"/>
          <p:cNvSpPr txBox="1"/>
          <p:nvPr/>
        </p:nvSpPr>
        <p:spPr>
          <a:xfrm>
            <a:off x="10601815" y="4544568"/>
            <a:ext cx="585216" cy="566928"/>
          </a:xfrm>
          <a:prstGeom prst="rect">
            <a:avLst/>
          </a:prstGeom>
          <a:noFill/>
          <a:ln/>
        </p:spPr>
        <p:txBody>
          <a:bodyPr wrap="square" lIns="0" tIns="0" rIns="0" bIns="0" rtlCol="0" anchor="t"/>
          <a:lstStyle/>
          <a:p>
            <a:pPr algn="ctr" indent="0" marL="0">
              <a:buNone/>
            </a:pPr>
            <a:r>
              <a:rPr lang="en-US" sz="950" dirty="0">
                <a:solidFill>
                  <a:srgbClr val="566173"/>
                </a:solidFill>
                <a:latin typeface="Calibri" pitchFamily="34" charset="0"/>
                <a:ea typeface="Calibri" pitchFamily="34" charset="-122"/>
                <a:cs typeface="Calibri" pitchFamily="34" charset="-120"/>
              </a:rPr>
              <a:t>Optics</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2 s</a:t>
            </a:r>
            <a:endParaRPr lang="en-US" sz="950" dirty="0"/>
          </a:p>
        </p:txBody>
      </p:sp>
      <p:sp>
        <p:nvSpPr>
          <p:cNvPr id="53" name="Text 50"/>
          <p:cNvSpPr/>
          <p:nvPr/>
        </p:nvSpPr>
        <p:spPr>
          <a:xfrm>
            <a:off x="11320272" y="4187952"/>
            <a:ext cx="310896" cy="310896"/>
          </a:xfrm>
          <a:prstGeom prst="ellipse">
            <a:avLst/>
          </a:prstGeom>
          <a:solidFill>
            <a:srgbClr val="2F9E5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4" name="Text 51"/>
          <p:cNvSpPr txBox="1"/>
          <p:nvPr/>
        </p:nvSpPr>
        <p:spPr>
          <a:xfrm>
            <a:off x="11183112" y="4544568"/>
            <a:ext cx="585216" cy="566928"/>
          </a:xfrm>
          <a:prstGeom prst="rect">
            <a:avLst/>
          </a:prstGeom>
          <a:noFill/>
          <a:ln/>
        </p:spPr>
        <p:txBody>
          <a:bodyPr wrap="square" lIns="0" tIns="0" rIns="0" bIns="0" rtlCol="0" anchor="t"/>
          <a:lstStyle/>
          <a:p>
            <a:pPr algn="ctr" indent="0" marL="0">
              <a:buNone/>
            </a:pPr>
            <a:r>
              <a:rPr lang="en-US" sz="950" dirty="0">
                <a:solidFill>
                  <a:srgbClr val="566173"/>
                </a:solidFill>
                <a:latin typeface="Calibri" pitchFamily="34" charset="0"/>
                <a:ea typeface="Calibri" pitchFamily="34" charset="-122"/>
                <a:cs typeface="Calibri" pitchFamily="34" charset="-120"/>
              </a:rPr>
              <a:t>6 condi-</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tions</a:t>
            </a:r>
            <a:endParaRPr lang="en-US" sz="950" dirty="0"/>
          </a:p>
          <a:p>
            <a:pPr algn="ctr" indent="0" marL="0">
              <a:buNone/>
            </a:pPr>
            <a:r>
              <a:rPr lang="en-US" sz="950" dirty="0">
                <a:solidFill>
                  <a:srgbClr val="566173"/>
                </a:solidFill>
                <a:latin typeface="Calibri" pitchFamily="34" charset="0"/>
                <a:ea typeface="Calibri" pitchFamily="34" charset="-122"/>
                <a:cs typeface="Calibri" pitchFamily="34" charset="-120"/>
              </a:rPr>
              <a:t>0 s</a:t>
            </a:r>
            <a:endParaRPr lang="en-US" sz="950" dirty="0"/>
          </a:p>
        </p:txBody>
      </p:sp>
      <p:sp>
        <p:nvSpPr>
          <p:cNvPr id="55" name="Text 52"/>
          <p:cNvSpPr txBox="1"/>
          <p:nvPr/>
        </p:nvSpPr>
        <p:spPr>
          <a:xfrm>
            <a:off x="502920" y="5193792"/>
            <a:ext cx="11183112" cy="219456"/>
          </a:xfrm>
          <a:prstGeom prst="rect">
            <a:avLst/>
          </a:prstGeom>
          <a:noFill/>
          <a:ln/>
        </p:spPr>
        <p:txBody>
          <a:bodyPr wrap="square" lIns="0" tIns="0" rIns="0" bIns="0" rtlCol="0" anchor="t"/>
          <a:lstStyle/>
          <a:p>
            <a:pPr indent="0" marL="0">
              <a:buNone/>
            </a:pPr>
            <a:r>
              <a:rPr lang="en-US" sz="1100" b="1" dirty="0">
                <a:solidFill>
                  <a:srgbClr val="1A2233"/>
                </a:solidFill>
                <a:latin typeface="Calibri" pitchFamily="34" charset="0"/>
                <a:ea typeface="Calibri" pitchFamily="34" charset="-122"/>
                <a:cs typeface="Calibri" pitchFamily="34" charset="-120"/>
              </a:rPr>
              <a:t>Structures, sized for the most a beam can ever push (2P/c at the power cap), so the catch-up after an outage is covered</a:t>
            </a:r>
            <a:endParaRPr lang="en-US" sz="1100" dirty="0"/>
          </a:p>
        </p:txBody>
      </p:sp>
      <p:sp>
        <p:nvSpPr>
          <p:cNvPr id="56" name="Shape 53"/>
          <p:cNvSpPr/>
          <p:nvPr/>
        </p:nvSpPr>
        <p:spPr>
          <a:xfrm>
            <a:off x="502920" y="5486400"/>
            <a:ext cx="2697480" cy="859536"/>
          </a:xfrm>
          <a:prstGeom prst="roundRect">
            <a:avLst>
              <a:gd name="adj" fmla="val 8511"/>
            </a:avLst>
          </a:prstGeom>
          <a:solidFill>
            <a:srgbClr val="F1F4F8"/>
          </a:solidFill>
          <a:ln/>
        </p:spPr>
      </p:sp>
      <p:sp>
        <p:nvSpPr>
          <p:cNvPr id="57" name="Text 54"/>
          <p:cNvSpPr txBox="1"/>
          <p:nvPr/>
        </p:nvSpPr>
        <p:spPr>
          <a:xfrm>
            <a:off x="612648" y="5550408"/>
            <a:ext cx="2514600" cy="201168"/>
          </a:xfrm>
          <a:prstGeom prst="rect">
            <a:avLst/>
          </a:prstGeom>
          <a:noFill/>
          <a:ln/>
        </p:spPr>
        <p:txBody>
          <a:bodyPr wrap="square" lIns="0" tIns="0" rIns="0" bIns="0" rtlCol="0" anchor="t"/>
          <a:lstStyle/>
          <a:p>
            <a:pPr indent="0" marL="0">
              <a:buNone/>
            </a:pPr>
            <a:r>
              <a:rPr lang="en-US" sz="1000" b="1" dirty="0">
                <a:solidFill>
                  <a:srgbClr val="1A2233"/>
                </a:solidFill>
                <a:latin typeface="Calibri" pitchFamily="34" charset="0"/>
                <a:ea typeface="Calibri" pitchFamily="34" charset="-122"/>
                <a:cs typeface="Calibri" pitchFamily="34" charset="-120"/>
              </a:rPr>
              <a:t>Cable safety factor</a:t>
            </a:r>
            <a:pPr indent="0" marL="0">
              <a:buNone/>
            </a:pPr>
            <a:r>
              <a:rPr lang="en-US" sz="1000" dirty="0">
                <a:solidFill>
                  <a:srgbClr val="566173"/>
                </a:solidFill>
                <a:latin typeface="Calibri" pitchFamily="34" charset="0"/>
                <a:ea typeface="Calibri" pitchFamily="34" charset="-122"/>
                <a:cs typeface="Calibri" pitchFamily="34" charset="-120"/>
              </a:rPr>
              <a:t>  ≥ 1.5</a:t>
            </a:r>
            <a:endParaRPr lang="en-US" sz="1000" dirty="0"/>
          </a:p>
        </p:txBody>
      </p:sp>
      <p:sp>
        <p:nvSpPr>
          <p:cNvPr id="58" name="Text 55"/>
          <p:cNvSpPr txBox="1"/>
          <p:nvPr/>
        </p:nvSpPr>
        <p:spPr>
          <a:xfrm>
            <a:off x="612648" y="5779008"/>
            <a:ext cx="2514600" cy="237744"/>
          </a:xfrm>
          <a:prstGeom prst="rect">
            <a:avLst/>
          </a:prstGeom>
          <a:noFill/>
          <a:ln/>
        </p:spPr>
        <p:txBody>
          <a:bodyPr wrap="square" lIns="0" tIns="0" rIns="0" bIns="0" rtlCol="0" anchor="t"/>
          <a:lstStyle/>
          <a:p>
            <a:pPr indent="0" marL="0">
              <a:buNone/>
            </a:pPr>
            <a:r>
              <a:rPr lang="en-US" sz="1200" b="1" dirty="0">
                <a:solidFill>
                  <a:srgbClr val="1D6F66"/>
                </a:solidFill>
                <a:latin typeface="Calibri" pitchFamily="34" charset="0"/>
                <a:ea typeface="Calibri" pitchFamily="34" charset="-122"/>
                <a:cs typeface="Calibri" pitchFamily="34" charset="-120"/>
              </a:rPr>
              <a:t>Earth 1.57</a:t>
            </a:r>
            <a:pPr indent="0" marL="0">
              <a:buNone/>
            </a:pPr>
            <a:r>
              <a:rPr lang="en-US" sz="1200" dirty="0">
                <a:solidFill>
                  <a:srgbClr val="1A2233"/>
                </a:solidFill>
                <a:latin typeface="Calibri" pitchFamily="34" charset="0"/>
                <a:ea typeface="Calibri" pitchFamily="34" charset="-122"/>
                <a:cs typeface="Calibri" pitchFamily="34" charset="-120"/>
              </a:rPr>
              <a:t>  ·  </a:t>
            </a:r>
            <a:pPr indent="0" marL="0">
              <a:buNone/>
            </a:pPr>
            <a:r>
              <a:rPr lang="en-US" sz="1200" b="1" dirty="0">
                <a:solidFill>
                  <a:srgbClr val="C8553D"/>
                </a:solidFill>
                <a:latin typeface="Calibri" pitchFamily="34" charset="0"/>
                <a:ea typeface="Calibri" pitchFamily="34" charset="-122"/>
                <a:cs typeface="Calibri" pitchFamily="34" charset="-120"/>
              </a:rPr>
              <a:t>Mars 1.57</a:t>
            </a:r>
            <a:endParaRPr lang="en-US" sz="1200" dirty="0"/>
          </a:p>
        </p:txBody>
      </p:sp>
      <p:sp>
        <p:nvSpPr>
          <p:cNvPr id="59" name="Shape 56"/>
          <p:cNvSpPr/>
          <p:nvPr/>
        </p:nvSpPr>
        <p:spPr>
          <a:xfrm>
            <a:off x="612648" y="6126480"/>
            <a:ext cx="2468880" cy="73152"/>
          </a:xfrm>
          <a:prstGeom prst="rect">
            <a:avLst/>
          </a:prstGeom>
          <a:solidFill>
            <a:srgbClr val="D5DCE6"/>
          </a:solidFill>
          <a:ln/>
        </p:spPr>
      </p:sp>
      <p:sp>
        <p:nvSpPr>
          <p:cNvPr id="60" name="Shape 57"/>
          <p:cNvSpPr/>
          <p:nvPr/>
        </p:nvSpPr>
        <p:spPr>
          <a:xfrm>
            <a:off x="612648" y="6126480"/>
            <a:ext cx="1295265" cy="73152"/>
          </a:xfrm>
          <a:prstGeom prst="rect">
            <a:avLst/>
          </a:prstGeom>
          <a:solidFill>
            <a:srgbClr val="2F9E5B"/>
          </a:solidFill>
          <a:ln/>
        </p:spPr>
      </p:sp>
      <p:sp>
        <p:nvSpPr>
          <p:cNvPr id="61" name="Shape 58"/>
          <p:cNvSpPr/>
          <p:nvPr/>
        </p:nvSpPr>
        <p:spPr>
          <a:xfrm>
            <a:off x="1847088" y="6062472"/>
            <a:ext cx="914" cy="201168"/>
          </a:xfrm>
          <a:prstGeom prst="line">
            <a:avLst/>
          </a:prstGeom>
          <a:noFill/>
          <a:ln w="19050">
            <a:solidFill>
              <a:srgbClr val="C8553D"/>
            </a:solidFill>
            <a:prstDash val="solid"/>
          </a:ln>
        </p:spPr>
      </p:sp>
      <p:sp>
        <p:nvSpPr>
          <p:cNvPr id="62" name="Shape 59"/>
          <p:cNvSpPr/>
          <p:nvPr/>
        </p:nvSpPr>
        <p:spPr>
          <a:xfrm>
            <a:off x="3319272" y="5486400"/>
            <a:ext cx="2697480" cy="859536"/>
          </a:xfrm>
          <a:prstGeom prst="roundRect">
            <a:avLst>
              <a:gd name="adj" fmla="val 8511"/>
            </a:avLst>
          </a:prstGeom>
          <a:solidFill>
            <a:srgbClr val="F1F4F8"/>
          </a:solidFill>
          <a:ln/>
        </p:spPr>
      </p:sp>
      <p:sp>
        <p:nvSpPr>
          <p:cNvPr id="63" name="Text 60"/>
          <p:cNvSpPr txBox="1"/>
          <p:nvPr/>
        </p:nvSpPr>
        <p:spPr>
          <a:xfrm>
            <a:off x="3429000" y="5550408"/>
            <a:ext cx="2514600" cy="201168"/>
          </a:xfrm>
          <a:prstGeom prst="rect">
            <a:avLst/>
          </a:prstGeom>
          <a:noFill/>
          <a:ln/>
        </p:spPr>
        <p:txBody>
          <a:bodyPr wrap="square" lIns="0" tIns="0" rIns="0" bIns="0" rtlCol="0" anchor="t"/>
          <a:lstStyle/>
          <a:p>
            <a:pPr indent="0" marL="0">
              <a:buNone/>
            </a:pPr>
            <a:r>
              <a:rPr lang="en-US" sz="1000" b="1" dirty="0">
                <a:solidFill>
                  <a:srgbClr val="1A2233"/>
                </a:solidFill>
                <a:latin typeface="Calibri" pitchFamily="34" charset="0"/>
                <a:ea typeface="Calibri" pitchFamily="34" charset="-122"/>
                <a:cs typeface="Calibri" pitchFamily="34" charset="-120"/>
              </a:rPr>
              <a:t>Anchor safety factor</a:t>
            </a:r>
            <a:pPr indent="0" marL="0">
              <a:buNone/>
            </a:pPr>
            <a:r>
              <a:rPr lang="en-US" sz="1000" dirty="0">
                <a:solidFill>
                  <a:srgbClr val="566173"/>
                </a:solidFill>
                <a:latin typeface="Calibri" pitchFamily="34" charset="0"/>
                <a:ea typeface="Calibri" pitchFamily="34" charset="-122"/>
                <a:cs typeface="Calibri" pitchFamily="34" charset="-120"/>
              </a:rPr>
              <a:t>  ≥ 1.5</a:t>
            </a:r>
            <a:endParaRPr lang="en-US" sz="1000" dirty="0"/>
          </a:p>
        </p:txBody>
      </p:sp>
      <p:sp>
        <p:nvSpPr>
          <p:cNvPr id="64" name="Text 61"/>
          <p:cNvSpPr txBox="1"/>
          <p:nvPr/>
        </p:nvSpPr>
        <p:spPr>
          <a:xfrm>
            <a:off x="3429000" y="5779008"/>
            <a:ext cx="2514600" cy="237744"/>
          </a:xfrm>
          <a:prstGeom prst="rect">
            <a:avLst/>
          </a:prstGeom>
          <a:noFill/>
          <a:ln/>
        </p:spPr>
        <p:txBody>
          <a:bodyPr wrap="square" lIns="0" tIns="0" rIns="0" bIns="0" rtlCol="0" anchor="t"/>
          <a:lstStyle/>
          <a:p>
            <a:pPr indent="0" marL="0">
              <a:buNone/>
            </a:pPr>
            <a:r>
              <a:rPr lang="en-US" sz="1200" b="1" dirty="0">
                <a:solidFill>
                  <a:srgbClr val="1D6F66"/>
                </a:solidFill>
                <a:latin typeface="Calibri" pitchFamily="34" charset="0"/>
                <a:ea typeface="Calibri" pitchFamily="34" charset="-122"/>
                <a:cs typeface="Calibri" pitchFamily="34" charset="-120"/>
              </a:rPr>
              <a:t>Earth 1.57</a:t>
            </a:r>
            <a:pPr indent="0" marL="0">
              <a:buNone/>
            </a:pPr>
            <a:r>
              <a:rPr lang="en-US" sz="1200" dirty="0">
                <a:solidFill>
                  <a:srgbClr val="1A2233"/>
                </a:solidFill>
                <a:latin typeface="Calibri" pitchFamily="34" charset="0"/>
                <a:ea typeface="Calibri" pitchFamily="34" charset="-122"/>
                <a:cs typeface="Calibri" pitchFamily="34" charset="-120"/>
              </a:rPr>
              <a:t>  ·  </a:t>
            </a:r>
            <a:pPr indent="0" marL="0">
              <a:buNone/>
            </a:pPr>
            <a:r>
              <a:rPr lang="en-US" sz="1200" b="1" dirty="0">
                <a:solidFill>
                  <a:srgbClr val="C8553D"/>
                </a:solidFill>
                <a:latin typeface="Calibri" pitchFamily="34" charset="0"/>
                <a:ea typeface="Calibri" pitchFamily="34" charset="-122"/>
                <a:cs typeface="Calibri" pitchFamily="34" charset="-120"/>
              </a:rPr>
              <a:t>Mars 1.57</a:t>
            </a:r>
            <a:endParaRPr lang="en-US" sz="1200" dirty="0"/>
          </a:p>
        </p:txBody>
      </p:sp>
      <p:sp>
        <p:nvSpPr>
          <p:cNvPr id="65" name="Shape 62"/>
          <p:cNvSpPr/>
          <p:nvPr/>
        </p:nvSpPr>
        <p:spPr>
          <a:xfrm>
            <a:off x="3429000" y="6126480"/>
            <a:ext cx="2468880" cy="73152"/>
          </a:xfrm>
          <a:prstGeom prst="rect">
            <a:avLst/>
          </a:prstGeom>
          <a:solidFill>
            <a:srgbClr val="D5DCE6"/>
          </a:solidFill>
          <a:ln/>
        </p:spPr>
      </p:sp>
      <p:sp>
        <p:nvSpPr>
          <p:cNvPr id="66" name="Shape 63"/>
          <p:cNvSpPr/>
          <p:nvPr/>
        </p:nvSpPr>
        <p:spPr>
          <a:xfrm>
            <a:off x="3429000" y="6126480"/>
            <a:ext cx="1295265" cy="73152"/>
          </a:xfrm>
          <a:prstGeom prst="rect">
            <a:avLst/>
          </a:prstGeom>
          <a:solidFill>
            <a:srgbClr val="2F9E5B"/>
          </a:solidFill>
          <a:ln/>
        </p:spPr>
      </p:sp>
      <p:sp>
        <p:nvSpPr>
          <p:cNvPr id="67" name="Shape 64"/>
          <p:cNvSpPr/>
          <p:nvPr/>
        </p:nvSpPr>
        <p:spPr>
          <a:xfrm>
            <a:off x="4663440" y="6062472"/>
            <a:ext cx="914" cy="201168"/>
          </a:xfrm>
          <a:prstGeom prst="line">
            <a:avLst/>
          </a:prstGeom>
          <a:noFill/>
          <a:ln w="19050">
            <a:solidFill>
              <a:srgbClr val="C8553D"/>
            </a:solidFill>
            <a:prstDash val="solid"/>
          </a:ln>
        </p:spPr>
      </p:sp>
      <p:sp>
        <p:nvSpPr>
          <p:cNvPr id="68" name="Shape 65"/>
          <p:cNvSpPr/>
          <p:nvPr/>
        </p:nvSpPr>
        <p:spPr>
          <a:xfrm>
            <a:off x="6135624" y="5486400"/>
            <a:ext cx="2697480" cy="859536"/>
          </a:xfrm>
          <a:prstGeom prst="roundRect">
            <a:avLst>
              <a:gd name="adj" fmla="val 8511"/>
            </a:avLst>
          </a:prstGeom>
          <a:solidFill>
            <a:srgbClr val="F1F4F8"/>
          </a:solidFill>
          <a:ln/>
        </p:spPr>
      </p:sp>
      <p:sp>
        <p:nvSpPr>
          <p:cNvPr id="69" name="Text 66"/>
          <p:cNvSpPr txBox="1"/>
          <p:nvPr/>
        </p:nvSpPr>
        <p:spPr>
          <a:xfrm>
            <a:off x="6245352" y="5550408"/>
            <a:ext cx="2514600" cy="201168"/>
          </a:xfrm>
          <a:prstGeom prst="rect">
            <a:avLst/>
          </a:prstGeom>
          <a:noFill/>
          <a:ln/>
        </p:spPr>
        <p:txBody>
          <a:bodyPr wrap="square" lIns="0" tIns="0" rIns="0" bIns="0" rtlCol="0" anchor="t"/>
          <a:lstStyle/>
          <a:p>
            <a:pPr indent="0" marL="0">
              <a:buNone/>
            </a:pPr>
            <a:r>
              <a:rPr lang="en-US" sz="1000" b="1" dirty="0">
                <a:solidFill>
                  <a:srgbClr val="1A2233"/>
                </a:solidFill>
                <a:latin typeface="Calibri" pitchFamily="34" charset="0"/>
                <a:ea typeface="Calibri" pitchFamily="34" charset="-122"/>
                <a:cs typeface="Calibri" pitchFamily="34" charset="-120"/>
              </a:rPr>
              <a:t>Tow mirror temperature</a:t>
            </a:r>
            <a:pPr indent="0" marL="0">
              <a:buNone/>
            </a:pPr>
            <a:r>
              <a:rPr lang="en-US" sz="1000" dirty="0">
                <a:solidFill>
                  <a:srgbClr val="566173"/>
                </a:solidFill>
                <a:latin typeface="Calibri" pitchFamily="34" charset="0"/>
                <a:ea typeface="Calibri" pitchFamily="34" charset="-122"/>
                <a:cs typeface="Calibri" pitchFamily="34" charset="-120"/>
              </a:rPr>
              <a:t>  ≤ 1,500 K</a:t>
            </a:r>
            <a:endParaRPr lang="en-US" sz="1000" dirty="0"/>
          </a:p>
        </p:txBody>
      </p:sp>
      <p:sp>
        <p:nvSpPr>
          <p:cNvPr id="70" name="Text 67"/>
          <p:cNvSpPr txBox="1"/>
          <p:nvPr/>
        </p:nvSpPr>
        <p:spPr>
          <a:xfrm>
            <a:off x="6245352" y="5779008"/>
            <a:ext cx="2514600" cy="237744"/>
          </a:xfrm>
          <a:prstGeom prst="rect">
            <a:avLst/>
          </a:prstGeom>
          <a:noFill/>
          <a:ln/>
        </p:spPr>
        <p:txBody>
          <a:bodyPr wrap="square" lIns="0" tIns="0" rIns="0" bIns="0" rtlCol="0" anchor="t"/>
          <a:lstStyle/>
          <a:p>
            <a:pPr indent="0" marL="0">
              <a:buNone/>
            </a:pPr>
            <a:r>
              <a:rPr lang="en-US" sz="1200" b="1" dirty="0">
                <a:solidFill>
                  <a:srgbClr val="1D6F66"/>
                </a:solidFill>
                <a:latin typeface="Calibri" pitchFamily="34" charset="0"/>
                <a:ea typeface="Calibri" pitchFamily="34" charset="-122"/>
                <a:cs typeface="Calibri" pitchFamily="34" charset="-120"/>
              </a:rPr>
              <a:t>Earth 1,466 K</a:t>
            </a:r>
            <a:pPr indent="0" marL="0">
              <a:buNone/>
            </a:pPr>
            <a:r>
              <a:rPr lang="en-US" sz="1200" dirty="0">
                <a:solidFill>
                  <a:srgbClr val="1A2233"/>
                </a:solidFill>
                <a:latin typeface="Calibri" pitchFamily="34" charset="0"/>
                <a:ea typeface="Calibri" pitchFamily="34" charset="-122"/>
                <a:cs typeface="Calibri" pitchFamily="34" charset="-120"/>
              </a:rPr>
              <a:t>  ·  </a:t>
            </a:r>
            <a:pPr indent="0" marL="0">
              <a:buNone/>
            </a:pPr>
            <a:r>
              <a:rPr lang="en-US" sz="1200" b="1" dirty="0">
                <a:solidFill>
                  <a:srgbClr val="C8553D"/>
                </a:solidFill>
                <a:latin typeface="Calibri" pitchFamily="34" charset="0"/>
                <a:ea typeface="Calibri" pitchFamily="34" charset="-122"/>
                <a:cs typeface="Calibri" pitchFamily="34" charset="-120"/>
              </a:rPr>
              <a:t>Mars 1,463 K</a:t>
            </a:r>
            <a:endParaRPr lang="en-US" sz="1200" dirty="0"/>
          </a:p>
        </p:txBody>
      </p:sp>
      <p:sp>
        <p:nvSpPr>
          <p:cNvPr id="71" name="Shape 68"/>
          <p:cNvSpPr/>
          <p:nvPr/>
        </p:nvSpPr>
        <p:spPr>
          <a:xfrm>
            <a:off x="6245352" y="6126480"/>
            <a:ext cx="2468880" cy="73152"/>
          </a:xfrm>
          <a:prstGeom prst="rect">
            <a:avLst/>
          </a:prstGeom>
          <a:solidFill>
            <a:srgbClr val="D5DCE6"/>
          </a:solidFill>
          <a:ln/>
        </p:spPr>
      </p:sp>
      <p:sp>
        <p:nvSpPr>
          <p:cNvPr id="72" name="Shape 69"/>
          <p:cNvSpPr/>
          <p:nvPr/>
        </p:nvSpPr>
        <p:spPr>
          <a:xfrm>
            <a:off x="6245352" y="6126480"/>
            <a:ext cx="2257587" cy="73152"/>
          </a:xfrm>
          <a:prstGeom prst="rect">
            <a:avLst/>
          </a:prstGeom>
          <a:solidFill>
            <a:srgbClr val="F2A541"/>
          </a:solidFill>
          <a:ln/>
        </p:spPr>
      </p:sp>
      <p:sp>
        <p:nvSpPr>
          <p:cNvPr id="73" name="Shape 70"/>
          <p:cNvSpPr/>
          <p:nvPr/>
        </p:nvSpPr>
        <p:spPr>
          <a:xfrm>
            <a:off x="8559927" y="6062472"/>
            <a:ext cx="914" cy="201168"/>
          </a:xfrm>
          <a:prstGeom prst="line">
            <a:avLst/>
          </a:prstGeom>
          <a:noFill/>
          <a:ln w="19050">
            <a:solidFill>
              <a:srgbClr val="C8553D"/>
            </a:solidFill>
            <a:prstDash val="solid"/>
          </a:ln>
        </p:spPr>
      </p:sp>
      <p:sp>
        <p:nvSpPr>
          <p:cNvPr id="74" name="Shape 71"/>
          <p:cNvSpPr/>
          <p:nvPr/>
        </p:nvSpPr>
        <p:spPr>
          <a:xfrm>
            <a:off x="8951976" y="5486400"/>
            <a:ext cx="2697480" cy="859536"/>
          </a:xfrm>
          <a:prstGeom prst="roundRect">
            <a:avLst>
              <a:gd name="adj" fmla="val 8511"/>
            </a:avLst>
          </a:prstGeom>
          <a:solidFill>
            <a:srgbClr val="F1F4F8"/>
          </a:solidFill>
          <a:ln/>
        </p:spPr>
      </p:sp>
      <p:sp>
        <p:nvSpPr>
          <p:cNvPr id="75" name="Text 72"/>
          <p:cNvSpPr txBox="1"/>
          <p:nvPr/>
        </p:nvSpPr>
        <p:spPr>
          <a:xfrm>
            <a:off x="9061704" y="5550408"/>
            <a:ext cx="2514600" cy="201168"/>
          </a:xfrm>
          <a:prstGeom prst="rect">
            <a:avLst/>
          </a:prstGeom>
          <a:noFill/>
          <a:ln/>
        </p:spPr>
        <p:txBody>
          <a:bodyPr wrap="square" lIns="0" tIns="0" rIns="0" bIns="0" rtlCol="0" anchor="t"/>
          <a:lstStyle/>
          <a:p>
            <a:pPr indent="0" marL="0">
              <a:buNone/>
            </a:pPr>
            <a:r>
              <a:rPr lang="en-US" sz="1000" b="1" dirty="0">
                <a:solidFill>
                  <a:srgbClr val="1A2233"/>
                </a:solidFill>
                <a:latin typeface="Calibri" pitchFamily="34" charset="0"/>
                <a:ea typeface="Calibri" pitchFamily="34" charset="-122"/>
                <a:cs typeface="Calibri" pitchFamily="34" charset="-120"/>
              </a:rPr>
              <a:t>Asteroid body safety factor</a:t>
            </a:r>
            <a:pPr indent="0" marL="0">
              <a:buNone/>
            </a:pPr>
            <a:r>
              <a:rPr lang="en-US" sz="1000" dirty="0">
                <a:solidFill>
                  <a:srgbClr val="566173"/>
                </a:solidFill>
                <a:latin typeface="Calibri" pitchFamily="34" charset="0"/>
                <a:ea typeface="Calibri" pitchFamily="34" charset="-122"/>
                <a:cs typeface="Calibri" pitchFamily="34" charset="-120"/>
              </a:rPr>
              <a:t>  ≥ 1.5</a:t>
            </a:r>
            <a:endParaRPr lang="en-US" sz="1000" dirty="0"/>
          </a:p>
        </p:txBody>
      </p:sp>
      <p:sp>
        <p:nvSpPr>
          <p:cNvPr id="76" name="Text 73"/>
          <p:cNvSpPr txBox="1"/>
          <p:nvPr/>
        </p:nvSpPr>
        <p:spPr>
          <a:xfrm>
            <a:off x="9061704" y="5779008"/>
            <a:ext cx="2514600" cy="237744"/>
          </a:xfrm>
          <a:prstGeom prst="rect">
            <a:avLst/>
          </a:prstGeom>
          <a:noFill/>
          <a:ln/>
        </p:spPr>
        <p:txBody>
          <a:bodyPr wrap="square" lIns="0" tIns="0" rIns="0" bIns="0" rtlCol="0" anchor="t"/>
          <a:lstStyle/>
          <a:p>
            <a:pPr indent="0" marL="0">
              <a:buNone/>
            </a:pPr>
            <a:r>
              <a:rPr lang="en-US" sz="1200" b="1" dirty="0">
                <a:solidFill>
                  <a:srgbClr val="1D6F66"/>
                </a:solidFill>
                <a:latin typeface="Calibri" pitchFamily="34" charset="0"/>
                <a:ea typeface="Calibri" pitchFamily="34" charset="-122"/>
                <a:cs typeface="Calibri" pitchFamily="34" charset="-120"/>
              </a:rPr>
              <a:t>Earth 120</a:t>
            </a:r>
            <a:pPr indent="0" marL="0">
              <a:buNone/>
            </a:pPr>
            <a:r>
              <a:rPr lang="en-US" sz="1200" dirty="0">
                <a:solidFill>
                  <a:srgbClr val="1A2233"/>
                </a:solidFill>
                <a:latin typeface="Calibri" pitchFamily="34" charset="0"/>
                <a:ea typeface="Calibri" pitchFamily="34" charset="-122"/>
                <a:cs typeface="Calibri" pitchFamily="34" charset="-120"/>
              </a:rPr>
              <a:t>  ·  </a:t>
            </a:r>
            <a:pPr indent="0" marL="0">
              <a:buNone/>
            </a:pPr>
            <a:r>
              <a:rPr lang="en-US" sz="1200" b="1" dirty="0">
                <a:solidFill>
                  <a:srgbClr val="C8553D"/>
                </a:solidFill>
                <a:latin typeface="Calibri" pitchFamily="34" charset="0"/>
                <a:ea typeface="Calibri" pitchFamily="34" charset="-122"/>
                <a:cs typeface="Calibri" pitchFamily="34" charset="-120"/>
              </a:rPr>
              <a:t>Mars 152</a:t>
            </a:r>
            <a:endParaRPr lang="en-US" sz="1200" dirty="0"/>
          </a:p>
        </p:txBody>
      </p:sp>
      <p:sp>
        <p:nvSpPr>
          <p:cNvPr id="77" name="Shape 74"/>
          <p:cNvSpPr/>
          <p:nvPr/>
        </p:nvSpPr>
        <p:spPr>
          <a:xfrm>
            <a:off x="9061704" y="6126480"/>
            <a:ext cx="2468880" cy="73152"/>
          </a:xfrm>
          <a:prstGeom prst="rect">
            <a:avLst/>
          </a:prstGeom>
          <a:solidFill>
            <a:srgbClr val="D5DCE6"/>
          </a:solidFill>
          <a:ln/>
        </p:spPr>
      </p:sp>
      <p:sp>
        <p:nvSpPr>
          <p:cNvPr id="78" name="Shape 75"/>
          <p:cNvSpPr/>
          <p:nvPr/>
        </p:nvSpPr>
        <p:spPr>
          <a:xfrm>
            <a:off x="9061704" y="6126480"/>
            <a:ext cx="1846453" cy="73152"/>
          </a:xfrm>
          <a:prstGeom prst="rect">
            <a:avLst/>
          </a:prstGeom>
          <a:solidFill>
            <a:srgbClr val="2F9E5B"/>
          </a:solidFill>
          <a:ln/>
        </p:spPr>
      </p:sp>
      <p:sp>
        <p:nvSpPr>
          <p:cNvPr id="79" name="Shape 76"/>
          <p:cNvSpPr/>
          <p:nvPr/>
        </p:nvSpPr>
        <p:spPr>
          <a:xfrm>
            <a:off x="9084850" y="6062472"/>
            <a:ext cx="914" cy="201168"/>
          </a:xfrm>
          <a:prstGeom prst="line">
            <a:avLst/>
          </a:prstGeom>
          <a:noFill/>
          <a:ln w="19050">
            <a:solidFill>
              <a:srgbClr val="C8553D"/>
            </a:solidFill>
            <a:prstDash val="solid"/>
          </a:ln>
        </p:spPr>
      </p:sp>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661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12064" y="329184"/>
            <a:ext cx="219456" cy="219456"/>
          </a:xfrm>
          <a:prstGeom prst="ellipse">
            <a:avLst/>
          </a:prstGeom>
          <a:noFill/>
          <a:ln w="15875">
            <a:solidFill>
              <a:srgbClr val="A9630A"/>
            </a:solidFill>
            <a:prstDash val="solid"/>
          </a:ln>
        </p:spPr>
      </p:sp>
      <p:sp>
        <p:nvSpPr>
          <p:cNvPr id="3" name="Shape 1"/>
          <p:cNvSpPr/>
          <p:nvPr/>
        </p:nvSpPr>
        <p:spPr>
          <a:xfrm>
            <a:off x="681228" y="347472"/>
            <a:ext cx="73152" cy="73152"/>
          </a:xfrm>
          <a:prstGeom prst="ellipse">
            <a:avLst/>
          </a:prstGeom>
          <a:solidFill>
            <a:srgbClr val="A9630A"/>
          </a:solidFill>
          <a:ln/>
        </p:spPr>
      </p:sp>
      <p:sp>
        <p:nvSpPr>
          <p:cNvPr id="4" name="Text 0"/>
          <p:cNvSpPr/>
          <p:nvPr>
            <p:ph idx="100" type="body" hasCustomPrompt="1"/>
          </p:nvPr>
        </p:nvSpPr>
        <p:spPr>
          <a:xfrm>
            <a:off x="868680" y="310896"/>
            <a:ext cx="10515600" cy="256032"/>
          </a:xfrm>
          <a:prstGeom prst="rect">
            <a:avLst/>
          </a:prstGeom>
          <a:noFill/>
          <a:ln/>
        </p:spPr>
        <p:txBody>
          <a:bodyPr wrap="square" lIns="0" tIns="0" rIns="0" bIns="0" rtlCol="0" anchor="ctr"/>
          <a:lstStyle/>
          <a:p>
            <a:pPr indent="0" marL="0">
              <a:buNone/>
            </a:pPr>
            <a:r>
              <a:rPr lang="en-US" sz="1050" b="1" spc="100" kern="0" dirty="0">
                <a:solidFill>
                  <a:srgbClr val="A9630A"/>
                </a:solidFill>
                <a:latin typeface="Calibri" pitchFamily="34" charset="0"/>
                <a:ea typeface="Calibri" pitchFamily="34" charset="-122"/>
                <a:cs typeface="Calibri" pitchFamily="34" charset="-120"/>
              </a:rPr>
              <a:t>07 · EARTH SAFETY</a:t>
            </a:r>
            <a:endParaRPr lang="en-US" sz="1050" dirty="0"/>
          </a:p>
        </p:txBody>
      </p:sp>
      <p:sp>
        <p:nvSpPr>
          <p:cNvPr id="5" name="Text 0"/>
          <p:cNvSpPr/>
          <p:nvPr>
            <p:ph idx="101" type="title" hasCustomPrompt="1"/>
          </p:nvPr>
        </p:nvSpPr>
        <p:spPr>
          <a:xfrm>
            <a:off x="502920" y="585216"/>
            <a:ext cx="11183112" cy="512064"/>
          </a:xfrm>
          <a:prstGeom prst="rect">
            <a:avLst/>
          </a:prstGeom>
          <a:noFill/>
          <a:ln/>
        </p:spPr>
        <p:txBody>
          <a:bodyPr wrap="square" lIns="0" tIns="0" rIns="0" bIns="0" rtlCol="0" anchor="ctr"/>
          <a:lstStyle/>
          <a:p>
            <a:pPr indent="0" marL="0">
              <a:buNone/>
            </a:pPr>
            <a:r>
              <a:rPr lang="en-US" sz="2800" b="1" dirty="0">
                <a:solidFill>
                  <a:srgbClr val="1A2233"/>
                </a:solidFill>
                <a:latin typeface="Cambria" pitchFamily="34" charset="0"/>
                <a:ea typeface="Cambria" pitchFamily="34" charset="-122"/>
                <a:cs typeface="Cambria" pitchFamily="34" charset="-120"/>
              </a:rPr>
              <a:t>Ten thresholds held at every one of 32,686 checks</a:t>
            </a:r>
            <a:endParaRPr lang="en-US" sz="2800" dirty="0"/>
          </a:p>
        </p:txBody>
      </p:sp>
      <p:sp>
        <p:nvSpPr>
          <p:cNvPr id="6" name="Text 0"/>
          <p:cNvSpPr/>
          <p:nvPr>
            <p:ph idx="102" type="body" hasCustomPrompt="1"/>
          </p:nvPr>
        </p:nvSpPr>
        <p:spPr>
          <a:xfrm>
            <a:off x="502920" y="1115568"/>
            <a:ext cx="11183112" cy="457200"/>
          </a:xfrm>
          <a:prstGeom prst="rect">
            <a:avLst/>
          </a:prstGeom>
          <a:noFill/>
          <a:ln/>
        </p:spPr>
        <p:txBody>
          <a:bodyPr wrap="square" lIns="0" tIns="0" rIns="0" bIns="0" rtlCol="0" anchor="t"/>
          <a:lstStyle/>
          <a:p>
            <a:pPr indent="0" marL="0">
              <a:buNone/>
            </a:pPr>
            <a:r>
              <a:rPr lang="en-US" sz="1250" dirty="0">
                <a:solidFill>
                  <a:srgbClr val="566173"/>
                </a:solidFill>
                <a:latin typeface="Calibri" pitchFamily="34" charset="0"/>
                <a:ea typeface="Calibri" pitchFamily="34" charset="-122"/>
                <a:cs typeface="Calibri" pitchFamily="34" charset="-120"/>
              </a:rPr>
              <a:t>At 2.7 AU Earth gets 13.7% of today's sunlight and the same model freezes it at 150 K. Sunlight optics built by E3 hold it at 0.995–1.010 of today's sunlight, 287.8–288.8 K.</a:t>
            </a:r>
            <a:endParaRPr lang="en-US" sz="1250" dirty="0"/>
          </a:p>
        </p:txBody>
      </p:sp>
      <p:sp>
        <p:nvSpPr>
          <p:cNvPr id="7" name="Text 5"/>
          <p:cNvSpPr txBox="1"/>
          <p:nvPr/>
        </p:nvSpPr>
        <p:spPr>
          <a:xfrm>
            <a:off x="502920" y="1719072"/>
            <a:ext cx="1965960" cy="45720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Global mean temperature</a:t>
            </a:r>
            <a:pPr indent="0" marL="0">
              <a:buNone/>
            </a:pPr>
            <a:endParaRPr lang="en-US" sz="1050" dirty="0"/>
          </a:p>
          <a:p>
            <a:pPr indent="0" marL="0">
              <a:buNone/>
            </a:pPr>
            <a:r>
              <a:rPr lang="en-US" sz="1050" dirty="0">
                <a:solidFill>
                  <a:srgbClr val="566173"/>
                </a:solidFill>
                <a:latin typeface="Calibri" pitchFamily="34" charset="0"/>
                <a:ea typeface="Calibri" pitchFamily="34" charset="-122"/>
                <a:cs typeface="Calibri" pitchFamily="34" charset="-120"/>
              </a:rPr>
              <a:t>263–308 K</a:t>
            </a:r>
            <a:endParaRPr lang="en-US" sz="1050" dirty="0"/>
          </a:p>
        </p:txBody>
      </p:sp>
      <p:sp>
        <p:nvSpPr>
          <p:cNvPr id="8" name="Shape 6"/>
          <p:cNvSpPr/>
          <p:nvPr/>
        </p:nvSpPr>
        <p:spPr>
          <a:xfrm>
            <a:off x="2514600" y="1874520"/>
            <a:ext cx="2103120" cy="146304"/>
          </a:xfrm>
          <a:prstGeom prst="rect">
            <a:avLst/>
          </a:prstGeom>
          <a:solidFill>
            <a:srgbClr val="E6EAF0"/>
          </a:solidFill>
          <a:ln/>
        </p:spPr>
      </p:sp>
      <p:sp>
        <p:nvSpPr>
          <p:cNvPr id="9" name="Shape 7"/>
          <p:cNvSpPr/>
          <p:nvPr/>
        </p:nvSpPr>
        <p:spPr>
          <a:xfrm>
            <a:off x="3418942" y="1874520"/>
            <a:ext cx="946404" cy="146304"/>
          </a:xfrm>
          <a:prstGeom prst="rect">
            <a:avLst/>
          </a:prstGeom>
          <a:solidFill>
            <a:srgbClr val="E3F3E9"/>
          </a:solidFill>
          <a:ln/>
        </p:spPr>
      </p:sp>
      <p:sp>
        <p:nvSpPr>
          <p:cNvPr id="10" name="Shape 8"/>
          <p:cNvSpPr/>
          <p:nvPr/>
        </p:nvSpPr>
        <p:spPr>
          <a:xfrm>
            <a:off x="3418942" y="1819656"/>
            <a:ext cx="914" cy="256032"/>
          </a:xfrm>
          <a:prstGeom prst="line">
            <a:avLst/>
          </a:prstGeom>
          <a:noFill/>
          <a:ln w="15875">
            <a:solidFill>
              <a:srgbClr val="C8553D"/>
            </a:solidFill>
            <a:prstDash val="solid"/>
          </a:ln>
        </p:spPr>
      </p:sp>
      <p:sp>
        <p:nvSpPr>
          <p:cNvPr id="11" name="Shape 9"/>
          <p:cNvSpPr/>
          <p:nvPr/>
        </p:nvSpPr>
        <p:spPr>
          <a:xfrm>
            <a:off x="4365346" y="1819656"/>
            <a:ext cx="914" cy="256032"/>
          </a:xfrm>
          <a:prstGeom prst="line">
            <a:avLst/>
          </a:prstGeom>
          <a:noFill/>
          <a:ln w="15875">
            <a:solidFill>
              <a:srgbClr val="C8553D"/>
            </a:solidFill>
            <a:prstDash val="solid"/>
          </a:ln>
        </p:spPr>
      </p:sp>
      <p:sp>
        <p:nvSpPr>
          <p:cNvPr id="12" name="Shape 10"/>
          <p:cNvSpPr/>
          <p:nvPr/>
        </p:nvSpPr>
        <p:spPr>
          <a:xfrm>
            <a:off x="3941116" y="1892808"/>
            <a:ext cx="45720" cy="109728"/>
          </a:xfrm>
          <a:prstGeom prst="rect">
            <a:avLst/>
          </a:prstGeom>
          <a:solidFill>
            <a:srgbClr val="1D6F66"/>
          </a:solidFill>
          <a:ln/>
        </p:spPr>
      </p:sp>
      <p:sp>
        <p:nvSpPr>
          <p:cNvPr id="13" name="Text 11"/>
          <p:cNvSpPr txBox="1"/>
          <p:nvPr/>
        </p:nvSpPr>
        <p:spPr>
          <a:xfrm>
            <a:off x="4681728" y="1810512"/>
            <a:ext cx="1143000" cy="27432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287.8–288.8 K</a:t>
            </a:r>
            <a:endParaRPr lang="en-US" sz="1050" dirty="0"/>
          </a:p>
        </p:txBody>
      </p:sp>
      <p:sp>
        <p:nvSpPr>
          <p:cNvPr id="14" name="Text 12"/>
          <p:cNvSpPr txBox="1"/>
          <p:nvPr/>
        </p:nvSpPr>
        <p:spPr>
          <a:xfrm>
            <a:off x="502920" y="2235708"/>
            <a:ext cx="1965960" cy="45720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Surface with liquid water</a:t>
            </a:r>
            <a:pPr indent="0" marL="0">
              <a:buNone/>
            </a:pPr>
            <a:endParaRPr lang="en-US" sz="1050" dirty="0"/>
          </a:p>
          <a:p>
            <a:pPr indent="0" marL="0">
              <a:buNone/>
            </a:pPr>
            <a:r>
              <a:rPr lang="en-US" sz="1050" dirty="0">
                <a:solidFill>
                  <a:srgbClr val="566173"/>
                </a:solidFill>
                <a:latin typeface="Calibri" pitchFamily="34" charset="0"/>
                <a:ea typeface="Calibri" pitchFamily="34" charset="-122"/>
                <a:cs typeface="Calibri" pitchFamily="34" charset="-120"/>
              </a:rPr>
              <a:t>≥ 30%</a:t>
            </a:r>
            <a:endParaRPr lang="en-US" sz="1050" dirty="0"/>
          </a:p>
        </p:txBody>
      </p:sp>
      <p:sp>
        <p:nvSpPr>
          <p:cNvPr id="15" name="Shape 13"/>
          <p:cNvSpPr/>
          <p:nvPr/>
        </p:nvSpPr>
        <p:spPr>
          <a:xfrm>
            <a:off x="2514600" y="2391156"/>
            <a:ext cx="2103120" cy="146304"/>
          </a:xfrm>
          <a:prstGeom prst="rect">
            <a:avLst/>
          </a:prstGeom>
          <a:solidFill>
            <a:srgbClr val="E6EAF0"/>
          </a:solidFill>
          <a:ln/>
        </p:spPr>
      </p:sp>
      <p:sp>
        <p:nvSpPr>
          <p:cNvPr id="16" name="Shape 14"/>
          <p:cNvSpPr/>
          <p:nvPr/>
        </p:nvSpPr>
        <p:spPr>
          <a:xfrm>
            <a:off x="3145536" y="2391156"/>
            <a:ext cx="1472184" cy="146304"/>
          </a:xfrm>
          <a:prstGeom prst="rect">
            <a:avLst/>
          </a:prstGeom>
          <a:solidFill>
            <a:srgbClr val="E3F3E9"/>
          </a:solidFill>
          <a:ln/>
        </p:spPr>
      </p:sp>
      <p:sp>
        <p:nvSpPr>
          <p:cNvPr id="17" name="Shape 15"/>
          <p:cNvSpPr/>
          <p:nvPr/>
        </p:nvSpPr>
        <p:spPr>
          <a:xfrm>
            <a:off x="3145536" y="2336292"/>
            <a:ext cx="914" cy="256032"/>
          </a:xfrm>
          <a:prstGeom prst="line">
            <a:avLst/>
          </a:prstGeom>
          <a:noFill/>
          <a:ln w="15875">
            <a:solidFill>
              <a:srgbClr val="C8553D"/>
            </a:solidFill>
            <a:prstDash val="solid"/>
          </a:ln>
        </p:spPr>
      </p:sp>
      <p:sp>
        <p:nvSpPr>
          <p:cNvPr id="18" name="Shape 16"/>
          <p:cNvSpPr/>
          <p:nvPr/>
        </p:nvSpPr>
        <p:spPr>
          <a:xfrm>
            <a:off x="4234132" y="2409444"/>
            <a:ext cx="45720" cy="109728"/>
          </a:xfrm>
          <a:prstGeom prst="rect">
            <a:avLst/>
          </a:prstGeom>
          <a:solidFill>
            <a:srgbClr val="1D6F66"/>
          </a:solidFill>
          <a:ln/>
        </p:spPr>
      </p:sp>
      <p:sp>
        <p:nvSpPr>
          <p:cNvPr id="19" name="Text 17"/>
          <p:cNvSpPr txBox="1"/>
          <p:nvPr/>
        </p:nvSpPr>
        <p:spPr>
          <a:xfrm>
            <a:off x="4681728" y="2327148"/>
            <a:ext cx="1143000" cy="27432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 81.8%</a:t>
            </a:r>
            <a:endParaRPr lang="en-US" sz="1050" dirty="0"/>
          </a:p>
        </p:txBody>
      </p:sp>
      <p:sp>
        <p:nvSpPr>
          <p:cNvPr id="20" name="Text 18"/>
          <p:cNvSpPr txBox="1"/>
          <p:nvPr/>
        </p:nvSpPr>
        <p:spPr>
          <a:xfrm>
            <a:off x="502920" y="2752344"/>
            <a:ext cx="1965960" cy="45720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Absorbed sunlight (runaway)</a:t>
            </a:r>
            <a:pPr indent="0" marL="0">
              <a:buNone/>
            </a:pPr>
            <a:endParaRPr lang="en-US" sz="1050" dirty="0"/>
          </a:p>
          <a:p>
            <a:pPr indent="0" marL="0">
              <a:buNone/>
            </a:pPr>
            <a:r>
              <a:rPr lang="en-US" sz="1050" dirty="0">
                <a:solidFill>
                  <a:srgbClr val="566173"/>
                </a:solidFill>
                <a:latin typeface="Calibri" pitchFamily="34" charset="0"/>
                <a:ea typeface="Calibri" pitchFamily="34" charset="-122"/>
                <a:cs typeface="Calibri" pitchFamily="34" charset="-120"/>
              </a:rPr>
              <a:t>&lt; 282 W/m²</a:t>
            </a:r>
            <a:endParaRPr lang="en-US" sz="1050" dirty="0"/>
          </a:p>
        </p:txBody>
      </p:sp>
      <p:sp>
        <p:nvSpPr>
          <p:cNvPr id="21" name="Shape 19"/>
          <p:cNvSpPr/>
          <p:nvPr/>
        </p:nvSpPr>
        <p:spPr>
          <a:xfrm>
            <a:off x="2514600" y="2907792"/>
            <a:ext cx="2103120" cy="146304"/>
          </a:xfrm>
          <a:prstGeom prst="rect">
            <a:avLst/>
          </a:prstGeom>
          <a:solidFill>
            <a:srgbClr val="E6EAF0"/>
          </a:solidFill>
          <a:ln/>
        </p:spPr>
      </p:sp>
      <p:sp>
        <p:nvSpPr>
          <p:cNvPr id="22" name="Shape 20"/>
          <p:cNvSpPr/>
          <p:nvPr/>
        </p:nvSpPr>
        <p:spPr>
          <a:xfrm>
            <a:off x="2514600" y="2907792"/>
            <a:ext cx="1850746" cy="146304"/>
          </a:xfrm>
          <a:prstGeom prst="rect">
            <a:avLst/>
          </a:prstGeom>
          <a:solidFill>
            <a:srgbClr val="E3F3E9"/>
          </a:solidFill>
          <a:ln/>
        </p:spPr>
      </p:sp>
      <p:sp>
        <p:nvSpPr>
          <p:cNvPr id="23" name="Shape 21"/>
          <p:cNvSpPr/>
          <p:nvPr/>
        </p:nvSpPr>
        <p:spPr>
          <a:xfrm>
            <a:off x="4365346" y="2852928"/>
            <a:ext cx="914" cy="256032"/>
          </a:xfrm>
          <a:prstGeom prst="line">
            <a:avLst/>
          </a:prstGeom>
          <a:noFill/>
          <a:ln w="15875">
            <a:solidFill>
              <a:srgbClr val="C8553D"/>
            </a:solidFill>
            <a:prstDash val="solid"/>
          </a:ln>
        </p:spPr>
      </p:sp>
      <p:sp>
        <p:nvSpPr>
          <p:cNvPr id="24" name="Shape 22"/>
          <p:cNvSpPr/>
          <p:nvPr/>
        </p:nvSpPr>
        <p:spPr>
          <a:xfrm>
            <a:off x="3742939" y="2926080"/>
            <a:ext cx="46687" cy="109728"/>
          </a:xfrm>
          <a:prstGeom prst="rect">
            <a:avLst/>
          </a:prstGeom>
          <a:solidFill>
            <a:srgbClr val="1D6F66"/>
          </a:solidFill>
          <a:ln/>
        </p:spPr>
      </p:sp>
      <p:sp>
        <p:nvSpPr>
          <p:cNvPr id="25" name="Text 23"/>
          <p:cNvSpPr txBox="1"/>
          <p:nvPr/>
        </p:nvSpPr>
        <p:spPr>
          <a:xfrm>
            <a:off x="4681728" y="2843784"/>
            <a:ext cx="1143000" cy="27432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 240.9 W/m²</a:t>
            </a:r>
            <a:endParaRPr lang="en-US" sz="1050" dirty="0"/>
          </a:p>
        </p:txBody>
      </p:sp>
      <p:sp>
        <p:nvSpPr>
          <p:cNvPr id="26" name="Text 24"/>
          <p:cNvSpPr txBox="1"/>
          <p:nvPr/>
        </p:nvSpPr>
        <p:spPr>
          <a:xfrm>
            <a:off x="502920" y="3268980"/>
            <a:ext cx="1965960" cy="45720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Surface pressure</a:t>
            </a:r>
            <a:pPr indent="0" marL="0">
              <a:buNone/>
            </a:pPr>
            <a:endParaRPr lang="en-US" sz="1050" dirty="0"/>
          </a:p>
          <a:p>
            <a:pPr indent="0" marL="0">
              <a:buNone/>
            </a:pPr>
            <a:r>
              <a:rPr lang="en-US" sz="1050" dirty="0">
                <a:solidFill>
                  <a:srgbClr val="566173"/>
                </a:solidFill>
                <a:latin typeface="Calibri" pitchFamily="34" charset="0"/>
                <a:ea typeface="Calibri" pitchFamily="34" charset="-122"/>
                <a:cs typeface="Calibri" pitchFamily="34" charset="-120"/>
              </a:rPr>
              <a:t>≥ 50 kPa</a:t>
            </a:r>
            <a:endParaRPr lang="en-US" sz="1050" dirty="0"/>
          </a:p>
        </p:txBody>
      </p:sp>
      <p:sp>
        <p:nvSpPr>
          <p:cNvPr id="27" name="Shape 25"/>
          <p:cNvSpPr/>
          <p:nvPr/>
        </p:nvSpPr>
        <p:spPr>
          <a:xfrm>
            <a:off x="2514600" y="3424428"/>
            <a:ext cx="2103120" cy="146304"/>
          </a:xfrm>
          <a:prstGeom prst="rect">
            <a:avLst/>
          </a:prstGeom>
          <a:solidFill>
            <a:srgbClr val="E6EAF0"/>
          </a:solidFill>
          <a:ln/>
        </p:spPr>
      </p:sp>
      <p:sp>
        <p:nvSpPr>
          <p:cNvPr id="28" name="Shape 26"/>
          <p:cNvSpPr/>
          <p:nvPr/>
        </p:nvSpPr>
        <p:spPr>
          <a:xfrm>
            <a:off x="3390900" y="3424428"/>
            <a:ext cx="1226820" cy="146304"/>
          </a:xfrm>
          <a:prstGeom prst="rect">
            <a:avLst/>
          </a:prstGeom>
          <a:solidFill>
            <a:srgbClr val="E3F3E9"/>
          </a:solidFill>
          <a:ln/>
        </p:spPr>
      </p:sp>
      <p:sp>
        <p:nvSpPr>
          <p:cNvPr id="29" name="Shape 27"/>
          <p:cNvSpPr/>
          <p:nvPr/>
        </p:nvSpPr>
        <p:spPr>
          <a:xfrm>
            <a:off x="3390900" y="3369564"/>
            <a:ext cx="914" cy="256032"/>
          </a:xfrm>
          <a:prstGeom prst="line">
            <a:avLst/>
          </a:prstGeom>
          <a:noFill/>
          <a:ln w="15875">
            <a:solidFill>
              <a:srgbClr val="C8553D"/>
            </a:solidFill>
            <a:prstDash val="solid"/>
          </a:ln>
        </p:spPr>
      </p:sp>
      <p:sp>
        <p:nvSpPr>
          <p:cNvPr id="30" name="Shape 28"/>
          <p:cNvSpPr/>
          <p:nvPr/>
        </p:nvSpPr>
        <p:spPr>
          <a:xfrm>
            <a:off x="4290422" y="3442716"/>
            <a:ext cx="45720" cy="109728"/>
          </a:xfrm>
          <a:prstGeom prst="rect">
            <a:avLst/>
          </a:prstGeom>
          <a:solidFill>
            <a:srgbClr val="1D6F66"/>
          </a:solidFill>
          <a:ln/>
        </p:spPr>
      </p:sp>
      <p:sp>
        <p:nvSpPr>
          <p:cNvPr id="31" name="Text 29"/>
          <p:cNvSpPr txBox="1"/>
          <p:nvPr/>
        </p:nvSpPr>
        <p:spPr>
          <a:xfrm>
            <a:off x="4681728" y="3360420"/>
            <a:ext cx="1143000" cy="27432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101.3 kPa</a:t>
            </a:r>
            <a:endParaRPr lang="en-US" sz="1050" dirty="0"/>
          </a:p>
        </p:txBody>
      </p:sp>
      <p:sp>
        <p:nvSpPr>
          <p:cNvPr id="32" name="Text 30"/>
          <p:cNvSpPr txBox="1"/>
          <p:nvPr/>
        </p:nvSpPr>
        <p:spPr>
          <a:xfrm>
            <a:off x="502920" y="3785616"/>
            <a:ext cx="1965960" cy="45720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Nitrogen kept (Jeans λ)</a:t>
            </a:r>
            <a:pPr indent="0" marL="0">
              <a:buNone/>
            </a:pPr>
            <a:endParaRPr lang="en-US" sz="1050" dirty="0"/>
          </a:p>
          <a:p>
            <a:pPr indent="0" marL="0">
              <a:buNone/>
            </a:pPr>
            <a:r>
              <a:rPr lang="en-US" sz="1050" dirty="0">
                <a:solidFill>
                  <a:srgbClr val="566173"/>
                </a:solidFill>
                <a:latin typeface="Calibri" pitchFamily="34" charset="0"/>
                <a:ea typeface="Calibri" pitchFamily="34" charset="-122"/>
                <a:cs typeface="Calibri" pitchFamily="34" charset="-120"/>
              </a:rPr>
              <a:t>&gt; 30</a:t>
            </a:r>
            <a:endParaRPr lang="en-US" sz="1050" dirty="0"/>
          </a:p>
        </p:txBody>
      </p:sp>
      <p:sp>
        <p:nvSpPr>
          <p:cNvPr id="33" name="Shape 31"/>
          <p:cNvSpPr/>
          <p:nvPr/>
        </p:nvSpPr>
        <p:spPr>
          <a:xfrm>
            <a:off x="2514600" y="3941064"/>
            <a:ext cx="2103120" cy="146304"/>
          </a:xfrm>
          <a:prstGeom prst="rect">
            <a:avLst/>
          </a:prstGeom>
          <a:solidFill>
            <a:srgbClr val="E6EAF0"/>
          </a:solidFill>
          <a:ln/>
        </p:spPr>
      </p:sp>
      <p:sp>
        <p:nvSpPr>
          <p:cNvPr id="34" name="Shape 32"/>
          <p:cNvSpPr/>
          <p:nvPr/>
        </p:nvSpPr>
        <p:spPr>
          <a:xfrm>
            <a:off x="2766974" y="3941064"/>
            <a:ext cx="1850746" cy="146304"/>
          </a:xfrm>
          <a:prstGeom prst="rect">
            <a:avLst/>
          </a:prstGeom>
          <a:solidFill>
            <a:srgbClr val="E3F3E9"/>
          </a:solidFill>
          <a:ln/>
        </p:spPr>
      </p:sp>
      <p:sp>
        <p:nvSpPr>
          <p:cNvPr id="35" name="Shape 33"/>
          <p:cNvSpPr/>
          <p:nvPr/>
        </p:nvSpPr>
        <p:spPr>
          <a:xfrm>
            <a:off x="2766974" y="3886200"/>
            <a:ext cx="914" cy="256032"/>
          </a:xfrm>
          <a:prstGeom prst="line">
            <a:avLst/>
          </a:prstGeom>
          <a:noFill/>
          <a:ln w="15875">
            <a:solidFill>
              <a:srgbClr val="C8553D"/>
            </a:solidFill>
            <a:prstDash val="solid"/>
          </a:ln>
        </p:spPr>
      </p:sp>
      <p:sp>
        <p:nvSpPr>
          <p:cNvPr id="36" name="Shape 34"/>
          <p:cNvSpPr/>
          <p:nvPr/>
        </p:nvSpPr>
        <p:spPr>
          <a:xfrm>
            <a:off x="4149640" y="3959352"/>
            <a:ext cx="45720" cy="109728"/>
          </a:xfrm>
          <a:prstGeom prst="rect">
            <a:avLst/>
          </a:prstGeom>
          <a:solidFill>
            <a:srgbClr val="1D6F66"/>
          </a:solidFill>
          <a:ln/>
        </p:spPr>
      </p:sp>
      <p:sp>
        <p:nvSpPr>
          <p:cNvPr id="37" name="Text 35"/>
          <p:cNvSpPr txBox="1"/>
          <p:nvPr/>
        </p:nvSpPr>
        <p:spPr>
          <a:xfrm>
            <a:off x="4681728" y="3877056"/>
            <a:ext cx="1143000" cy="27432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 194</a:t>
            </a:r>
            <a:endParaRPr lang="en-US" sz="1050" dirty="0"/>
          </a:p>
        </p:txBody>
      </p:sp>
      <p:sp>
        <p:nvSpPr>
          <p:cNvPr id="38" name="Text 36"/>
          <p:cNvSpPr txBox="1"/>
          <p:nvPr/>
        </p:nvSpPr>
        <p:spPr>
          <a:xfrm>
            <a:off x="502920" y="4302252"/>
            <a:ext cx="1965960" cy="45720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Magnetopause distance</a:t>
            </a:r>
            <a:pPr indent="0" marL="0">
              <a:buNone/>
            </a:pPr>
            <a:endParaRPr lang="en-US" sz="1050" dirty="0"/>
          </a:p>
          <a:p>
            <a:pPr indent="0" marL="0">
              <a:buNone/>
            </a:pPr>
            <a:r>
              <a:rPr lang="en-US" sz="1050" dirty="0">
                <a:solidFill>
                  <a:srgbClr val="566173"/>
                </a:solidFill>
                <a:latin typeface="Calibri" pitchFamily="34" charset="0"/>
                <a:ea typeface="Calibri" pitchFamily="34" charset="-122"/>
                <a:cs typeface="Calibri" pitchFamily="34" charset="-120"/>
              </a:rPr>
              <a:t>≥ 3 Earth radii</a:t>
            </a:r>
            <a:endParaRPr lang="en-US" sz="1050" dirty="0"/>
          </a:p>
        </p:txBody>
      </p:sp>
      <p:sp>
        <p:nvSpPr>
          <p:cNvPr id="39" name="Shape 37"/>
          <p:cNvSpPr/>
          <p:nvPr/>
        </p:nvSpPr>
        <p:spPr>
          <a:xfrm>
            <a:off x="2514600" y="4457700"/>
            <a:ext cx="2103120" cy="146304"/>
          </a:xfrm>
          <a:prstGeom prst="rect">
            <a:avLst/>
          </a:prstGeom>
          <a:solidFill>
            <a:srgbClr val="E6EAF0"/>
          </a:solidFill>
          <a:ln/>
        </p:spPr>
      </p:sp>
      <p:sp>
        <p:nvSpPr>
          <p:cNvPr id="40" name="Shape 38"/>
          <p:cNvSpPr/>
          <p:nvPr/>
        </p:nvSpPr>
        <p:spPr>
          <a:xfrm>
            <a:off x="2908935" y="4457700"/>
            <a:ext cx="1708785" cy="146304"/>
          </a:xfrm>
          <a:prstGeom prst="rect">
            <a:avLst/>
          </a:prstGeom>
          <a:solidFill>
            <a:srgbClr val="E3F3E9"/>
          </a:solidFill>
          <a:ln/>
        </p:spPr>
      </p:sp>
      <p:sp>
        <p:nvSpPr>
          <p:cNvPr id="41" name="Shape 39"/>
          <p:cNvSpPr/>
          <p:nvPr/>
        </p:nvSpPr>
        <p:spPr>
          <a:xfrm>
            <a:off x="2908935" y="4402836"/>
            <a:ext cx="914" cy="256032"/>
          </a:xfrm>
          <a:prstGeom prst="line">
            <a:avLst/>
          </a:prstGeom>
          <a:noFill/>
          <a:ln w="15875">
            <a:solidFill>
              <a:srgbClr val="C8553D"/>
            </a:solidFill>
            <a:prstDash val="solid"/>
          </a:ln>
        </p:spPr>
      </p:sp>
      <p:sp>
        <p:nvSpPr>
          <p:cNvPr id="42" name="Shape 40"/>
          <p:cNvSpPr/>
          <p:nvPr/>
        </p:nvSpPr>
        <p:spPr>
          <a:xfrm>
            <a:off x="3829051" y="4475988"/>
            <a:ext cx="516335" cy="109728"/>
          </a:xfrm>
          <a:prstGeom prst="rect">
            <a:avLst/>
          </a:prstGeom>
          <a:solidFill>
            <a:srgbClr val="1D6F66"/>
          </a:solidFill>
          <a:ln/>
        </p:spPr>
      </p:sp>
      <p:sp>
        <p:nvSpPr>
          <p:cNvPr id="43" name="Text 41"/>
          <p:cNvSpPr txBox="1"/>
          <p:nvPr/>
        </p:nvSpPr>
        <p:spPr>
          <a:xfrm>
            <a:off x="4681728" y="4393692"/>
            <a:ext cx="1143000" cy="27432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10.0–13.9 R⊕</a:t>
            </a:r>
            <a:endParaRPr lang="en-US" sz="1050" dirty="0"/>
          </a:p>
        </p:txBody>
      </p:sp>
      <p:sp>
        <p:nvSpPr>
          <p:cNvPr id="44" name="Text 42"/>
          <p:cNvSpPr txBox="1"/>
          <p:nvPr/>
        </p:nvSpPr>
        <p:spPr>
          <a:xfrm>
            <a:off x="502920" y="4818888"/>
            <a:ext cx="1965960" cy="45720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Change in length of day</a:t>
            </a:r>
            <a:pPr indent="0" marL="0">
              <a:buNone/>
            </a:pPr>
            <a:endParaRPr lang="en-US" sz="1050" dirty="0"/>
          </a:p>
          <a:p>
            <a:pPr indent="0" marL="0">
              <a:buNone/>
            </a:pPr>
            <a:r>
              <a:rPr lang="en-US" sz="1050" dirty="0">
                <a:solidFill>
                  <a:srgbClr val="566173"/>
                </a:solidFill>
                <a:latin typeface="Calibri" pitchFamily="34" charset="0"/>
                <a:ea typeface="Calibri" pitchFamily="34" charset="-122"/>
                <a:cs typeface="Calibri" pitchFamily="34" charset="-120"/>
              </a:rPr>
              <a:t>≤ 1 s (log scale)</a:t>
            </a:r>
            <a:endParaRPr lang="en-US" sz="1050" dirty="0"/>
          </a:p>
        </p:txBody>
      </p:sp>
      <p:sp>
        <p:nvSpPr>
          <p:cNvPr id="45" name="Shape 43"/>
          <p:cNvSpPr/>
          <p:nvPr/>
        </p:nvSpPr>
        <p:spPr>
          <a:xfrm>
            <a:off x="2514600" y="4974336"/>
            <a:ext cx="2103120" cy="146304"/>
          </a:xfrm>
          <a:prstGeom prst="rect">
            <a:avLst/>
          </a:prstGeom>
          <a:solidFill>
            <a:srgbClr val="E6EAF0"/>
          </a:solidFill>
          <a:ln/>
        </p:spPr>
      </p:sp>
      <p:sp>
        <p:nvSpPr>
          <p:cNvPr id="46" name="Shape 44"/>
          <p:cNvSpPr/>
          <p:nvPr/>
        </p:nvSpPr>
        <p:spPr>
          <a:xfrm>
            <a:off x="2514600" y="4974336"/>
            <a:ext cx="1911927" cy="146304"/>
          </a:xfrm>
          <a:prstGeom prst="rect">
            <a:avLst/>
          </a:prstGeom>
          <a:solidFill>
            <a:srgbClr val="E3F3E9"/>
          </a:solidFill>
          <a:ln/>
        </p:spPr>
      </p:sp>
      <p:sp>
        <p:nvSpPr>
          <p:cNvPr id="47" name="Shape 45"/>
          <p:cNvSpPr/>
          <p:nvPr/>
        </p:nvSpPr>
        <p:spPr>
          <a:xfrm>
            <a:off x="4426527" y="4919472"/>
            <a:ext cx="914" cy="256032"/>
          </a:xfrm>
          <a:prstGeom prst="line">
            <a:avLst/>
          </a:prstGeom>
          <a:noFill/>
          <a:ln w="15875">
            <a:solidFill>
              <a:srgbClr val="C8553D"/>
            </a:solidFill>
            <a:prstDash val="solid"/>
          </a:ln>
        </p:spPr>
      </p:sp>
      <p:sp>
        <p:nvSpPr>
          <p:cNvPr id="48" name="Shape 46"/>
          <p:cNvSpPr/>
          <p:nvPr/>
        </p:nvSpPr>
        <p:spPr>
          <a:xfrm>
            <a:off x="2514600" y="4992624"/>
            <a:ext cx="634467" cy="109728"/>
          </a:xfrm>
          <a:prstGeom prst="rect">
            <a:avLst/>
          </a:prstGeom>
          <a:solidFill>
            <a:srgbClr val="1D6F66"/>
          </a:solidFill>
          <a:ln/>
        </p:spPr>
      </p:sp>
      <p:sp>
        <p:nvSpPr>
          <p:cNvPr id="49" name="Text 47"/>
          <p:cNvSpPr txBox="1"/>
          <p:nvPr/>
        </p:nvSpPr>
        <p:spPr>
          <a:xfrm>
            <a:off x="4681728" y="4910328"/>
            <a:ext cx="1143000" cy="27432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2.1 × 10⁻⁷ s</a:t>
            </a:r>
            <a:endParaRPr lang="en-US" sz="1050" dirty="0"/>
          </a:p>
        </p:txBody>
      </p:sp>
      <p:sp>
        <p:nvSpPr>
          <p:cNvPr id="50" name="Text 48"/>
          <p:cNvSpPr txBox="1"/>
          <p:nvPr/>
        </p:nvSpPr>
        <p:spPr>
          <a:xfrm>
            <a:off x="502920" y="5335524"/>
            <a:ext cx="1965960" cy="45720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Moon over Earth's Hill radius</a:t>
            </a:r>
            <a:pPr indent="0" marL="0">
              <a:buNone/>
            </a:pPr>
            <a:endParaRPr lang="en-US" sz="1050" dirty="0"/>
          </a:p>
          <a:p>
            <a:pPr indent="0" marL="0">
              <a:buNone/>
            </a:pPr>
            <a:r>
              <a:rPr lang="en-US" sz="1050" dirty="0">
                <a:solidFill>
                  <a:srgbClr val="566173"/>
                </a:solidFill>
                <a:latin typeface="Calibri" pitchFamily="34" charset="0"/>
                <a:ea typeface="Calibri" pitchFamily="34" charset="-122"/>
                <a:cs typeface="Calibri" pitchFamily="34" charset="-120"/>
              </a:rPr>
              <a:t>&lt; 0.49</a:t>
            </a:r>
            <a:endParaRPr lang="en-US" sz="1050" dirty="0"/>
          </a:p>
        </p:txBody>
      </p:sp>
      <p:sp>
        <p:nvSpPr>
          <p:cNvPr id="51" name="Shape 49"/>
          <p:cNvSpPr/>
          <p:nvPr/>
        </p:nvSpPr>
        <p:spPr>
          <a:xfrm>
            <a:off x="2514600" y="5490972"/>
            <a:ext cx="2103120" cy="146304"/>
          </a:xfrm>
          <a:prstGeom prst="rect">
            <a:avLst/>
          </a:prstGeom>
          <a:solidFill>
            <a:srgbClr val="E6EAF0"/>
          </a:solidFill>
          <a:ln/>
        </p:spPr>
      </p:sp>
      <p:sp>
        <p:nvSpPr>
          <p:cNvPr id="52" name="Shape 50"/>
          <p:cNvSpPr/>
          <p:nvPr/>
        </p:nvSpPr>
        <p:spPr>
          <a:xfrm>
            <a:off x="2514600" y="5490972"/>
            <a:ext cx="1717548" cy="146304"/>
          </a:xfrm>
          <a:prstGeom prst="rect">
            <a:avLst/>
          </a:prstGeom>
          <a:solidFill>
            <a:srgbClr val="E3F3E9"/>
          </a:solidFill>
          <a:ln/>
        </p:spPr>
      </p:sp>
      <p:sp>
        <p:nvSpPr>
          <p:cNvPr id="53" name="Shape 51"/>
          <p:cNvSpPr/>
          <p:nvPr/>
        </p:nvSpPr>
        <p:spPr>
          <a:xfrm>
            <a:off x="4232148" y="5436108"/>
            <a:ext cx="914" cy="256032"/>
          </a:xfrm>
          <a:prstGeom prst="line">
            <a:avLst/>
          </a:prstGeom>
          <a:noFill/>
          <a:ln w="15875">
            <a:solidFill>
              <a:srgbClr val="C8553D"/>
            </a:solidFill>
            <a:prstDash val="solid"/>
          </a:ln>
        </p:spPr>
      </p:sp>
      <p:sp>
        <p:nvSpPr>
          <p:cNvPr id="54" name="Shape 52"/>
          <p:cNvSpPr/>
          <p:nvPr/>
        </p:nvSpPr>
        <p:spPr>
          <a:xfrm>
            <a:off x="2846486" y="5509260"/>
            <a:ext cx="564859" cy="109728"/>
          </a:xfrm>
          <a:prstGeom prst="rect">
            <a:avLst/>
          </a:prstGeom>
          <a:solidFill>
            <a:srgbClr val="1D6F66"/>
          </a:solidFill>
          <a:ln/>
        </p:spPr>
      </p:sp>
      <p:sp>
        <p:nvSpPr>
          <p:cNvPr id="55" name="Text 53"/>
          <p:cNvSpPr txBox="1"/>
          <p:nvPr/>
        </p:nvSpPr>
        <p:spPr>
          <a:xfrm>
            <a:off x="4681728" y="5426964"/>
            <a:ext cx="1143000" cy="27432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0.095–0.256</a:t>
            </a:r>
            <a:endParaRPr lang="en-US" sz="1050" dirty="0"/>
          </a:p>
        </p:txBody>
      </p:sp>
      <p:sp>
        <p:nvSpPr>
          <p:cNvPr id="56" name="Text 54"/>
          <p:cNvSpPr txBox="1"/>
          <p:nvPr/>
        </p:nvSpPr>
        <p:spPr>
          <a:xfrm>
            <a:off x="502920" y="5852160"/>
            <a:ext cx="1965960" cy="45720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Tow thrust over the Moon's pull</a:t>
            </a:r>
            <a:pPr indent="0" marL="0">
              <a:buNone/>
            </a:pPr>
            <a:endParaRPr lang="en-US" sz="1050" dirty="0"/>
          </a:p>
          <a:p>
            <a:pPr indent="0" marL="0">
              <a:buNone/>
            </a:pPr>
            <a:r>
              <a:rPr lang="en-US" sz="1050" dirty="0">
                <a:solidFill>
                  <a:srgbClr val="566173"/>
                </a:solidFill>
                <a:latin typeface="Calibri" pitchFamily="34" charset="0"/>
                <a:ea typeface="Calibri" pitchFamily="34" charset="-122"/>
                <a:cs typeface="Calibri" pitchFamily="34" charset="-120"/>
              </a:rPr>
              <a:t>&lt; 0.01</a:t>
            </a:r>
            <a:endParaRPr lang="en-US" sz="1050" dirty="0"/>
          </a:p>
        </p:txBody>
      </p:sp>
      <p:sp>
        <p:nvSpPr>
          <p:cNvPr id="57" name="Shape 55"/>
          <p:cNvSpPr/>
          <p:nvPr/>
        </p:nvSpPr>
        <p:spPr>
          <a:xfrm>
            <a:off x="2514600" y="6007608"/>
            <a:ext cx="2103120" cy="146304"/>
          </a:xfrm>
          <a:prstGeom prst="rect">
            <a:avLst/>
          </a:prstGeom>
          <a:solidFill>
            <a:srgbClr val="E6EAF0"/>
          </a:solidFill>
          <a:ln/>
        </p:spPr>
      </p:sp>
      <p:sp>
        <p:nvSpPr>
          <p:cNvPr id="58" name="Shape 56"/>
          <p:cNvSpPr/>
          <p:nvPr/>
        </p:nvSpPr>
        <p:spPr>
          <a:xfrm>
            <a:off x="2514600" y="6007608"/>
            <a:ext cx="1752600" cy="146304"/>
          </a:xfrm>
          <a:prstGeom prst="rect">
            <a:avLst/>
          </a:prstGeom>
          <a:solidFill>
            <a:srgbClr val="E3F3E9"/>
          </a:solidFill>
          <a:ln/>
        </p:spPr>
      </p:sp>
      <p:sp>
        <p:nvSpPr>
          <p:cNvPr id="59" name="Shape 57"/>
          <p:cNvSpPr/>
          <p:nvPr/>
        </p:nvSpPr>
        <p:spPr>
          <a:xfrm>
            <a:off x="4267200" y="5952744"/>
            <a:ext cx="914" cy="256032"/>
          </a:xfrm>
          <a:prstGeom prst="line">
            <a:avLst/>
          </a:prstGeom>
          <a:noFill/>
          <a:ln w="15875">
            <a:solidFill>
              <a:srgbClr val="C8553D"/>
            </a:solidFill>
            <a:prstDash val="solid"/>
          </a:ln>
        </p:spPr>
      </p:sp>
      <p:sp>
        <p:nvSpPr>
          <p:cNvPr id="60" name="Shape 58"/>
          <p:cNvSpPr/>
          <p:nvPr/>
        </p:nvSpPr>
        <p:spPr>
          <a:xfrm>
            <a:off x="2514600" y="6025896"/>
            <a:ext cx="344912" cy="109728"/>
          </a:xfrm>
          <a:prstGeom prst="rect">
            <a:avLst/>
          </a:prstGeom>
          <a:solidFill>
            <a:srgbClr val="1D6F66"/>
          </a:solidFill>
          <a:ln/>
        </p:spPr>
      </p:sp>
      <p:sp>
        <p:nvSpPr>
          <p:cNvPr id="61" name="Text 59"/>
          <p:cNvSpPr txBox="1"/>
          <p:nvPr/>
        </p:nvSpPr>
        <p:spPr>
          <a:xfrm>
            <a:off x="4681728" y="5943600"/>
            <a:ext cx="1143000" cy="274320"/>
          </a:xfrm>
          <a:prstGeom prst="rect">
            <a:avLst/>
          </a:prstGeom>
          <a:noFill/>
          <a:ln/>
        </p:spPr>
        <p:txBody>
          <a:bodyPr wrap="square" lIns="0" tIns="0" rIns="0" bIns="0" rtlCol="0" anchor="t"/>
          <a:lstStyle/>
          <a:p>
            <a:pPr indent="0" marL="0">
              <a:buNone/>
            </a:pPr>
            <a:r>
              <a:rPr lang="en-US" sz="1050" b="1" dirty="0">
                <a:solidFill>
                  <a:srgbClr val="1D6F66"/>
                </a:solidFill>
                <a:latin typeface="Calibri" pitchFamily="34" charset="0"/>
                <a:ea typeface="Calibri" pitchFamily="34" charset="-122"/>
                <a:cs typeface="Calibri" pitchFamily="34" charset="-120"/>
              </a:rPr>
              <a:t>≤ 0.0020</a:t>
            </a:r>
            <a:endParaRPr lang="en-US" sz="1050" dirty="0"/>
          </a:p>
        </p:txBody>
      </p:sp>
      <p:sp>
        <p:nvSpPr>
          <p:cNvPr id="62" name="Text 60"/>
          <p:cNvSpPr txBox="1"/>
          <p:nvPr/>
        </p:nvSpPr>
        <p:spPr>
          <a:xfrm>
            <a:off x="502920" y="6382512"/>
            <a:ext cx="5486400" cy="128016"/>
          </a:xfrm>
          <a:prstGeom prst="rect">
            <a:avLst/>
          </a:prstGeom>
          <a:noFill/>
          <a:ln/>
        </p:spPr>
        <p:txBody>
          <a:bodyPr wrap="square" lIns="0" tIns="0" rIns="0" bIns="0" rtlCol="0" anchor="t"/>
          <a:lstStyle/>
          <a:p>
            <a:pPr indent="0" marL="0">
              <a:buNone/>
            </a:pPr>
            <a:r>
              <a:rPr lang="en-US" sz="900" dirty="0">
                <a:solidFill>
                  <a:srgbClr val="566173"/>
                </a:solidFill>
                <a:latin typeface="Calibri" pitchFamily="34" charset="0"/>
                <a:ea typeface="Calibri" pitchFamily="34" charset="-122"/>
                <a:cs typeface="Calibri" pitchFamily="34" charset="-120"/>
              </a:rPr>
              <a:t>green: allowed · red tick: the limit · teal: the range over the whole journey</a:t>
            </a:r>
            <a:endParaRPr lang="en-US" sz="900" dirty="0"/>
          </a:p>
        </p:txBody>
      </p:sp>
      <p:graphicFrame>
        <p:nvGraphicFramePr>
          <p:cNvPr id="63" name="Chart 0" descr=""/>
          <p:cNvGraphicFramePr/>
          <p:nvPr/>
        </p:nvGraphicFramePr>
        <p:xfrm>
          <a:off x="6035040" y="1700784"/>
          <a:ext cx="5650992" cy="2423160"/>
        </p:xfrm>
        <a:graphic xmlns:a="http://schemas.openxmlformats.org/drawingml/2006/main">
          <a:graphicData uri="http://schemas.openxmlformats.org/drawingml/2006/chart">
            <c:chart xmlns:c="http://schemas.openxmlformats.org/drawingml/2006/chart" r:id="rId1"/>
          </a:graphicData>
        </a:graphic>
      </p:graphicFrame>
      <p:sp>
        <p:nvSpPr>
          <p:cNvPr id="64" name="Text 61"/>
          <p:cNvSpPr txBox="1"/>
          <p:nvPr/>
        </p:nvSpPr>
        <p:spPr>
          <a:xfrm>
            <a:off x="7062364" y="2658235"/>
            <a:ext cx="3291840" cy="365760"/>
          </a:xfrm>
          <a:prstGeom prst="rect">
            <a:avLst/>
          </a:prstGeom>
          <a:noFill/>
          <a:ln/>
        </p:spPr>
        <p:txBody>
          <a:bodyPr wrap="square" lIns="0" tIns="0" rIns="0" bIns="0" rtlCol="0" anchor="t"/>
          <a:lstStyle/>
          <a:p>
            <a:pPr indent="0" marL="0">
              <a:buNone/>
            </a:pPr>
            <a:r>
              <a:rPr lang="en-US" sz="1000" b="1" dirty="0">
                <a:solidFill>
                  <a:srgbClr val="C8553D"/>
                </a:solidFill>
                <a:latin typeface="Calibri" pitchFamily="34" charset="0"/>
                <a:ea typeface="Calibri" pitchFamily="34" charset="-122"/>
                <a:cs typeface="Calibri" pitchFamily="34" charset="-120"/>
              </a:rPr>
              <a:t>without the optics Earth drops off the ice-albedo cliff by year 570, at only 1.06 AU</a:t>
            </a:r>
            <a:endParaRPr lang="en-US" sz="1000" dirty="0"/>
          </a:p>
        </p:txBody>
      </p:sp>
      <p:sp>
        <p:nvSpPr>
          <p:cNvPr id="65" name="Text 62"/>
          <p:cNvSpPr txBox="1"/>
          <p:nvPr/>
        </p:nvSpPr>
        <p:spPr>
          <a:xfrm>
            <a:off x="10176966" y="3308802"/>
            <a:ext cx="1280160" cy="201168"/>
          </a:xfrm>
          <a:prstGeom prst="rect">
            <a:avLst/>
          </a:prstGeom>
          <a:noFill/>
          <a:ln/>
        </p:spPr>
        <p:txBody>
          <a:bodyPr wrap="square" lIns="0" tIns="0" rIns="0" bIns="0" rtlCol="0" anchor="t"/>
          <a:lstStyle/>
          <a:p>
            <a:pPr algn="r" indent="0" marL="0">
              <a:buNone/>
            </a:pPr>
            <a:r>
              <a:rPr lang="en-US" sz="1000" dirty="0">
                <a:solidFill>
                  <a:srgbClr val="C8553D"/>
                </a:solidFill>
                <a:latin typeface="Calibri" pitchFamily="34" charset="0"/>
                <a:ea typeface="Calibri" pitchFamily="34" charset="-122"/>
                <a:cs typeface="Calibri" pitchFamily="34" charset="-120"/>
              </a:rPr>
              <a:t>150 K at 2.7 AU</a:t>
            </a:r>
            <a:endParaRPr lang="en-US" sz="1000" dirty="0"/>
          </a:p>
        </p:txBody>
      </p:sp>
      <p:sp>
        <p:nvSpPr>
          <p:cNvPr id="66" name="Shape 63"/>
          <p:cNvSpPr/>
          <p:nvPr/>
        </p:nvSpPr>
        <p:spPr>
          <a:xfrm>
            <a:off x="6035040" y="4224528"/>
            <a:ext cx="5650992" cy="2121408"/>
          </a:xfrm>
          <a:prstGeom prst="roundRect">
            <a:avLst>
              <a:gd name="adj" fmla="val 3448"/>
            </a:avLst>
          </a:prstGeom>
          <a:solidFill>
            <a:srgbClr val="F1F4F8"/>
          </a:solidFill>
          <a:ln/>
        </p:spPr>
      </p:sp>
      <p:sp>
        <p:nvSpPr>
          <p:cNvPr id="67" name="Text 64"/>
          <p:cNvSpPr txBox="1"/>
          <p:nvPr/>
        </p:nvSpPr>
        <p:spPr>
          <a:xfrm>
            <a:off x="6199632" y="4297680"/>
            <a:ext cx="5029200" cy="201168"/>
          </a:xfrm>
          <a:prstGeom prst="rect">
            <a:avLst/>
          </a:prstGeom>
          <a:noFill/>
          <a:ln/>
        </p:spPr>
        <p:txBody>
          <a:bodyPr wrap="square" lIns="0" tIns="0" rIns="0" bIns="0" rtlCol="0" anchor="t"/>
          <a:lstStyle/>
          <a:p>
            <a:pPr indent="0" marL="0">
              <a:buNone/>
            </a:pPr>
            <a:r>
              <a:rPr lang="en-US" sz="950" b="1" dirty="0">
                <a:solidFill>
                  <a:srgbClr val="566173"/>
                </a:solidFill>
                <a:latin typeface="Calibri" pitchFamily="34" charset="0"/>
                <a:ea typeface="Calibri" pitchFamily="34" charset="-122"/>
                <a:cs typeface="Calibri" pitchFamily="34" charset="-120"/>
              </a:rPr>
              <a:t>WHERE THE OPTICS SIT: A REFRACTING RING NEAR L1</a:t>
            </a:r>
            <a:endParaRPr lang="en-US" sz="950" dirty="0"/>
          </a:p>
        </p:txBody>
      </p:sp>
      <p:sp>
        <p:nvSpPr>
          <p:cNvPr id="68" name="Shape 65"/>
          <p:cNvSpPr/>
          <p:nvPr/>
        </p:nvSpPr>
        <p:spPr>
          <a:xfrm>
            <a:off x="6181344" y="5065776"/>
            <a:ext cx="438912" cy="438912"/>
          </a:xfrm>
          <a:prstGeom prst="ellipse">
            <a:avLst/>
          </a:prstGeom>
          <a:solidFill>
            <a:srgbClr val="F2A541"/>
          </a:solidFill>
          <a:ln/>
        </p:spPr>
      </p:sp>
      <p:sp>
        <p:nvSpPr>
          <p:cNvPr id="69" name="Shape 66"/>
          <p:cNvSpPr/>
          <p:nvPr/>
        </p:nvSpPr>
        <p:spPr>
          <a:xfrm>
            <a:off x="7589520" y="4718304"/>
            <a:ext cx="91440" cy="1133856"/>
          </a:xfrm>
          <a:prstGeom prst="ellipse">
            <a:avLst/>
          </a:prstGeom>
          <a:noFill/>
          <a:ln w="22225">
            <a:solidFill>
              <a:srgbClr val="A9630A"/>
            </a:solidFill>
            <a:prstDash val="solid"/>
          </a:ln>
        </p:spPr>
      </p:sp>
      <p:sp>
        <p:nvSpPr>
          <p:cNvPr id="70" name="Shape 67"/>
          <p:cNvSpPr/>
          <p:nvPr/>
        </p:nvSpPr>
        <p:spPr>
          <a:xfrm>
            <a:off x="8421624" y="5157216"/>
            <a:ext cx="256032" cy="256032"/>
          </a:xfrm>
          <a:prstGeom prst="ellipse">
            <a:avLst/>
          </a:prstGeom>
          <a:solidFill>
            <a:srgbClr val="2A9D8F"/>
          </a:solidFill>
          <a:ln/>
        </p:spPr>
      </p:sp>
      <p:sp>
        <p:nvSpPr>
          <p:cNvPr id="71" name="Shape 68"/>
          <p:cNvSpPr/>
          <p:nvPr/>
        </p:nvSpPr>
        <p:spPr>
          <a:xfrm flipV="1">
            <a:off x="6583680" y="4782312"/>
            <a:ext cx="1051560" cy="326898"/>
          </a:xfrm>
          <a:prstGeom prst="line">
            <a:avLst/>
          </a:prstGeom>
          <a:noFill/>
          <a:ln w="12700">
            <a:solidFill>
              <a:srgbClr val="F2A541"/>
            </a:solidFill>
            <a:prstDash val="solid"/>
          </a:ln>
        </p:spPr>
      </p:sp>
      <p:sp>
        <p:nvSpPr>
          <p:cNvPr id="72" name="Shape 69"/>
          <p:cNvSpPr/>
          <p:nvPr/>
        </p:nvSpPr>
        <p:spPr>
          <a:xfrm>
            <a:off x="7635240" y="4782312"/>
            <a:ext cx="822960" cy="442570"/>
          </a:xfrm>
          <a:prstGeom prst="line">
            <a:avLst/>
          </a:prstGeom>
          <a:noFill/>
          <a:ln w="15875">
            <a:solidFill>
              <a:srgbClr val="A9630A"/>
            </a:solidFill>
            <a:prstDash val="solid"/>
            <a:tailEnd type="triangle"/>
          </a:ln>
        </p:spPr>
      </p:sp>
      <p:sp>
        <p:nvSpPr>
          <p:cNvPr id="73" name="Shape 70"/>
          <p:cNvSpPr/>
          <p:nvPr/>
        </p:nvSpPr>
        <p:spPr>
          <a:xfrm>
            <a:off x="6583680" y="5461254"/>
            <a:ext cx="1051560" cy="326898"/>
          </a:xfrm>
          <a:prstGeom prst="line">
            <a:avLst/>
          </a:prstGeom>
          <a:noFill/>
          <a:ln w="12700">
            <a:solidFill>
              <a:srgbClr val="F2A541"/>
            </a:solidFill>
            <a:prstDash val="solid"/>
          </a:ln>
        </p:spPr>
      </p:sp>
      <p:sp>
        <p:nvSpPr>
          <p:cNvPr id="74" name="Shape 71"/>
          <p:cNvSpPr/>
          <p:nvPr/>
        </p:nvSpPr>
        <p:spPr>
          <a:xfrm flipV="1">
            <a:off x="7635240" y="5345582"/>
            <a:ext cx="822960" cy="442570"/>
          </a:xfrm>
          <a:prstGeom prst="line">
            <a:avLst/>
          </a:prstGeom>
          <a:noFill/>
          <a:ln w="15875">
            <a:solidFill>
              <a:srgbClr val="A9630A"/>
            </a:solidFill>
            <a:prstDash val="solid"/>
            <a:tailEnd type="triangle"/>
          </a:ln>
        </p:spPr>
      </p:sp>
      <p:sp>
        <p:nvSpPr>
          <p:cNvPr id="75" name="Shape 72"/>
          <p:cNvSpPr/>
          <p:nvPr/>
        </p:nvSpPr>
        <p:spPr>
          <a:xfrm>
            <a:off x="6620256" y="5285232"/>
            <a:ext cx="1792224" cy="914"/>
          </a:xfrm>
          <a:prstGeom prst="line">
            <a:avLst/>
          </a:prstGeom>
          <a:noFill/>
          <a:ln w="12700">
            <a:solidFill>
              <a:srgbClr val="F2A541"/>
            </a:solidFill>
            <a:prstDash val="solid"/>
            <a:tailEnd type="triangle"/>
          </a:ln>
        </p:spPr>
      </p:sp>
      <p:sp>
        <p:nvSpPr>
          <p:cNvPr id="76" name="Text 73"/>
          <p:cNvSpPr txBox="1"/>
          <p:nvPr/>
        </p:nvSpPr>
        <p:spPr>
          <a:xfrm>
            <a:off x="6126480" y="5541264"/>
            <a:ext cx="548640" cy="182880"/>
          </a:xfrm>
          <a:prstGeom prst="rect">
            <a:avLst/>
          </a:prstGeom>
          <a:noFill/>
          <a:ln/>
        </p:spPr>
        <p:txBody>
          <a:bodyPr wrap="square" lIns="0" tIns="0" rIns="0" bIns="0" rtlCol="0" anchor="t"/>
          <a:lstStyle/>
          <a:p>
            <a:pPr algn="ctr" indent="0" marL="0">
              <a:buNone/>
            </a:pPr>
            <a:r>
              <a:rPr lang="en-US" sz="1000" b="1" dirty="0">
                <a:solidFill>
                  <a:srgbClr val="A9630A"/>
                </a:solidFill>
                <a:latin typeface="Calibri" pitchFamily="34" charset="0"/>
                <a:ea typeface="Calibri" pitchFamily="34" charset="-122"/>
                <a:cs typeface="Calibri" pitchFamily="34" charset="-120"/>
              </a:rPr>
              <a:t>Sun</a:t>
            </a:r>
            <a:endParaRPr lang="en-US" sz="1000" dirty="0"/>
          </a:p>
        </p:txBody>
      </p:sp>
      <p:sp>
        <p:nvSpPr>
          <p:cNvPr id="77" name="Text 74"/>
          <p:cNvSpPr txBox="1"/>
          <p:nvPr/>
        </p:nvSpPr>
        <p:spPr>
          <a:xfrm>
            <a:off x="6720840" y="4416552"/>
            <a:ext cx="2194560" cy="182880"/>
          </a:xfrm>
          <a:prstGeom prst="rect">
            <a:avLst/>
          </a:prstGeom>
          <a:noFill/>
          <a:ln/>
        </p:spPr>
        <p:txBody>
          <a:bodyPr wrap="square" lIns="0" tIns="0" rIns="0" bIns="0" rtlCol="0" anchor="t"/>
          <a:lstStyle/>
          <a:p>
            <a:pPr algn="ctr" indent="0" marL="0">
              <a:buNone/>
            </a:pPr>
            <a:r>
              <a:rPr lang="en-US" sz="1000" dirty="0">
                <a:solidFill>
                  <a:srgbClr val="A9630A"/>
                </a:solidFill>
                <a:latin typeface="Calibri" pitchFamily="34" charset="0"/>
                <a:ea typeface="Calibri" pitchFamily="34" charset="-122"/>
                <a:cs typeface="Calibri" pitchFamily="34" charset="-120"/>
              </a:rPr>
              <a:t>ring near L1, 4.04 M km from Earth</a:t>
            </a:r>
            <a:endParaRPr lang="en-US" sz="1000" dirty="0"/>
          </a:p>
        </p:txBody>
      </p:sp>
      <p:sp>
        <p:nvSpPr>
          <p:cNvPr id="78" name="Text 75"/>
          <p:cNvSpPr txBox="1"/>
          <p:nvPr/>
        </p:nvSpPr>
        <p:spPr>
          <a:xfrm>
            <a:off x="8229600" y="5449824"/>
            <a:ext cx="640080" cy="182880"/>
          </a:xfrm>
          <a:prstGeom prst="rect">
            <a:avLst/>
          </a:prstGeom>
          <a:noFill/>
          <a:ln/>
        </p:spPr>
        <p:txBody>
          <a:bodyPr wrap="square" lIns="0" tIns="0" rIns="0" bIns="0" rtlCol="0" anchor="t"/>
          <a:lstStyle/>
          <a:p>
            <a:pPr algn="ctr" indent="0" marL="0">
              <a:buNone/>
            </a:pPr>
            <a:r>
              <a:rPr lang="en-US" sz="1000" b="1" dirty="0">
                <a:solidFill>
                  <a:srgbClr val="1D6F66"/>
                </a:solidFill>
                <a:latin typeface="Calibri" pitchFamily="34" charset="0"/>
                <a:ea typeface="Calibri" pitchFamily="34" charset="-122"/>
                <a:cs typeface="Calibri" pitchFamily="34" charset="-120"/>
              </a:rPr>
              <a:t>Earth</a:t>
            </a:r>
            <a:endParaRPr lang="en-US" sz="1000" dirty="0"/>
          </a:p>
        </p:txBody>
      </p:sp>
      <p:sp>
        <p:nvSpPr>
          <p:cNvPr id="79" name="Text 76"/>
          <p:cNvSpPr txBox="1"/>
          <p:nvPr/>
        </p:nvSpPr>
        <p:spPr>
          <a:xfrm>
            <a:off x="6199632" y="5870448"/>
            <a:ext cx="2697480" cy="457200"/>
          </a:xfrm>
          <a:prstGeom prst="rect">
            <a:avLst/>
          </a:prstGeom>
          <a:noFill/>
          <a:ln/>
        </p:spPr>
        <p:txBody>
          <a:bodyPr wrap="square" lIns="0" tIns="0" rIns="0" bIns="0" rtlCol="0" anchor="t"/>
          <a:lstStyle/>
          <a:p>
            <a:pPr indent="0" marL="0">
              <a:buNone/>
            </a:pPr>
            <a:r>
              <a:rPr lang="en-US" sz="950" dirty="0">
                <a:solidFill>
                  <a:srgbClr val="566173"/>
                </a:solidFill>
                <a:latin typeface="Calibri" pitchFamily="34" charset="0"/>
                <a:ea typeface="Calibri" pitchFamily="34" charset="-122"/>
                <a:cs typeface="Calibri" pitchFamily="34" charset="-120"/>
              </a:rPr>
              <a:t>Film bends extra sunlight onto Earth from the Sun's own direction, so noons and nights stay natural (Angel 2006, used the other way round).</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006840" y="4553712"/>
          <a:ext cx="2560320" cy="914400"/>
        </p:xfrm>
        <a:graphic>
          <a:graphicData uri="http://schemas.openxmlformats.org/drawingml/2006/table">
            <a:tbl>
              <a:tblPr/>
              <a:tblGrid>
                <a:gridCol w="731520"/>
                <a:gridCol w="685800"/>
                <a:gridCol w="1143000"/>
              </a:tblGrid>
              <a:tr h="246888">
                <a:tc>
                  <a:txBody>
                    <a:bodyPr/>
                    <a:lstStyle/>
                    <a:p>
                      <a:pPr indent="0" marL="0">
                        <a:buNone/>
                      </a:pPr>
                      <a:r>
                        <a:rPr lang="en-US" sz="1000" b="1" dirty="0">
                          <a:solidFill>
                            <a:srgbClr val="1A2233"/>
                          </a:solidFill>
                          <a:latin typeface="Calibri" pitchFamily="34" charset="0"/>
                          <a:ea typeface="Calibri" pitchFamily="34" charset="-122"/>
                          <a:cs typeface="Calibri" pitchFamily="34" charset="-120"/>
                        </a:rPr>
                        <a:t>Film passes</a:t>
                      </a:r>
                      <a:endParaRPr lang="en-US" sz="100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b="1" dirty="0">
                          <a:solidFill>
                            <a:srgbClr val="1A2233"/>
                          </a:solidFill>
                          <a:latin typeface="Calibri" pitchFamily="34" charset="0"/>
                          <a:ea typeface="Calibri" pitchFamily="34" charset="-122"/>
                          <a:cs typeface="Calibri" pitchFamily="34" charset="-120"/>
                        </a:rPr>
                        <a:t>Sunlight</a:t>
                      </a:r>
                      <a:endParaRPr lang="en-US" sz="100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b="1" dirty="0">
                          <a:solidFill>
                            <a:srgbClr val="1A2233"/>
                          </a:solidFill>
                          <a:latin typeface="Calibri" pitchFamily="34" charset="0"/>
                          <a:ea typeface="Calibri" pitchFamily="34" charset="-122"/>
                          <a:cs typeface="Calibri" pitchFamily="34" charset="-120"/>
                        </a:rPr>
                        <a:t>Earth</a:t>
                      </a:r>
                      <a:endParaRPr lang="en-US" sz="100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97.3%</a:t>
                      </a:r>
                      <a:endParaRPr lang="en-US" sz="100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b="1" dirty="0">
                          <a:solidFill>
                            <a:srgbClr val="2F9E5B"/>
                          </a:solidFill>
                          <a:latin typeface="Calibri" pitchFamily="34" charset="0"/>
                          <a:ea typeface="Calibri" pitchFamily="34" charset="-122"/>
                          <a:cs typeface="Calibri" pitchFamily="34" charset="-120"/>
                        </a:rPr>
                        <a:t>286.0 K ✓</a:t>
                      </a:r>
                      <a:endParaRPr lang="en-US" sz="100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91.5%</a:t>
                      </a:r>
                      <a:endParaRPr lang="en-US" sz="100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b="1" dirty="0">
                          <a:solidFill>
                            <a:srgbClr val="2F9E5B"/>
                          </a:solidFill>
                          <a:latin typeface="Calibri" pitchFamily="34" charset="0"/>
                          <a:ea typeface="Calibri" pitchFamily="34" charset="-122"/>
                          <a:cs typeface="Calibri" pitchFamily="34" charset="-120"/>
                        </a:rPr>
                        <a:t>281.7 K ✓</a:t>
                      </a:r>
                      <a:endParaRPr lang="en-US" sz="100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A2233"/>
                          </a:solidFill>
                          <a:latin typeface="Calibri" pitchFamily="34" charset="0"/>
                          <a:ea typeface="Calibri" pitchFamily="34" charset="-122"/>
                          <a:cs typeface="Calibri" pitchFamily="34" charset="-120"/>
                        </a:rPr>
                        <a:t>85.9%</a:t>
                      </a:r>
                      <a:endParaRPr lang="en-US" sz="100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b="1" dirty="0">
                          <a:solidFill>
                            <a:srgbClr val="C8553D"/>
                          </a:solidFill>
                          <a:latin typeface="Calibri" pitchFamily="34" charset="0"/>
                          <a:ea typeface="Calibri" pitchFamily="34" charset="-122"/>
                          <a:cs typeface="Calibri" pitchFamily="34" charset="-120"/>
                        </a:rPr>
                        <a:t>238 K, frozen ✗</a:t>
                      </a:r>
                      <a:endParaRPr lang="en-US" sz="100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81" name="Text 77"/>
          <p:cNvSpPr txBox="1"/>
          <p:nvPr/>
        </p:nvSpPr>
        <p:spPr>
          <a:xfrm>
            <a:off x="9006840" y="5605272"/>
            <a:ext cx="2606040" cy="685800"/>
          </a:xfrm>
          <a:prstGeom prst="rect">
            <a:avLst/>
          </a:prstGeom>
          <a:noFill/>
          <a:ln/>
        </p:spPr>
        <p:txBody>
          <a:bodyPr wrap="square" lIns="0" tIns="0" rIns="0" bIns="0" rtlCol="0" anchor="t"/>
          <a:lstStyle/>
          <a:p>
            <a:pPr indent="0" marL="0">
              <a:buNone/>
            </a:pPr>
            <a:r>
              <a:rPr lang="en-US" sz="950" dirty="0">
                <a:solidFill>
                  <a:srgbClr val="566173"/>
                </a:solidFill>
                <a:latin typeface="Calibri" pitchFamily="34" charset="0"/>
                <a:ea typeface="Calibri" pitchFamily="34" charset="-122"/>
                <a:cs typeface="Calibri" pitchFamily="34" charset="-120"/>
              </a:rPr>
              <a:t>Held to E3's 10⁹ km². The climate cliff is at 89.3% of today's sunlight, so the film must pass at least about 88%.</a:t>
            </a:r>
            <a:endParaRPr lang="en-US" sz="950" dirty="0"/>
          </a:p>
        </p:txBody>
      </p:sp>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661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12064" y="329184"/>
            <a:ext cx="219456" cy="219456"/>
          </a:xfrm>
          <a:prstGeom prst="ellipse">
            <a:avLst/>
          </a:prstGeom>
          <a:noFill/>
          <a:ln w="15875">
            <a:solidFill>
              <a:srgbClr val="A9630A"/>
            </a:solidFill>
            <a:prstDash val="solid"/>
          </a:ln>
        </p:spPr>
      </p:sp>
      <p:sp>
        <p:nvSpPr>
          <p:cNvPr id="3" name="Shape 1"/>
          <p:cNvSpPr/>
          <p:nvPr/>
        </p:nvSpPr>
        <p:spPr>
          <a:xfrm>
            <a:off x="681228" y="347472"/>
            <a:ext cx="73152" cy="73152"/>
          </a:xfrm>
          <a:prstGeom prst="ellipse">
            <a:avLst/>
          </a:prstGeom>
          <a:solidFill>
            <a:srgbClr val="A9630A"/>
          </a:solidFill>
          <a:ln/>
        </p:spPr>
      </p:sp>
      <p:sp>
        <p:nvSpPr>
          <p:cNvPr id="4" name="Text 0"/>
          <p:cNvSpPr/>
          <p:nvPr>
            <p:ph idx="100" type="body" hasCustomPrompt="1"/>
          </p:nvPr>
        </p:nvSpPr>
        <p:spPr>
          <a:xfrm>
            <a:off x="868680" y="310896"/>
            <a:ext cx="10515600" cy="256032"/>
          </a:xfrm>
          <a:prstGeom prst="rect">
            <a:avLst/>
          </a:prstGeom>
          <a:noFill/>
          <a:ln/>
        </p:spPr>
        <p:txBody>
          <a:bodyPr wrap="square" lIns="0" tIns="0" rIns="0" bIns="0" rtlCol="0" anchor="ctr"/>
          <a:lstStyle/>
          <a:p>
            <a:pPr indent="0" marL="0">
              <a:buNone/>
            </a:pPr>
            <a:r>
              <a:rPr lang="en-US" sz="1050" b="1" spc="100" kern="0" dirty="0">
                <a:solidFill>
                  <a:srgbClr val="A9630A"/>
                </a:solidFill>
                <a:latin typeface="Calibri" pitchFamily="34" charset="0"/>
                <a:ea typeface="Calibri" pitchFamily="34" charset="-122"/>
                <a:cs typeface="Calibri" pitchFamily="34" charset="-120"/>
              </a:rPr>
              <a:t>08 · THE MOON, THE SKY AND A MILLION YEARS</a:t>
            </a:r>
            <a:endParaRPr lang="en-US" sz="1050" dirty="0"/>
          </a:p>
        </p:txBody>
      </p:sp>
      <p:sp>
        <p:nvSpPr>
          <p:cNvPr id="5" name="Text 0"/>
          <p:cNvSpPr/>
          <p:nvPr>
            <p:ph idx="101" type="title" hasCustomPrompt="1"/>
          </p:nvPr>
        </p:nvSpPr>
        <p:spPr>
          <a:xfrm>
            <a:off x="502920" y="585216"/>
            <a:ext cx="11183112" cy="512064"/>
          </a:xfrm>
          <a:prstGeom prst="rect">
            <a:avLst/>
          </a:prstGeom>
          <a:noFill/>
          <a:ln/>
        </p:spPr>
        <p:txBody>
          <a:bodyPr wrap="square" lIns="0" tIns="0" rIns="0" bIns="0" rtlCol="0" anchor="ctr"/>
          <a:lstStyle/>
          <a:p>
            <a:pPr indent="0" marL="0">
              <a:buNone/>
            </a:pPr>
            <a:r>
              <a:rPr lang="en-US" sz="2800" b="1" dirty="0">
                <a:solidFill>
                  <a:srgbClr val="1A2233"/>
                </a:solidFill>
                <a:latin typeface="Cambria" pitchFamily="34" charset="0"/>
                <a:ea typeface="Cambria" pitchFamily="34" charset="-122"/>
                <a:cs typeface="Cambria" pitchFamily="34" charset="-120"/>
              </a:rPr>
              <a:t>The Moon stays, and the new orbits hold for a million years</a:t>
            </a:r>
            <a:endParaRPr lang="en-US" sz="2800" dirty="0"/>
          </a:p>
        </p:txBody>
      </p:sp>
      <p:sp>
        <p:nvSpPr>
          <p:cNvPr id="6" name="Text 0"/>
          <p:cNvSpPr/>
          <p:nvPr>
            <p:ph idx="102" type="body" hasCustomPrompt="1"/>
          </p:nvPr>
        </p:nvSpPr>
        <p:spPr>
          <a:xfrm>
            <a:off x="502920" y="1115568"/>
            <a:ext cx="11183112" cy="457200"/>
          </a:xfrm>
          <a:prstGeom prst="rect">
            <a:avLst/>
          </a:prstGeom>
          <a:noFill/>
          <a:ln/>
        </p:spPr>
        <p:txBody>
          <a:bodyPr wrap="square" lIns="0" tIns="0" rIns="0" bIns="0" rtlCol="0" anchor="t"/>
          <a:lstStyle/>
          <a:p>
            <a:pPr indent="0" marL="0">
              <a:buNone/>
            </a:pPr>
            <a:r>
              <a:rPr lang="en-US" sz="1250" dirty="0">
                <a:solidFill>
                  <a:srgbClr val="566173"/>
                </a:solidFill>
                <a:latin typeface="Calibri" pitchFamily="34" charset="0"/>
                <a:ea typeface="Calibri" pitchFamily="34" charset="-122"/>
                <a:cs typeface="Calibri" pitchFamily="34" charset="-120"/>
              </a:rPr>
              <a:t>With the tows gone, the moved solar system ran 1,000,000 years beside the real one (REBOUND MERCURIUS): no planet lost, 0 unresolved flags, and 2 chaos copies started with tiny changes agree.</a:t>
            </a:r>
            <a:endParaRPr lang="en-US" sz="1250" dirty="0"/>
          </a:p>
        </p:txBody>
      </p:sp>
      <p:sp>
        <p:nvSpPr>
          <p:cNvPr id="7" name="Shape 5"/>
          <p:cNvSpPr/>
          <p:nvPr/>
        </p:nvSpPr>
        <p:spPr>
          <a:xfrm>
            <a:off x="502920" y="1700784"/>
            <a:ext cx="3611880" cy="4645152"/>
          </a:xfrm>
          <a:prstGeom prst="roundRect">
            <a:avLst>
              <a:gd name="adj" fmla="val 1519"/>
            </a:avLst>
          </a:prstGeom>
          <a:solidFill>
            <a:srgbClr val="0B1324"/>
          </a:solidFill>
          <a:ln/>
        </p:spPr>
      </p:sp>
      <p:sp>
        <p:nvSpPr>
          <p:cNvPr id="8" name="Text 6"/>
          <p:cNvSpPr txBox="1"/>
          <p:nvPr/>
        </p:nvSpPr>
        <p:spPr>
          <a:xfrm>
            <a:off x="658368" y="1792224"/>
            <a:ext cx="3291840" cy="201168"/>
          </a:xfrm>
          <a:prstGeom prst="rect">
            <a:avLst/>
          </a:prstGeom>
          <a:noFill/>
          <a:ln/>
        </p:spPr>
        <p:txBody>
          <a:bodyPr wrap="square" lIns="0" tIns="0" rIns="0" bIns="0" rtlCol="0" anchor="t"/>
          <a:lstStyle/>
          <a:p>
            <a:pPr indent="0" marL="0">
              <a:buNone/>
            </a:pPr>
            <a:r>
              <a:rPr lang="en-US" sz="950" b="1" dirty="0">
                <a:solidFill>
                  <a:srgbClr val="9AA7BA"/>
                </a:solidFill>
                <a:latin typeface="Calibri" pitchFamily="34" charset="0"/>
                <a:ea typeface="Calibri" pitchFamily="34" charset="-122"/>
                <a:cs typeface="Calibri" pitchFamily="34" charset="-120"/>
              </a:rPr>
              <a:t>EARTH'S HILL SPHERE, TO SCALE</a:t>
            </a:r>
            <a:endParaRPr lang="en-US" sz="950" dirty="0"/>
          </a:p>
        </p:txBody>
      </p:sp>
      <p:sp>
        <p:nvSpPr>
          <p:cNvPr id="9" name="Shape 7"/>
          <p:cNvSpPr/>
          <p:nvPr/>
        </p:nvSpPr>
        <p:spPr>
          <a:xfrm>
            <a:off x="978408" y="2331720"/>
            <a:ext cx="2651760" cy="2651760"/>
          </a:xfrm>
          <a:prstGeom prst="ellipse">
            <a:avLst/>
          </a:prstGeom>
          <a:solidFill>
            <a:srgbClr val="2A9D8F">
              <a:alpha val="12000"/>
            </a:srgbClr>
          </a:solidFill>
          <a:ln w="19050">
            <a:solidFill>
              <a:srgbClr val="2A9D8F"/>
            </a:solidFill>
            <a:prstDash val="solid"/>
          </a:ln>
        </p:spPr>
      </p:sp>
      <p:sp>
        <p:nvSpPr>
          <p:cNvPr id="10" name="Shape 8"/>
          <p:cNvSpPr/>
          <p:nvPr/>
        </p:nvSpPr>
        <p:spPr>
          <a:xfrm>
            <a:off x="1654607" y="3007919"/>
            <a:ext cx="1299362" cy="1299362"/>
          </a:xfrm>
          <a:prstGeom prst="ellipse">
            <a:avLst/>
          </a:prstGeom>
          <a:noFill/>
          <a:ln w="12700">
            <a:solidFill>
              <a:srgbClr val="C8553D"/>
            </a:solidFill>
            <a:prstDash val="dash"/>
          </a:ln>
        </p:spPr>
      </p:sp>
      <p:sp>
        <p:nvSpPr>
          <p:cNvPr id="11" name="Shape 9"/>
          <p:cNvSpPr/>
          <p:nvPr/>
        </p:nvSpPr>
        <p:spPr>
          <a:xfrm>
            <a:off x="1815183" y="3168495"/>
            <a:ext cx="978210" cy="978210"/>
          </a:xfrm>
          <a:prstGeom prst="ellipse">
            <a:avLst/>
          </a:prstGeom>
          <a:noFill/>
          <a:ln w="15875">
            <a:solidFill>
              <a:srgbClr val="7FC4BA"/>
            </a:solidFill>
            <a:prstDash val="dash"/>
          </a:ln>
        </p:spPr>
      </p:sp>
      <p:sp>
        <p:nvSpPr>
          <p:cNvPr id="12" name="Shape 10"/>
          <p:cNvSpPr/>
          <p:nvPr/>
        </p:nvSpPr>
        <p:spPr>
          <a:xfrm>
            <a:off x="2178657" y="3531969"/>
            <a:ext cx="251262" cy="251262"/>
          </a:xfrm>
          <a:prstGeom prst="ellipse">
            <a:avLst/>
          </a:prstGeom>
          <a:noFill/>
          <a:ln w="12700">
            <a:solidFill>
              <a:srgbClr val="C9D3E0"/>
            </a:solidFill>
            <a:prstDash val="solid"/>
          </a:ln>
        </p:spPr>
      </p:sp>
      <p:sp>
        <p:nvSpPr>
          <p:cNvPr id="13" name="Shape 11"/>
          <p:cNvSpPr/>
          <p:nvPr/>
        </p:nvSpPr>
        <p:spPr>
          <a:xfrm>
            <a:off x="2249424" y="3602736"/>
            <a:ext cx="109728" cy="109728"/>
          </a:xfrm>
          <a:prstGeom prst="ellipse">
            <a:avLst/>
          </a:prstGeom>
          <a:solidFill>
            <a:srgbClr val="2A9D8F"/>
          </a:solidFill>
          <a:ln/>
        </p:spPr>
      </p:sp>
      <p:sp>
        <p:nvSpPr>
          <p:cNvPr id="14" name="Shape 12"/>
          <p:cNvSpPr/>
          <p:nvPr/>
        </p:nvSpPr>
        <p:spPr>
          <a:xfrm>
            <a:off x="2397915" y="3625596"/>
            <a:ext cx="64008" cy="64008"/>
          </a:xfrm>
          <a:prstGeom prst="ellipse">
            <a:avLst/>
          </a:prstGeom>
          <a:solidFill>
            <a:srgbClr val="FFFFFF"/>
          </a:solidFill>
          <a:ln/>
        </p:spPr>
      </p:sp>
      <p:sp>
        <p:nvSpPr>
          <p:cNvPr id="15" name="Text 13"/>
          <p:cNvSpPr txBox="1"/>
          <p:nvPr/>
        </p:nvSpPr>
        <p:spPr>
          <a:xfrm>
            <a:off x="932688" y="2112264"/>
            <a:ext cx="2743200" cy="182880"/>
          </a:xfrm>
          <a:prstGeom prst="rect">
            <a:avLst/>
          </a:prstGeom>
          <a:noFill/>
          <a:ln/>
        </p:spPr>
        <p:txBody>
          <a:bodyPr wrap="square" lIns="0" tIns="0" rIns="0" bIns="0" rtlCol="0" anchor="t"/>
          <a:lstStyle/>
          <a:p>
            <a:pPr algn="ctr" indent="0" marL="0">
              <a:buNone/>
            </a:pPr>
            <a:r>
              <a:rPr lang="en-US" sz="1000" b="1" dirty="0">
                <a:solidFill>
                  <a:srgbClr val="2A9D8F"/>
                </a:solidFill>
                <a:latin typeface="Calibri" pitchFamily="34" charset="0"/>
                <a:ea typeface="Calibri" pitchFamily="34" charset="-122"/>
                <a:cs typeface="Calibri" pitchFamily="34" charset="-120"/>
              </a:rPr>
              <a:t>Hill radius at 2.7 AU: 4.06 M km</a:t>
            </a:r>
            <a:endParaRPr lang="en-US" sz="1000" dirty="0"/>
          </a:p>
        </p:txBody>
      </p:sp>
      <p:sp>
        <p:nvSpPr>
          <p:cNvPr id="16" name="Text 14"/>
          <p:cNvSpPr txBox="1"/>
          <p:nvPr/>
        </p:nvSpPr>
        <p:spPr>
          <a:xfrm>
            <a:off x="2532888" y="2999232"/>
            <a:ext cx="1280160" cy="182880"/>
          </a:xfrm>
          <a:prstGeom prst="rect">
            <a:avLst/>
          </a:prstGeom>
          <a:noFill/>
          <a:ln/>
        </p:spPr>
        <p:txBody>
          <a:bodyPr wrap="square" lIns="0" tIns="0" rIns="0" bIns="0" rtlCol="0" anchor="t"/>
          <a:lstStyle/>
          <a:p>
            <a:pPr indent="0" marL="0">
              <a:buNone/>
            </a:pPr>
            <a:r>
              <a:rPr lang="en-US" sz="1000" dirty="0">
                <a:solidFill>
                  <a:srgbClr val="F3B6A8"/>
                </a:solidFill>
                <a:latin typeface="Calibri" pitchFamily="34" charset="0"/>
                <a:ea typeface="Calibri" pitchFamily="34" charset="-122"/>
                <a:cs typeface="Calibri" pitchFamily="34" charset="-120"/>
              </a:rPr>
              <a:t>stable limit (0.49)</a:t>
            </a:r>
            <a:endParaRPr lang="en-US" sz="1000" dirty="0"/>
          </a:p>
        </p:txBody>
      </p:sp>
      <p:sp>
        <p:nvSpPr>
          <p:cNvPr id="17" name="Text 15"/>
          <p:cNvSpPr txBox="1"/>
          <p:nvPr/>
        </p:nvSpPr>
        <p:spPr>
          <a:xfrm>
            <a:off x="886968" y="4041648"/>
            <a:ext cx="1097280" cy="182880"/>
          </a:xfrm>
          <a:prstGeom prst="rect">
            <a:avLst/>
          </a:prstGeom>
          <a:noFill/>
          <a:ln/>
        </p:spPr>
        <p:txBody>
          <a:bodyPr wrap="square" lIns="0" tIns="0" rIns="0" bIns="0" rtlCol="0" anchor="t"/>
          <a:lstStyle/>
          <a:p>
            <a:pPr algn="r" indent="0" marL="0">
              <a:buNone/>
            </a:pPr>
            <a:r>
              <a:rPr lang="en-US" sz="1000" dirty="0">
                <a:solidFill>
                  <a:srgbClr val="7FC4BA"/>
                </a:solidFill>
                <a:latin typeface="Calibri" pitchFamily="34" charset="0"/>
                <a:ea typeface="Calibri" pitchFamily="34" charset="-122"/>
                <a:cs typeface="Calibri" pitchFamily="34" charset="-120"/>
              </a:rPr>
              <a:t>today: 1.50 M km</a:t>
            </a:r>
            <a:endParaRPr lang="en-US" sz="1000" dirty="0"/>
          </a:p>
        </p:txBody>
      </p:sp>
      <p:sp>
        <p:nvSpPr>
          <p:cNvPr id="18" name="Text 16"/>
          <p:cNvSpPr txBox="1"/>
          <p:nvPr/>
        </p:nvSpPr>
        <p:spPr>
          <a:xfrm>
            <a:off x="2414016" y="3639312"/>
            <a:ext cx="548640" cy="18288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Moon</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5102352"/>
          <a:ext cx="3337560" cy="914400"/>
        </p:xfrm>
        <a:graphic>
          <a:graphicData uri="http://schemas.openxmlformats.org/drawingml/2006/table">
            <a:tbl>
              <a:tblPr/>
              <a:tblGrid>
                <a:gridCol w="1097280"/>
                <a:gridCol w="685800"/>
                <a:gridCol w="1554480"/>
              </a:tblGrid>
              <a:tr h="228600">
                <a:tc>
                  <a:txBody>
                    <a:bodyPr/>
                    <a:lstStyle/>
                    <a:p>
                      <a:pPr indent="0" marL="0">
                        <a:buNone/>
                      </a:pPr>
                      <a:r>
                        <a:rPr lang="en-US" sz="950" b="1" dirty="0">
                          <a:solidFill>
                            <a:srgbClr val="E8EDF5"/>
                          </a:solidFill>
                          <a:latin typeface="Calibri" pitchFamily="34" charset="0"/>
                          <a:ea typeface="Calibri" pitchFamily="34" charset="-122"/>
                          <a:cs typeface="Calibri" pitchFamily="34" charset="-120"/>
                        </a:rPr>
                        <a:t>Moon test</a:t>
                      </a:r>
                      <a:endParaRPr lang="en-US" sz="950" dirty="0">
                        <a:latin typeface="Calibri" charset="0"/>
                        <a:ea typeface="Calibri" charset="0"/>
                        <a:cs typeface="Calibri" charset="0"/>
                      </a:endParaRPr>
                    </a:p>
                  </a:txBody>
                  <a:tcPr marL="45720" marR="45720" marT="18288" marB="18288" anchor="ctr">
                    <a:lnL w="6350" cap="flat" cmpd="sng" algn="ctr">
                      <a:solidFill>
                        <a:srgbClr val="34445F"/>
                      </a:solidFill>
                      <a:prstDash val="solid"/>
                      <a:round/>
                      <a:headEnd type="none" w="med" len="med"/>
                      <a:tailEnd type="none" w="med" len="med"/>
                    </a:lnL>
                    <a:lnR w="6350" cap="flat" cmpd="sng" algn="ctr">
                      <a:solidFill>
                        <a:srgbClr val="34445F"/>
                      </a:solidFill>
                      <a:prstDash val="solid"/>
                      <a:round/>
                      <a:headEnd type="none" w="med" len="med"/>
                      <a:tailEnd type="none" w="med" len="med"/>
                    </a:lnR>
                    <a:lnT w="6350" cap="flat" cmpd="sng" algn="ctr">
                      <a:solidFill>
                        <a:srgbClr val="34445F"/>
                      </a:solidFill>
                      <a:prstDash val="solid"/>
                      <a:round/>
                      <a:headEnd type="none" w="med" len="med"/>
                      <a:tailEnd type="none" w="med" len="med"/>
                    </a:lnT>
                    <a:lnB w="6350" cap="flat" cmpd="sng" algn="ctr">
                      <a:solidFill>
                        <a:srgbClr val="34445F"/>
                      </a:solidFill>
                      <a:prstDash val="solid"/>
                      <a:round/>
                      <a:headEnd type="none" w="med" len="med"/>
                      <a:tailEnd type="none" w="med" len="med"/>
                    </a:lnB>
                  </a:tcPr>
                </a:tc>
                <a:tc>
                  <a:txBody>
                    <a:bodyPr/>
                    <a:lstStyle/>
                    <a:p>
                      <a:pPr indent="0" marL="0">
                        <a:buNone/>
                      </a:pPr>
                      <a:r>
                        <a:rPr lang="en-US" sz="950" b="1" dirty="0">
                          <a:solidFill>
                            <a:srgbClr val="E8EDF5"/>
                          </a:solidFill>
                          <a:latin typeface="Calibri" pitchFamily="34" charset="0"/>
                          <a:ea typeface="Calibri" pitchFamily="34" charset="-122"/>
                          <a:cs typeface="Calibri" pitchFamily="34" charset="-120"/>
                        </a:rPr>
                        <a:t>Earth at</a:t>
                      </a:r>
                      <a:endParaRPr lang="en-US" sz="950" dirty="0">
                        <a:latin typeface="Calibri" charset="0"/>
                        <a:ea typeface="Calibri" charset="0"/>
                        <a:cs typeface="Calibri" charset="0"/>
                      </a:endParaRPr>
                    </a:p>
                  </a:txBody>
                  <a:tcPr marL="45720" marR="45720" marT="18288" marB="18288" anchor="ctr">
                    <a:lnL w="6350" cap="flat" cmpd="sng" algn="ctr">
                      <a:solidFill>
                        <a:srgbClr val="34445F"/>
                      </a:solidFill>
                      <a:prstDash val="solid"/>
                      <a:round/>
                      <a:headEnd type="none" w="med" len="med"/>
                      <a:tailEnd type="none" w="med" len="med"/>
                    </a:lnL>
                    <a:lnR w="6350" cap="flat" cmpd="sng" algn="ctr">
                      <a:solidFill>
                        <a:srgbClr val="34445F"/>
                      </a:solidFill>
                      <a:prstDash val="solid"/>
                      <a:round/>
                      <a:headEnd type="none" w="med" len="med"/>
                      <a:tailEnd type="none" w="med" len="med"/>
                    </a:lnR>
                    <a:lnT w="6350" cap="flat" cmpd="sng" algn="ctr">
                      <a:solidFill>
                        <a:srgbClr val="34445F"/>
                      </a:solidFill>
                      <a:prstDash val="solid"/>
                      <a:round/>
                      <a:headEnd type="none" w="med" len="med"/>
                      <a:tailEnd type="none" w="med" len="med"/>
                    </a:lnT>
                    <a:lnB w="6350" cap="flat" cmpd="sng" algn="ctr">
                      <a:solidFill>
                        <a:srgbClr val="34445F"/>
                      </a:solidFill>
                      <a:prstDash val="solid"/>
                      <a:round/>
                      <a:headEnd type="none" w="med" len="med"/>
                      <a:tailEnd type="none" w="med" len="med"/>
                    </a:lnB>
                  </a:tcPr>
                </a:tc>
                <a:tc>
                  <a:txBody>
                    <a:bodyPr/>
                    <a:lstStyle/>
                    <a:p>
                      <a:pPr indent="0" marL="0">
                        <a:buNone/>
                      </a:pPr>
                      <a:r>
                        <a:rPr lang="en-US" sz="950" b="1" dirty="0">
                          <a:solidFill>
                            <a:srgbClr val="E8EDF5"/>
                          </a:solidFill>
                          <a:latin typeface="Calibri" pitchFamily="34" charset="0"/>
                          <a:ea typeface="Calibri" pitchFamily="34" charset="-122"/>
                          <a:cs typeface="Calibri" pitchFamily="34" charset="-120"/>
                        </a:rPr>
                        <a:t>Asteroid moves the Moon by</a:t>
                      </a:r>
                      <a:endParaRPr lang="en-US" sz="950" dirty="0">
                        <a:latin typeface="Calibri" charset="0"/>
                        <a:ea typeface="Calibri" charset="0"/>
                        <a:cs typeface="Calibri" charset="0"/>
                      </a:endParaRPr>
                    </a:p>
                  </a:txBody>
                  <a:tcPr marL="45720" marR="45720" marT="18288" marB="18288" anchor="ctr">
                    <a:lnL w="6350" cap="flat" cmpd="sng" algn="ctr">
                      <a:solidFill>
                        <a:srgbClr val="34445F"/>
                      </a:solidFill>
                      <a:prstDash val="solid"/>
                      <a:round/>
                      <a:headEnd type="none" w="med" len="med"/>
                      <a:tailEnd type="none" w="med" len="med"/>
                    </a:lnL>
                    <a:lnR w="6350" cap="flat" cmpd="sng" algn="ctr">
                      <a:solidFill>
                        <a:srgbClr val="34445F"/>
                      </a:solidFill>
                      <a:prstDash val="solid"/>
                      <a:round/>
                      <a:headEnd type="none" w="med" len="med"/>
                      <a:tailEnd type="none" w="med" len="med"/>
                    </a:lnR>
                    <a:lnT w="6350" cap="flat" cmpd="sng" algn="ctr">
                      <a:solidFill>
                        <a:srgbClr val="34445F"/>
                      </a:solidFill>
                      <a:prstDash val="solid"/>
                      <a:round/>
                      <a:headEnd type="none" w="med" len="med"/>
                      <a:tailEnd type="none" w="med" len="med"/>
                    </a:lnT>
                    <a:lnB w="6350" cap="flat" cmpd="sng" algn="ctr">
                      <a:solidFill>
                        <a:srgbClr val="34445F"/>
                      </a:solidFill>
                      <a:prstDash val="solid"/>
                      <a:round/>
                      <a:headEnd type="none" w="med" len="med"/>
                      <a:tailEnd type="none" w="med" len="med"/>
                    </a:lnB>
                  </a:tcPr>
                </a:tc>
              </a:tr>
              <a:tr h="228600">
                <a:tc>
                  <a:txBody>
                    <a:bodyPr/>
                    <a:lstStyle/>
                    <a:p>
                      <a:pPr indent="0" marL="0">
                        <a:buNone/>
                      </a:pPr>
                      <a:r>
                        <a:rPr lang="en-US" sz="950" dirty="0">
                          <a:solidFill>
                            <a:srgbClr val="E8EDF5"/>
                          </a:solidFill>
                          <a:latin typeface="Calibri" pitchFamily="34" charset="0"/>
                          <a:ea typeface="Calibri" pitchFamily="34" charset="-122"/>
                          <a:cs typeface="Calibri" pitchFamily="34" charset="-120"/>
                        </a:rPr>
                        <a:t>start, year 0</a:t>
                      </a:r>
                      <a:endParaRPr lang="en-US" sz="950" dirty="0">
                        <a:latin typeface="Calibri" charset="0"/>
                        <a:ea typeface="Calibri" charset="0"/>
                        <a:cs typeface="Calibri" charset="0"/>
                      </a:endParaRPr>
                    </a:p>
                  </a:txBody>
                  <a:tcPr marL="45720" marR="45720" marT="18288" marB="18288" anchor="ctr">
                    <a:lnL w="6350" cap="flat" cmpd="sng" algn="ctr">
                      <a:solidFill>
                        <a:srgbClr val="34445F"/>
                      </a:solidFill>
                      <a:prstDash val="solid"/>
                      <a:round/>
                      <a:headEnd type="none" w="med" len="med"/>
                      <a:tailEnd type="none" w="med" len="med"/>
                    </a:lnL>
                    <a:lnR w="6350" cap="flat" cmpd="sng" algn="ctr">
                      <a:solidFill>
                        <a:srgbClr val="34445F"/>
                      </a:solidFill>
                      <a:prstDash val="solid"/>
                      <a:round/>
                      <a:headEnd type="none" w="med" len="med"/>
                      <a:tailEnd type="none" w="med" len="med"/>
                    </a:lnR>
                    <a:lnT w="6350" cap="flat" cmpd="sng" algn="ctr">
                      <a:solidFill>
                        <a:srgbClr val="34445F"/>
                      </a:solidFill>
                      <a:prstDash val="solid"/>
                      <a:round/>
                      <a:headEnd type="none" w="med" len="med"/>
                      <a:tailEnd type="none" w="med" len="med"/>
                    </a:lnT>
                    <a:lnB w="6350" cap="flat" cmpd="sng" algn="ctr">
                      <a:solidFill>
                        <a:srgbClr val="34445F"/>
                      </a:solidFill>
                      <a:prstDash val="solid"/>
                      <a:round/>
                      <a:headEnd type="none" w="med" len="med"/>
                      <a:tailEnd type="none" w="med" len="med"/>
                    </a:lnB>
                  </a:tcPr>
                </a:tc>
                <a:tc>
                  <a:txBody>
                    <a:bodyPr/>
                    <a:lstStyle/>
                    <a:p>
                      <a:pPr indent="0" marL="0">
                        <a:buNone/>
                      </a:pPr>
                      <a:r>
                        <a:rPr lang="en-US" sz="950" dirty="0">
                          <a:solidFill>
                            <a:srgbClr val="E8EDF5"/>
                          </a:solidFill>
                          <a:latin typeface="Calibri" pitchFamily="34" charset="0"/>
                          <a:ea typeface="Calibri" pitchFamily="34" charset="-122"/>
                          <a:cs typeface="Calibri" pitchFamily="34" charset="-120"/>
                        </a:rPr>
                        <a:t>1.00 AU</a:t>
                      </a:r>
                      <a:endParaRPr lang="en-US" sz="950" dirty="0">
                        <a:latin typeface="Calibri" charset="0"/>
                        <a:ea typeface="Calibri" charset="0"/>
                        <a:cs typeface="Calibri" charset="0"/>
                      </a:endParaRPr>
                    </a:p>
                  </a:txBody>
                  <a:tcPr marL="45720" marR="45720" marT="18288" marB="18288" anchor="ctr">
                    <a:lnL w="6350" cap="flat" cmpd="sng" algn="ctr">
                      <a:solidFill>
                        <a:srgbClr val="34445F"/>
                      </a:solidFill>
                      <a:prstDash val="solid"/>
                      <a:round/>
                      <a:headEnd type="none" w="med" len="med"/>
                      <a:tailEnd type="none" w="med" len="med"/>
                    </a:lnL>
                    <a:lnR w="6350" cap="flat" cmpd="sng" algn="ctr">
                      <a:solidFill>
                        <a:srgbClr val="34445F"/>
                      </a:solidFill>
                      <a:prstDash val="solid"/>
                      <a:round/>
                      <a:headEnd type="none" w="med" len="med"/>
                      <a:tailEnd type="none" w="med" len="med"/>
                    </a:lnR>
                    <a:lnT w="6350" cap="flat" cmpd="sng" algn="ctr">
                      <a:solidFill>
                        <a:srgbClr val="34445F"/>
                      </a:solidFill>
                      <a:prstDash val="solid"/>
                      <a:round/>
                      <a:headEnd type="none" w="med" len="med"/>
                      <a:tailEnd type="none" w="med" len="med"/>
                    </a:lnT>
                    <a:lnB w="6350" cap="flat" cmpd="sng" algn="ctr">
                      <a:solidFill>
                        <a:srgbClr val="34445F"/>
                      </a:solidFill>
                      <a:prstDash val="solid"/>
                      <a:round/>
                      <a:headEnd type="none" w="med" len="med"/>
                      <a:tailEnd type="none" w="med" len="med"/>
                    </a:lnB>
                  </a:tcPr>
                </a:tc>
                <a:tc>
                  <a:txBody>
                    <a:bodyPr/>
                    <a:lstStyle/>
                    <a:p>
                      <a:pPr indent="0" marL="0">
                        <a:buNone/>
                      </a:pPr>
                      <a:r>
                        <a:rPr lang="en-US" sz="950" b="1" dirty="0">
                          <a:solidFill>
                            <a:srgbClr val="2F9E5B"/>
                          </a:solidFill>
                          <a:latin typeface="Calibri" pitchFamily="34" charset="0"/>
                          <a:ea typeface="Calibri" pitchFamily="34" charset="-122"/>
                          <a:cs typeface="Calibri" pitchFamily="34" charset="-120"/>
                        </a:rPr>
                        <a:t>0.049%</a:t>
                      </a:r>
                      <a:endParaRPr lang="en-US" sz="950" dirty="0">
                        <a:latin typeface="Calibri" charset="0"/>
                        <a:ea typeface="Calibri" charset="0"/>
                        <a:cs typeface="Calibri" charset="0"/>
                      </a:endParaRPr>
                    </a:p>
                  </a:txBody>
                  <a:tcPr marL="45720" marR="45720" marT="18288" marB="18288" anchor="ctr">
                    <a:lnL w="6350" cap="flat" cmpd="sng" algn="ctr">
                      <a:solidFill>
                        <a:srgbClr val="34445F"/>
                      </a:solidFill>
                      <a:prstDash val="solid"/>
                      <a:round/>
                      <a:headEnd type="none" w="med" len="med"/>
                      <a:tailEnd type="none" w="med" len="med"/>
                    </a:lnL>
                    <a:lnR w="6350" cap="flat" cmpd="sng" algn="ctr">
                      <a:solidFill>
                        <a:srgbClr val="34445F"/>
                      </a:solidFill>
                      <a:prstDash val="solid"/>
                      <a:round/>
                      <a:headEnd type="none" w="med" len="med"/>
                      <a:tailEnd type="none" w="med" len="med"/>
                    </a:lnR>
                    <a:lnT w="6350" cap="flat" cmpd="sng" algn="ctr">
                      <a:solidFill>
                        <a:srgbClr val="34445F"/>
                      </a:solidFill>
                      <a:prstDash val="solid"/>
                      <a:round/>
                      <a:headEnd type="none" w="med" len="med"/>
                      <a:tailEnd type="none" w="med" len="med"/>
                    </a:lnT>
                    <a:lnB w="6350" cap="flat" cmpd="sng" algn="ctr">
                      <a:solidFill>
                        <a:srgbClr val="34445F"/>
                      </a:solidFill>
                      <a:prstDash val="solid"/>
                      <a:round/>
                      <a:headEnd type="none" w="med" len="med"/>
                      <a:tailEnd type="none" w="med" len="med"/>
                    </a:lnB>
                  </a:tcPr>
                </a:tc>
              </a:tr>
              <a:tr h="228600">
                <a:tc>
                  <a:txBody>
                    <a:bodyPr/>
                    <a:lstStyle/>
                    <a:p>
                      <a:pPr indent="0" marL="0">
                        <a:buNone/>
                      </a:pPr>
                      <a:r>
                        <a:rPr lang="en-US" sz="950" dirty="0">
                          <a:solidFill>
                            <a:srgbClr val="E8EDF5"/>
                          </a:solidFill>
                          <a:latin typeface="Calibri" pitchFamily="34" charset="0"/>
                          <a:ea typeface="Calibri" pitchFamily="34" charset="-122"/>
                          <a:cs typeface="Calibri" pitchFamily="34" charset="-120"/>
                        </a:rPr>
                        <a:t>middle, year 4,000</a:t>
                      </a:r>
                      <a:endParaRPr lang="en-US" sz="950" dirty="0">
                        <a:latin typeface="Calibri" charset="0"/>
                        <a:ea typeface="Calibri" charset="0"/>
                        <a:cs typeface="Calibri" charset="0"/>
                      </a:endParaRPr>
                    </a:p>
                  </a:txBody>
                  <a:tcPr marL="45720" marR="45720" marT="18288" marB="18288" anchor="ctr">
                    <a:lnL w="6350" cap="flat" cmpd="sng" algn="ctr">
                      <a:solidFill>
                        <a:srgbClr val="34445F"/>
                      </a:solidFill>
                      <a:prstDash val="solid"/>
                      <a:round/>
                      <a:headEnd type="none" w="med" len="med"/>
                      <a:tailEnd type="none" w="med" len="med"/>
                    </a:lnL>
                    <a:lnR w="6350" cap="flat" cmpd="sng" algn="ctr">
                      <a:solidFill>
                        <a:srgbClr val="34445F"/>
                      </a:solidFill>
                      <a:prstDash val="solid"/>
                      <a:round/>
                      <a:headEnd type="none" w="med" len="med"/>
                      <a:tailEnd type="none" w="med" len="med"/>
                    </a:lnR>
                    <a:lnT w="6350" cap="flat" cmpd="sng" algn="ctr">
                      <a:solidFill>
                        <a:srgbClr val="34445F"/>
                      </a:solidFill>
                      <a:prstDash val="solid"/>
                      <a:round/>
                      <a:headEnd type="none" w="med" len="med"/>
                      <a:tailEnd type="none" w="med" len="med"/>
                    </a:lnT>
                    <a:lnB w="6350" cap="flat" cmpd="sng" algn="ctr">
                      <a:solidFill>
                        <a:srgbClr val="34445F"/>
                      </a:solidFill>
                      <a:prstDash val="solid"/>
                      <a:round/>
                      <a:headEnd type="none" w="med" len="med"/>
                      <a:tailEnd type="none" w="med" len="med"/>
                    </a:lnB>
                  </a:tcPr>
                </a:tc>
                <a:tc>
                  <a:txBody>
                    <a:bodyPr/>
                    <a:lstStyle/>
                    <a:p>
                      <a:pPr indent="0" marL="0">
                        <a:buNone/>
                      </a:pPr>
                      <a:r>
                        <a:rPr lang="en-US" sz="950" dirty="0">
                          <a:solidFill>
                            <a:srgbClr val="E8EDF5"/>
                          </a:solidFill>
                          <a:latin typeface="Calibri" pitchFamily="34" charset="0"/>
                          <a:ea typeface="Calibri" pitchFamily="34" charset="-122"/>
                          <a:cs typeface="Calibri" pitchFamily="34" charset="-120"/>
                        </a:rPr>
                        <a:t>1.55 AU</a:t>
                      </a:r>
                      <a:endParaRPr lang="en-US" sz="950" dirty="0">
                        <a:latin typeface="Calibri" charset="0"/>
                        <a:ea typeface="Calibri" charset="0"/>
                        <a:cs typeface="Calibri" charset="0"/>
                      </a:endParaRPr>
                    </a:p>
                  </a:txBody>
                  <a:tcPr marL="45720" marR="45720" marT="18288" marB="18288" anchor="ctr">
                    <a:lnL w="6350" cap="flat" cmpd="sng" algn="ctr">
                      <a:solidFill>
                        <a:srgbClr val="34445F"/>
                      </a:solidFill>
                      <a:prstDash val="solid"/>
                      <a:round/>
                      <a:headEnd type="none" w="med" len="med"/>
                      <a:tailEnd type="none" w="med" len="med"/>
                    </a:lnL>
                    <a:lnR w="6350" cap="flat" cmpd="sng" algn="ctr">
                      <a:solidFill>
                        <a:srgbClr val="34445F"/>
                      </a:solidFill>
                      <a:prstDash val="solid"/>
                      <a:round/>
                      <a:headEnd type="none" w="med" len="med"/>
                      <a:tailEnd type="none" w="med" len="med"/>
                    </a:lnR>
                    <a:lnT w="6350" cap="flat" cmpd="sng" algn="ctr">
                      <a:solidFill>
                        <a:srgbClr val="34445F"/>
                      </a:solidFill>
                      <a:prstDash val="solid"/>
                      <a:round/>
                      <a:headEnd type="none" w="med" len="med"/>
                      <a:tailEnd type="none" w="med" len="med"/>
                    </a:lnT>
                    <a:lnB w="6350" cap="flat" cmpd="sng" algn="ctr">
                      <a:solidFill>
                        <a:srgbClr val="34445F"/>
                      </a:solidFill>
                      <a:prstDash val="solid"/>
                      <a:round/>
                      <a:headEnd type="none" w="med" len="med"/>
                      <a:tailEnd type="none" w="med" len="med"/>
                    </a:lnB>
                  </a:tcPr>
                </a:tc>
                <a:tc>
                  <a:txBody>
                    <a:bodyPr/>
                    <a:lstStyle/>
                    <a:p>
                      <a:pPr indent="0" marL="0">
                        <a:buNone/>
                      </a:pPr>
                      <a:r>
                        <a:rPr lang="en-US" sz="950" b="1" dirty="0">
                          <a:solidFill>
                            <a:srgbClr val="2F9E5B"/>
                          </a:solidFill>
                          <a:latin typeface="Calibri" pitchFamily="34" charset="0"/>
                          <a:ea typeface="Calibri" pitchFamily="34" charset="-122"/>
                          <a:cs typeface="Calibri" pitchFamily="34" charset="-120"/>
                        </a:rPr>
                        <a:t>0.023%</a:t>
                      </a:r>
                      <a:endParaRPr lang="en-US" sz="950" dirty="0">
                        <a:latin typeface="Calibri" charset="0"/>
                        <a:ea typeface="Calibri" charset="0"/>
                        <a:cs typeface="Calibri" charset="0"/>
                      </a:endParaRPr>
                    </a:p>
                  </a:txBody>
                  <a:tcPr marL="45720" marR="45720" marT="18288" marB="18288" anchor="ctr">
                    <a:lnL w="6350" cap="flat" cmpd="sng" algn="ctr">
                      <a:solidFill>
                        <a:srgbClr val="34445F"/>
                      </a:solidFill>
                      <a:prstDash val="solid"/>
                      <a:round/>
                      <a:headEnd type="none" w="med" len="med"/>
                      <a:tailEnd type="none" w="med" len="med"/>
                    </a:lnL>
                    <a:lnR w="6350" cap="flat" cmpd="sng" algn="ctr">
                      <a:solidFill>
                        <a:srgbClr val="34445F"/>
                      </a:solidFill>
                      <a:prstDash val="solid"/>
                      <a:round/>
                      <a:headEnd type="none" w="med" len="med"/>
                      <a:tailEnd type="none" w="med" len="med"/>
                    </a:lnR>
                    <a:lnT w="6350" cap="flat" cmpd="sng" algn="ctr">
                      <a:solidFill>
                        <a:srgbClr val="34445F"/>
                      </a:solidFill>
                      <a:prstDash val="solid"/>
                      <a:round/>
                      <a:headEnd type="none" w="med" len="med"/>
                      <a:tailEnd type="none" w="med" len="med"/>
                    </a:lnT>
                    <a:lnB w="6350" cap="flat" cmpd="sng" algn="ctr">
                      <a:solidFill>
                        <a:srgbClr val="34445F"/>
                      </a:solidFill>
                      <a:prstDash val="solid"/>
                      <a:round/>
                      <a:headEnd type="none" w="med" len="med"/>
                      <a:tailEnd type="none" w="med" len="med"/>
                    </a:lnB>
                  </a:tcPr>
                </a:tc>
              </a:tr>
              <a:tr h="228600">
                <a:tc>
                  <a:txBody>
                    <a:bodyPr/>
                    <a:lstStyle/>
                    <a:p>
                      <a:pPr indent="0" marL="0">
                        <a:buNone/>
                      </a:pPr>
                      <a:r>
                        <a:rPr lang="en-US" sz="950" dirty="0">
                          <a:solidFill>
                            <a:srgbClr val="E8EDF5"/>
                          </a:solidFill>
                          <a:latin typeface="Calibri" pitchFamily="34" charset="0"/>
                          <a:ea typeface="Calibri" pitchFamily="34" charset="-122"/>
                          <a:cs typeface="Calibri" pitchFamily="34" charset="-120"/>
                        </a:rPr>
                        <a:t>end, year 7,999</a:t>
                      </a:r>
                      <a:endParaRPr lang="en-US" sz="950" dirty="0">
                        <a:latin typeface="Calibri" charset="0"/>
                        <a:ea typeface="Calibri" charset="0"/>
                        <a:cs typeface="Calibri" charset="0"/>
                      </a:endParaRPr>
                    </a:p>
                  </a:txBody>
                  <a:tcPr marL="45720" marR="45720" marT="18288" marB="18288" anchor="ctr">
                    <a:lnL w="6350" cap="flat" cmpd="sng" algn="ctr">
                      <a:solidFill>
                        <a:srgbClr val="34445F"/>
                      </a:solidFill>
                      <a:prstDash val="solid"/>
                      <a:round/>
                      <a:headEnd type="none" w="med" len="med"/>
                      <a:tailEnd type="none" w="med" len="med"/>
                    </a:lnL>
                    <a:lnR w="6350" cap="flat" cmpd="sng" algn="ctr">
                      <a:solidFill>
                        <a:srgbClr val="34445F"/>
                      </a:solidFill>
                      <a:prstDash val="solid"/>
                      <a:round/>
                      <a:headEnd type="none" w="med" len="med"/>
                      <a:tailEnd type="none" w="med" len="med"/>
                    </a:lnR>
                    <a:lnT w="6350" cap="flat" cmpd="sng" algn="ctr">
                      <a:solidFill>
                        <a:srgbClr val="34445F"/>
                      </a:solidFill>
                      <a:prstDash val="solid"/>
                      <a:round/>
                      <a:headEnd type="none" w="med" len="med"/>
                      <a:tailEnd type="none" w="med" len="med"/>
                    </a:lnT>
                    <a:lnB w="6350" cap="flat" cmpd="sng" algn="ctr">
                      <a:solidFill>
                        <a:srgbClr val="34445F"/>
                      </a:solidFill>
                      <a:prstDash val="solid"/>
                      <a:round/>
                      <a:headEnd type="none" w="med" len="med"/>
                      <a:tailEnd type="none" w="med" len="med"/>
                    </a:lnB>
                  </a:tcPr>
                </a:tc>
                <a:tc>
                  <a:txBody>
                    <a:bodyPr/>
                    <a:lstStyle/>
                    <a:p>
                      <a:pPr indent="0" marL="0">
                        <a:buNone/>
                      </a:pPr>
                      <a:r>
                        <a:rPr lang="en-US" sz="950" dirty="0">
                          <a:solidFill>
                            <a:srgbClr val="E8EDF5"/>
                          </a:solidFill>
                          <a:latin typeface="Calibri" pitchFamily="34" charset="0"/>
                          <a:ea typeface="Calibri" pitchFamily="34" charset="-122"/>
                          <a:cs typeface="Calibri" pitchFamily="34" charset="-120"/>
                        </a:rPr>
                        <a:t>2.70 AU</a:t>
                      </a:r>
                      <a:endParaRPr lang="en-US" sz="950" dirty="0">
                        <a:latin typeface="Calibri" charset="0"/>
                        <a:ea typeface="Calibri" charset="0"/>
                        <a:cs typeface="Calibri" charset="0"/>
                      </a:endParaRPr>
                    </a:p>
                  </a:txBody>
                  <a:tcPr marL="45720" marR="45720" marT="18288" marB="18288" anchor="ctr">
                    <a:lnL w="6350" cap="flat" cmpd="sng" algn="ctr">
                      <a:solidFill>
                        <a:srgbClr val="34445F"/>
                      </a:solidFill>
                      <a:prstDash val="solid"/>
                      <a:round/>
                      <a:headEnd type="none" w="med" len="med"/>
                      <a:tailEnd type="none" w="med" len="med"/>
                    </a:lnL>
                    <a:lnR w="6350" cap="flat" cmpd="sng" algn="ctr">
                      <a:solidFill>
                        <a:srgbClr val="34445F"/>
                      </a:solidFill>
                      <a:prstDash val="solid"/>
                      <a:round/>
                      <a:headEnd type="none" w="med" len="med"/>
                      <a:tailEnd type="none" w="med" len="med"/>
                    </a:lnR>
                    <a:lnT w="6350" cap="flat" cmpd="sng" algn="ctr">
                      <a:solidFill>
                        <a:srgbClr val="34445F"/>
                      </a:solidFill>
                      <a:prstDash val="solid"/>
                      <a:round/>
                      <a:headEnd type="none" w="med" len="med"/>
                      <a:tailEnd type="none" w="med" len="med"/>
                    </a:lnT>
                    <a:lnB w="6350" cap="flat" cmpd="sng" algn="ctr">
                      <a:solidFill>
                        <a:srgbClr val="34445F"/>
                      </a:solidFill>
                      <a:prstDash val="solid"/>
                      <a:round/>
                      <a:headEnd type="none" w="med" len="med"/>
                      <a:tailEnd type="none" w="med" len="med"/>
                    </a:lnB>
                  </a:tcPr>
                </a:tc>
                <a:tc>
                  <a:txBody>
                    <a:bodyPr/>
                    <a:lstStyle/>
                    <a:p>
                      <a:pPr indent="0" marL="0">
                        <a:buNone/>
                      </a:pPr>
                      <a:r>
                        <a:rPr lang="en-US" sz="950" b="1" dirty="0">
                          <a:solidFill>
                            <a:srgbClr val="2F9E5B"/>
                          </a:solidFill>
                          <a:latin typeface="Calibri" pitchFamily="34" charset="0"/>
                          <a:ea typeface="Calibri" pitchFamily="34" charset="-122"/>
                          <a:cs typeface="Calibri" pitchFamily="34" charset="-120"/>
                        </a:rPr>
                        <a:t>0.006%</a:t>
                      </a:r>
                      <a:endParaRPr lang="en-US" sz="950" dirty="0">
                        <a:latin typeface="Calibri" charset="0"/>
                        <a:ea typeface="Calibri" charset="0"/>
                        <a:cs typeface="Calibri" charset="0"/>
                      </a:endParaRPr>
                    </a:p>
                  </a:txBody>
                  <a:tcPr marL="45720" marR="45720" marT="18288" marB="18288" anchor="ctr">
                    <a:lnL w="6350" cap="flat" cmpd="sng" algn="ctr">
                      <a:solidFill>
                        <a:srgbClr val="34445F"/>
                      </a:solidFill>
                      <a:prstDash val="solid"/>
                      <a:round/>
                      <a:headEnd type="none" w="med" len="med"/>
                      <a:tailEnd type="none" w="med" len="med"/>
                    </a:lnL>
                    <a:lnR w="6350" cap="flat" cmpd="sng" algn="ctr">
                      <a:solidFill>
                        <a:srgbClr val="34445F"/>
                      </a:solidFill>
                      <a:prstDash val="solid"/>
                      <a:round/>
                      <a:headEnd type="none" w="med" len="med"/>
                      <a:tailEnd type="none" w="med" len="med"/>
                    </a:lnR>
                    <a:lnT w="6350" cap="flat" cmpd="sng" algn="ctr">
                      <a:solidFill>
                        <a:srgbClr val="34445F"/>
                      </a:solidFill>
                      <a:prstDash val="solid"/>
                      <a:round/>
                      <a:headEnd type="none" w="med" len="med"/>
                      <a:tailEnd type="none" w="med" len="med"/>
                    </a:lnT>
                    <a:lnB w="6350" cap="flat" cmpd="sng" algn="ctr">
                      <a:solidFill>
                        <a:srgbClr val="34445F"/>
                      </a:solidFill>
                      <a:prstDash val="solid"/>
                      <a:round/>
                      <a:headEnd type="none" w="med" len="med"/>
                      <a:tailEnd type="none" w="med" len="med"/>
                    </a:lnB>
                  </a:tcPr>
                </a:tc>
              </a:tr>
            </a:tbl>
          </a:graphicData>
        </a:graphic>
      </p:graphicFrame>
      <p:sp>
        <p:nvSpPr>
          <p:cNvPr id="20" name="Text 17"/>
          <p:cNvSpPr txBox="1"/>
          <p:nvPr/>
        </p:nvSpPr>
        <p:spPr>
          <a:xfrm>
            <a:off x="4343400" y="1700784"/>
            <a:ext cx="3840480" cy="201168"/>
          </a:xfrm>
          <a:prstGeom prst="rect">
            <a:avLst/>
          </a:prstGeom>
          <a:noFill/>
          <a:ln/>
        </p:spPr>
        <p:txBody>
          <a:bodyPr wrap="square" lIns="0" tIns="0" rIns="0" bIns="0" rtlCol="0" anchor="t"/>
          <a:lstStyle/>
          <a:p>
            <a:pPr indent="0" marL="0">
              <a:buNone/>
            </a:pPr>
            <a:r>
              <a:rPr lang="en-US" sz="1100" b="1" dirty="0">
                <a:solidFill>
                  <a:srgbClr val="1A2233"/>
                </a:solidFill>
                <a:latin typeface="Calibri" pitchFamily="34" charset="0"/>
                <a:ea typeface="Calibri" pitchFamily="34" charset="-122"/>
                <a:cs typeface="Calibri" pitchFamily="34" charset="-120"/>
              </a:rPr>
              <a:t>Axial tilt (degrees)</a:t>
            </a:r>
            <a:endParaRPr lang="en-US" sz="1100" dirty="0"/>
          </a:p>
        </p:txBody>
      </p:sp>
      <p:graphicFrame>
        <p:nvGraphicFramePr>
          <p:cNvPr id="21" name="Chart 0" descr=""/>
          <p:cNvGraphicFramePr/>
          <p:nvPr/>
        </p:nvGraphicFramePr>
        <p:xfrm>
          <a:off x="4297680" y="1901952"/>
          <a:ext cx="3931920" cy="2011680"/>
        </p:xfrm>
        <a:graphic xmlns:a="http://schemas.openxmlformats.org/drawingml/2006/main">
          <a:graphicData uri="http://schemas.openxmlformats.org/drawingml/2006/chart">
            <c:chart xmlns:c="http://schemas.openxmlformats.org/drawingml/2006/chart" r:id="rId1"/>
          </a:graphicData>
        </a:graphic>
      </p:graphicFrame>
      <p:sp>
        <p:nvSpPr>
          <p:cNvPr id="22" name="Text 18"/>
          <p:cNvSpPr txBox="1"/>
          <p:nvPr/>
        </p:nvSpPr>
        <p:spPr>
          <a:xfrm>
            <a:off x="4343400" y="3977640"/>
            <a:ext cx="3840480" cy="201168"/>
          </a:xfrm>
          <a:prstGeom prst="rect">
            <a:avLst/>
          </a:prstGeom>
          <a:noFill/>
          <a:ln/>
        </p:spPr>
        <p:txBody>
          <a:bodyPr wrap="square" lIns="0" tIns="0" rIns="0" bIns="0" rtlCol="0" anchor="t"/>
          <a:lstStyle/>
          <a:p>
            <a:pPr indent="0" marL="0">
              <a:buNone/>
            </a:pPr>
            <a:r>
              <a:rPr lang="en-US" sz="1100" b="1" dirty="0">
                <a:solidFill>
                  <a:srgbClr val="1A2233"/>
                </a:solidFill>
                <a:latin typeface="Calibri" pitchFamily="34" charset="0"/>
                <a:ea typeface="Calibri" pitchFamily="34" charset="-122"/>
                <a:cs typeface="Calibri" pitchFamily="34" charset="-120"/>
              </a:rPr>
              <a:t>Eccentricity</a:t>
            </a:r>
            <a:endParaRPr lang="en-US" sz="1100" dirty="0"/>
          </a:p>
        </p:txBody>
      </p:sp>
      <p:graphicFrame>
        <p:nvGraphicFramePr>
          <p:cNvPr id="23" name="Chart 1" descr=""/>
          <p:cNvGraphicFramePr/>
          <p:nvPr/>
        </p:nvGraphicFramePr>
        <p:xfrm>
          <a:off x="4297680" y="4178808"/>
          <a:ext cx="3931920" cy="1874520"/>
        </p:xfrm>
        <a:graphic xmlns:a="http://schemas.openxmlformats.org/drawingml/2006/main">
          <a:graphicData uri="http://schemas.openxmlformats.org/drawingml/2006/chart">
            <c:chart xmlns:c="http://schemas.openxmlformats.org/drawingml/2006/chart" r:id="rId2"/>
          </a:graphicData>
        </a:graphic>
      </p:graphicFrame>
      <p:sp>
        <p:nvSpPr>
          <p:cNvPr id="24" name="Text 19"/>
          <p:cNvSpPr txBox="1"/>
          <p:nvPr/>
        </p:nvSpPr>
        <p:spPr>
          <a:xfrm>
            <a:off x="4343400" y="6053328"/>
            <a:ext cx="3886200" cy="365760"/>
          </a:xfrm>
          <a:prstGeom prst="rect">
            <a:avLst/>
          </a:prstGeom>
          <a:noFill/>
          <a:ln/>
        </p:spPr>
        <p:txBody>
          <a:bodyPr wrap="square" lIns="0" tIns="0" rIns="0" bIns="0" rtlCol="0" anchor="t"/>
          <a:lstStyle/>
          <a:p>
            <a:pPr indent="0" marL="0">
              <a:buNone/>
            </a:pPr>
            <a:r>
              <a:rPr lang="en-US" sz="950" dirty="0">
                <a:solidFill>
                  <a:srgbClr val="566173"/>
                </a:solidFill>
                <a:latin typeface="Calibri" pitchFamily="34" charset="0"/>
                <a:ea typeface="Calibri" pitchFamily="34" charset="-122"/>
                <a:cs typeface="Calibri" pitchFamily="34" charset="-120"/>
              </a:rPr>
              <a:t>Tilt swings 21.7°–26.1° (real 22.2°–24.4°): spin precession nears a slow planetary mode; E3 re-aims 1.4% of the sunlight (a covered flag).</a:t>
            </a:r>
            <a:endParaRPr lang="en-US" sz="9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8412480" y="1700784"/>
          <a:ext cx="3273552" cy="914400"/>
        </p:xfrm>
        <a:graphic>
          <a:graphicData uri="http://schemas.openxmlformats.org/drawingml/2006/table">
            <a:tbl>
              <a:tblPr/>
              <a:tblGrid>
                <a:gridCol w="1371600"/>
                <a:gridCol w="960120"/>
                <a:gridCol w="941832"/>
              </a:tblGrid>
              <a:tr h="246888">
                <a:tc>
                  <a:txBody>
                    <a:bodyPr/>
                    <a:lstStyle/>
                    <a:p>
                      <a:pPr indent="0" marL="0">
                        <a:buNone/>
                      </a:pP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32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Moved</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32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Real</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0B1324"/>
                    </a:solidFill>
                  </a:tcPr>
                </a:tc>
              </a:tr>
              <a:tr h="246888">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Earth's orbit (AU)</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2.698–2.702</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0.99998–1.00004</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46888">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Earth's eccentricity, max</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0.060</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0.051</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46888">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Earth's tilt</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21.7–26.1°</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22.2–24.4°</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46888">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Mars's orbit (AU)</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3.614–3.655</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1.5236–1.5239</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46888">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Earth–Mars orbit gap, min</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0.36 AU</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0.30 AU</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46888">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Energy error</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1.3 × 10⁻⁸</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indent="0" marL="0">
                        <a:buNone/>
                      </a:pPr>
                      <a:r>
                        <a:rPr lang="en-US" sz="950" dirty="0">
                          <a:solidFill>
                            <a:srgbClr val="1A2233"/>
                          </a:solidFill>
                          <a:latin typeface="Calibri" pitchFamily="34" charset="0"/>
                          <a:ea typeface="Calibri" pitchFamily="34" charset="-122"/>
                          <a:cs typeface="Calibri" pitchFamily="34" charset="-120"/>
                        </a:rPr>
                        <a:t>4 × 10⁻⁹</a:t>
                      </a:r>
                      <a:endParaRPr lang="en-US" sz="950" dirty="0">
                        <a:latin typeface="Calibri" charset="0"/>
                        <a:ea typeface="Calibri" charset="0"/>
                        <a:cs typeface="Calibri" charset="0"/>
                      </a:endParaRPr>
                    </a:p>
                  </a:txBody>
                  <a:tcPr marL="45720" marR="45720"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26" name="Text 20"/>
          <p:cNvSpPr txBox="1"/>
          <p:nvPr/>
        </p:nvSpPr>
        <p:spPr>
          <a:xfrm>
            <a:off x="8412480" y="3657600"/>
            <a:ext cx="3273552" cy="201168"/>
          </a:xfrm>
          <a:prstGeom prst="rect">
            <a:avLst/>
          </a:prstGeom>
          <a:noFill/>
          <a:ln/>
        </p:spPr>
        <p:txBody>
          <a:bodyPr wrap="square" lIns="0" tIns="0" rIns="0" bIns="0" rtlCol="0" anchor="t"/>
          <a:lstStyle/>
          <a:p>
            <a:pPr indent="0" marL="0">
              <a:buNone/>
            </a:pPr>
            <a:r>
              <a:rPr lang="en-US" sz="950" b="1" dirty="0">
                <a:solidFill>
                  <a:srgbClr val="566173"/>
                </a:solidFill>
                <a:latin typeface="Calibri" pitchFamily="34" charset="0"/>
                <a:ea typeface="Calibri" pitchFamily="34" charset="-122"/>
                <a:cs typeface="Calibri" pitchFamily="34" charset="-120"/>
              </a:rPr>
              <a:t>THE SKY AND THE DAYS AT 2.7 AU</a:t>
            </a:r>
            <a:endParaRPr lang="en-US" sz="950" dirty="0"/>
          </a:p>
        </p:txBody>
      </p:sp>
      <p:sp>
        <p:nvSpPr>
          <p:cNvPr id="27" name="Shape 21"/>
          <p:cNvSpPr/>
          <p:nvPr/>
        </p:nvSpPr>
        <p:spPr>
          <a:xfrm>
            <a:off x="8412480" y="3913632"/>
            <a:ext cx="1609344" cy="731520"/>
          </a:xfrm>
          <a:prstGeom prst="roundRect">
            <a:avLst>
              <a:gd name="adj" fmla="val 10000"/>
            </a:avLst>
          </a:prstGeom>
          <a:solidFill>
            <a:srgbClr val="F1F4F8"/>
          </a:solidFill>
          <a:ln/>
        </p:spPr>
      </p:sp>
      <p:sp>
        <p:nvSpPr>
          <p:cNvPr id="28" name="Text 22"/>
          <p:cNvSpPr txBox="1"/>
          <p:nvPr/>
        </p:nvSpPr>
        <p:spPr>
          <a:xfrm>
            <a:off x="8503920" y="3977640"/>
            <a:ext cx="1463040" cy="64008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Sun 0.20° wide</a:t>
            </a:r>
            <a:pPr indent="0" marL="0">
              <a:buNone/>
            </a:pPr>
            <a:endParaRPr lang="en-US" sz="1100" dirty="0"/>
          </a:p>
          <a:p>
            <a:pPr indent="0" marL="0">
              <a:buNone/>
            </a:pPr>
            <a:r>
              <a:rPr lang="en-US" sz="950" dirty="0">
                <a:solidFill>
                  <a:srgbClr val="566173"/>
                </a:solidFill>
                <a:latin typeface="Calibri" pitchFamily="34" charset="0"/>
                <a:ea typeface="Calibri" pitchFamily="34" charset="-122"/>
                <a:cs typeface="Calibri" pitchFamily="34" charset="-120"/>
              </a:rPr>
              <a:t>37% of today's width</a:t>
            </a:r>
            <a:endParaRPr lang="en-US" sz="1100" dirty="0"/>
          </a:p>
        </p:txBody>
      </p:sp>
      <p:sp>
        <p:nvSpPr>
          <p:cNvPr id="29" name="Shape 23"/>
          <p:cNvSpPr/>
          <p:nvPr/>
        </p:nvSpPr>
        <p:spPr>
          <a:xfrm>
            <a:off x="10076688" y="3913632"/>
            <a:ext cx="1609344" cy="731520"/>
          </a:xfrm>
          <a:prstGeom prst="roundRect">
            <a:avLst>
              <a:gd name="adj" fmla="val 10000"/>
            </a:avLst>
          </a:prstGeom>
          <a:solidFill>
            <a:srgbClr val="F1F4F8"/>
          </a:solidFill>
          <a:ln/>
        </p:spPr>
      </p:sp>
      <p:sp>
        <p:nvSpPr>
          <p:cNvPr id="30" name="Text 24"/>
          <p:cNvSpPr txBox="1"/>
          <p:nvPr/>
        </p:nvSpPr>
        <p:spPr>
          <a:xfrm>
            <a:off x="10168128" y="3977640"/>
            <a:ext cx="1463040" cy="64008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Year: 4.44 of ours</a:t>
            </a:r>
            <a:pPr indent="0" marL="0">
              <a:buNone/>
            </a:pPr>
            <a:endParaRPr lang="en-US" sz="1100" dirty="0"/>
          </a:p>
          <a:p>
            <a:pPr indent="0" marL="0">
              <a:buNone/>
            </a:pPr>
            <a:r>
              <a:rPr lang="en-US" sz="950" dirty="0">
                <a:solidFill>
                  <a:srgbClr val="566173"/>
                </a:solidFill>
                <a:latin typeface="Calibri" pitchFamily="34" charset="0"/>
                <a:ea typeface="Calibri" pitchFamily="34" charset="-122"/>
                <a:cs typeface="Calibri" pitchFamily="34" charset="-120"/>
              </a:rPr>
              <a:t>each season about 13 months</a:t>
            </a:r>
            <a:endParaRPr lang="en-US" sz="1100" dirty="0"/>
          </a:p>
        </p:txBody>
      </p:sp>
      <p:sp>
        <p:nvSpPr>
          <p:cNvPr id="31" name="Shape 25"/>
          <p:cNvSpPr/>
          <p:nvPr/>
        </p:nvSpPr>
        <p:spPr>
          <a:xfrm>
            <a:off x="8412480" y="4727448"/>
            <a:ext cx="1609344" cy="731520"/>
          </a:xfrm>
          <a:prstGeom prst="roundRect">
            <a:avLst>
              <a:gd name="adj" fmla="val 10000"/>
            </a:avLst>
          </a:prstGeom>
          <a:solidFill>
            <a:srgbClr val="F1F4F8"/>
          </a:solidFill>
          <a:ln/>
        </p:spPr>
      </p:sp>
      <p:sp>
        <p:nvSpPr>
          <p:cNvPr id="32" name="Text 26"/>
          <p:cNvSpPr txBox="1"/>
          <p:nvPr/>
        </p:nvSpPr>
        <p:spPr>
          <a:xfrm>
            <a:off x="8503920" y="4791456"/>
            <a:ext cx="1463040" cy="64008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Same day length</a:t>
            </a:r>
            <a:pPr indent="0" marL="0">
              <a:buNone/>
            </a:pPr>
            <a:endParaRPr lang="en-US" sz="1100" dirty="0"/>
          </a:p>
          <a:p>
            <a:pPr indent="0" marL="0">
              <a:buNone/>
            </a:pPr>
            <a:r>
              <a:rPr lang="en-US" sz="950" dirty="0">
                <a:solidFill>
                  <a:srgbClr val="566173"/>
                </a:solidFill>
                <a:latin typeface="Calibri" pitchFamily="34" charset="0"/>
                <a:ea typeface="Calibri" pitchFamily="34" charset="-122"/>
                <a:cs typeface="Calibri" pitchFamily="34" charset="-120"/>
              </a:rPr>
              <a:t>the tow adds 2.1 × 10⁻⁷ s</a:t>
            </a:r>
            <a:endParaRPr lang="en-US" sz="1100" dirty="0"/>
          </a:p>
        </p:txBody>
      </p:sp>
      <p:sp>
        <p:nvSpPr>
          <p:cNvPr id="33" name="Shape 27"/>
          <p:cNvSpPr/>
          <p:nvPr/>
        </p:nvSpPr>
        <p:spPr>
          <a:xfrm>
            <a:off x="10076688" y="4727448"/>
            <a:ext cx="1609344" cy="731520"/>
          </a:xfrm>
          <a:prstGeom prst="roundRect">
            <a:avLst>
              <a:gd name="adj" fmla="val 10000"/>
            </a:avLst>
          </a:prstGeom>
          <a:solidFill>
            <a:srgbClr val="F1F4F8"/>
          </a:solidFill>
          <a:ln/>
        </p:spPr>
      </p:sp>
      <p:sp>
        <p:nvSpPr>
          <p:cNvPr id="34" name="Text 28"/>
          <p:cNvSpPr txBox="1"/>
          <p:nvPr/>
        </p:nvSpPr>
        <p:spPr>
          <a:xfrm>
            <a:off x="10168128" y="4791456"/>
            <a:ext cx="1463040" cy="64008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Tow mirror ≈ full Moon</a:t>
            </a:r>
            <a:pPr indent="0" marL="0">
              <a:buNone/>
            </a:pPr>
            <a:endParaRPr lang="en-US" sz="1100" dirty="0"/>
          </a:p>
          <a:p>
            <a:pPr indent="0" marL="0">
              <a:buNone/>
            </a:pPr>
            <a:r>
              <a:rPr lang="en-US" sz="950" dirty="0">
                <a:solidFill>
                  <a:srgbClr val="566173"/>
                </a:solidFill>
                <a:latin typeface="Calibri" pitchFamily="34" charset="0"/>
                <a:ea typeface="Calibri" pitchFamily="34" charset="-122"/>
                <a:cs typeface="Calibri" pitchFamily="34" charset="-120"/>
              </a:rPr>
              <a:t>0.47° disc, 135° from the Sun</a:t>
            </a:r>
            <a:endParaRPr lang="en-US" sz="1100" dirty="0"/>
          </a:p>
        </p:txBody>
      </p:sp>
      <p:sp>
        <p:nvSpPr>
          <p:cNvPr id="35" name="Shape 29"/>
          <p:cNvSpPr/>
          <p:nvPr/>
        </p:nvSpPr>
        <p:spPr>
          <a:xfrm>
            <a:off x="8412480" y="5541264"/>
            <a:ext cx="1609344" cy="731520"/>
          </a:xfrm>
          <a:prstGeom prst="roundRect">
            <a:avLst>
              <a:gd name="adj" fmla="val 10000"/>
            </a:avLst>
          </a:prstGeom>
          <a:solidFill>
            <a:srgbClr val="F1F4F8"/>
          </a:solidFill>
          <a:ln/>
        </p:spPr>
      </p:sp>
      <p:sp>
        <p:nvSpPr>
          <p:cNvPr id="36" name="Text 30"/>
          <p:cNvSpPr txBox="1"/>
          <p:nvPr/>
        </p:nvSpPr>
        <p:spPr>
          <a:xfrm>
            <a:off x="8503920" y="5605272"/>
            <a:ext cx="1463040" cy="64008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Stronger shield</a:t>
            </a:r>
            <a:pPr indent="0" marL="0">
              <a:buNone/>
            </a:pPr>
            <a:endParaRPr lang="en-US" sz="1100" dirty="0"/>
          </a:p>
          <a:p>
            <a:pPr indent="0" marL="0">
              <a:buNone/>
            </a:pPr>
            <a:r>
              <a:rPr lang="en-US" sz="950" dirty="0">
                <a:solidFill>
                  <a:srgbClr val="566173"/>
                </a:solidFill>
                <a:latin typeface="Calibri" pitchFamily="34" charset="0"/>
                <a:ea typeface="Calibri" pitchFamily="34" charset="-122"/>
                <a:cs typeface="Calibri" pitchFamily="34" charset="-120"/>
              </a:rPr>
              <a:t>magnetopause 10 → 13.9 Earth radii</a:t>
            </a:r>
            <a:endParaRPr lang="en-US" sz="1100" dirty="0"/>
          </a:p>
        </p:txBody>
      </p:sp>
      <p:sp>
        <p:nvSpPr>
          <p:cNvPr id="37" name="Shape 31"/>
          <p:cNvSpPr/>
          <p:nvPr/>
        </p:nvSpPr>
        <p:spPr>
          <a:xfrm>
            <a:off x="10076688" y="5541264"/>
            <a:ext cx="1609344" cy="731520"/>
          </a:xfrm>
          <a:prstGeom prst="roundRect">
            <a:avLst>
              <a:gd name="adj" fmla="val 10000"/>
            </a:avLst>
          </a:prstGeom>
          <a:solidFill>
            <a:srgbClr val="F1F4F8"/>
          </a:solidFill>
          <a:ln/>
        </p:spPr>
      </p:sp>
      <p:sp>
        <p:nvSpPr>
          <p:cNvPr id="38" name="Text 32"/>
          <p:cNvSpPr txBox="1"/>
          <p:nvPr/>
        </p:nvSpPr>
        <p:spPr>
          <a:xfrm>
            <a:off x="10168128" y="5605272"/>
            <a:ext cx="1463040" cy="640080"/>
          </a:xfrm>
          <a:prstGeom prst="rect">
            <a:avLst/>
          </a:prstGeom>
          <a:noFill/>
          <a:ln/>
        </p:spPr>
        <p:txBody>
          <a:bodyPr wrap="square" lIns="0" tIns="0" rIns="0" bIns="0" rtlCol="0" anchor="t"/>
          <a:lstStyle/>
          <a:p>
            <a:pPr indent="0" marL="0">
              <a:buNone/>
            </a:pPr>
            <a:r>
              <a:rPr lang="en-US" sz="1050" b="1" dirty="0">
                <a:solidFill>
                  <a:srgbClr val="1A2233"/>
                </a:solidFill>
                <a:latin typeface="Calibri" pitchFamily="34" charset="0"/>
                <a:ea typeface="Calibri" pitchFamily="34" charset="-122"/>
                <a:cs typeface="Calibri" pitchFamily="34" charset="-120"/>
              </a:rPr>
              <a:t>45 big-asteroid passes</a:t>
            </a:r>
            <a:pPr indent="0" marL="0">
              <a:buNone/>
            </a:pPr>
            <a:endParaRPr lang="en-US" sz="1100" dirty="0"/>
          </a:p>
          <a:p>
            <a:pPr indent="0" marL="0">
              <a:buNone/>
            </a:pPr>
            <a:r>
              <a:rPr lang="en-US" sz="950" dirty="0">
                <a:solidFill>
                  <a:srgbClr val="566173"/>
                </a:solidFill>
                <a:latin typeface="Calibri" pitchFamily="34" charset="0"/>
                <a:ea typeface="Calibri" pitchFamily="34" charset="-122"/>
                <a:cs typeface="Calibri" pitchFamily="34" charset="-120"/>
              </a:rPr>
              <a:t>each nudged 50 yr ahead (≤ 0.62 h of beam)</a:t>
            </a:r>
            <a:endParaRPr lang="en-US" sz="1100" dirty="0"/>
          </a:p>
        </p:txBody>
      </p:sp>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661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12064" y="329184"/>
            <a:ext cx="219456" cy="219456"/>
          </a:xfrm>
          <a:prstGeom prst="ellipse">
            <a:avLst/>
          </a:prstGeom>
          <a:noFill/>
          <a:ln w="15875">
            <a:solidFill>
              <a:srgbClr val="A9630A"/>
            </a:solidFill>
            <a:prstDash val="solid"/>
          </a:ln>
        </p:spPr>
      </p:sp>
      <p:sp>
        <p:nvSpPr>
          <p:cNvPr id="3" name="Shape 1"/>
          <p:cNvSpPr/>
          <p:nvPr/>
        </p:nvSpPr>
        <p:spPr>
          <a:xfrm>
            <a:off x="681228" y="347472"/>
            <a:ext cx="73152" cy="73152"/>
          </a:xfrm>
          <a:prstGeom prst="ellipse">
            <a:avLst/>
          </a:prstGeom>
          <a:solidFill>
            <a:srgbClr val="A9630A"/>
          </a:solidFill>
          <a:ln/>
        </p:spPr>
      </p:sp>
      <p:sp>
        <p:nvSpPr>
          <p:cNvPr id="4" name="Text 0"/>
          <p:cNvSpPr/>
          <p:nvPr>
            <p:ph idx="100" type="body" hasCustomPrompt="1"/>
          </p:nvPr>
        </p:nvSpPr>
        <p:spPr>
          <a:xfrm>
            <a:off x="868680" y="310896"/>
            <a:ext cx="10515600" cy="256032"/>
          </a:xfrm>
          <a:prstGeom prst="rect">
            <a:avLst/>
          </a:prstGeom>
          <a:noFill/>
          <a:ln/>
        </p:spPr>
        <p:txBody>
          <a:bodyPr wrap="square" lIns="0" tIns="0" rIns="0" bIns="0" rtlCol="0" anchor="ctr"/>
          <a:lstStyle/>
          <a:p>
            <a:pPr indent="0" marL="0">
              <a:buNone/>
            </a:pPr>
            <a:r>
              <a:rPr lang="en-US" sz="1050" b="1" spc="100" kern="0" dirty="0">
                <a:solidFill>
                  <a:srgbClr val="A9630A"/>
                </a:solidFill>
                <a:latin typeface="Calibri" pitchFamily="34" charset="0"/>
                <a:ea typeface="Calibri" pitchFamily="34" charset="-122"/>
                <a:cs typeface="Calibri" pitchFamily="34" charset="-120"/>
              </a:rPr>
              <a:t>09 · HAZARDS AND RESILIENCE</a:t>
            </a:r>
            <a:endParaRPr lang="en-US" sz="1050" dirty="0"/>
          </a:p>
        </p:txBody>
      </p:sp>
      <p:sp>
        <p:nvSpPr>
          <p:cNvPr id="5" name="Text 0"/>
          <p:cNvSpPr/>
          <p:nvPr>
            <p:ph idx="101" type="title" hasCustomPrompt="1"/>
          </p:nvPr>
        </p:nvSpPr>
        <p:spPr>
          <a:xfrm>
            <a:off x="502920" y="585216"/>
            <a:ext cx="11183112" cy="512064"/>
          </a:xfrm>
          <a:prstGeom prst="rect">
            <a:avLst/>
          </a:prstGeom>
          <a:noFill/>
          <a:ln/>
        </p:spPr>
        <p:txBody>
          <a:bodyPr wrap="square" lIns="0" tIns="0" rIns="0" bIns="0" rtlCol="0" anchor="ctr"/>
          <a:lstStyle/>
          <a:p>
            <a:pPr indent="0" marL="0">
              <a:buNone/>
            </a:pPr>
            <a:r>
              <a:rPr lang="en-US" sz="2800" b="1" dirty="0">
                <a:solidFill>
                  <a:srgbClr val="1A2233"/>
                </a:solidFill>
                <a:latin typeface="Cambria" pitchFamily="34" charset="0"/>
                <a:ea typeface="Cambria" pitchFamily="34" charset="-122"/>
                <a:cs typeface="Cambria" pitchFamily="34" charset="-120"/>
              </a:rPr>
              <a:t>Parked in the asteroid belt, and defended</a:t>
            </a:r>
            <a:endParaRPr lang="en-US" sz="2800" dirty="0"/>
          </a:p>
        </p:txBody>
      </p:sp>
      <p:sp>
        <p:nvSpPr>
          <p:cNvPr id="6" name="Text 0"/>
          <p:cNvSpPr/>
          <p:nvPr>
            <p:ph idx="102" type="body" hasCustomPrompt="1"/>
          </p:nvPr>
        </p:nvSpPr>
        <p:spPr>
          <a:xfrm>
            <a:off x="502920" y="1115568"/>
            <a:ext cx="11183112" cy="457200"/>
          </a:xfrm>
          <a:prstGeom prst="rect">
            <a:avLst/>
          </a:prstGeom>
          <a:noFill/>
          <a:ln/>
        </p:spPr>
        <p:txBody>
          <a:bodyPr wrap="square" lIns="0" tIns="0" rIns="0" bIns="0" rtlCol="0" anchor="t"/>
          <a:lstStyle/>
          <a:p>
            <a:pPr indent="0" marL="0">
              <a:buNone/>
            </a:pPr>
            <a:r>
              <a:rPr lang="en-US" sz="1250" dirty="0">
                <a:solidFill>
                  <a:srgbClr val="566173"/>
                </a:solidFill>
                <a:latin typeface="Calibri" pitchFamily="34" charset="0"/>
                <a:ea typeface="Calibri" pitchFamily="34" charset="-122"/>
                <a:cs typeface="Calibri" pitchFamily="34" charset="-120"/>
              </a:rPr>
              <a:t>At 2.7 AU Earth sits inside the belt: a 1 km impact every 87 years instead of every 500,000. E1 watches and nudges, the tow mirrors protect themselves, and every beam survives station outages.</a:t>
            </a:r>
            <a:endParaRPr lang="en-US" sz="1250" dirty="0"/>
          </a:p>
        </p:txBody>
      </p:sp>
      <p:sp>
        <p:nvSpPr>
          <p:cNvPr id="7" name="Shape 5"/>
          <p:cNvSpPr/>
          <p:nvPr/>
        </p:nvSpPr>
        <p:spPr>
          <a:xfrm>
            <a:off x="502920" y="1700784"/>
            <a:ext cx="4297680" cy="4645152"/>
          </a:xfrm>
          <a:prstGeom prst="roundRect">
            <a:avLst>
              <a:gd name="adj" fmla="val 1277"/>
            </a:avLst>
          </a:prstGeom>
          <a:solidFill>
            <a:srgbClr val="0B1324"/>
          </a:solidFill>
          <a:ln/>
        </p:spPr>
      </p:sp>
      <p:sp>
        <p:nvSpPr>
          <p:cNvPr id="8" name="Text 6"/>
          <p:cNvSpPr txBox="1"/>
          <p:nvPr/>
        </p:nvSpPr>
        <p:spPr>
          <a:xfrm>
            <a:off x="658368" y="1792224"/>
            <a:ext cx="3931920" cy="201168"/>
          </a:xfrm>
          <a:prstGeom prst="rect">
            <a:avLst/>
          </a:prstGeom>
          <a:noFill/>
          <a:ln/>
        </p:spPr>
        <p:txBody>
          <a:bodyPr wrap="square" lIns="0" tIns="0" rIns="0" bIns="0" rtlCol="0" anchor="t"/>
          <a:lstStyle/>
          <a:p>
            <a:pPr indent="0" marL="0">
              <a:buNone/>
            </a:pPr>
            <a:r>
              <a:rPr lang="en-US" sz="950" b="1" dirty="0">
                <a:solidFill>
                  <a:srgbClr val="9AA7BA"/>
                </a:solidFill>
                <a:latin typeface="Calibri" pitchFamily="34" charset="0"/>
                <a:ea typeface="Calibri" pitchFamily="34" charset="-122"/>
                <a:cs typeface="Calibri" pitchFamily="34" charset="-120"/>
              </a:rPr>
              <a:t>LAYERS OF DEFENCE (schematic)</a:t>
            </a:r>
            <a:endParaRPr lang="en-US" sz="950" dirty="0"/>
          </a:p>
        </p:txBody>
      </p:sp>
      <p:sp>
        <p:nvSpPr>
          <p:cNvPr id="9" name="Shape 7"/>
          <p:cNvSpPr/>
          <p:nvPr/>
        </p:nvSpPr>
        <p:spPr>
          <a:xfrm>
            <a:off x="1188720" y="2148840"/>
            <a:ext cx="2926080" cy="2926080"/>
          </a:xfrm>
          <a:prstGeom prst="ellipse">
            <a:avLst/>
          </a:prstGeom>
          <a:noFill/>
          <a:ln w="19050">
            <a:solidFill>
              <a:srgbClr val="A9630A"/>
            </a:solidFill>
            <a:prstDash val="dash"/>
          </a:ln>
        </p:spPr>
      </p:sp>
      <p:sp>
        <p:nvSpPr>
          <p:cNvPr id="10" name="Text 8"/>
          <p:cNvSpPr/>
          <p:nvPr/>
        </p:nvSpPr>
        <p:spPr>
          <a:xfrm>
            <a:off x="3731340" y="2653843"/>
            <a:ext cx="237744" cy="237744"/>
          </a:xfrm>
          <a:prstGeom prst="ellipse">
            <a:avLst/>
          </a:prstGeom>
          <a:solidFill>
            <a:srgbClr val="A9630A"/>
          </a:solidFill>
          <a:ln/>
        </p:spPr>
        <p:txBody>
          <a:bodyPr wrap="square" lIns="0" tIns="0" rIns="0" bIns="0" rtlCol="0" anchor="ctr"/>
          <a:lstStyle/>
          <a:p>
            <a:pPr algn="ctr" indent="0" marL="0">
              <a:buNone/>
            </a:pPr>
            <a:r>
              <a:rPr lang="en-US" sz="900" b="1" dirty="0">
                <a:solidFill>
                  <a:srgbClr val="0B1324"/>
                </a:solidFill>
                <a:latin typeface="Calibri" pitchFamily="34" charset="0"/>
                <a:ea typeface="Calibri" pitchFamily="34" charset="-122"/>
                <a:cs typeface="Calibri" pitchFamily="34" charset="-120"/>
              </a:rPr>
              <a:t>4</a:t>
            </a:r>
            <a:endParaRPr lang="en-US" sz="900" dirty="0"/>
          </a:p>
        </p:txBody>
      </p:sp>
      <p:sp>
        <p:nvSpPr>
          <p:cNvPr id="11" name="Shape 9"/>
          <p:cNvSpPr/>
          <p:nvPr/>
        </p:nvSpPr>
        <p:spPr>
          <a:xfrm>
            <a:off x="1572768" y="2532888"/>
            <a:ext cx="2157984" cy="2157984"/>
          </a:xfrm>
          <a:prstGeom prst="ellipse">
            <a:avLst/>
          </a:prstGeom>
          <a:noFill/>
          <a:ln w="19050">
            <a:solidFill>
              <a:srgbClr val="F2A541"/>
            </a:solidFill>
            <a:prstDash val="dash"/>
          </a:ln>
        </p:spPr>
      </p:sp>
      <p:sp>
        <p:nvSpPr>
          <p:cNvPr id="12" name="Text 10"/>
          <p:cNvSpPr/>
          <p:nvPr/>
        </p:nvSpPr>
        <p:spPr>
          <a:xfrm>
            <a:off x="3416747" y="2874124"/>
            <a:ext cx="237744" cy="237744"/>
          </a:xfrm>
          <a:prstGeom prst="ellipse">
            <a:avLst/>
          </a:prstGeom>
          <a:solidFill>
            <a:srgbClr val="F2A541"/>
          </a:solidFill>
          <a:ln/>
        </p:spPr>
        <p:txBody>
          <a:bodyPr wrap="square" lIns="0" tIns="0" rIns="0" bIns="0" rtlCol="0" anchor="ctr"/>
          <a:lstStyle/>
          <a:p>
            <a:pPr algn="ctr" indent="0" marL="0">
              <a:buNone/>
            </a:pPr>
            <a:r>
              <a:rPr lang="en-US" sz="900" b="1" dirty="0">
                <a:solidFill>
                  <a:srgbClr val="0B1324"/>
                </a:solidFill>
                <a:latin typeface="Calibri" pitchFamily="34" charset="0"/>
                <a:ea typeface="Calibri" pitchFamily="34" charset="-122"/>
                <a:cs typeface="Calibri" pitchFamily="34" charset="-120"/>
              </a:rPr>
              <a:t>3</a:t>
            </a:r>
            <a:endParaRPr lang="en-US" sz="900" dirty="0"/>
          </a:p>
        </p:txBody>
      </p:sp>
      <p:sp>
        <p:nvSpPr>
          <p:cNvPr id="13" name="Shape 11"/>
          <p:cNvSpPr/>
          <p:nvPr/>
        </p:nvSpPr>
        <p:spPr>
          <a:xfrm>
            <a:off x="1938528" y="2898648"/>
            <a:ext cx="1426464" cy="1426464"/>
          </a:xfrm>
          <a:prstGeom prst="ellipse">
            <a:avLst/>
          </a:prstGeom>
          <a:noFill/>
          <a:ln w="19050">
            <a:solidFill>
              <a:srgbClr val="E8C27A"/>
            </a:solidFill>
            <a:prstDash val="dash"/>
          </a:ln>
        </p:spPr>
      </p:sp>
      <p:sp>
        <p:nvSpPr>
          <p:cNvPr id="14" name="Text 12"/>
          <p:cNvSpPr/>
          <p:nvPr/>
        </p:nvSpPr>
        <p:spPr>
          <a:xfrm>
            <a:off x="3117133" y="3083915"/>
            <a:ext cx="237744" cy="237744"/>
          </a:xfrm>
          <a:prstGeom prst="ellipse">
            <a:avLst/>
          </a:prstGeom>
          <a:solidFill>
            <a:srgbClr val="E8C27A"/>
          </a:solidFill>
          <a:ln/>
        </p:spPr>
        <p:txBody>
          <a:bodyPr wrap="square" lIns="0" tIns="0" rIns="0" bIns="0" rtlCol="0" anchor="ctr"/>
          <a:lstStyle/>
          <a:p>
            <a:pPr algn="ctr" indent="0" marL="0">
              <a:buNone/>
            </a:pPr>
            <a:r>
              <a:rPr lang="en-US" sz="900" b="1" dirty="0">
                <a:solidFill>
                  <a:srgbClr val="0B1324"/>
                </a:solidFill>
                <a:latin typeface="Calibri" pitchFamily="34" charset="0"/>
                <a:ea typeface="Calibri" pitchFamily="34" charset="-122"/>
                <a:cs typeface="Calibri" pitchFamily="34" charset="-120"/>
              </a:rPr>
              <a:t>2</a:t>
            </a:r>
            <a:endParaRPr lang="en-US" sz="900" dirty="0"/>
          </a:p>
        </p:txBody>
      </p:sp>
      <p:sp>
        <p:nvSpPr>
          <p:cNvPr id="15" name="Shape 13"/>
          <p:cNvSpPr/>
          <p:nvPr/>
        </p:nvSpPr>
        <p:spPr>
          <a:xfrm>
            <a:off x="2267712" y="3227832"/>
            <a:ext cx="768096" cy="768096"/>
          </a:xfrm>
          <a:prstGeom prst="ellipse">
            <a:avLst/>
          </a:prstGeom>
          <a:noFill/>
          <a:ln w="19050">
            <a:solidFill>
              <a:srgbClr val="C9D3E0"/>
            </a:solidFill>
            <a:prstDash val="solid"/>
          </a:ln>
        </p:spPr>
      </p:sp>
      <p:sp>
        <p:nvSpPr>
          <p:cNvPr id="16" name="Text 14"/>
          <p:cNvSpPr/>
          <p:nvPr/>
        </p:nvSpPr>
        <p:spPr>
          <a:xfrm>
            <a:off x="2847482" y="3272727"/>
            <a:ext cx="237744" cy="237744"/>
          </a:xfrm>
          <a:prstGeom prst="ellipse">
            <a:avLst/>
          </a:prstGeom>
          <a:solidFill>
            <a:srgbClr val="C9D3E0"/>
          </a:solidFill>
          <a:ln/>
        </p:spPr>
        <p:txBody>
          <a:bodyPr wrap="square" lIns="0" tIns="0" rIns="0" bIns="0" rtlCol="0" anchor="ctr"/>
          <a:lstStyle/>
          <a:p>
            <a:pPr algn="ctr" indent="0" marL="0">
              <a:buNone/>
            </a:pPr>
            <a:r>
              <a:rPr lang="en-US" sz="900" b="1" dirty="0">
                <a:solidFill>
                  <a:srgbClr val="0B1324"/>
                </a:solidFill>
                <a:latin typeface="Calibri" pitchFamily="34" charset="0"/>
                <a:ea typeface="Calibri" pitchFamily="34" charset="-122"/>
                <a:cs typeface="Calibri" pitchFamily="34" charset="-120"/>
              </a:rPr>
              <a:t>1</a:t>
            </a:r>
            <a:endParaRPr lang="en-US" sz="900" dirty="0"/>
          </a:p>
        </p:txBody>
      </p:sp>
      <p:sp>
        <p:nvSpPr>
          <p:cNvPr id="17" name="Shape 15"/>
          <p:cNvSpPr/>
          <p:nvPr/>
        </p:nvSpPr>
        <p:spPr>
          <a:xfrm>
            <a:off x="2487168" y="3447288"/>
            <a:ext cx="329184" cy="329184"/>
          </a:xfrm>
          <a:prstGeom prst="ellipse">
            <a:avLst/>
          </a:prstGeom>
          <a:solidFill>
            <a:srgbClr val="2A9D8F"/>
          </a:solidFill>
          <a:ln/>
        </p:spPr>
      </p:sp>
      <p:sp>
        <p:nvSpPr>
          <p:cNvPr id="18" name="Shape 16"/>
          <p:cNvSpPr/>
          <p:nvPr/>
        </p:nvSpPr>
        <p:spPr>
          <a:xfrm>
            <a:off x="2330980" y="5139261"/>
            <a:ext cx="53262" cy="53262"/>
          </a:xfrm>
          <a:prstGeom prst="ellipse">
            <a:avLst/>
          </a:prstGeom>
          <a:solidFill>
            <a:srgbClr val="8A94A6"/>
          </a:solidFill>
          <a:ln/>
        </p:spPr>
      </p:sp>
      <p:sp>
        <p:nvSpPr>
          <p:cNvPr id="19" name="Shape 17"/>
          <p:cNvSpPr/>
          <p:nvPr/>
        </p:nvSpPr>
        <p:spPr>
          <a:xfrm>
            <a:off x="4181789" y="2792288"/>
            <a:ext cx="54176" cy="54176"/>
          </a:xfrm>
          <a:prstGeom prst="ellipse">
            <a:avLst/>
          </a:prstGeom>
          <a:solidFill>
            <a:srgbClr val="8A94A6"/>
          </a:solidFill>
          <a:ln/>
        </p:spPr>
      </p:sp>
      <p:sp>
        <p:nvSpPr>
          <p:cNvPr id="20" name="Shape 18"/>
          <p:cNvSpPr/>
          <p:nvPr/>
        </p:nvSpPr>
        <p:spPr>
          <a:xfrm>
            <a:off x="1024494" y="3454711"/>
            <a:ext cx="46205" cy="46205"/>
          </a:xfrm>
          <a:prstGeom prst="ellipse">
            <a:avLst/>
          </a:prstGeom>
          <a:solidFill>
            <a:srgbClr val="8A94A6"/>
          </a:solidFill>
          <a:ln/>
        </p:spPr>
      </p:sp>
      <p:sp>
        <p:nvSpPr>
          <p:cNvPr id="21" name="Shape 19"/>
          <p:cNvSpPr/>
          <p:nvPr/>
        </p:nvSpPr>
        <p:spPr>
          <a:xfrm>
            <a:off x="1102168" y="4116974"/>
            <a:ext cx="39633" cy="39633"/>
          </a:xfrm>
          <a:prstGeom prst="ellipse">
            <a:avLst/>
          </a:prstGeom>
          <a:solidFill>
            <a:srgbClr val="8A94A6"/>
          </a:solidFill>
          <a:ln/>
        </p:spPr>
      </p:sp>
      <p:sp>
        <p:nvSpPr>
          <p:cNvPr id="22" name="Shape 20"/>
          <p:cNvSpPr/>
          <p:nvPr/>
        </p:nvSpPr>
        <p:spPr>
          <a:xfrm>
            <a:off x="2239600" y="5217480"/>
            <a:ext cx="65608" cy="65608"/>
          </a:xfrm>
          <a:prstGeom prst="ellipse">
            <a:avLst/>
          </a:prstGeom>
          <a:solidFill>
            <a:srgbClr val="8A94A6"/>
          </a:solidFill>
          <a:ln/>
        </p:spPr>
      </p:sp>
      <p:sp>
        <p:nvSpPr>
          <p:cNvPr id="23" name="Shape 21"/>
          <p:cNvSpPr/>
          <p:nvPr/>
        </p:nvSpPr>
        <p:spPr>
          <a:xfrm>
            <a:off x="3819664" y="4709948"/>
            <a:ext cx="61835" cy="61835"/>
          </a:xfrm>
          <a:prstGeom prst="ellipse">
            <a:avLst/>
          </a:prstGeom>
          <a:solidFill>
            <a:srgbClr val="8A94A6"/>
          </a:solidFill>
          <a:ln/>
        </p:spPr>
      </p:sp>
      <p:sp>
        <p:nvSpPr>
          <p:cNvPr id="24" name="Shape 22"/>
          <p:cNvSpPr/>
          <p:nvPr/>
        </p:nvSpPr>
        <p:spPr>
          <a:xfrm>
            <a:off x="2228766" y="1903359"/>
            <a:ext cx="55831" cy="55831"/>
          </a:xfrm>
          <a:prstGeom prst="ellipse">
            <a:avLst/>
          </a:prstGeom>
          <a:solidFill>
            <a:srgbClr val="8A94A6"/>
          </a:solidFill>
          <a:ln/>
        </p:spPr>
      </p:sp>
      <p:sp>
        <p:nvSpPr>
          <p:cNvPr id="25" name="Shape 23"/>
          <p:cNvSpPr/>
          <p:nvPr/>
        </p:nvSpPr>
        <p:spPr>
          <a:xfrm>
            <a:off x="3466554" y="5070781"/>
            <a:ext cx="37000" cy="37000"/>
          </a:xfrm>
          <a:prstGeom prst="ellipse">
            <a:avLst/>
          </a:prstGeom>
          <a:solidFill>
            <a:srgbClr val="8A94A6"/>
          </a:solidFill>
          <a:ln/>
        </p:spPr>
      </p:sp>
      <p:sp>
        <p:nvSpPr>
          <p:cNvPr id="26" name="Shape 24"/>
          <p:cNvSpPr/>
          <p:nvPr/>
        </p:nvSpPr>
        <p:spPr>
          <a:xfrm>
            <a:off x="3795694" y="4721428"/>
            <a:ext cx="70841" cy="70841"/>
          </a:xfrm>
          <a:prstGeom prst="ellipse">
            <a:avLst/>
          </a:prstGeom>
          <a:solidFill>
            <a:srgbClr val="8A94A6"/>
          </a:solidFill>
          <a:ln/>
        </p:spPr>
      </p:sp>
      <p:sp>
        <p:nvSpPr>
          <p:cNvPr id="27" name="Shape 25"/>
          <p:cNvSpPr/>
          <p:nvPr/>
        </p:nvSpPr>
        <p:spPr>
          <a:xfrm>
            <a:off x="2823008" y="5237091"/>
            <a:ext cx="62716" cy="62716"/>
          </a:xfrm>
          <a:prstGeom prst="ellipse">
            <a:avLst/>
          </a:prstGeom>
          <a:solidFill>
            <a:srgbClr val="8A94A6"/>
          </a:solidFill>
          <a:ln/>
        </p:spPr>
      </p:sp>
      <p:sp>
        <p:nvSpPr>
          <p:cNvPr id="28" name="Shape 26"/>
          <p:cNvSpPr/>
          <p:nvPr/>
        </p:nvSpPr>
        <p:spPr>
          <a:xfrm>
            <a:off x="3557301" y="2213927"/>
            <a:ext cx="63009" cy="63009"/>
          </a:xfrm>
          <a:prstGeom prst="ellipse">
            <a:avLst/>
          </a:prstGeom>
          <a:solidFill>
            <a:srgbClr val="8A94A6"/>
          </a:solidFill>
          <a:ln/>
        </p:spPr>
      </p:sp>
      <p:sp>
        <p:nvSpPr>
          <p:cNvPr id="29" name="Shape 27"/>
          <p:cNvSpPr/>
          <p:nvPr/>
        </p:nvSpPr>
        <p:spPr>
          <a:xfrm>
            <a:off x="4199338" y="3570592"/>
            <a:ext cx="54071" cy="54071"/>
          </a:xfrm>
          <a:prstGeom prst="ellipse">
            <a:avLst/>
          </a:prstGeom>
          <a:solidFill>
            <a:srgbClr val="8A94A6"/>
          </a:solidFill>
          <a:ln/>
        </p:spPr>
      </p:sp>
      <p:sp>
        <p:nvSpPr>
          <p:cNvPr id="30" name="Shape 28"/>
          <p:cNvSpPr/>
          <p:nvPr/>
        </p:nvSpPr>
        <p:spPr>
          <a:xfrm>
            <a:off x="3736646" y="4877848"/>
            <a:ext cx="61523" cy="61523"/>
          </a:xfrm>
          <a:prstGeom prst="ellipse">
            <a:avLst/>
          </a:prstGeom>
          <a:solidFill>
            <a:srgbClr val="8A94A6"/>
          </a:solidFill>
          <a:ln/>
        </p:spPr>
      </p:sp>
      <p:sp>
        <p:nvSpPr>
          <p:cNvPr id="31" name="Shape 29"/>
          <p:cNvSpPr/>
          <p:nvPr/>
        </p:nvSpPr>
        <p:spPr>
          <a:xfrm>
            <a:off x="3008784" y="5245084"/>
            <a:ext cx="57855" cy="57855"/>
          </a:xfrm>
          <a:prstGeom prst="ellipse">
            <a:avLst/>
          </a:prstGeom>
          <a:solidFill>
            <a:srgbClr val="8A94A6"/>
          </a:solidFill>
          <a:ln/>
        </p:spPr>
      </p:sp>
      <p:sp>
        <p:nvSpPr>
          <p:cNvPr id="32" name="Shape 30"/>
          <p:cNvSpPr/>
          <p:nvPr/>
        </p:nvSpPr>
        <p:spPr>
          <a:xfrm>
            <a:off x="4119751" y="2869344"/>
            <a:ext cx="55995" cy="55995"/>
          </a:xfrm>
          <a:prstGeom prst="ellipse">
            <a:avLst/>
          </a:prstGeom>
          <a:solidFill>
            <a:srgbClr val="8A94A6"/>
          </a:solidFill>
          <a:ln/>
        </p:spPr>
      </p:sp>
      <p:sp>
        <p:nvSpPr>
          <p:cNvPr id="33" name="Shape 31"/>
          <p:cNvSpPr/>
          <p:nvPr/>
        </p:nvSpPr>
        <p:spPr>
          <a:xfrm>
            <a:off x="3505181" y="5000994"/>
            <a:ext cx="53546" cy="53546"/>
          </a:xfrm>
          <a:prstGeom prst="ellipse">
            <a:avLst/>
          </a:prstGeom>
          <a:solidFill>
            <a:srgbClr val="8A94A6"/>
          </a:solidFill>
          <a:ln/>
        </p:spPr>
      </p:sp>
      <p:sp>
        <p:nvSpPr>
          <p:cNvPr id="34" name="Shape 32"/>
          <p:cNvSpPr/>
          <p:nvPr/>
        </p:nvSpPr>
        <p:spPr>
          <a:xfrm>
            <a:off x="916360" y="3544734"/>
            <a:ext cx="64962" cy="64962"/>
          </a:xfrm>
          <a:prstGeom prst="ellipse">
            <a:avLst/>
          </a:prstGeom>
          <a:solidFill>
            <a:srgbClr val="8A94A6"/>
          </a:solidFill>
          <a:ln/>
        </p:spPr>
      </p:sp>
      <p:sp>
        <p:nvSpPr>
          <p:cNvPr id="35" name="Shape 33"/>
          <p:cNvSpPr/>
          <p:nvPr/>
        </p:nvSpPr>
        <p:spPr>
          <a:xfrm>
            <a:off x="3687543" y="4946604"/>
            <a:ext cx="50193" cy="50193"/>
          </a:xfrm>
          <a:prstGeom prst="ellipse">
            <a:avLst/>
          </a:prstGeom>
          <a:solidFill>
            <a:srgbClr val="8A94A6"/>
          </a:solidFill>
          <a:ln/>
        </p:spPr>
      </p:sp>
      <p:sp>
        <p:nvSpPr>
          <p:cNvPr id="36" name="Shape 34"/>
          <p:cNvSpPr/>
          <p:nvPr/>
        </p:nvSpPr>
        <p:spPr>
          <a:xfrm>
            <a:off x="1976516" y="5191917"/>
            <a:ext cx="53631" cy="53631"/>
          </a:xfrm>
          <a:prstGeom prst="ellipse">
            <a:avLst/>
          </a:prstGeom>
          <a:solidFill>
            <a:srgbClr val="8A94A6"/>
          </a:solidFill>
          <a:ln/>
        </p:spPr>
      </p:sp>
      <p:sp>
        <p:nvSpPr>
          <p:cNvPr id="37" name="Shape 35"/>
          <p:cNvSpPr/>
          <p:nvPr/>
        </p:nvSpPr>
        <p:spPr>
          <a:xfrm>
            <a:off x="4378838" y="3816126"/>
            <a:ext cx="62641" cy="62641"/>
          </a:xfrm>
          <a:prstGeom prst="ellipse">
            <a:avLst/>
          </a:prstGeom>
          <a:solidFill>
            <a:srgbClr val="8A94A6"/>
          </a:solidFill>
          <a:ln/>
        </p:spPr>
      </p:sp>
      <p:sp>
        <p:nvSpPr>
          <p:cNvPr id="38" name="Shape 36"/>
          <p:cNvSpPr/>
          <p:nvPr/>
        </p:nvSpPr>
        <p:spPr>
          <a:xfrm>
            <a:off x="1827925" y="5185669"/>
            <a:ext cx="64563" cy="64563"/>
          </a:xfrm>
          <a:prstGeom prst="ellipse">
            <a:avLst/>
          </a:prstGeom>
          <a:solidFill>
            <a:srgbClr val="8A94A6"/>
          </a:solidFill>
          <a:ln/>
        </p:spPr>
      </p:sp>
      <p:sp>
        <p:nvSpPr>
          <p:cNvPr id="39" name="Shape 37"/>
          <p:cNvSpPr/>
          <p:nvPr/>
        </p:nvSpPr>
        <p:spPr>
          <a:xfrm>
            <a:off x="4111165" y="3028184"/>
            <a:ext cx="56239" cy="56239"/>
          </a:xfrm>
          <a:prstGeom prst="ellipse">
            <a:avLst/>
          </a:prstGeom>
          <a:solidFill>
            <a:srgbClr val="8A94A6"/>
          </a:solidFill>
          <a:ln/>
        </p:spPr>
      </p:sp>
      <p:sp>
        <p:nvSpPr>
          <p:cNvPr id="40" name="Shape 38"/>
          <p:cNvSpPr/>
          <p:nvPr/>
        </p:nvSpPr>
        <p:spPr>
          <a:xfrm>
            <a:off x="3719740" y="4819119"/>
            <a:ext cx="56334" cy="56334"/>
          </a:xfrm>
          <a:prstGeom prst="ellipse">
            <a:avLst/>
          </a:prstGeom>
          <a:solidFill>
            <a:srgbClr val="8A94A6"/>
          </a:solidFill>
          <a:ln/>
        </p:spPr>
      </p:sp>
      <p:sp>
        <p:nvSpPr>
          <p:cNvPr id="41" name="Shape 39"/>
          <p:cNvSpPr/>
          <p:nvPr/>
        </p:nvSpPr>
        <p:spPr>
          <a:xfrm>
            <a:off x="2206623" y="1957376"/>
            <a:ext cx="56765" cy="56765"/>
          </a:xfrm>
          <a:prstGeom prst="ellipse">
            <a:avLst/>
          </a:prstGeom>
          <a:solidFill>
            <a:srgbClr val="8A94A6"/>
          </a:solidFill>
          <a:ln/>
        </p:spPr>
      </p:sp>
      <p:sp>
        <p:nvSpPr>
          <p:cNvPr id="42" name="Shape 40"/>
          <p:cNvSpPr/>
          <p:nvPr/>
        </p:nvSpPr>
        <p:spPr>
          <a:xfrm>
            <a:off x="1152284" y="4360586"/>
            <a:ext cx="64235" cy="64235"/>
          </a:xfrm>
          <a:prstGeom prst="ellipse">
            <a:avLst/>
          </a:prstGeom>
          <a:solidFill>
            <a:srgbClr val="8A94A6"/>
          </a:solidFill>
          <a:ln/>
        </p:spPr>
      </p:sp>
      <p:sp>
        <p:nvSpPr>
          <p:cNvPr id="43" name="Shape 41"/>
          <p:cNvSpPr/>
          <p:nvPr/>
        </p:nvSpPr>
        <p:spPr>
          <a:xfrm>
            <a:off x="3454618" y="1996812"/>
            <a:ext cx="60097" cy="60097"/>
          </a:xfrm>
          <a:prstGeom prst="ellipse">
            <a:avLst/>
          </a:prstGeom>
          <a:solidFill>
            <a:srgbClr val="8A94A6"/>
          </a:solidFill>
          <a:ln/>
        </p:spPr>
      </p:sp>
      <p:sp>
        <p:nvSpPr>
          <p:cNvPr id="44" name="Text 42"/>
          <p:cNvSpPr/>
          <p:nvPr/>
        </p:nvSpPr>
        <p:spPr>
          <a:xfrm>
            <a:off x="658368" y="5230368"/>
            <a:ext cx="182880" cy="182880"/>
          </a:xfrm>
          <a:prstGeom prst="ellipse">
            <a:avLst/>
          </a:prstGeom>
          <a:solidFill>
            <a:srgbClr val="C9D3E0"/>
          </a:solidFill>
          <a:ln/>
        </p:spPr>
        <p:txBody>
          <a:bodyPr wrap="square" lIns="0" tIns="0" rIns="0" bIns="0" rtlCol="0" anchor="ctr"/>
          <a:lstStyle/>
          <a:p>
            <a:pPr algn="ctr" indent="0" marL="0">
              <a:buNone/>
            </a:pPr>
            <a:r>
              <a:rPr lang="en-US" sz="800" b="1" dirty="0">
                <a:solidFill>
                  <a:srgbClr val="0B1324"/>
                </a:solidFill>
                <a:latin typeface="Calibri" pitchFamily="34" charset="0"/>
                <a:ea typeface="Calibri" pitchFamily="34" charset="-122"/>
                <a:cs typeface="Calibri" pitchFamily="34" charset="-120"/>
              </a:rPr>
              <a:t>1</a:t>
            </a:r>
            <a:endParaRPr lang="en-US" sz="800" dirty="0"/>
          </a:p>
        </p:txBody>
      </p:sp>
      <p:sp>
        <p:nvSpPr>
          <p:cNvPr id="45" name="Text 43"/>
          <p:cNvSpPr txBox="1"/>
          <p:nvPr/>
        </p:nvSpPr>
        <p:spPr>
          <a:xfrm>
            <a:off x="914400" y="5230368"/>
            <a:ext cx="3794760" cy="274320"/>
          </a:xfrm>
          <a:prstGeom prst="rect">
            <a:avLst/>
          </a:prstGeom>
          <a:noFill/>
          <a:ln/>
        </p:spPr>
        <p:txBody>
          <a:bodyPr wrap="square" lIns="0" tIns="0" rIns="0" bIns="0" rtlCol="0" anchor="t"/>
          <a:lstStyle/>
          <a:p>
            <a:pPr indent="0" marL="0">
              <a:buNone/>
            </a:pPr>
            <a:r>
              <a:rPr lang="en-US" sz="950" dirty="0">
                <a:solidFill>
                  <a:srgbClr val="E8EDF5"/>
                </a:solidFill>
                <a:latin typeface="Calibri" pitchFamily="34" charset="0"/>
                <a:ea typeface="Calibri" pitchFamily="34" charset="-122"/>
                <a:cs typeface="Calibri" pitchFamily="34" charset="-120"/>
              </a:rPr>
              <a:t>Tow mirror: its beam, 75,000× the Sun's surface brightness, vaporises a 1 m rock in 3–6 ms.</a:t>
            </a:r>
            <a:endParaRPr lang="en-US" sz="950" dirty="0"/>
          </a:p>
        </p:txBody>
      </p:sp>
      <p:sp>
        <p:nvSpPr>
          <p:cNvPr id="46" name="Text 44"/>
          <p:cNvSpPr/>
          <p:nvPr/>
        </p:nvSpPr>
        <p:spPr>
          <a:xfrm>
            <a:off x="658368" y="5504688"/>
            <a:ext cx="182880" cy="182880"/>
          </a:xfrm>
          <a:prstGeom prst="ellipse">
            <a:avLst/>
          </a:prstGeom>
          <a:solidFill>
            <a:srgbClr val="E8C27A"/>
          </a:solidFill>
          <a:ln/>
        </p:spPr>
        <p:txBody>
          <a:bodyPr wrap="square" lIns="0" tIns="0" rIns="0" bIns="0" rtlCol="0" anchor="ctr"/>
          <a:lstStyle/>
          <a:p>
            <a:pPr algn="ctr" indent="0" marL="0">
              <a:buNone/>
            </a:pPr>
            <a:r>
              <a:rPr lang="en-US" sz="800" b="1" dirty="0">
                <a:solidFill>
                  <a:srgbClr val="0B1324"/>
                </a:solidFill>
                <a:latin typeface="Calibri" pitchFamily="34" charset="0"/>
                <a:ea typeface="Calibri" pitchFamily="34" charset="-122"/>
                <a:cs typeface="Calibri" pitchFamily="34" charset="-120"/>
              </a:rPr>
              <a:t>2</a:t>
            </a:r>
            <a:endParaRPr lang="en-US" sz="800" dirty="0"/>
          </a:p>
        </p:txBody>
      </p:sp>
      <p:sp>
        <p:nvSpPr>
          <p:cNvPr id="47" name="Text 45"/>
          <p:cNvSpPr txBox="1"/>
          <p:nvPr/>
        </p:nvSpPr>
        <p:spPr>
          <a:xfrm>
            <a:off x="914400" y="5504688"/>
            <a:ext cx="3794760" cy="274320"/>
          </a:xfrm>
          <a:prstGeom prst="rect">
            <a:avLst/>
          </a:prstGeom>
          <a:noFill/>
          <a:ln/>
        </p:spPr>
        <p:txBody>
          <a:bodyPr wrap="square" lIns="0" tIns="0" rIns="0" bIns="0" rtlCol="0" anchor="t"/>
          <a:lstStyle/>
          <a:p>
            <a:pPr indent="0" marL="0">
              <a:buNone/>
            </a:pPr>
            <a:r>
              <a:rPr lang="en-US" sz="950" dirty="0">
                <a:solidFill>
                  <a:srgbClr val="E8EDF5"/>
                </a:solidFill>
                <a:latin typeface="Calibri" pitchFamily="34" charset="0"/>
                <a:ea typeface="Calibri" pitchFamily="34" charset="-122"/>
                <a:cs typeface="Calibri" pitchFamily="34" charset="-120"/>
              </a:rPr>
              <a:t>20 m rocks: an infrared survey sees a dark one 10–15 days out; E1 pushes it aside with 2% of its spare power.</a:t>
            </a:r>
            <a:endParaRPr lang="en-US" sz="950" dirty="0"/>
          </a:p>
        </p:txBody>
      </p:sp>
      <p:sp>
        <p:nvSpPr>
          <p:cNvPr id="48" name="Text 46"/>
          <p:cNvSpPr/>
          <p:nvPr/>
        </p:nvSpPr>
        <p:spPr>
          <a:xfrm>
            <a:off x="658368" y="5779008"/>
            <a:ext cx="182880" cy="182880"/>
          </a:xfrm>
          <a:prstGeom prst="ellipse">
            <a:avLst/>
          </a:prstGeom>
          <a:solidFill>
            <a:srgbClr val="F2A541"/>
          </a:solidFill>
          <a:ln/>
        </p:spPr>
        <p:txBody>
          <a:bodyPr wrap="square" lIns="0" tIns="0" rIns="0" bIns="0" rtlCol="0" anchor="ctr"/>
          <a:lstStyle/>
          <a:p>
            <a:pPr algn="ctr" indent="0" marL="0">
              <a:buNone/>
            </a:pPr>
            <a:r>
              <a:rPr lang="en-US" sz="800" b="1" dirty="0">
                <a:solidFill>
                  <a:srgbClr val="0B1324"/>
                </a:solidFill>
                <a:latin typeface="Calibri" pitchFamily="34" charset="0"/>
                <a:ea typeface="Calibri" pitchFamily="34" charset="-122"/>
                <a:cs typeface="Calibri" pitchFamily="34" charset="-120"/>
              </a:rPr>
              <a:t>3</a:t>
            </a:r>
            <a:endParaRPr lang="en-US" sz="800" dirty="0"/>
          </a:p>
        </p:txBody>
      </p:sp>
      <p:sp>
        <p:nvSpPr>
          <p:cNvPr id="49" name="Text 47"/>
          <p:cNvSpPr txBox="1"/>
          <p:nvPr/>
        </p:nvSpPr>
        <p:spPr>
          <a:xfrm>
            <a:off x="914400" y="5779008"/>
            <a:ext cx="3794760" cy="274320"/>
          </a:xfrm>
          <a:prstGeom prst="rect">
            <a:avLst/>
          </a:prstGeom>
          <a:noFill/>
          <a:ln/>
        </p:spPr>
        <p:txBody>
          <a:bodyPr wrap="square" lIns="0" tIns="0" rIns="0" bIns="0" rtlCol="0" anchor="t"/>
          <a:lstStyle/>
          <a:p>
            <a:pPr indent="0" marL="0">
              <a:buNone/>
            </a:pPr>
            <a:r>
              <a:rPr lang="en-US" sz="950" dirty="0">
                <a:solidFill>
                  <a:srgbClr val="E8EDF5"/>
                </a:solidFill>
                <a:latin typeface="Calibri" pitchFamily="34" charset="0"/>
                <a:ea typeface="Calibri" pitchFamily="34" charset="-122"/>
                <a:cs typeface="Calibri" pitchFamily="34" charset="-120"/>
              </a:rPr>
              <a:t>1 km asteroids: found 10 years ahead, a 5 cm/s nudge moves them off.</a:t>
            </a:r>
            <a:endParaRPr lang="en-US" sz="950" dirty="0"/>
          </a:p>
        </p:txBody>
      </p:sp>
      <p:sp>
        <p:nvSpPr>
          <p:cNvPr id="50" name="Text 48"/>
          <p:cNvSpPr/>
          <p:nvPr/>
        </p:nvSpPr>
        <p:spPr>
          <a:xfrm>
            <a:off x="658368" y="6053328"/>
            <a:ext cx="182880" cy="182880"/>
          </a:xfrm>
          <a:prstGeom prst="ellipse">
            <a:avLst/>
          </a:prstGeom>
          <a:solidFill>
            <a:srgbClr val="A9630A"/>
          </a:solidFill>
          <a:ln/>
        </p:spPr>
        <p:txBody>
          <a:bodyPr wrap="square" lIns="0" tIns="0" rIns="0" bIns="0" rtlCol="0" anchor="ctr"/>
          <a:lstStyle/>
          <a:p>
            <a:pPr algn="ctr" indent="0" marL="0">
              <a:buNone/>
            </a:pPr>
            <a:r>
              <a:rPr lang="en-US" sz="800" b="1" dirty="0">
                <a:solidFill>
                  <a:srgbClr val="0B1324"/>
                </a:solidFill>
                <a:latin typeface="Calibri" pitchFamily="34" charset="0"/>
                <a:ea typeface="Calibri" pitchFamily="34" charset="-122"/>
                <a:cs typeface="Calibri" pitchFamily="34" charset="-120"/>
              </a:rPr>
              <a:t>4</a:t>
            </a:r>
            <a:endParaRPr lang="en-US" sz="800" dirty="0"/>
          </a:p>
        </p:txBody>
      </p:sp>
      <p:sp>
        <p:nvSpPr>
          <p:cNvPr id="51" name="Text 49"/>
          <p:cNvSpPr txBox="1"/>
          <p:nvPr/>
        </p:nvSpPr>
        <p:spPr>
          <a:xfrm>
            <a:off x="914400" y="6053328"/>
            <a:ext cx="3794760" cy="274320"/>
          </a:xfrm>
          <a:prstGeom prst="rect">
            <a:avLst/>
          </a:prstGeom>
          <a:noFill/>
          <a:ln/>
        </p:spPr>
        <p:txBody>
          <a:bodyPr wrap="square" lIns="0" tIns="0" rIns="0" bIns="0" rtlCol="0" anchor="t"/>
          <a:lstStyle/>
          <a:p>
            <a:pPr indent="0" marL="0">
              <a:buNone/>
            </a:pPr>
            <a:r>
              <a:rPr lang="en-US" sz="950" dirty="0">
                <a:solidFill>
                  <a:srgbClr val="E8EDF5"/>
                </a:solidFill>
                <a:latin typeface="Calibri" pitchFamily="34" charset="0"/>
                <a:ea typeface="Calibri" pitchFamily="34" charset="-122"/>
                <a:cs typeface="Calibri" pitchFamily="34" charset="-120"/>
              </a:rPr>
              <a:t>Big asteroids: nudged 50 years ahead (Vesta's 0.018 AU passes: 0.057 h of beam each).</a:t>
            </a:r>
            <a:endParaRPr lang="en-US" sz="950" dirty="0"/>
          </a:p>
        </p:txBody>
      </p:sp>
      <p:sp>
        <p:nvSpPr>
          <p:cNvPr id="52" name="Text 50"/>
          <p:cNvSpPr txBox="1"/>
          <p:nvPr/>
        </p:nvSpPr>
        <p:spPr>
          <a:xfrm>
            <a:off x="5029200" y="1700784"/>
            <a:ext cx="3291840" cy="219456"/>
          </a:xfrm>
          <a:prstGeom prst="rect">
            <a:avLst/>
          </a:prstGeom>
          <a:noFill/>
          <a:ln/>
        </p:spPr>
        <p:txBody>
          <a:bodyPr wrap="square" lIns="0" tIns="0" rIns="0" bIns="0" rtlCol="0" anchor="t"/>
          <a:lstStyle/>
          <a:p>
            <a:pPr indent="0" marL="0">
              <a:buNone/>
            </a:pPr>
            <a:r>
              <a:rPr lang="en-US" sz="1100" b="1" dirty="0">
                <a:solidFill>
                  <a:srgbClr val="1A2233"/>
                </a:solidFill>
                <a:latin typeface="Calibri" pitchFamily="34" charset="0"/>
                <a:ea typeface="Calibri" pitchFamily="34" charset="-122"/>
                <a:cs typeface="Calibri" pitchFamily="34" charset="-120"/>
              </a:rPr>
              <a:t>Years between impacts (log scale)</a:t>
            </a:r>
            <a:endParaRPr lang="en-US" sz="1100" dirty="0"/>
          </a:p>
        </p:txBody>
      </p:sp>
      <p:graphicFrame>
        <p:nvGraphicFramePr>
          <p:cNvPr id="53" name="Chart 0" descr=""/>
          <p:cNvGraphicFramePr/>
          <p:nvPr/>
        </p:nvGraphicFramePr>
        <p:xfrm>
          <a:off x="4983480" y="1920240"/>
          <a:ext cx="3337560" cy="2514600"/>
        </p:xfrm>
        <a:graphic xmlns:a="http://schemas.openxmlformats.org/drawingml/2006/main">
          <a:graphicData uri="http://schemas.openxmlformats.org/drawingml/2006/chart">
            <c:chart xmlns:c="http://schemas.openxmlformats.org/drawingml/2006/chart" r:id="rId1"/>
          </a:graphicData>
        </a:graphic>
      </p:graphicFrame>
      <p:sp>
        <p:nvSpPr>
          <p:cNvPr id="54" name="Shape 51"/>
          <p:cNvSpPr/>
          <p:nvPr/>
        </p:nvSpPr>
        <p:spPr>
          <a:xfrm>
            <a:off x="5029200" y="4572000"/>
            <a:ext cx="3291840" cy="548640"/>
          </a:xfrm>
          <a:prstGeom prst="roundRect">
            <a:avLst>
              <a:gd name="adj" fmla="val 13333"/>
            </a:avLst>
          </a:prstGeom>
          <a:solidFill>
            <a:srgbClr val="F1F4F8"/>
          </a:solidFill>
          <a:ln/>
        </p:spPr>
      </p:sp>
      <p:sp>
        <p:nvSpPr>
          <p:cNvPr id="55" name="Text 52"/>
          <p:cNvSpPr txBox="1"/>
          <p:nvPr/>
        </p:nvSpPr>
        <p:spPr>
          <a:xfrm>
            <a:off x="5120640" y="4617720"/>
            <a:ext cx="3127248" cy="475488"/>
          </a:xfrm>
          <a:prstGeom prst="rect">
            <a:avLst/>
          </a:prstGeom>
          <a:noFill/>
          <a:ln/>
        </p:spPr>
        <p:txBody>
          <a:bodyPr wrap="square" lIns="0" tIns="0" rIns="0" bIns="0" rtlCol="0" anchor="ctr"/>
          <a:lstStyle/>
          <a:p>
            <a:pPr indent="0" marL="0">
              <a:buNone/>
            </a:pPr>
            <a:r>
              <a:rPr lang="en-US" sz="950" b="1" dirty="0">
                <a:solidFill>
                  <a:srgbClr val="1A2233"/>
                </a:solidFill>
                <a:latin typeface="Calibri" pitchFamily="34" charset="0"/>
                <a:ea typeface="Calibri" pitchFamily="34" charset="-122"/>
                <a:cs typeface="Calibri" pitchFamily="34" charset="-120"/>
              </a:rPr>
              <a:t>Parked rates: </a:t>
            </a:r>
            <a:pPr indent="0" marL="0">
              <a:buNone/>
            </a:pPr>
            <a:r>
              <a:rPr lang="en-US" sz="950" dirty="0">
                <a:solidFill>
                  <a:srgbClr val="566173"/>
                </a:solidFill>
                <a:latin typeface="Calibri" pitchFamily="34" charset="0"/>
                <a:ea typeface="Calibri" pitchFamily="34" charset="-122"/>
                <a:cs typeface="Calibri" pitchFamily="34" charset="-120"/>
              </a:rPr>
              <a:t>about 8 rocks of 20 m+ a year (range 1.2–40), and a 100 m one every 9 years.</a:t>
            </a:r>
            <a:endParaRPr lang="en-US" sz="950" dirty="0"/>
          </a:p>
        </p:txBody>
      </p:sp>
      <p:sp>
        <p:nvSpPr>
          <p:cNvPr id="56" name="Shape 53"/>
          <p:cNvSpPr/>
          <p:nvPr/>
        </p:nvSpPr>
        <p:spPr>
          <a:xfrm>
            <a:off x="5029200" y="5175504"/>
            <a:ext cx="3291840" cy="548640"/>
          </a:xfrm>
          <a:prstGeom prst="roundRect">
            <a:avLst>
              <a:gd name="adj" fmla="val 13333"/>
            </a:avLst>
          </a:prstGeom>
          <a:solidFill>
            <a:srgbClr val="F1F4F8"/>
          </a:solidFill>
          <a:ln/>
        </p:spPr>
      </p:sp>
      <p:sp>
        <p:nvSpPr>
          <p:cNvPr id="57" name="Text 54"/>
          <p:cNvSpPr txBox="1"/>
          <p:nvPr/>
        </p:nvSpPr>
        <p:spPr>
          <a:xfrm>
            <a:off x="5120640" y="5221224"/>
            <a:ext cx="3127248" cy="475488"/>
          </a:xfrm>
          <a:prstGeom prst="rect">
            <a:avLst/>
          </a:prstGeom>
          <a:noFill/>
          <a:ln/>
        </p:spPr>
        <p:txBody>
          <a:bodyPr wrap="square" lIns="0" tIns="0" rIns="0" bIns="0" rtlCol="0" anchor="ctr"/>
          <a:lstStyle/>
          <a:p>
            <a:pPr indent="0" marL="0">
              <a:buNone/>
            </a:pPr>
            <a:r>
              <a:rPr lang="en-US" sz="950" b="1" dirty="0">
                <a:solidFill>
                  <a:srgbClr val="1A2233"/>
                </a:solidFill>
                <a:latin typeface="Calibri" pitchFamily="34" charset="0"/>
                <a:ea typeface="Calibri" pitchFamily="34" charset="-122"/>
                <a:cs typeface="Calibri" pitchFamily="34" charset="-120"/>
              </a:rPr>
              <a:t>Kirkwood gaps don't help: </a:t>
            </a:r>
            <a:pPr indent="0" marL="0">
              <a:buNone/>
            </a:pPr>
            <a:r>
              <a:rPr lang="en-US" sz="950" dirty="0">
                <a:solidFill>
                  <a:srgbClr val="566173"/>
                </a:solidFill>
                <a:latin typeface="Calibri" pitchFamily="34" charset="0"/>
                <a:ea typeface="Calibri" pitchFamily="34" charset="-122"/>
                <a:cs typeface="Calibri" pitchFamily="34" charset="-120"/>
              </a:rPr>
              <a:t>encounters at 2.50 AU are 0.75×, at 2.82 AU 1.05× those at 2.70: the gaps are in orbit size, not in space.</a:t>
            </a:r>
            <a:endParaRPr lang="en-US" sz="950" dirty="0"/>
          </a:p>
        </p:txBody>
      </p:sp>
      <p:sp>
        <p:nvSpPr>
          <p:cNvPr id="58" name="Shape 55"/>
          <p:cNvSpPr/>
          <p:nvPr/>
        </p:nvSpPr>
        <p:spPr>
          <a:xfrm>
            <a:off x="5029200" y="5779008"/>
            <a:ext cx="3291840" cy="548640"/>
          </a:xfrm>
          <a:prstGeom prst="roundRect">
            <a:avLst>
              <a:gd name="adj" fmla="val 13333"/>
            </a:avLst>
          </a:prstGeom>
          <a:solidFill>
            <a:srgbClr val="F1F4F8"/>
          </a:solidFill>
          <a:ln/>
        </p:spPr>
      </p:sp>
      <p:sp>
        <p:nvSpPr>
          <p:cNvPr id="59" name="Text 56"/>
          <p:cNvSpPr txBox="1"/>
          <p:nvPr/>
        </p:nvSpPr>
        <p:spPr>
          <a:xfrm>
            <a:off x="5120640" y="5824728"/>
            <a:ext cx="3127248" cy="475488"/>
          </a:xfrm>
          <a:prstGeom prst="rect">
            <a:avLst/>
          </a:prstGeom>
          <a:noFill/>
          <a:ln/>
        </p:spPr>
        <p:txBody>
          <a:bodyPr wrap="square" lIns="0" tIns="0" rIns="0" bIns="0" rtlCol="0" anchor="ctr"/>
          <a:lstStyle/>
          <a:p>
            <a:pPr indent="0" marL="0">
              <a:buNone/>
            </a:pPr>
            <a:r>
              <a:rPr lang="en-US" sz="950" b="1" dirty="0">
                <a:solidFill>
                  <a:srgbClr val="1A2233"/>
                </a:solidFill>
                <a:latin typeface="Calibri" pitchFamily="34" charset="0"/>
                <a:ea typeface="Calibri" pitchFamily="34" charset="-122"/>
                <a:cs typeface="Calibri" pitchFamily="34" charset="-120"/>
              </a:rPr>
              <a:t>The Moon, Mars, its moons: </a:t>
            </a:r>
            <a:pPr indent="0" marL="0">
              <a:buNone/>
            </a:pPr>
            <a:r>
              <a:rPr lang="en-US" sz="950" dirty="0">
                <a:solidFill>
                  <a:srgbClr val="566173"/>
                </a:solidFill>
                <a:latin typeface="Calibri" pitchFamily="34" charset="0"/>
                <a:ea typeface="Calibri" pitchFamily="34" charset="-122"/>
                <a:cs typeface="Calibri" pitchFamily="34" charset="-120"/>
              </a:rPr>
              <a:t>get craters only: breaking the Moon up takes 20× the whole belt's mass.</a:t>
            </a:r>
            <a:endParaRPr lang="en-US" sz="950" dirty="0"/>
          </a:p>
        </p:txBody>
      </p:sp>
      <p:sp>
        <p:nvSpPr>
          <p:cNvPr id="60" name="Text 57"/>
          <p:cNvSpPr txBox="1"/>
          <p:nvPr/>
        </p:nvSpPr>
        <p:spPr>
          <a:xfrm>
            <a:off x="8549640" y="1700784"/>
            <a:ext cx="3136392" cy="384048"/>
          </a:xfrm>
          <a:prstGeom prst="rect">
            <a:avLst/>
          </a:prstGeom>
          <a:noFill/>
          <a:ln/>
        </p:spPr>
        <p:txBody>
          <a:bodyPr wrap="square" lIns="0" tIns="0" rIns="0" bIns="0" rtlCol="0" anchor="t"/>
          <a:lstStyle/>
          <a:p>
            <a:pPr indent="0" marL="0">
              <a:buNone/>
            </a:pPr>
            <a:r>
              <a:rPr lang="en-US" sz="1100" b="1" dirty="0">
                <a:solidFill>
                  <a:srgbClr val="1A2233"/>
                </a:solidFill>
                <a:latin typeface="Calibri" pitchFamily="34" charset="0"/>
                <a:ea typeface="Calibri" pitchFamily="34" charset="-122"/>
                <a:cs typeface="Calibri" pitchFamily="34" charset="-120"/>
              </a:rPr>
              <a:t>How long each beam can be cut and its asteroid still held</a:t>
            </a:r>
            <a:endParaRPr lang="en-US" sz="1100" dirty="0"/>
          </a:p>
        </p:txBody>
      </p:sp>
      <p:graphicFrame>
        <p:nvGraphicFramePr>
          <p:cNvPr id="61" name="Chart 1" descr=""/>
          <p:cNvGraphicFramePr/>
          <p:nvPr/>
        </p:nvGraphicFramePr>
        <p:xfrm>
          <a:off x="8503920" y="2103120"/>
          <a:ext cx="3200400" cy="2651760"/>
        </p:xfrm>
        <a:graphic xmlns:a="http://schemas.openxmlformats.org/drawingml/2006/main">
          <a:graphicData uri="http://schemas.openxmlformats.org/drawingml/2006/chart">
            <c:chart xmlns:c="http://schemas.openxmlformats.org/drawingml/2006/chart" r:id="rId2"/>
          </a:graphicData>
        </a:graphic>
      </p:graphicFrame>
      <p:sp>
        <p:nvSpPr>
          <p:cNvPr id="62" name="Shape 58"/>
          <p:cNvSpPr/>
          <p:nvPr/>
        </p:nvSpPr>
        <p:spPr>
          <a:xfrm>
            <a:off x="8549640" y="4864608"/>
            <a:ext cx="3136392" cy="1481328"/>
          </a:xfrm>
          <a:prstGeom prst="roundRect">
            <a:avLst>
              <a:gd name="adj" fmla="val 4938"/>
            </a:avLst>
          </a:prstGeom>
          <a:solidFill>
            <a:srgbClr val="F1F4F8"/>
          </a:solidFill>
          <a:ln/>
        </p:spPr>
      </p:sp>
      <p:sp>
        <p:nvSpPr>
          <p:cNvPr id="63" name="Text 59"/>
          <p:cNvSpPr txBox="1"/>
          <p:nvPr/>
        </p:nvSpPr>
        <p:spPr>
          <a:xfrm>
            <a:off x="8668512" y="4937760"/>
            <a:ext cx="2926080" cy="1353312"/>
          </a:xfrm>
          <a:prstGeom prst="rect">
            <a:avLst/>
          </a:prstGeom>
          <a:noFill/>
          <a:ln/>
        </p:spPr>
        <p:txBody>
          <a:bodyPr wrap="square" lIns="0" tIns="0" rIns="0" bIns="0" rtlCol="0" anchor="t"/>
          <a:lstStyle/>
          <a:p>
            <a:pPr indent="0" marL="0">
              <a:buNone/>
            </a:pPr>
            <a:r>
              <a:rPr lang="en-US" sz="950" b="1" dirty="0">
                <a:solidFill>
                  <a:srgbClr val="1A2233"/>
                </a:solidFill>
                <a:latin typeface="Calibri" pitchFamily="34" charset="0"/>
                <a:ea typeface="Calibri" pitchFamily="34" charset="-122"/>
                <a:cs typeface="Calibri" pitchFamily="34" charset="-120"/>
              </a:rPr>
              <a:t>Many independent stations share E1's budget. </a:t>
            </a:r>
            <a:pPr indent="0" marL="0">
              <a:buNone/>
            </a:pPr>
            <a:r>
              <a:rPr lang="en-US" sz="950" dirty="0">
                <a:solidFill>
                  <a:srgbClr val="566173"/>
                </a:solidFill>
                <a:latin typeface="Calibri" pitchFamily="34" charset="0"/>
                <a:ea typeface="Calibri" pitchFamily="34" charset="-122"/>
                <a:cs typeface="Calibri" pitchFamily="34" charset="-120"/>
              </a:rPr>
              <a:t>The structures are sized for the full cap, so catching up after an outage is safe; 7.3% of E1 stays spare for rocks and asteroids, and dust holes about 568 km² of optics a year for E3 to patch.</a:t>
            </a:r>
            <a:endParaRPr lang="en-US" sz="950" dirty="0"/>
          </a:p>
        </p:txBody>
      </p:sp>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661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84048"/>
            <a:ext cx="8229600" cy="256032"/>
          </a:xfrm>
          <a:prstGeom prst="rect">
            <a:avLst/>
          </a:prstGeom>
          <a:noFill/>
          <a:ln/>
        </p:spPr>
        <p:txBody>
          <a:bodyPr wrap="square" lIns="0" tIns="0" rIns="0" bIns="0" rtlCol="0" anchor="t"/>
          <a:lstStyle/>
          <a:p>
            <a:pPr indent="0" marL="0">
              <a:buNone/>
            </a:pPr>
            <a:r>
              <a:rPr lang="en-US" sz="1050" b="1" spc="100" kern="0" dirty="0">
                <a:solidFill>
                  <a:srgbClr val="F2A541"/>
                </a:solidFill>
                <a:latin typeface="Calibri" pitchFamily="34" charset="0"/>
                <a:ea typeface="Calibri" pitchFamily="34" charset="-122"/>
                <a:cs typeface="Calibri" pitchFamily="34" charset="-120"/>
              </a:rPr>
              <a:t>10 · HONEST LIMITS, NEXT STEPS, HOW TO CHECK US</a:t>
            </a:r>
            <a:endParaRPr lang="en-US" sz="1050" dirty="0"/>
          </a:p>
        </p:txBody>
      </p:sp>
      <p:sp>
        <p:nvSpPr>
          <p:cNvPr id="3" name="Text 1"/>
          <p:cNvSpPr txBox="1"/>
          <p:nvPr/>
        </p:nvSpPr>
        <p:spPr>
          <a:xfrm>
            <a:off x="502920" y="658368"/>
            <a:ext cx="11155680"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the model proves, and what it does not</a:t>
            </a:r>
            <a:endParaRPr lang="en-US" sz="3000" dirty="0"/>
          </a:p>
        </p:txBody>
      </p:sp>
      <p:sp>
        <p:nvSpPr>
          <p:cNvPr id="4" name="Shape 2"/>
          <p:cNvSpPr/>
          <p:nvPr/>
        </p:nvSpPr>
        <p:spPr>
          <a:xfrm>
            <a:off x="502920" y="1463040"/>
            <a:ext cx="3630168" cy="3703320"/>
          </a:xfrm>
          <a:prstGeom prst="roundRect">
            <a:avLst>
              <a:gd name="adj" fmla="val 2015"/>
            </a:avLst>
          </a:prstGeom>
          <a:solidFill>
            <a:srgbClr val="16213A"/>
          </a:solidFill>
          <a:ln w="9525">
            <a:solidFill>
              <a:srgbClr val="34445F"/>
            </a:solidFill>
            <a:prstDash val="solid"/>
          </a:ln>
        </p:spPr>
      </p:sp>
      <p:sp>
        <p:nvSpPr>
          <p:cNvPr id="5" name="Text 3"/>
          <p:cNvSpPr/>
          <p:nvPr/>
        </p:nvSpPr>
        <p:spPr>
          <a:xfrm>
            <a:off x="640080" y="1627632"/>
            <a:ext cx="310896" cy="310896"/>
          </a:xfrm>
          <a:prstGeom prst="ellipse">
            <a:avLst/>
          </a:prstGeom>
          <a:solidFill>
            <a:srgbClr val="2F9E5B"/>
          </a:solidFill>
          <a:ln/>
        </p:spPr>
        <p:txBody>
          <a:bodyPr wrap="square" lIns="0" tIns="0" rIns="0" bIns="0" rtlCol="0" anchor="ctr"/>
          <a:lstStyle/>
          <a:p>
            <a:pPr algn="ctr" indent="0" marL="0">
              <a:buNone/>
            </a:pPr>
            <a:r>
              <a:rPr lang="en-US" sz="1200" b="1" dirty="0">
                <a:solidFill>
                  <a:srgbClr val="0B1324"/>
                </a:solidFill>
                <a:latin typeface="Calibri" pitchFamily="34" charset="0"/>
                <a:ea typeface="Calibri" pitchFamily="34" charset="-122"/>
                <a:cs typeface="Calibri" pitchFamily="34" charset="-120"/>
              </a:rPr>
              <a:t>✓</a:t>
            </a:r>
            <a:endParaRPr lang="en-US" sz="1200" dirty="0"/>
          </a:p>
        </p:txBody>
      </p:sp>
      <p:sp>
        <p:nvSpPr>
          <p:cNvPr id="6" name="Text 4"/>
          <p:cNvSpPr txBox="1"/>
          <p:nvPr/>
        </p:nvSpPr>
        <p:spPr>
          <a:xfrm>
            <a:off x="1051560" y="1664208"/>
            <a:ext cx="2926080" cy="256032"/>
          </a:xfrm>
          <a:prstGeom prst="rect">
            <a:avLst/>
          </a:prstGeom>
          <a:noFill/>
          <a:ln/>
        </p:spPr>
        <p:txBody>
          <a:bodyPr wrap="square" lIns="0" tIns="0" rIns="0" bIns="0" rtlCol="0" anchor="t"/>
          <a:lstStyle/>
          <a:p>
            <a:pPr indent="0" marL="0">
              <a:buNone/>
            </a:pPr>
            <a:r>
              <a:rPr lang="en-US" sz="1400" b="1" dirty="0">
                <a:solidFill>
                  <a:srgbClr val="2F9E5B"/>
                </a:solidFill>
                <a:latin typeface="Calibri" pitchFamily="34" charset="0"/>
                <a:ea typeface="Calibri" pitchFamily="34" charset="-122"/>
                <a:cs typeface="Calibri" pitchFamily="34" charset="-120"/>
              </a:rPr>
              <a:t>Proven in simulation</a:t>
            </a:r>
            <a:endParaRPr lang="en-US" sz="1400" dirty="0"/>
          </a:p>
        </p:txBody>
      </p:sp>
      <p:sp>
        <p:nvSpPr>
          <p:cNvPr id="7" name="Text 5"/>
          <p:cNvSpPr txBox="1"/>
          <p:nvPr/>
        </p:nvSpPr>
        <p:spPr>
          <a:xfrm>
            <a:off x="704088" y="2148840"/>
            <a:ext cx="3291840" cy="29260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Earth to 2.7006 AU by year 8,758, with Mars moved first</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ten Earth-safety thresholds held at all 32,686 checks</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every structure at safety factor ≥ 1.57, at full beam power</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10/10 official benchmarks, checks X1–X9, 49 tests</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momentum ledger closed to 5.6 × 10⁻¹⁶</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stable for a million years; the Moon stays bound</a:t>
            </a:r>
            <a:endParaRPr lang="en-US" sz="1150" dirty="0"/>
          </a:p>
        </p:txBody>
      </p:sp>
      <p:sp>
        <p:nvSpPr>
          <p:cNvPr id="8" name="Shape 6"/>
          <p:cNvSpPr/>
          <p:nvPr/>
        </p:nvSpPr>
        <p:spPr>
          <a:xfrm>
            <a:off x="4279392" y="1463040"/>
            <a:ext cx="3630168" cy="3703320"/>
          </a:xfrm>
          <a:prstGeom prst="roundRect">
            <a:avLst>
              <a:gd name="adj" fmla="val 2015"/>
            </a:avLst>
          </a:prstGeom>
          <a:solidFill>
            <a:srgbClr val="16213A"/>
          </a:solidFill>
          <a:ln w="9525">
            <a:solidFill>
              <a:srgbClr val="34445F"/>
            </a:solidFill>
            <a:prstDash val="solid"/>
          </a:ln>
        </p:spPr>
      </p:sp>
      <p:sp>
        <p:nvSpPr>
          <p:cNvPr id="9" name="Text 7"/>
          <p:cNvSpPr/>
          <p:nvPr/>
        </p:nvSpPr>
        <p:spPr>
          <a:xfrm>
            <a:off x="4416552" y="1627632"/>
            <a:ext cx="310896" cy="310896"/>
          </a:xfrm>
          <a:prstGeom prst="ellipse">
            <a:avLst/>
          </a:prstGeom>
          <a:solidFill>
            <a:srgbClr val="F2A541"/>
          </a:solidFill>
          <a:ln/>
        </p:spPr>
        <p:txBody>
          <a:bodyPr wrap="square" lIns="0" tIns="0" rIns="0" bIns="0" rtlCol="0" anchor="ctr"/>
          <a:lstStyle/>
          <a:p>
            <a:pPr algn="ctr" indent="0" marL="0">
              <a:buNone/>
            </a:pPr>
            <a:r>
              <a:rPr lang="en-US" sz="1200" b="1" dirty="0">
                <a:solidFill>
                  <a:srgbClr val="0B1324"/>
                </a:solidFill>
                <a:latin typeface="Calibri" pitchFamily="34" charset="0"/>
                <a:ea typeface="Calibri" pitchFamily="34" charset="-122"/>
                <a:cs typeface="Calibri" pitchFamily="34" charset="-120"/>
              </a:rPr>
              <a:t>!</a:t>
            </a:r>
            <a:endParaRPr lang="en-US" sz="1200" dirty="0"/>
          </a:p>
        </p:txBody>
      </p:sp>
      <p:sp>
        <p:nvSpPr>
          <p:cNvPr id="10" name="Text 8"/>
          <p:cNvSpPr txBox="1"/>
          <p:nvPr/>
        </p:nvSpPr>
        <p:spPr>
          <a:xfrm>
            <a:off x="4828032" y="1664208"/>
            <a:ext cx="2926080" cy="256032"/>
          </a:xfrm>
          <a:prstGeom prst="rect">
            <a:avLst/>
          </a:prstGeom>
          <a:noFill/>
          <a:ln/>
        </p:spPr>
        <p:txBody>
          <a:bodyPr wrap="square" lIns="0" tIns="0" rIns="0" bIns="0" rtlCol="0" anchor="t"/>
          <a:lstStyle/>
          <a:p>
            <a:pPr indent="0" marL="0">
              <a:buNone/>
            </a:pPr>
            <a:r>
              <a:rPr lang="en-US" sz="1400" b="1" dirty="0">
                <a:solidFill>
                  <a:srgbClr val="F2A541"/>
                </a:solidFill>
                <a:latin typeface="Calibri" pitchFamily="34" charset="0"/>
                <a:ea typeface="Calibri" pitchFamily="34" charset="-122"/>
                <a:cs typeface="Calibri" pitchFamily="34" charset="-120"/>
              </a:rPr>
              <a:t>Not modelled, or still open</a:t>
            </a:r>
            <a:endParaRPr lang="en-US" sz="1400" dirty="0"/>
          </a:p>
        </p:txBody>
      </p:sp>
      <p:sp>
        <p:nvSpPr>
          <p:cNvPr id="11" name="Text 9"/>
          <p:cNvSpPr txBox="1"/>
          <p:nvPr/>
        </p:nvSpPr>
        <p:spPr>
          <a:xfrm>
            <a:off x="4480560" y="2148840"/>
            <a:ext cx="3291840" cy="29260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the hardware: E1–E3 are declared and bounded, not engineered</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climate in one dimension: no weather, oceans or carbon cycle</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13-month seasons: the model gives yearly means only</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tow-mirror scatter must stay below 3.4 × 10⁻¹¹ of the beam; no enabler bounds it</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the Moon and Earth's spin run separately from the journey</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the safety thresholds are the company demo's; a new rulebook means a re-run</a:t>
            </a:r>
            <a:endParaRPr lang="en-US" sz="1150" dirty="0"/>
          </a:p>
        </p:txBody>
      </p:sp>
      <p:sp>
        <p:nvSpPr>
          <p:cNvPr id="12" name="Shape 10"/>
          <p:cNvSpPr/>
          <p:nvPr/>
        </p:nvSpPr>
        <p:spPr>
          <a:xfrm>
            <a:off x="8055864" y="1463040"/>
            <a:ext cx="3630168" cy="3703320"/>
          </a:xfrm>
          <a:prstGeom prst="roundRect">
            <a:avLst>
              <a:gd name="adj" fmla="val 2015"/>
            </a:avLst>
          </a:prstGeom>
          <a:solidFill>
            <a:srgbClr val="16213A"/>
          </a:solidFill>
          <a:ln w="9525">
            <a:solidFill>
              <a:srgbClr val="34445F"/>
            </a:solidFill>
            <a:prstDash val="solid"/>
          </a:ln>
        </p:spPr>
      </p:sp>
      <p:sp>
        <p:nvSpPr>
          <p:cNvPr id="13" name="Text 11"/>
          <p:cNvSpPr/>
          <p:nvPr/>
        </p:nvSpPr>
        <p:spPr>
          <a:xfrm>
            <a:off x="8193024" y="1627632"/>
            <a:ext cx="310896" cy="310896"/>
          </a:xfrm>
          <a:prstGeom prst="ellipse">
            <a:avLst/>
          </a:prstGeom>
          <a:solidFill>
            <a:srgbClr val="7FC4BA"/>
          </a:solidFill>
          <a:ln/>
        </p:spPr>
        <p:txBody>
          <a:bodyPr wrap="square" lIns="0" tIns="0" rIns="0" bIns="0" rtlCol="0" anchor="ctr"/>
          <a:lstStyle/>
          <a:p>
            <a:pPr algn="ctr" indent="0" marL="0">
              <a:buNone/>
            </a:pPr>
            <a:r>
              <a:rPr lang="en-US" sz="1200" b="1" dirty="0">
                <a:solidFill>
                  <a:srgbClr val="0B1324"/>
                </a:solidFill>
                <a:latin typeface="Calibri" pitchFamily="34" charset="0"/>
                <a:ea typeface="Calibri" pitchFamily="34" charset="-122"/>
                <a:cs typeface="Calibri" pitchFamily="34" charset="-120"/>
              </a:rPr>
              <a:t>→</a:t>
            </a:r>
            <a:endParaRPr lang="en-US" sz="1200" dirty="0"/>
          </a:p>
        </p:txBody>
      </p:sp>
      <p:sp>
        <p:nvSpPr>
          <p:cNvPr id="14" name="Text 12"/>
          <p:cNvSpPr txBox="1"/>
          <p:nvPr/>
        </p:nvSpPr>
        <p:spPr>
          <a:xfrm>
            <a:off x="8604504" y="1664208"/>
            <a:ext cx="2926080" cy="256032"/>
          </a:xfrm>
          <a:prstGeom prst="rect">
            <a:avLst/>
          </a:prstGeom>
          <a:noFill/>
          <a:ln/>
        </p:spPr>
        <p:txBody>
          <a:bodyPr wrap="square" lIns="0" tIns="0" rIns="0" bIns="0" rtlCol="0" anchor="t"/>
          <a:lstStyle/>
          <a:p>
            <a:pPr indent="0" marL="0">
              <a:buNone/>
            </a:pPr>
            <a:r>
              <a:rPr lang="en-US" sz="1400" b="1" dirty="0">
                <a:solidFill>
                  <a:srgbClr val="7FC4BA"/>
                </a:solidFill>
                <a:latin typeface="Calibri" pitchFamily="34" charset="0"/>
                <a:ea typeface="Calibri" pitchFamily="34" charset="-122"/>
                <a:cs typeface="Calibri" pitchFamily="34" charset="-120"/>
              </a:rPr>
              <a:t>Next</a:t>
            </a:r>
            <a:endParaRPr lang="en-US" sz="1400" dirty="0"/>
          </a:p>
        </p:txBody>
      </p:sp>
      <p:sp>
        <p:nvSpPr>
          <p:cNvPr id="15" name="Text 13"/>
          <p:cNvSpPr txBox="1"/>
          <p:nvPr/>
        </p:nvSpPr>
        <p:spPr>
          <a:xfrm>
            <a:off x="8257032" y="2148840"/>
            <a:ext cx="3291840" cy="29260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the Moon as its own body through the whole journey</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a climate resolved by latitude and season</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a sensitivity sweep of tow mass and distance</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a scatter specification and test for the tow mirrors</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resonance transport in the belt with 20,000+ orbits</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aimable mirrors re-aiming 1.4% of the sunlight for the seasons</a:t>
            </a:r>
            <a:endParaRPr lang="en-US" sz="1150" dirty="0"/>
          </a:p>
          <a:p>
            <a:pPr marL="342900" indent="-342900">
              <a:spcAft>
                <a:spcPts val="600"/>
              </a:spcAft>
              <a:buSzPct val="100000"/>
              <a:buChar char="•"/>
            </a:pPr>
            <a:r>
              <a:rPr lang="en-US" sz="1150" dirty="0">
                <a:solidFill>
                  <a:srgbClr val="E8EDF5"/>
                </a:solidFill>
                <a:latin typeface="Calibri" pitchFamily="34" charset="0"/>
                <a:ea typeface="Calibri" pitchFamily="34" charset="-122"/>
                <a:cs typeface="Calibri" pitchFamily="34" charset="-120"/>
              </a:rPr>
              <a:t>re-run with the organisers' thresholds the day they publish</a:t>
            </a:r>
            <a:endParaRPr lang="en-US" sz="1150" dirty="0"/>
          </a:p>
        </p:txBody>
      </p:sp>
      <p:sp>
        <p:nvSpPr>
          <p:cNvPr id="16" name="Shape 14"/>
          <p:cNvSpPr/>
          <p:nvPr/>
        </p:nvSpPr>
        <p:spPr>
          <a:xfrm>
            <a:off x="502920" y="5349240"/>
            <a:ext cx="11183112" cy="960120"/>
          </a:xfrm>
          <a:prstGeom prst="roundRect">
            <a:avLst>
              <a:gd name="adj" fmla="val 7619"/>
            </a:avLst>
          </a:prstGeom>
          <a:solidFill>
            <a:srgbClr val="16213A"/>
          </a:solidFill>
          <a:ln w="9525">
            <a:solidFill>
              <a:srgbClr val="F2A541"/>
            </a:solidFill>
            <a:prstDash val="solid"/>
          </a:ln>
        </p:spPr>
      </p:sp>
      <p:sp>
        <p:nvSpPr>
          <p:cNvPr id="17" name="Text 15"/>
          <p:cNvSpPr txBox="1"/>
          <p:nvPr/>
        </p:nvSpPr>
        <p:spPr>
          <a:xfrm>
            <a:off x="685800" y="5422392"/>
            <a:ext cx="10835640" cy="841248"/>
          </a:xfrm>
          <a:prstGeom prst="rect">
            <a:avLst/>
          </a:prstGeom>
          <a:noFill/>
          <a:ln/>
        </p:spPr>
        <p:txBody>
          <a:bodyPr wrap="square" lIns="0" tIns="0" rIns="0" bIns="0" rtlCol="0" anchor="ctr"/>
          <a:lstStyle/>
          <a:p>
            <a:pPr indent="0" marL="0">
              <a:buNone/>
            </a:pPr>
            <a:r>
              <a:rPr lang="en-US" sz="1050" b="1" dirty="0">
                <a:solidFill>
                  <a:srgbClr val="F2A541"/>
                </a:solidFill>
                <a:latin typeface="Calibri" pitchFamily="34" charset="0"/>
                <a:ea typeface="Calibri" pitchFamily="34" charset="-122"/>
                <a:cs typeface="Calibri" pitchFamily="34" charset="-120"/>
              </a:rPr>
              <a:t>Check us yourself.  </a:t>
            </a:r>
            <a:pPr indent="0" marL="0">
              <a:buNone/>
            </a:pPr>
            <a:r>
              <a:rPr lang="en-US" sz="1050" b="1" dirty="0">
                <a:solidFill>
                  <a:srgbClr val="FFFFFF"/>
                </a:solidFill>
                <a:latin typeface="Consolas" pitchFamily="34" charset="0"/>
                <a:ea typeface="Consolas" pitchFamily="34" charset="-122"/>
                <a:cs typeface="Consolas" pitchFamily="34" charset="-120"/>
              </a:rPr>
              <a:t>run.bat verify</a:t>
            </a:r>
            <a:pPr indent="0" marL="0">
              <a:buNone/>
            </a:pPr>
            <a:r>
              <a:rPr lang="en-US" sz="1050" dirty="0">
                <a:solidFill>
                  <a:srgbClr val="E8EDF5"/>
                </a:solidFill>
                <a:latin typeface="Calibri" pitchFamily="34" charset="0"/>
                <a:ea typeface="Calibri" pitchFamily="34" charset="-122"/>
                <a:cs typeface="Calibri" pitchFamily="34" charset="-120"/>
              </a:rPr>
              <a:t> re-runs the benchmarks, the tests, the engine and the studies and writes a results PDF in about 4 minutes;  </a:t>
            </a:r>
            <a:pPr indent="0" marL="0">
              <a:buNone/>
            </a:pPr>
            <a:r>
              <a:rPr lang="en-US" sz="1050" b="1" dirty="0">
                <a:solidFill>
                  <a:srgbClr val="FFFFFF"/>
                </a:solidFill>
                <a:latin typeface="Consolas" pitchFamily="34" charset="0"/>
                <a:ea typeface="Consolas" pitchFamily="34" charset="-122"/>
                <a:cs typeface="Consolas" pitchFamily="34" charset="-120"/>
              </a:rPr>
              <a:t>python -m sim.benchmarks 4 --set e=0.5</a:t>
            </a:r>
            <a:pPr indent="0" marL="0">
              <a:buNone/>
            </a:pPr>
            <a:r>
              <a:rPr lang="en-US" sz="1050" dirty="0">
                <a:solidFill>
                  <a:srgbClr val="E8EDF5"/>
                </a:solidFill>
                <a:latin typeface="Calibri" pitchFamily="34" charset="0"/>
                <a:ea typeface="Calibri" pitchFamily="34" charset="-122"/>
                <a:cs typeface="Calibri" pitchFamily="34" charset="-120"/>
              </a:rPr>
              <a:t> changes a benchmark's inputs.  Test bench: ashish000011.github.io/black-ant · Code: github.com/Ashish000011/black-ant</a:t>
            </a:r>
            <a:pPr indent="0" marL="0">
              <a:buNone/>
            </a:pPr>
            <a:endParaRPr lang="en-US" sz="1050" dirty="0"/>
          </a:p>
          <a:p>
            <a:pPr indent="0" marL="0">
              <a:buNone/>
            </a:pPr>
            <a:r>
              <a:rPr lang="en-US" sz="950" dirty="0">
                <a:solidFill>
                  <a:srgbClr val="9AA7BA"/>
                </a:solidFill>
                <a:latin typeface="Calibri" pitchFamily="34" charset="0"/>
                <a:ea typeface="Calibri" pitchFamily="34" charset="-122"/>
                <a:cs typeface="Calibri" pitchFamily="34" charset="-120"/>
              </a:rPr>
              <a:t>Key sources: Lu &amp; Love 2005 (Nature) · Korycansky, Laughlin &amp; Adams 2001 · Angel 2006 (PNAS) · Budyko 1969 · Sellers 1969 · Goldblatt et al. 2013 · Rein &amp; Liu 2012 (REBOUND) · Yoshida 1990 · Burdanov et al. 2025 · Lubin et al. 2014 (DE-STAR); 43 in the technical report.</a:t>
            </a:r>
            <a:endParaRPr lang="en-US" sz="1050" dirty="0"/>
          </a:p>
        </p:txBody>
      </p:sp>
      <p:sp>
        <p:nvSpPr>
          <p:cNvPr id="18" name="Text 16"/>
          <p:cNvSpPr txBox="1"/>
          <p:nvPr/>
        </p:nvSpPr>
        <p:spPr>
          <a:xfrm>
            <a:off x="502920" y="6473952"/>
            <a:ext cx="9144000" cy="237744"/>
          </a:xfrm>
          <a:prstGeom prst="rect">
            <a:avLst/>
          </a:prstGeom>
          <a:noFill/>
          <a:ln/>
        </p:spPr>
        <p:txBody>
          <a:bodyPr wrap="square" lIns="0" tIns="0" rIns="0" bIns="0" rtlCol="0" anchor="t"/>
          <a:lstStyle/>
          <a:p>
            <a:pPr indent="0" marL="0">
              <a:buNone/>
            </a:pPr>
            <a:r>
              <a:rPr lang="en-US" sz="1000" dirty="0">
                <a:solidFill>
                  <a:srgbClr val="9AA7BA"/>
                </a:solidFill>
                <a:latin typeface="Calibri" pitchFamily="34" charset="0"/>
                <a:ea typeface="Calibri" pitchFamily="34" charset="-122"/>
                <a:cs typeface="Calibri" pitchFamily="34" charset="-120"/>
              </a:rPr>
              <a:t>Team Black Ant · Sushmit Sukla (team leader) · Ashish Bharti · Akhil Semwal · Madhukar Verma · Prabhanshu Kerketa</a:t>
            </a:r>
            <a:endParaRPr lang="en-US" sz="1000" dirty="0"/>
          </a:p>
        </p:txBody>
      </p:sp>
      <p:sp>
        <p:nvSpPr>
          <p:cNvPr id="25" name="Slide Number Placeholder 0"/>
          <p:cNvSpPr>
            <a:spLocks noGrp="1"/>
          </p:cNvSpPr>
          <p:nvPr>
            <p:ph type="sldNum" sz="quarter" idx="4294967295"/>
          </p:nvPr>
        </p:nvSpPr>
        <p:spPr>
          <a:xfrm>
            <a:off x="11228832" y="651967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9AA7B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Black Ant">
  <a:themeElements>
    <a:clrScheme name="Black Ant">
      <a:dk1>
        <a:srgbClr val="0B1324"/>
      </a:dk1>
      <a:lt1>
        <a:srgbClr val="FFFFFF"/>
      </a:lt1>
      <a:dk2>
        <a:srgbClr val="1C2B44"/>
      </a:dk2>
      <a:lt2>
        <a:srgbClr val="F1F4F8"/>
      </a:lt2>
      <a:accent1>
        <a:srgbClr val="F2A541"/>
      </a:accent1>
      <a:accent2>
        <a:srgbClr val="2A9D8F"/>
      </a:accent2>
      <a:accent3>
        <a:srgbClr val="C8553D"/>
      </a:accent3>
      <a:accent4>
        <a:srgbClr val="8A94A6"/>
      </a:accent4>
      <a:accent5>
        <a:srgbClr val="3D7DCA"/>
      </a:accent5>
      <a:accent6>
        <a:srgbClr val="2F9E5B"/>
      </a:accent6>
      <a:hlink>
        <a:srgbClr val="3D7DCA"/>
      </a:hlink>
      <a:folHlink>
        <a:srgbClr val="6C7A89"/>
      </a:folHlink>
    </a:clrScheme>
    <a:fontScheme name="Black A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Team Black 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Ant: towing Earth to 2.7 AU (visual report)</dc:title>
  <dc:subject>PptxGenJS Presentation</dc:subject>
  <dc:creator>Team Black Ant</dc:creator>
  <cp:lastModifiedBy>Team Black Ant</cp:lastModifiedBy>
  <cp:revision>1</cp:revision>
  <dcterms:created xsi:type="dcterms:W3CDTF">2026-10-25T09:06:40Z</dcterms:created>
  <dcterms:modified xsi:type="dcterms:W3CDTF">2026-10-25T09:06:40Z</dcterms:modified>
</cp:coreProperties>
</file>