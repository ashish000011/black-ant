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4.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5.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6.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9.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talk" id="{5c64f992-a99f-71ad-87aa-ccb9c31e65f5}">
          <p14:sldIdLst>
            <p14:sldId id="256"/>
            <p14:sldId id="257"/>
            <p14:sldId id="258"/>
            <p14:sldId id="259"/>
            <p14:sldId id="260"/>
            <p14:sldId id="261"/>
            <p14:sldId id="262"/>
            <p14:sldId id="263"/>
            <p14:sldId id="264"/>
            <p14:sldId id="265"/>
            <p14:sldId id="266"/>
          </p14:sldIdLst>
        </p14:section>
        <p14:section name="Backup" id="{b3a73f25-4d30-cbcf-79a4-ca068ecb3b53}">
          <p14:sldIdLst>
            <p14:sldId id="267"/>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726"/>
                </a:solidFill>
                <a:latin typeface="+mn-lt"/>
              </a:defRPr>
            </a:pPr>
            <a:r>
              <a:rPr sz="1300" b="0" i="0" u="none" strike="noStrike">
                <a:solidFill>
                  <a:srgbClr val="0E1726"/>
                </a:solidFill>
                <a:latin typeface="+mn-lt"/>
              </a:rPr>
              <a:t>Longest arm that holds, curled (km, log scale)</a:t>
            </a:r>
          </a:p>
        </c:rich>
      </c:tx>
      <c:layout/>
      <c:overlay val="0"/>
    </c:title>
    <c:autoTitleDeleted val="0"/>
    <c:plotArea>
      <c:layout/>
      <c:barChart>
        <c:barDir val="col"/>
        <c:grouping val="stacked"/>
        <c:varyColors val="0"/>
        <c:ser>
          <c:idx val="0"/>
          <c:order val="0"/>
          <c:tx>
            <c:strRef>
              <c:f>Sheet1!$B$1</c:f>
              <c:strCache>
                <c:ptCount val="1"/>
                <c:pt idx="0">
                  <c:v>Longest curled arm at safety factor 1.5</c:v>
                </c:pt>
              </c:strCache>
            </c:strRef>
          </c:tx>
          <c:spPr>
            <a:solidFill>
              <a:srgbClr val="5B6B85"/>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Steel S355</c:v>
                  </c:pt>
                  <c:pt idx="1">
                    <c:v>CFRP</c:v>
                  </c:pt>
                  <c:pt idx="2">
                    <c:v>Nanotube (ideal)</c:v>
                  </c:pt>
                  <c:pt idx="3">
                    <c:v>Graphene (ideal)</c:v>
                  </c:pt>
                  <c:pt idx="4">
                    <c:v>Demo's arm</c:v>
                  </c:pt>
                </c:lvl>
              </c:multiLvlStrCache>
            </c:multiLvlStrRef>
          </c:cat>
          <c:val>
            <c:numRef>
              <c:f>Sheet1!$B$2:$B$6</c:f>
              <c:numCache>
                <c:formatCode>General</c:formatCode>
                <c:ptCount val="5"/>
                <c:pt idx="0">
                  <c:v>5</c:v>
                </c:pt>
                <c:pt idx="1">
                  <c:v>72</c:v>
                </c:pt>
                <c:pt idx="2">
                  <c:v>637</c:v>
                </c:pt>
                <c:pt idx="3">
                  <c:v>699</c:v>
                </c:pt>
                <c:pt idx="4">
                  <c:v/>
                </c:pt>
              </c:numCache>
            </c:numRef>
          </c:val>
        </c:ser>
        <c:ser>
          <c:idx val="1"/>
          <c:order val="1"/>
          <c:tx>
            <c:strRef>
              <c:f>Sheet1!$C$1</c:f>
              <c:strCache>
                <c:ptCount val="1"/>
                <c:pt idx="0">
                  <c:v>Arm the demo draws</c:v>
                </c:pt>
              </c:strCache>
            </c:strRef>
          </c:tx>
          <c:spPr>
            <a:solidFill>
              <a:srgbClr val="EB6834"/>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Steel S355</c:v>
                  </c:pt>
                  <c:pt idx="1">
                    <c:v>CFRP</c:v>
                  </c:pt>
                  <c:pt idx="2">
                    <c:v>Nanotube (ideal)</c:v>
                  </c:pt>
                  <c:pt idx="3">
                    <c:v>Graphene (ideal)</c:v>
                  </c:pt>
                  <c:pt idx="4">
                    <c:v>Demo's arm</c:v>
                  </c:pt>
                </c:lvl>
              </c:multiLvlStrCache>
            </c:multiLvlStrRef>
          </c:cat>
          <c:val>
            <c:numRef>
              <c:f>Sheet1!$C$2:$C$6</c:f>
              <c:numCache>
                <c:formatCode>General</c:formatCode>
                <c:ptCount val="5"/>
                <c:pt idx="0">
                  <c:v/>
                </c:pt>
                <c:pt idx="1">
                  <c:v/>
                </c:pt>
                <c:pt idx="2">
                  <c:v/>
                </c:pt>
                <c:pt idx="3">
                  <c:v/>
                </c:pt>
                <c:pt idx="4">
                  <c:v>12000</c:v>
                </c:pt>
              </c:numCache>
            </c:numRef>
          </c:val>
        </c:ser>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100" b="0" i="0" u="none" strike="noStrike">
                <a:solidFill>
                  <a:srgbClr val="5F6B7A"/>
                </a:solidFill>
                <a:latin typeface="+mn-lt"/>
              </a:defRPr>
            </a:pPr>
            <a:endParaRPr lang="en-US"/>
          </a:p>
        </c:txPr>
        <c:crossAx val="2094734552"/>
        <c:crosses val="autoZero"/>
        <c:auto val="1"/>
        <c:lblAlgn val="ctr"/>
        <c:noMultiLvlLbl val="1"/>
      </c:catAx>
      <c:valAx>
        <c:axId val="2094734552"/>
        <c:scaling>
          <c:logBase val="10"/>
          <c:orientation val="minMax"/>
          <c:max val="100000"/>
          <c:min val="1"/>
        </c:scaling>
        <c:delete val="0"/>
        <c:axPos val="l"/>
        <c:majorGridlines>
          <c:spPr>
            <a:ln w="9525" cap="flat">
              <a:solidFill>
                <a:srgbClr val="E3E6EB"/>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F6B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726"/>
                </a:solidFill>
                <a:latin typeface="+mn-lt"/>
              </a:defRPr>
            </a:pPr>
            <a:r>
              <a:rPr sz="1300" b="0" i="0" u="none" strike="noStrike">
                <a:solidFill>
                  <a:srgbClr val="0E1726"/>
                </a:solidFill>
                <a:latin typeface="+mn-lt"/>
              </a:rPr>
              <a:t>Orbit size (AU) against year of the journey</a:t>
            </a:r>
          </a:p>
        </c:rich>
      </c:tx>
      <c:layout/>
      <c:overlay val="0"/>
    </c:title>
    <c:autoTitleDeleted val="0"/>
    <c:plotArea>
      <c:layout/>
      <c:lineChart>
        <c:varyColors val="0"/>
        <c:ser>
          <c:idx val="0"/>
          <c:order val="0"/>
          <c:tx>
            <c:strRef>
              <c:f>Sheet1!$B$1</c:f>
              <c:strCache>
                <c:ptCount val="1"/>
                <c:pt idx="0">
                  <c:v>Mars</c:v>
                </c:pt>
              </c:strCache>
            </c:strRef>
          </c:tx>
          <c:spPr>
            <a:solidFill>
              <a:srgbClr val="EB6834"/>
            </a:solidFill>
            <a:ln w="38100" cap="flat">
              <a:solidFill>
                <a:srgbClr val="EB6834"/>
              </a:solidFill>
              <a:prstDash val="solid"/>
              <a:round/>
            </a:ln>
            <a:effectLst/>
          </c:spPr>
          <c:invertIfNegative val="0"/>
          <c:dLbls>
            <c:numFmt formatCode="#,##0" sourceLinked="0"/>
            <c:txPr>
              <a:bodyPr/>
              <a:lstStyle/>
              <a:p>
                <a:pPr>
                  <a:defRPr b="0" i="0" strike="noStrike" sz="1100" u="none">
                    <a:solidFill>
                      <a:srgbClr val="0E1726"/>
                    </a:solidFill>
                    <a:latin typeface="+mn-lt"/>
                  </a:defRPr>
                </a:pPr>
              </a:p>
            </c:txPr>
            <c:showLegendKey val="0"/>
            <c:showVal val="0"/>
            <c:showCatName val="0"/>
            <c:showSerName val="0"/>
            <c:showPercent val="0"/>
            <c:showBubbleSize val="0"/>
            <c:showLeaderLines val="0"/>
          </c:dLbls>
          <c:marker>
            <c:symbol val="none"/>
            <c:size val="6"/>
            <c:spPr>
              <a:solidFill>
                <a:srgbClr val="EB6834"/>
              </a:solidFill>
              <a:ln w="9525" cap="flat">
                <a:solidFill>
                  <a:srgbClr val="EB6834"/>
                </a:solidFill>
                <a:prstDash val="solid"/>
                <a:round/>
              </a:ln>
              <a:effectLst/>
            </c:spPr>
          </c:marker>
          <c:cat>
            <c:multiLvlStrRef>
              <c:f>Sheet1!$A$2:$A$91</c:f>
              <c:multiLvlStrCache>
                <c:ptCount val="90"/>
                <c:lvl>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pt idx="31">
                    <c:v>3100</c:v>
                  </c:pt>
                  <c:pt idx="32">
                    <c:v>3200</c:v>
                  </c:pt>
                  <c:pt idx="33">
                    <c:v>3300</c:v>
                  </c:pt>
                  <c:pt idx="34">
                    <c:v>3400</c:v>
                  </c:pt>
                  <c:pt idx="35">
                    <c:v>3500</c:v>
                  </c:pt>
                  <c:pt idx="36">
                    <c:v>3600</c:v>
                  </c:pt>
                  <c:pt idx="37">
                    <c:v>3700</c:v>
                  </c:pt>
                  <c:pt idx="38">
                    <c:v>3800</c:v>
                  </c:pt>
                  <c:pt idx="39">
                    <c:v>3900</c:v>
                  </c:pt>
                  <c:pt idx="40">
                    <c:v>4000</c:v>
                  </c:pt>
                  <c:pt idx="41">
                    <c:v>4100</c:v>
                  </c:pt>
                  <c:pt idx="42">
                    <c:v>4200</c:v>
                  </c:pt>
                  <c:pt idx="43">
                    <c:v>4300</c:v>
                  </c:pt>
                  <c:pt idx="44">
                    <c:v>4400</c:v>
                  </c:pt>
                  <c:pt idx="45">
                    <c:v>4500</c:v>
                  </c:pt>
                  <c:pt idx="46">
                    <c:v>4600</c:v>
                  </c:pt>
                  <c:pt idx="47">
                    <c:v>4700</c:v>
                  </c:pt>
                  <c:pt idx="48">
                    <c:v>4800</c:v>
                  </c:pt>
                  <c:pt idx="49">
                    <c:v>4900</c:v>
                  </c:pt>
                  <c:pt idx="50">
                    <c:v>5000</c:v>
                  </c:pt>
                  <c:pt idx="51">
                    <c:v>5100</c:v>
                  </c:pt>
                  <c:pt idx="52">
                    <c:v>5200</c:v>
                  </c:pt>
                  <c:pt idx="53">
                    <c:v>5300</c:v>
                  </c:pt>
                  <c:pt idx="54">
                    <c:v>5400</c:v>
                  </c:pt>
                  <c:pt idx="55">
                    <c:v>5500</c:v>
                  </c:pt>
                  <c:pt idx="56">
                    <c:v>5600</c:v>
                  </c:pt>
                  <c:pt idx="57">
                    <c:v>5700</c:v>
                  </c:pt>
                  <c:pt idx="58">
                    <c:v>5800</c:v>
                  </c:pt>
                  <c:pt idx="59">
                    <c:v>5900</c:v>
                  </c:pt>
                  <c:pt idx="60">
                    <c:v>6000</c:v>
                  </c:pt>
                  <c:pt idx="61">
                    <c:v>6100</c:v>
                  </c:pt>
                  <c:pt idx="62">
                    <c:v>6200</c:v>
                  </c:pt>
                  <c:pt idx="63">
                    <c:v>6300</c:v>
                  </c:pt>
                  <c:pt idx="64">
                    <c:v>6400</c:v>
                  </c:pt>
                  <c:pt idx="65">
                    <c:v>6500</c:v>
                  </c:pt>
                  <c:pt idx="66">
                    <c:v>6600</c:v>
                  </c:pt>
                  <c:pt idx="67">
                    <c:v>6700</c:v>
                  </c:pt>
                  <c:pt idx="68">
                    <c:v>6800</c:v>
                  </c:pt>
                  <c:pt idx="69">
                    <c:v>6900</c:v>
                  </c:pt>
                  <c:pt idx="70">
                    <c:v>7000</c:v>
                  </c:pt>
                  <c:pt idx="71">
                    <c:v>7100</c:v>
                  </c:pt>
                  <c:pt idx="72">
                    <c:v>7200</c:v>
                  </c:pt>
                  <c:pt idx="73">
                    <c:v>7300</c:v>
                  </c:pt>
                  <c:pt idx="74">
                    <c:v>7400</c:v>
                  </c:pt>
                  <c:pt idx="75">
                    <c:v>7500</c:v>
                  </c:pt>
                  <c:pt idx="76">
                    <c:v>7600</c:v>
                  </c:pt>
                  <c:pt idx="77">
                    <c:v>7700</c:v>
                  </c:pt>
                  <c:pt idx="78">
                    <c:v>7800</c:v>
                  </c:pt>
                  <c:pt idx="79">
                    <c:v>7900</c:v>
                  </c:pt>
                  <c:pt idx="80">
                    <c:v>8000</c:v>
                  </c:pt>
                  <c:pt idx="81">
                    <c:v>8100</c:v>
                  </c:pt>
                  <c:pt idx="82">
                    <c:v>8200</c:v>
                  </c:pt>
                  <c:pt idx="83">
                    <c:v>8300</c:v>
                  </c:pt>
                  <c:pt idx="84">
                    <c:v>8400</c:v>
                  </c:pt>
                  <c:pt idx="85">
                    <c:v>8500</c:v>
                  </c:pt>
                  <c:pt idx="86">
                    <c:v>8600</c:v>
                  </c:pt>
                  <c:pt idx="87">
                    <c:v>8700</c:v>
                  </c:pt>
                  <c:pt idx="88">
                    <c:v>8800</c:v>
                  </c:pt>
                  <c:pt idx="89">
                    <c:v>8900</c:v>
                  </c:pt>
                </c:lvl>
              </c:multiLvlStrCache>
            </c:multiLvlStrRef>
          </c:cat>
          <c:val>
            <c:numRef>
              <c:f>Sheet1!$B$2:$B$91</c:f>
              <c:numCache>
                <c:formatCode>General</c:formatCode>
                <c:ptCount val="90"/>
                <c:pt idx="0">
                  <c:v>1.52371</c:v>
                </c:pt>
                <c:pt idx="1">
                  <c:v>1.54218</c:v>
                </c:pt>
                <c:pt idx="2">
                  <c:v>1.56116</c:v>
                </c:pt>
                <c:pt idx="3">
                  <c:v>1.58019</c:v>
                </c:pt>
                <c:pt idx="4">
                  <c:v>1.59966</c:v>
                </c:pt>
                <c:pt idx="5">
                  <c:v>1.61959</c:v>
                </c:pt>
                <c:pt idx="6">
                  <c:v>1.64003</c:v>
                </c:pt>
                <c:pt idx="7">
                  <c:v>1.66049</c:v>
                </c:pt>
                <c:pt idx="8">
                  <c:v>1.68182</c:v>
                </c:pt>
                <c:pt idx="9">
                  <c:v>1.70319</c:v>
                </c:pt>
                <c:pt idx="10">
                  <c:v>1.72511</c:v>
                </c:pt>
                <c:pt idx="11">
                  <c:v>1.7474</c:v>
                </c:pt>
                <c:pt idx="12">
                  <c:v>1.76993</c:v>
                </c:pt>
                <c:pt idx="13">
                  <c:v>1.79322</c:v>
                </c:pt>
                <c:pt idx="14">
                  <c:v>1.81658</c:v>
                </c:pt>
                <c:pt idx="15">
                  <c:v>1.84089</c:v>
                </c:pt>
                <c:pt idx="16">
                  <c:v>1.86551</c:v>
                </c:pt>
                <c:pt idx="17">
                  <c:v>1.89042</c:v>
                </c:pt>
                <c:pt idx="18">
                  <c:v>1.91594</c:v>
                </c:pt>
                <c:pt idx="19">
                  <c:v>1.94191</c:v>
                </c:pt>
                <c:pt idx="20">
                  <c:v>1.96876</c:v>
                </c:pt>
                <c:pt idx="21">
                  <c:v>1.99617</c:v>
                </c:pt>
                <c:pt idx="22">
                  <c:v>2.02367</c:v>
                </c:pt>
                <c:pt idx="23">
                  <c:v>2.0523</c:v>
                </c:pt>
                <c:pt idx="24">
                  <c:v>2.08089</c:v>
                </c:pt>
                <c:pt idx="25">
                  <c:v>2.11035</c:v>
                </c:pt>
                <c:pt idx="26">
                  <c:v>2.14127</c:v>
                </c:pt>
                <c:pt idx="27">
                  <c:v>2.17155</c:v>
                </c:pt>
                <c:pt idx="28">
                  <c:v>2.20333</c:v>
                </c:pt>
                <c:pt idx="29">
                  <c:v>2.23561</c:v>
                </c:pt>
                <c:pt idx="30">
                  <c:v>2.26873</c:v>
                </c:pt>
                <c:pt idx="31">
                  <c:v>2.30221</c:v>
                </c:pt>
                <c:pt idx="32">
                  <c:v>2.33742</c:v>
                </c:pt>
                <c:pt idx="33">
                  <c:v>2.37148</c:v>
                </c:pt>
                <c:pt idx="34">
                  <c:v>2.40763</c:v>
                </c:pt>
                <c:pt idx="35">
                  <c:v>2.44479</c:v>
                </c:pt>
                <c:pt idx="36">
                  <c:v>2.4821</c:v>
                </c:pt>
                <c:pt idx="37">
                  <c:v>2.52111</c:v>
                </c:pt>
                <c:pt idx="38">
                  <c:v>2.56031</c:v>
                </c:pt>
                <c:pt idx="39">
                  <c:v>2.60208</c:v>
                </c:pt>
                <c:pt idx="40">
                  <c:v>2.6421</c:v>
                </c:pt>
                <c:pt idx="41">
                  <c:v>2.68422</c:v>
                </c:pt>
                <c:pt idx="42">
                  <c:v>2.72812</c:v>
                </c:pt>
                <c:pt idx="43">
                  <c:v>2.77261</c:v>
                </c:pt>
                <c:pt idx="44">
                  <c:v>2.81724</c:v>
                </c:pt>
                <c:pt idx="45">
                  <c:v>2.8651</c:v>
                </c:pt>
                <c:pt idx="46">
                  <c:v>2.91483</c:v>
                </c:pt>
                <c:pt idx="47">
                  <c:v>2.96473</c:v>
                </c:pt>
                <c:pt idx="48">
                  <c:v>3.02485</c:v>
                </c:pt>
                <c:pt idx="49">
                  <c:v>3.24446</c:v>
                </c:pt>
                <c:pt idx="50">
                  <c:v>3.47829</c:v>
                </c:pt>
                <c:pt idx="51">
                  <c:v>3.57165</c:v>
                </c:pt>
                <c:pt idx="52">
                  <c:v>3.62526</c:v>
                </c:pt>
                <c:pt idx="53">
                  <c:v>3.63413</c:v>
                </c:pt>
                <c:pt idx="54">
                  <c:v>3.62726</c:v>
                </c:pt>
                <c:pt idx="55">
                  <c:v>3.64099</c:v>
                </c:pt>
                <c:pt idx="56">
                  <c:v>3.64362</c:v>
                </c:pt>
                <c:pt idx="57">
                  <c:v>3.62985</c:v>
                </c:pt>
                <c:pt idx="58">
                  <c:v>3.62374</c:v>
                </c:pt>
                <c:pt idx="59">
                  <c:v>3.62356</c:v>
                </c:pt>
                <c:pt idx="60">
                  <c:v>3.6247</c:v>
                </c:pt>
                <c:pt idx="61">
                  <c:v>3.61828</c:v>
                </c:pt>
                <c:pt idx="62">
                  <c:v>3.62249</c:v>
                </c:pt>
                <c:pt idx="63">
                  <c:v>3.62602</c:v>
                </c:pt>
                <c:pt idx="64">
                  <c:v>3.61998</c:v>
                </c:pt>
                <c:pt idx="65">
                  <c:v>3.62741</c:v>
                </c:pt>
                <c:pt idx="66">
                  <c:v>3.62593</c:v>
                </c:pt>
                <c:pt idx="67">
                  <c:v>3.62362</c:v>
                </c:pt>
                <c:pt idx="68">
                  <c:v>3.6314</c:v>
                </c:pt>
                <c:pt idx="69">
                  <c:v>3.62375</c:v>
                </c:pt>
                <c:pt idx="70">
                  <c:v>3.62733</c:v>
                </c:pt>
                <c:pt idx="71">
                  <c:v>3.62955</c:v>
                </c:pt>
                <c:pt idx="72">
                  <c:v>3.6209</c:v>
                </c:pt>
                <c:pt idx="73">
                  <c:v>3.62763</c:v>
                </c:pt>
                <c:pt idx="74">
                  <c:v>3.62414</c:v>
                </c:pt>
                <c:pt idx="75">
                  <c:v>3.61925</c:v>
                </c:pt>
                <c:pt idx="76">
                  <c:v>3.62548</c:v>
                </c:pt>
                <c:pt idx="77">
                  <c:v>3.61878</c:v>
                </c:pt>
                <c:pt idx="78">
                  <c:v>3.6218</c:v>
                </c:pt>
                <c:pt idx="79">
                  <c:v>3.62386</c:v>
                </c:pt>
                <c:pt idx="80">
                  <c:v>3.62636</c:v>
                </c:pt>
                <c:pt idx="81">
                  <c:v>3.63544</c:v>
                </c:pt>
                <c:pt idx="82">
                  <c:v>3.63976</c:v>
                </c:pt>
                <c:pt idx="83">
                  <c:v>3.64638</c:v>
                </c:pt>
                <c:pt idx="84">
                  <c:v>3.63266</c:v>
                </c:pt>
                <c:pt idx="85">
                  <c:v>3.62172</c:v>
                </c:pt>
                <c:pt idx="86">
                  <c:v>3.62706</c:v>
                </c:pt>
                <c:pt idx="87">
                  <c:v>3.62001</c:v>
                </c:pt>
                <c:pt idx="88">
                  <c:v>3.61892</c:v>
                </c:pt>
                <c:pt idx="89">
                  <c:v>3.62493</c:v>
                </c:pt>
              </c:numCache>
            </c:numRef>
          </c:val>
          <c:smooth val="0"/>
        </c:ser>
        <c:ser>
          <c:idx val="1"/>
          <c:order val="1"/>
          <c:tx>
            <c:strRef>
              <c:f>Sheet1!$C$1</c:f>
              <c:strCache>
                <c:ptCount val="1"/>
                <c:pt idx="0">
                  <c:v>Earth</c:v>
                </c:pt>
              </c:strCache>
            </c:strRef>
          </c:tx>
          <c:spPr>
            <a:solidFill>
              <a:srgbClr val="2A78D6"/>
            </a:solidFill>
            <a:ln w="38100" cap="flat">
              <a:solidFill>
                <a:srgbClr val="2A78D6"/>
              </a:solidFill>
              <a:prstDash val="solid"/>
              <a:round/>
            </a:ln>
            <a:effectLst/>
          </c:spPr>
          <c:invertIfNegative val="0"/>
          <c:dLbls>
            <c:numFmt formatCode="#,##0" sourceLinked="0"/>
            <c:txPr>
              <a:bodyPr/>
              <a:lstStyle/>
              <a:p>
                <a:pPr>
                  <a:defRPr b="0" i="0" strike="noStrike" sz="1100" u="none">
                    <a:solidFill>
                      <a:srgbClr val="0E1726"/>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Sheet1!$A$2:$A$91</c:f>
              <c:multiLvlStrCache>
                <c:ptCount val="90"/>
                <c:lvl>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pt idx="31">
                    <c:v>3100</c:v>
                  </c:pt>
                  <c:pt idx="32">
                    <c:v>3200</c:v>
                  </c:pt>
                  <c:pt idx="33">
                    <c:v>3300</c:v>
                  </c:pt>
                  <c:pt idx="34">
                    <c:v>3400</c:v>
                  </c:pt>
                  <c:pt idx="35">
                    <c:v>3500</c:v>
                  </c:pt>
                  <c:pt idx="36">
                    <c:v>3600</c:v>
                  </c:pt>
                  <c:pt idx="37">
                    <c:v>3700</c:v>
                  </c:pt>
                  <c:pt idx="38">
                    <c:v>3800</c:v>
                  </c:pt>
                  <c:pt idx="39">
                    <c:v>3900</c:v>
                  </c:pt>
                  <c:pt idx="40">
                    <c:v>4000</c:v>
                  </c:pt>
                  <c:pt idx="41">
                    <c:v>4100</c:v>
                  </c:pt>
                  <c:pt idx="42">
                    <c:v>4200</c:v>
                  </c:pt>
                  <c:pt idx="43">
                    <c:v>4300</c:v>
                  </c:pt>
                  <c:pt idx="44">
                    <c:v>4400</c:v>
                  </c:pt>
                  <c:pt idx="45">
                    <c:v>4500</c:v>
                  </c:pt>
                  <c:pt idx="46">
                    <c:v>4600</c:v>
                  </c:pt>
                  <c:pt idx="47">
                    <c:v>4700</c:v>
                  </c:pt>
                  <c:pt idx="48">
                    <c:v>4800</c:v>
                  </c:pt>
                  <c:pt idx="49">
                    <c:v>4900</c:v>
                  </c:pt>
                  <c:pt idx="50">
                    <c:v>5000</c:v>
                  </c:pt>
                  <c:pt idx="51">
                    <c:v>5100</c:v>
                  </c:pt>
                  <c:pt idx="52">
                    <c:v>5200</c:v>
                  </c:pt>
                  <c:pt idx="53">
                    <c:v>5300</c:v>
                  </c:pt>
                  <c:pt idx="54">
                    <c:v>5400</c:v>
                  </c:pt>
                  <c:pt idx="55">
                    <c:v>5500</c:v>
                  </c:pt>
                  <c:pt idx="56">
                    <c:v>5600</c:v>
                  </c:pt>
                  <c:pt idx="57">
                    <c:v>5700</c:v>
                  </c:pt>
                  <c:pt idx="58">
                    <c:v>5800</c:v>
                  </c:pt>
                  <c:pt idx="59">
                    <c:v>5900</c:v>
                  </c:pt>
                  <c:pt idx="60">
                    <c:v>6000</c:v>
                  </c:pt>
                  <c:pt idx="61">
                    <c:v>6100</c:v>
                  </c:pt>
                  <c:pt idx="62">
                    <c:v>6200</c:v>
                  </c:pt>
                  <c:pt idx="63">
                    <c:v>6300</c:v>
                  </c:pt>
                  <c:pt idx="64">
                    <c:v>6400</c:v>
                  </c:pt>
                  <c:pt idx="65">
                    <c:v>6500</c:v>
                  </c:pt>
                  <c:pt idx="66">
                    <c:v>6600</c:v>
                  </c:pt>
                  <c:pt idx="67">
                    <c:v>6700</c:v>
                  </c:pt>
                  <c:pt idx="68">
                    <c:v>6800</c:v>
                  </c:pt>
                  <c:pt idx="69">
                    <c:v>6900</c:v>
                  </c:pt>
                  <c:pt idx="70">
                    <c:v>7000</c:v>
                  </c:pt>
                  <c:pt idx="71">
                    <c:v>7100</c:v>
                  </c:pt>
                  <c:pt idx="72">
                    <c:v>7200</c:v>
                  </c:pt>
                  <c:pt idx="73">
                    <c:v>7300</c:v>
                  </c:pt>
                  <c:pt idx="74">
                    <c:v>7400</c:v>
                  </c:pt>
                  <c:pt idx="75">
                    <c:v>7500</c:v>
                  </c:pt>
                  <c:pt idx="76">
                    <c:v>7600</c:v>
                  </c:pt>
                  <c:pt idx="77">
                    <c:v>7700</c:v>
                  </c:pt>
                  <c:pt idx="78">
                    <c:v>7800</c:v>
                  </c:pt>
                  <c:pt idx="79">
                    <c:v>7900</c:v>
                  </c:pt>
                  <c:pt idx="80">
                    <c:v>8000</c:v>
                  </c:pt>
                  <c:pt idx="81">
                    <c:v>8100</c:v>
                  </c:pt>
                  <c:pt idx="82">
                    <c:v>8200</c:v>
                  </c:pt>
                  <c:pt idx="83">
                    <c:v>8300</c:v>
                  </c:pt>
                  <c:pt idx="84">
                    <c:v>8400</c:v>
                  </c:pt>
                  <c:pt idx="85">
                    <c:v>8500</c:v>
                  </c:pt>
                  <c:pt idx="86">
                    <c:v>8600</c:v>
                  </c:pt>
                  <c:pt idx="87">
                    <c:v>8700</c:v>
                  </c:pt>
                  <c:pt idx="88">
                    <c:v>8800</c:v>
                  </c:pt>
                  <c:pt idx="89">
                    <c:v>8900</c:v>
                  </c:pt>
                </c:lvl>
              </c:multiLvlStrCache>
            </c:multiLvlStrRef>
          </c:cat>
          <c:val>
            <c:numRef>
              <c:f>Sheet1!$C$2:$C$91</c:f>
              <c:numCache>
                <c:formatCode>General</c:formatCode>
                <c:ptCount val="90"/>
                <c:pt idx="0">
                  <c:v>1</c:v>
                </c:pt>
                <c:pt idx="1">
                  <c:v>1.00988</c:v>
                </c:pt>
                <c:pt idx="2">
                  <c:v>1.01992</c:v>
                </c:pt>
                <c:pt idx="3">
                  <c:v>1.03005</c:v>
                </c:pt>
                <c:pt idx="4">
                  <c:v>1.04036</c:v>
                </c:pt>
                <c:pt idx="5">
                  <c:v>1.05081</c:v>
                </c:pt>
                <c:pt idx="6">
                  <c:v>1.06144</c:v>
                </c:pt>
                <c:pt idx="7">
                  <c:v>1.07226</c:v>
                </c:pt>
                <c:pt idx="8">
                  <c:v>1.08318</c:v>
                </c:pt>
                <c:pt idx="9">
                  <c:v>1.09428</c:v>
                </c:pt>
                <c:pt idx="10">
                  <c:v>1.10558</c:v>
                </c:pt>
                <c:pt idx="11">
                  <c:v>1.11706</c:v>
                </c:pt>
                <c:pt idx="12">
                  <c:v>1.1287</c:v>
                </c:pt>
                <c:pt idx="13">
                  <c:v>1.14055</c:v>
                </c:pt>
                <c:pt idx="14">
                  <c:v>1.15253</c:v>
                </c:pt>
                <c:pt idx="15">
                  <c:v>1.16472</c:v>
                </c:pt>
                <c:pt idx="16">
                  <c:v>1.17712</c:v>
                </c:pt>
                <c:pt idx="17">
                  <c:v>1.18973</c:v>
                </c:pt>
                <c:pt idx="18">
                  <c:v>1.20253</c:v>
                </c:pt>
                <c:pt idx="19">
                  <c:v>1.21554</c:v>
                </c:pt>
                <c:pt idx="20">
                  <c:v>1.22872</c:v>
                </c:pt>
                <c:pt idx="21">
                  <c:v>1.24221</c:v>
                </c:pt>
                <c:pt idx="22">
                  <c:v>1.25585</c:v>
                </c:pt>
                <c:pt idx="23">
                  <c:v>1.26971</c:v>
                </c:pt>
                <c:pt idx="24">
                  <c:v>1.28385</c:v>
                </c:pt>
                <c:pt idx="25">
                  <c:v>1.29817</c:v>
                </c:pt>
                <c:pt idx="26">
                  <c:v>1.31285</c:v>
                </c:pt>
                <c:pt idx="27">
                  <c:v>1.32765</c:v>
                </c:pt>
                <c:pt idx="28">
                  <c:v>1.3427</c:v>
                </c:pt>
                <c:pt idx="29">
                  <c:v>1.35809</c:v>
                </c:pt>
                <c:pt idx="30">
                  <c:v>1.37363</c:v>
                </c:pt>
                <c:pt idx="31">
                  <c:v>1.38963</c:v>
                </c:pt>
                <c:pt idx="32">
                  <c:v>1.40577</c:v>
                </c:pt>
                <c:pt idx="33">
                  <c:v>1.42222</c:v>
                </c:pt>
                <c:pt idx="34">
                  <c:v>1.43894</c:v>
                </c:pt>
                <c:pt idx="35">
                  <c:v>1.45598</c:v>
                </c:pt>
                <c:pt idx="36">
                  <c:v>1.47336</c:v>
                </c:pt>
                <c:pt idx="37">
                  <c:v>1.49104</c:v>
                </c:pt>
                <c:pt idx="38">
                  <c:v>1.50898</c:v>
                </c:pt>
                <c:pt idx="39">
                  <c:v>1.52729</c:v>
                </c:pt>
                <c:pt idx="40">
                  <c:v>1.5459</c:v>
                </c:pt>
                <c:pt idx="41">
                  <c:v>1.56479</c:v>
                </c:pt>
                <c:pt idx="42">
                  <c:v>1.58415</c:v>
                </c:pt>
                <c:pt idx="43">
                  <c:v>1.60383</c:v>
                </c:pt>
                <c:pt idx="44">
                  <c:v>1.62394</c:v>
                </c:pt>
                <c:pt idx="45">
                  <c:v>1.64426</c:v>
                </c:pt>
                <c:pt idx="46">
                  <c:v>1.6634</c:v>
                </c:pt>
                <c:pt idx="47">
                  <c:v>1.67516</c:v>
                </c:pt>
                <c:pt idx="48">
                  <c:v>1.68707</c:v>
                </c:pt>
                <c:pt idx="49">
                  <c:v>1.69921</c:v>
                </c:pt>
                <c:pt idx="50">
                  <c:v>1.71142</c:v>
                </c:pt>
                <c:pt idx="51">
                  <c:v>1.72378</c:v>
                </c:pt>
                <c:pt idx="52">
                  <c:v>1.74211</c:v>
                </c:pt>
                <c:pt idx="53">
                  <c:v>1.76469</c:v>
                </c:pt>
                <c:pt idx="54">
                  <c:v>1.78817</c:v>
                </c:pt>
                <c:pt idx="55">
                  <c:v>1.81182</c:v>
                </c:pt>
                <c:pt idx="56">
                  <c:v>1.83559</c:v>
                </c:pt>
                <c:pt idx="57">
                  <c:v>1.86035</c:v>
                </c:pt>
                <c:pt idx="58">
                  <c:v>1.88539</c:v>
                </c:pt>
                <c:pt idx="59">
                  <c:v>1.9109</c:v>
                </c:pt>
                <c:pt idx="60">
                  <c:v>1.93707</c:v>
                </c:pt>
                <c:pt idx="61">
                  <c:v>1.96351</c:v>
                </c:pt>
                <c:pt idx="62">
                  <c:v>1.99066</c:v>
                </c:pt>
                <c:pt idx="63">
                  <c:v>2.01595</c:v>
                </c:pt>
                <c:pt idx="64">
                  <c:v>2.03755</c:v>
                </c:pt>
                <c:pt idx="65">
                  <c:v>2.05999</c:v>
                </c:pt>
                <c:pt idx="66">
                  <c:v>2.08271</c:v>
                </c:pt>
                <c:pt idx="67">
                  <c:v>2.10569</c:v>
                </c:pt>
                <c:pt idx="68">
                  <c:v>2.12911</c:v>
                </c:pt>
                <c:pt idx="69">
                  <c:v>2.1532</c:v>
                </c:pt>
                <c:pt idx="70">
                  <c:v>2.17735</c:v>
                </c:pt>
                <c:pt idx="71">
                  <c:v>2.20244</c:v>
                </c:pt>
                <c:pt idx="72">
                  <c:v>2.22659</c:v>
                </c:pt>
                <c:pt idx="73">
                  <c:v>2.25193</c:v>
                </c:pt>
                <c:pt idx="74">
                  <c:v>2.27783</c:v>
                </c:pt>
                <c:pt idx="75">
                  <c:v>2.30451</c:v>
                </c:pt>
                <c:pt idx="76">
                  <c:v>2.33158</c:v>
                </c:pt>
                <c:pt idx="77">
                  <c:v>2.3582</c:v>
                </c:pt>
                <c:pt idx="78">
                  <c:v>2.38596</c:v>
                </c:pt>
                <c:pt idx="79">
                  <c:v>2.41504</c:v>
                </c:pt>
                <c:pt idx="80">
                  <c:v>2.44604</c:v>
                </c:pt>
                <c:pt idx="81">
                  <c:v>2.47797</c:v>
                </c:pt>
                <c:pt idx="82">
                  <c:v>2.50787</c:v>
                </c:pt>
                <c:pt idx="83">
                  <c:v>2.53821</c:v>
                </c:pt>
                <c:pt idx="84">
                  <c:v>2.56949</c:v>
                </c:pt>
                <c:pt idx="85">
                  <c:v>2.60278</c:v>
                </c:pt>
                <c:pt idx="86">
                  <c:v>2.63885</c:v>
                </c:pt>
                <c:pt idx="87">
                  <c:v>2.67692</c:v>
                </c:pt>
                <c:pt idx="88">
                  <c:v>2.69901</c:v>
                </c:pt>
                <c:pt idx="89">
                  <c:v>2.69883</c:v>
                </c:pt>
              </c:numCache>
            </c:numRef>
          </c:val>
          <c:smooth val="0"/>
        </c:ser>
        <c:dLbls>
          <c:numFmt formatCode="#,##0" sourceLinked="0"/>
          <c:txPr>
            <a:bodyPr/>
            <a:lstStyle/>
            <a:p>
              <a:pPr>
                <a:defRPr b="0" i="0" strike="noStrike" sz="1100" u="none">
                  <a:solidFill>
                    <a:srgbClr val="0E1726"/>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100" b="0" i="0" u="none" strike="noStrike">
                <a:solidFill>
                  <a:srgbClr val="5F6B7A"/>
                </a:solidFill>
                <a:latin typeface="+mn-lt"/>
              </a:defRPr>
            </a:pPr>
            <a:endParaRPr lang="en-US"/>
          </a:p>
        </c:txPr>
        <c:crossAx val="2094734552"/>
        <c:crosses val="autoZero"/>
        <c:auto val="1"/>
        <c:lblAlgn val="ctr"/>
        <c:noMultiLvlLbl val="1"/>
        <c:tickLblSkip val="10"/>
      </c:catAx>
      <c:valAx>
        <c:axId val="2094734552"/>
        <c:scaling>
          <c:orientation val="minMax"/>
          <c:max val="4"/>
          <c:min val="0.5"/>
        </c:scaling>
        <c:delete val="0"/>
        <c:axPos val="l"/>
        <c:majorGridlines>
          <c:spPr>
            <a:ln w="9525" cap="flat">
              <a:solidFill>
                <a:srgbClr val="E3E6EB"/>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majorUnit val="0.5"/>
      </c:valAx>
      <c:spPr>
        <a:noFill/>
        <a:ln>
          <a:noFill/>
        </a:ln>
        <a:effectLst/>
      </c:spPr>
    </c:plotArea>
    <c:legend>
      <c:legendPos val="t"/>
      <c:overlay val="0"/>
      <c:txPr>
        <a:bodyPr/>
        <a:lstStyle/>
        <a:p>
          <a:pPr>
            <a:defRPr sz="1100">
              <a:solidFill>
                <a:srgbClr val="5F6B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726"/>
                </a:solidFill>
                <a:latin typeface="+mn-lt"/>
              </a:defRPr>
            </a:pPr>
            <a:r>
              <a:rPr sz="1300" b="0" i="0" u="none" strike="noStrike">
                <a:solidFill>
                  <a:srgbClr val="0E1726"/>
                </a:solidFill>
                <a:latin typeface="+mn-lt"/>
              </a:rPr>
              <a:t>Ledger error, share of the applied impulse (log scale: shorter is better)</a:t>
            </a:r>
          </a:p>
        </c:rich>
      </c:tx>
      <c:layout/>
      <c:overlay val="0"/>
    </c:title>
    <c:autoTitleDeleted val="0"/>
    <c:plotArea>
      <c:layout/>
      <c:barChart>
        <c:barDir val="col"/>
        <c:grouping val="stacked"/>
        <c:varyColors val="0"/>
        <c:ser>
          <c:idx val="0"/>
          <c:order val="0"/>
          <c:tx>
            <c:strRef>
              <c:f>Sheet1!$B$1</c:f>
              <c:strCache>
                <c:ptCount val="1"/>
                <c:pt idx="0">
                  <c:v>Our run (worst)</c:v>
                </c:pt>
              </c:strCache>
            </c:strRef>
          </c:tx>
          <c:spPr>
            <a:solidFill>
              <a:srgbClr val="6250D6"/>
            </a:solidFill>
            <a:effectLst/>
          </c:spPr>
          <c:invertIfNegative val="0"/>
          <c:dLbls>
            <c:numFmt formatCode="0.0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Sheet1!$A$2:$A$4</c:f>
              <c:multiLvlStrCache>
                <c:ptCount val="3"/>
                <c:lvl>
                  <c:pt idx="0">
                    <c:v>Bodies' momentum vs applied impulse</c:v>
                  </c:pt>
                  <c:pt idx="1">
                    <c:v>Impulse + recoil + light + departed</c:v>
                  </c:pt>
                  <c:pt idx="2">
                    <c:v>The guide's limit</c:v>
                  </c:pt>
                </c:lvl>
              </c:multiLvlStrCache>
            </c:multiLvlStrRef>
          </c:cat>
          <c:val>
            <c:numRef>
              <c:f>Sheet1!$B$2:$B$4</c:f>
              <c:numCache>
                <c:formatCode>General</c:formatCode>
                <c:ptCount val="3"/>
                <c:pt idx="0">
                  <c:v>5.502223431670576e-22</c:v>
                </c:pt>
                <c:pt idx="1">
                  <c:v>5.640536419852472e-16</c:v>
                </c:pt>
                <c:pt idx="2">
                  <c:v/>
                </c:pt>
              </c:numCache>
            </c:numRef>
          </c:val>
        </c:ser>
        <c:ser>
          <c:idx val="1"/>
          <c:order val="1"/>
          <c:tx>
            <c:strRef>
              <c:f>Sheet1!$C$1</c:f>
              <c:strCache>
                <c:ptCount val="1"/>
                <c:pt idx="0">
                  <c:v>Limit</c:v>
                </c:pt>
              </c:strCache>
            </c:strRef>
          </c:tx>
          <c:spPr>
            <a:solidFill>
              <a:srgbClr val="5B6B85"/>
            </a:solidFill>
            <a:effectLst/>
          </c:spPr>
          <c:invertIfNegative val="0"/>
          <c:dLbls>
            <c:numFmt formatCode="0.0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Sheet1!$A$2:$A$4</c:f>
              <c:multiLvlStrCache>
                <c:ptCount val="3"/>
                <c:lvl>
                  <c:pt idx="0">
                    <c:v>Bodies' momentum vs applied impulse</c:v>
                  </c:pt>
                  <c:pt idx="1">
                    <c:v>Impulse + recoil + light + departed</c:v>
                  </c:pt>
                  <c:pt idx="2">
                    <c:v>The guide's limit</c:v>
                  </c:pt>
                </c:lvl>
              </c:multiLvlStrCache>
            </c:multiLvlStrRef>
          </c:cat>
          <c:val>
            <c:numRef>
              <c:f>Sheet1!$C$2:$C$4</c:f>
              <c:numCache>
                <c:formatCode>General</c:formatCode>
                <c:ptCount val="3"/>
                <c:pt idx="0">
                  <c:v/>
                </c:pt>
                <c:pt idx="1">
                  <c:v/>
                </c:pt>
                <c:pt idx="2">
                  <c:v>1e-9</c:v>
                </c:pt>
              </c:numCache>
            </c:numRef>
          </c:val>
        </c:ser>
        <c:dLbls>
          <c:numFmt formatCode="0.0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100" b="0" i="0" u="none" strike="noStrike">
                <a:solidFill>
                  <a:srgbClr val="5F6B7A"/>
                </a:solidFill>
                <a:latin typeface="+mn-lt"/>
              </a:defRPr>
            </a:pPr>
            <a:endParaRPr lang="en-US"/>
          </a:p>
        </c:txPr>
        <c:crossAx val="2094734552"/>
        <c:crosses val="autoZero"/>
        <c:auto val="1"/>
        <c:lblAlgn val="ctr"/>
        <c:noMultiLvlLbl val="1"/>
      </c:catAx>
      <c:valAx>
        <c:axId val="2094734552"/>
        <c:scaling>
          <c:logBase val="10"/>
          <c:orientation val="minMax"/>
          <c:max val="0.000001"/>
          <c:min val="1e-24"/>
        </c:scaling>
        <c:delete val="0"/>
        <c:axPos val="l"/>
        <c:majorGridlines>
          <c:spPr>
            <a:ln w="9525" cap="flat">
              <a:solidFill>
                <a:srgbClr val="E3E6EB"/>
              </a:solidFill>
              <a:prstDash val="solid"/>
              <a:round/>
            </a:ln>
          </c:spPr>
        </c:majorGridlines>
        <c:numFmt formatCode="0E+0"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726"/>
                </a:solidFill>
                <a:latin typeface="+mn-lt"/>
              </a:defRPr>
            </a:pPr>
            <a:r>
              <a:rPr sz="1300" b="0" i="0" u="none" strike="noStrike">
                <a:solidFill>
                  <a:srgbClr val="0E1726"/>
                </a:solidFill>
                <a:latin typeface="+mn-lt"/>
              </a:rPr>
              <a:t>Beam power (×10²⁵ W) against year of the journey</a:t>
            </a:r>
          </a:p>
        </c:rich>
      </c:tx>
      <c:layout/>
      <c:overlay val="0"/>
    </c:title>
    <c:autoTitleDeleted val="0"/>
    <c:plotArea>
      <c:layout/>
      <c:lineChart>
        <c:varyColors val="0"/>
        <c:ser>
          <c:idx val="0"/>
          <c:order val="0"/>
          <c:tx>
            <c:strRef>
              <c:f>Sheet1!$B$1</c:f>
              <c:strCache>
                <c:ptCount val="1"/>
                <c:pt idx="0">
                  <c:v>Both beams together</c:v>
                </c:pt>
              </c:strCache>
            </c:strRef>
          </c:tx>
          <c:spPr>
            <a:solidFill>
              <a:srgbClr val="E8A317"/>
            </a:solidFill>
            <a:ln w="28575" cap="flat">
              <a:solidFill>
                <a:srgbClr val="E8A317"/>
              </a:solidFill>
              <a:prstDash val="solid"/>
              <a:round/>
            </a:ln>
            <a:effectLst/>
          </c:spPr>
          <c:invertIfNegative val="0"/>
          <c:dLbls>
            <c:numFmt formatCode="#,##0" sourceLinked="0"/>
            <c:txPr>
              <a:bodyPr/>
              <a:lstStyle/>
              <a:p>
                <a:pPr>
                  <a:defRPr b="0" i="0" strike="noStrike" sz="1100" u="none">
                    <a:solidFill>
                      <a:srgbClr val="0E1726"/>
                    </a:solidFill>
                    <a:latin typeface="+mn-lt"/>
                  </a:defRPr>
                </a:pPr>
              </a:p>
            </c:txPr>
            <c:showLegendKey val="0"/>
            <c:showVal val="0"/>
            <c:showCatName val="0"/>
            <c:showSerName val="0"/>
            <c:showPercent val="0"/>
            <c:showBubbleSize val="0"/>
            <c:showLeaderLines val="0"/>
          </c:dLbls>
          <c:marker>
            <c:symbol val="none"/>
            <c:size val="6"/>
            <c:spPr>
              <a:solidFill>
                <a:srgbClr val="E8A317"/>
              </a:solidFill>
              <a:ln w="9525" cap="flat">
                <a:solidFill>
                  <a:srgbClr val="E8A317"/>
                </a:solidFill>
                <a:prstDash val="solid"/>
                <a:round/>
              </a:ln>
              <a:effectLst/>
            </c:spPr>
          </c:marker>
          <c:cat>
            <c:multiLvlStrRef>
              <c:f>Sheet1!$A$2:$A$91</c:f>
              <c:multiLvlStrCache>
                <c:ptCount val="90"/>
                <c:lvl>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pt idx="31">
                    <c:v>3100</c:v>
                  </c:pt>
                  <c:pt idx="32">
                    <c:v>3200</c:v>
                  </c:pt>
                  <c:pt idx="33">
                    <c:v>3300</c:v>
                  </c:pt>
                  <c:pt idx="34">
                    <c:v>3400</c:v>
                  </c:pt>
                  <c:pt idx="35">
                    <c:v>3500</c:v>
                  </c:pt>
                  <c:pt idx="36">
                    <c:v>3600</c:v>
                  </c:pt>
                  <c:pt idx="37">
                    <c:v>3700</c:v>
                  </c:pt>
                  <c:pt idx="38">
                    <c:v>3800</c:v>
                  </c:pt>
                  <c:pt idx="39">
                    <c:v>3900</c:v>
                  </c:pt>
                  <c:pt idx="40">
                    <c:v>4000</c:v>
                  </c:pt>
                  <c:pt idx="41">
                    <c:v>4100</c:v>
                  </c:pt>
                  <c:pt idx="42">
                    <c:v>4200</c:v>
                  </c:pt>
                  <c:pt idx="43">
                    <c:v>4300</c:v>
                  </c:pt>
                  <c:pt idx="44">
                    <c:v>4400</c:v>
                  </c:pt>
                  <c:pt idx="45">
                    <c:v>4500</c:v>
                  </c:pt>
                  <c:pt idx="46">
                    <c:v>4600</c:v>
                  </c:pt>
                  <c:pt idx="47">
                    <c:v>4700</c:v>
                  </c:pt>
                  <c:pt idx="48">
                    <c:v>4800</c:v>
                  </c:pt>
                  <c:pt idx="49">
                    <c:v>4900</c:v>
                  </c:pt>
                  <c:pt idx="50">
                    <c:v>5000</c:v>
                  </c:pt>
                  <c:pt idx="51">
                    <c:v>5100</c:v>
                  </c:pt>
                  <c:pt idx="52">
                    <c:v>5200</c:v>
                  </c:pt>
                  <c:pt idx="53">
                    <c:v>5300</c:v>
                  </c:pt>
                  <c:pt idx="54">
                    <c:v>5400</c:v>
                  </c:pt>
                  <c:pt idx="55">
                    <c:v>5500</c:v>
                  </c:pt>
                  <c:pt idx="56">
                    <c:v>5600</c:v>
                  </c:pt>
                  <c:pt idx="57">
                    <c:v>5700</c:v>
                  </c:pt>
                  <c:pt idx="58">
                    <c:v>5800</c:v>
                  </c:pt>
                  <c:pt idx="59">
                    <c:v>5900</c:v>
                  </c:pt>
                  <c:pt idx="60">
                    <c:v>6000</c:v>
                  </c:pt>
                  <c:pt idx="61">
                    <c:v>6100</c:v>
                  </c:pt>
                  <c:pt idx="62">
                    <c:v>6200</c:v>
                  </c:pt>
                  <c:pt idx="63">
                    <c:v>6300</c:v>
                  </c:pt>
                  <c:pt idx="64">
                    <c:v>6400</c:v>
                  </c:pt>
                  <c:pt idx="65">
                    <c:v>6500</c:v>
                  </c:pt>
                  <c:pt idx="66">
                    <c:v>6600</c:v>
                  </c:pt>
                  <c:pt idx="67">
                    <c:v>6700</c:v>
                  </c:pt>
                  <c:pt idx="68">
                    <c:v>6800</c:v>
                  </c:pt>
                  <c:pt idx="69">
                    <c:v>6900</c:v>
                  </c:pt>
                  <c:pt idx="70">
                    <c:v>7000</c:v>
                  </c:pt>
                  <c:pt idx="71">
                    <c:v>7100</c:v>
                  </c:pt>
                  <c:pt idx="72">
                    <c:v>7200</c:v>
                  </c:pt>
                  <c:pt idx="73">
                    <c:v>7300</c:v>
                  </c:pt>
                  <c:pt idx="74">
                    <c:v>7400</c:v>
                  </c:pt>
                  <c:pt idx="75">
                    <c:v>7500</c:v>
                  </c:pt>
                  <c:pt idx="76">
                    <c:v>7600</c:v>
                  </c:pt>
                  <c:pt idx="77">
                    <c:v>7700</c:v>
                  </c:pt>
                  <c:pt idx="78">
                    <c:v>7800</c:v>
                  </c:pt>
                  <c:pt idx="79">
                    <c:v>7900</c:v>
                  </c:pt>
                  <c:pt idx="80">
                    <c:v>8000</c:v>
                  </c:pt>
                  <c:pt idx="81">
                    <c:v>8100</c:v>
                  </c:pt>
                  <c:pt idx="82">
                    <c:v>8200</c:v>
                  </c:pt>
                  <c:pt idx="83">
                    <c:v>8300</c:v>
                  </c:pt>
                  <c:pt idx="84">
                    <c:v>8400</c:v>
                  </c:pt>
                  <c:pt idx="85">
                    <c:v>8500</c:v>
                  </c:pt>
                  <c:pt idx="86">
                    <c:v>8600</c:v>
                  </c:pt>
                  <c:pt idx="87">
                    <c:v>8700</c:v>
                  </c:pt>
                  <c:pt idx="88">
                    <c:v>8800</c:v>
                  </c:pt>
                  <c:pt idx="89">
                    <c:v>8900</c:v>
                  </c:pt>
                </c:lvl>
              </c:multiLvlStrCache>
            </c:multiLvlStrRef>
          </c:cat>
          <c:val>
            <c:numRef>
              <c:f>Sheet1!$B$2:$B$91</c:f>
              <c:numCache>
                <c:formatCode>General</c:formatCode>
                <c:ptCount val="90"/>
                <c:pt idx="0">
                  <c:v>9.249</c:v>
                </c:pt>
                <c:pt idx="1">
                  <c:v>9.26</c:v>
                </c:pt>
                <c:pt idx="2">
                  <c:v>9.251</c:v>
                </c:pt>
                <c:pt idx="3">
                  <c:v>9.255</c:v>
                </c:pt>
                <c:pt idx="4">
                  <c:v>9.247</c:v>
                </c:pt>
                <c:pt idx="5">
                  <c:v>9.257</c:v>
                </c:pt>
                <c:pt idx="6">
                  <c:v>9.244</c:v>
                </c:pt>
                <c:pt idx="7">
                  <c:v>9.256</c:v>
                </c:pt>
                <c:pt idx="8">
                  <c:v>9.247</c:v>
                </c:pt>
                <c:pt idx="9">
                  <c:v>9.244</c:v>
                </c:pt>
                <c:pt idx="10">
                  <c:v>9.255</c:v>
                </c:pt>
                <c:pt idx="11">
                  <c:v>9.242</c:v>
                </c:pt>
                <c:pt idx="12">
                  <c:v>9.241</c:v>
                </c:pt>
                <c:pt idx="13">
                  <c:v>9.246</c:v>
                </c:pt>
                <c:pt idx="14">
                  <c:v>9.243</c:v>
                </c:pt>
                <c:pt idx="15">
                  <c:v>9.247</c:v>
                </c:pt>
                <c:pt idx="16">
                  <c:v>9.248</c:v>
                </c:pt>
                <c:pt idx="17">
                  <c:v>9.24</c:v>
                </c:pt>
                <c:pt idx="18">
                  <c:v>9.246</c:v>
                </c:pt>
                <c:pt idx="19">
                  <c:v>9.249</c:v>
                </c:pt>
                <c:pt idx="20">
                  <c:v>9.246</c:v>
                </c:pt>
                <c:pt idx="21">
                  <c:v>9.245</c:v>
                </c:pt>
                <c:pt idx="22">
                  <c:v>9.239</c:v>
                </c:pt>
                <c:pt idx="23">
                  <c:v>9.246</c:v>
                </c:pt>
                <c:pt idx="24">
                  <c:v>9.242</c:v>
                </c:pt>
                <c:pt idx="25">
                  <c:v>9.24</c:v>
                </c:pt>
                <c:pt idx="26">
                  <c:v>9.24</c:v>
                </c:pt>
                <c:pt idx="27">
                  <c:v>9.239</c:v>
                </c:pt>
                <c:pt idx="28">
                  <c:v>9.243</c:v>
                </c:pt>
                <c:pt idx="29">
                  <c:v>9.242</c:v>
                </c:pt>
                <c:pt idx="30">
                  <c:v>9.24</c:v>
                </c:pt>
                <c:pt idx="31">
                  <c:v>9.243</c:v>
                </c:pt>
                <c:pt idx="32">
                  <c:v>9.24</c:v>
                </c:pt>
                <c:pt idx="33">
                  <c:v>9.243</c:v>
                </c:pt>
                <c:pt idx="34">
                  <c:v>9.24</c:v>
                </c:pt>
                <c:pt idx="35">
                  <c:v>9.241</c:v>
                </c:pt>
                <c:pt idx="36">
                  <c:v>9.24</c:v>
                </c:pt>
                <c:pt idx="37">
                  <c:v>9.241</c:v>
                </c:pt>
                <c:pt idx="38">
                  <c:v>9.242</c:v>
                </c:pt>
                <c:pt idx="39">
                  <c:v>9.24</c:v>
                </c:pt>
                <c:pt idx="40">
                  <c:v>9.242</c:v>
                </c:pt>
                <c:pt idx="41">
                  <c:v>9.241</c:v>
                </c:pt>
                <c:pt idx="42">
                  <c:v>9.241</c:v>
                </c:pt>
                <c:pt idx="43">
                  <c:v>9.242</c:v>
                </c:pt>
                <c:pt idx="44">
                  <c:v>9.24</c:v>
                </c:pt>
                <c:pt idx="45">
                  <c:v>9.24</c:v>
                </c:pt>
                <c:pt idx="46">
                  <c:v>5.579</c:v>
                </c:pt>
                <c:pt idx="47">
                  <c:v>5.581</c:v>
                </c:pt>
                <c:pt idx="48">
                  <c:v>8.244</c:v>
                </c:pt>
                <c:pt idx="49">
                  <c:v>8.245</c:v>
                </c:pt>
                <c:pt idx="50">
                  <c:v>8.245</c:v>
                </c:pt>
                <c:pt idx="51">
                  <c:v>5.579</c:v>
                </c:pt>
                <c:pt idx="52">
                  <c:v>8.354</c:v>
                </c:pt>
                <c:pt idx="53">
                  <c:v>8.354</c:v>
                </c:pt>
                <c:pt idx="54">
                  <c:v>8.354</c:v>
                </c:pt>
                <c:pt idx="55">
                  <c:v>8.355</c:v>
                </c:pt>
                <c:pt idx="56">
                  <c:v>8.354</c:v>
                </c:pt>
                <c:pt idx="57">
                  <c:v>8.354</c:v>
                </c:pt>
                <c:pt idx="58">
                  <c:v>8.354</c:v>
                </c:pt>
                <c:pt idx="59">
                  <c:v>8.354</c:v>
                </c:pt>
                <c:pt idx="60">
                  <c:v>8.355</c:v>
                </c:pt>
                <c:pt idx="61">
                  <c:v>8.355</c:v>
                </c:pt>
                <c:pt idx="62">
                  <c:v>8.355</c:v>
                </c:pt>
                <c:pt idx="63">
                  <c:v>6.635</c:v>
                </c:pt>
                <c:pt idx="64">
                  <c:v>5.6</c:v>
                </c:pt>
                <c:pt idx="65">
                  <c:v>5.3</c:v>
                </c:pt>
                <c:pt idx="66">
                  <c:v>8.844</c:v>
                </c:pt>
                <c:pt idx="67">
                  <c:v>8.833</c:v>
                </c:pt>
                <c:pt idx="68">
                  <c:v>5.358</c:v>
                </c:pt>
                <c:pt idx="69">
                  <c:v>5.933</c:v>
                </c:pt>
                <c:pt idx="70">
                  <c:v>6.096</c:v>
                </c:pt>
                <c:pt idx="71">
                  <c:v>5.604</c:v>
                </c:pt>
                <c:pt idx="72">
                  <c:v>8.48</c:v>
                </c:pt>
                <c:pt idx="73">
                  <c:v>6.544</c:v>
                </c:pt>
                <c:pt idx="74">
                  <c:v>8.85</c:v>
                </c:pt>
                <c:pt idx="75">
                  <c:v>7.766</c:v>
                </c:pt>
                <c:pt idx="76">
                  <c:v>6.666</c:v>
                </c:pt>
                <c:pt idx="77">
                  <c:v>8.714</c:v>
                </c:pt>
                <c:pt idx="78">
                  <c:v>5.791</c:v>
                </c:pt>
                <c:pt idx="79">
                  <c:v>6.993</c:v>
                </c:pt>
                <c:pt idx="80">
                  <c:v>7.315</c:v>
                </c:pt>
                <c:pt idx="81">
                  <c:v>5.675</c:v>
                </c:pt>
                <c:pt idx="82">
                  <c:v>7.581</c:v>
                </c:pt>
                <c:pt idx="83">
                  <c:v>7.918</c:v>
                </c:pt>
                <c:pt idx="84">
                  <c:v>5.968</c:v>
                </c:pt>
                <c:pt idx="85">
                  <c:v>5.764</c:v>
                </c:pt>
                <c:pt idx="86">
                  <c:v>8.241</c:v>
                </c:pt>
                <c:pt idx="87">
                  <c:v>7.87</c:v>
                </c:pt>
                <c:pt idx="88">
                  <c:v>0</c:v>
                </c:pt>
                <c:pt idx="89">
                  <c:v>0</c:v>
                </c:pt>
              </c:numCache>
            </c:numRef>
          </c:val>
          <c:smooth val="0"/>
        </c:ser>
        <c:ser>
          <c:idx val="1"/>
          <c:order val="1"/>
          <c:tx>
            <c:strRef>
              <c:f>Sheet1!$C$1</c:f>
              <c:strCache>
                <c:ptCount val="1"/>
                <c:pt idx="0">
                  <c:v>E1's bound</c:v>
                </c:pt>
              </c:strCache>
            </c:strRef>
          </c:tx>
          <c:spPr>
            <a:solidFill>
              <a:srgbClr val="5B6B85"/>
            </a:solidFill>
            <a:ln w="28575" cap="flat">
              <a:solidFill>
                <a:srgbClr val="5B6B85"/>
              </a:solidFill>
              <a:prstDash val="solid"/>
              <a:round/>
            </a:ln>
            <a:effectLst/>
          </c:spPr>
          <c:invertIfNegative val="0"/>
          <c:dLbls>
            <c:numFmt formatCode="#,##0" sourceLinked="0"/>
            <c:txPr>
              <a:bodyPr/>
              <a:lstStyle/>
              <a:p>
                <a:pPr>
                  <a:defRPr b="0" i="0" strike="noStrike" sz="1100" u="none">
                    <a:solidFill>
                      <a:srgbClr val="0E1726"/>
                    </a:solidFill>
                    <a:latin typeface="+mn-lt"/>
                  </a:defRPr>
                </a:pPr>
              </a:p>
            </c:txPr>
            <c:showLegendKey val="0"/>
            <c:showVal val="0"/>
            <c:showCatName val="0"/>
            <c:showSerName val="0"/>
            <c:showPercent val="0"/>
            <c:showBubbleSize val="0"/>
            <c:showLeaderLines val="0"/>
          </c:dLbls>
          <c:marker>
            <c:symbol val="none"/>
            <c:size val="6"/>
            <c:spPr>
              <a:solidFill>
                <a:srgbClr val="5B6B85"/>
              </a:solidFill>
              <a:ln w="9525" cap="flat">
                <a:solidFill>
                  <a:srgbClr val="5B6B85"/>
                </a:solidFill>
                <a:prstDash val="solid"/>
                <a:round/>
              </a:ln>
              <a:effectLst/>
            </c:spPr>
          </c:marker>
          <c:cat>
            <c:multiLvlStrRef>
              <c:f>Sheet1!$A$2:$A$91</c:f>
              <c:multiLvlStrCache>
                <c:ptCount val="90"/>
                <c:lvl>
                  <c:pt idx="0">
                    <c:v>0</c:v>
                  </c:pt>
                  <c:pt idx="1">
                    <c:v>100</c:v>
                  </c:pt>
                  <c:pt idx="2">
                    <c:v>200</c:v>
                  </c:pt>
                  <c:pt idx="3">
                    <c:v>300</c:v>
                  </c:pt>
                  <c:pt idx="4">
                    <c:v>400</c:v>
                  </c:pt>
                  <c:pt idx="5">
                    <c:v>500</c:v>
                  </c:pt>
                  <c:pt idx="6">
                    <c:v>600</c:v>
                  </c:pt>
                  <c:pt idx="7">
                    <c:v>700</c:v>
                  </c:pt>
                  <c:pt idx="8">
                    <c:v>800</c:v>
                  </c:pt>
                  <c:pt idx="9">
                    <c:v>900</c:v>
                  </c:pt>
                  <c:pt idx="10">
                    <c:v>1000</c:v>
                  </c:pt>
                  <c:pt idx="11">
                    <c:v>1100</c:v>
                  </c:pt>
                  <c:pt idx="12">
                    <c:v>1200</c:v>
                  </c:pt>
                  <c:pt idx="13">
                    <c:v>1300</c:v>
                  </c:pt>
                  <c:pt idx="14">
                    <c:v>1400</c:v>
                  </c:pt>
                  <c:pt idx="15">
                    <c:v>1500</c:v>
                  </c:pt>
                  <c:pt idx="16">
                    <c:v>1600</c:v>
                  </c:pt>
                  <c:pt idx="17">
                    <c:v>1700</c:v>
                  </c:pt>
                  <c:pt idx="18">
                    <c:v>1800</c:v>
                  </c:pt>
                  <c:pt idx="19">
                    <c:v>1900</c:v>
                  </c:pt>
                  <c:pt idx="20">
                    <c:v>2000</c:v>
                  </c:pt>
                  <c:pt idx="21">
                    <c:v>2100</c:v>
                  </c:pt>
                  <c:pt idx="22">
                    <c:v>2200</c:v>
                  </c:pt>
                  <c:pt idx="23">
                    <c:v>2300</c:v>
                  </c:pt>
                  <c:pt idx="24">
                    <c:v>2400</c:v>
                  </c:pt>
                  <c:pt idx="25">
                    <c:v>2500</c:v>
                  </c:pt>
                  <c:pt idx="26">
                    <c:v>2600</c:v>
                  </c:pt>
                  <c:pt idx="27">
                    <c:v>2700</c:v>
                  </c:pt>
                  <c:pt idx="28">
                    <c:v>2800</c:v>
                  </c:pt>
                  <c:pt idx="29">
                    <c:v>2900</c:v>
                  </c:pt>
                  <c:pt idx="30">
                    <c:v>3000</c:v>
                  </c:pt>
                  <c:pt idx="31">
                    <c:v>3100</c:v>
                  </c:pt>
                  <c:pt idx="32">
                    <c:v>3200</c:v>
                  </c:pt>
                  <c:pt idx="33">
                    <c:v>3300</c:v>
                  </c:pt>
                  <c:pt idx="34">
                    <c:v>3400</c:v>
                  </c:pt>
                  <c:pt idx="35">
                    <c:v>3500</c:v>
                  </c:pt>
                  <c:pt idx="36">
                    <c:v>3600</c:v>
                  </c:pt>
                  <c:pt idx="37">
                    <c:v>3700</c:v>
                  </c:pt>
                  <c:pt idx="38">
                    <c:v>3800</c:v>
                  </c:pt>
                  <c:pt idx="39">
                    <c:v>3900</c:v>
                  </c:pt>
                  <c:pt idx="40">
                    <c:v>4000</c:v>
                  </c:pt>
                  <c:pt idx="41">
                    <c:v>4100</c:v>
                  </c:pt>
                  <c:pt idx="42">
                    <c:v>4200</c:v>
                  </c:pt>
                  <c:pt idx="43">
                    <c:v>4300</c:v>
                  </c:pt>
                  <c:pt idx="44">
                    <c:v>4400</c:v>
                  </c:pt>
                  <c:pt idx="45">
                    <c:v>4500</c:v>
                  </c:pt>
                  <c:pt idx="46">
                    <c:v>4600</c:v>
                  </c:pt>
                  <c:pt idx="47">
                    <c:v>4700</c:v>
                  </c:pt>
                  <c:pt idx="48">
                    <c:v>4800</c:v>
                  </c:pt>
                  <c:pt idx="49">
                    <c:v>4900</c:v>
                  </c:pt>
                  <c:pt idx="50">
                    <c:v>5000</c:v>
                  </c:pt>
                  <c:pt idx="51">
                    <c:v>5100</c:v>
                  </c:pt>
                  <c:pt idx="52">
                    <c:v>5200</c:v>
                  </c:pt>
                  <c:pt idx="53">
                    <c:v>5300</c:v>
                  </c:pt>
                  <c:pt idx="54">
                    <c:v>5400</c:v>
                  </c:pt>
                  <c:pt idx="55">
                    <c:v>5500</c:v>
                  </c:pt>
                  <c:pt idx="56">
                    <c:v>5600</c:v>
                  </c:pt>
                  <c:pt idx="57">
                    <c:v>5700</c:v>
                  </c:pt>
                  <c:pt idx="58">
                    <c:v>5800</c:v>
                  </c:pt>
                  <c:pt idx="59">
                    <c:v>5900</c:v>
                  </c:pt>
                  <c:pt idx="60">
                    <c:v>6000</c:v>
                  </c:pt>
                  <c:pt idx="61">
                    <c:v>6100</c:v>
                  </c:pt>
                  <c:pt idx="62">
                    <c:v>6200</c:v>
                  </c:pt>
                  <c:pt idx="63">
                    <c:v>6300</c:v>
                  </c:pt>
                  <c:pt idx="64">
                    <c:v>6400</c:v>
                  </c:pt>
                  <c:pt idx="65">
                    <c:v>6500</c:v>
                  </c:pt>
                  <c:pt idx="66">
                    <c:v>6600</c:v>
                  </c:pt>
                  <c:pt idx="67">
                    <c:v>6700</c:v>
                  </c:pt>
                  <c:pt idx="68">
                    <c:v>6800</c:v>
                  </c:pt>
                  <c:pt idx="69">
                    <c:v>6900</c:v>
                  </c:pt>
                  <c:pt idx="70">
                    <c:v>7000</c:v>
                  </c:pt>
                  <c:pt idx="71">
                    <c:v>7100</c:v>
                  </c:pt>
                  <c:pt idx="72">
                    <c:v>7200</c:v>
                  </c:pt>
                  <c:pt idx="73">
                    <c:v>7300</c:v>
                  </c:pt>
                  <c:pt idx="74">
                    <c:v>7400</c:v>
                  </c:pt>
                  <c:pt idx="75">
                    <c:v>7500</c:v>
                  </c:pt>
                  <c:pt idx="76">
                    <c:v>7600</c:v>
                  </c:pt>
                  <c:pt idx="77">
                    <c:v>7700</c:v>
                  </c:pt>
                  <c:pt idx="78">
                    <c:v>7800</c:v>
                  </c:pt>
                  <c:pt idx="79">
                    <c:v>7900</c:v>
                  </c:pt>
                  <c:pt idx="80">
                    <c:v>8000</c:v>
                  </c:pt>
                  <c:pt idx="81">
                    <c:v>8100</c:v>
                  </c:pt>
                  <c:pt idx="82">
                    <c:v>8200</c:v>
                  </c:pt>
                  <c:pt idx="83">
                    <c:v>8300</c:v>
                  </c:pt>
                  <c:pt idx="84">
                    <c:v>8400</c:v>
                  </c:pt>
                  <c:pt idx="85">
                    <c:v>8500</c:v>
                  </c:pt>
                  <c:pt idx="86">
                    <c:v>8600</c:v>
                  </c:pt>
                  <c:pt idx="87">
                    <c:v>8700</c:v>
                  </c:pt>
                  <c:pt idx="88">
                    <c:v>8800</c:v>
                  </c:pt>
                  <c:pt idx="89">
                    <c:v>8900</c:v>
                  </c:pt>
                </c:lvl>
              </c:multiLvlStrCache>
            </c:multiLvlStrRef>
          </c:cat>
          <c:val>
            <c:numRef>
              <c:f>Sheet1!$C$2:$C$91</c:f>
              <c:numCache>
                <c:formatCode>General</c:formatCode>
                <c:ptCount val="90"/>
                <c:pt idx="0">
                  <c:v>10</c:v>
                </c:pt>
                <c:pt idx="1">
                  <c:v>10</c:v>
                </c:pt>
                <c:pt idx="2">
                  <c:v>10</c:v>
                </c:pt>
                <c:pt idx="3">
                  <c:v>10</c:v>
                </c:pt>
                <c:pt idx="4">
                  <c:v>10</c:v>
                </c:pt>
                <c:pt idx="5">
                  <c:v>10</c:v>
                </c:pt>
                <c:pt idx="6">
                  <c:v>10</c:v>
                </c:pt>
                <c:pt idx="7">
                  <c:v>10</c:v>
                </c:pt>
                <c:pt idx="8">
                  <c:v>10</c:v>
                </c:pt>
                <c:pt idx="9">
                  <c:v>10</c:v>
                </c:pt>
                <c:pt idx="10">
                  <c:v>10</c:v>
                </c:pt>
                <c:pt idx="11">
                  <c:v>10</c:v>
                </c:pt>
                <c:pt idx="12">
                  <c:v>10</c:v>
                </c:pt>
                <c:pt idx="13">
                  <c:v>10</c:v>
                </c:pt>
                <c:pt idx="14">
                  <c:v>10</c:v>
                </c:pt>
                <c:pt idx="15">
                  <c:v>10</c:v>
                </c:pt>
                <c:pt idx="16">
                  <c:v>10</c:v>
                </c:pt>
                <c:pt idx="17">
                  <c:v>10</c:v>
                </c:pt>
                <c:pt idx="18">
                  <c:v>10</c:v>
                </c:pt>
                <c:pt idx="19">
                  <c:v>10</c:v>
                </c:pt>
                <c:pt idx="20">
                  <c:v>10</c:v>
                </c:pt>
                <c:pt idx="21">
                  <c:v>10</c:v>
                </c:pt>
                <c:pt idx="22">
                  <c:v>10</c:v>
                </c:pt>
                <c:pt idx="23">
                  <c:v>10</c:v>
                </c:pt>
                <c:pt idx="24">
                  <c:v>10</c:v>
                </c:pt>
                <c:pt idx="25">
                  <c:v>10</c:v>
                </c:pt>
                <c:pt idx="26">
                  <c:v>10</c:v>
                </c:pt>
                <c:pt idx="27">
                  <c:v>10</c:v>
                </c:pt>
                <c:pt idx="28">
                  <c:v>10</c:v>
                </c:pt>
                <c:pt idx="29">
                  <c:v>10</c:v>
                </c:pt>
                <c:pt idx="30">
                  <c:v>10</c:v>
                </c:pt>
                <c:pt idx="31">
                  <c:v>10</c:v>
                </c:pt>
                <c:pt idx="32">
                  <c:v>10</c:v>
                </c:pt>
                <c:pt idx="33">
                  <c:v>10</c:v>
                </c:pt>
                <c:pt idx="34">
                  <c:v>10</c:v>
                </c:pt>
                <c:pt idx="35">
                  <c:v>10</c:v>
                </c:pt>
                <c:pt idx="36">
                  <c:v>10</c:v>
                </c:pt>
                <c:pt idx="37">
                  <c:v>10</c:v>
                </c:pt>
                <c:pt idx="38">
                  <c:v>10</c:v>
                </c:pt>
                <c:pt idx="39">
                  <c:v>10</c:v>
                </c:pt>
                <c:pt idx="40">
                  <c:v>10</c:v>
                </c:pt>
                <c:pt idx="41">
                  <c:v>10</c:v>
                </c:pt>
                <c:pt idx="42">
                  <c:v>10</c:v>
                </c:pt>
                <c:pt idx="43">
                  <c:v>10</c:v>
                </c:pt>
                <c:pt idx="44">
                  <c:v>10</c:v>
                </c:pt>
                <c:pt idx="45">
                  <c:v>10</c:v>
                </c:pt>
                <c:pt idx="46">
                  <c:v>10</c:v>
                </c:pt>
                <c:pt idx="47">
                  <c:v>10</c:v>
                </c:pt>
                <c:pt idx="48">
                  <c:v>10</c:v>
                </c:pt>
                <c:pt idx="49">
                  <c:v>10</c:v>
                </c:pt>
                <c:pt idx="50">
                  <c:v>10</c:v>
                </c:pt>
                <c:pt idx="51">
                  <c:v>10</c:v>
                </c:pt>
                <c:pt idx="52">
                  <c:v>10</c:v>
                </c:pt>
                <c:pt idx="53">
                  <c:v>10</c:v>
                </c:pt>
                <c:pt idx="54">
                  <c:v>10</c:v>
                </c:pt>
                <c:pt idx="55">
                  <c:v>10</c:v>
                </c:pt>
                <c:pt idx="56">
                  <c:v>10</c:v>
                </c:pt>
                <c:pt idx="57">
                  <c:v>10</c:v>
                </c:pt>
                <c:pt idx="58">
                  <c:v>10</c:v>
                </c:pt>
                <c:pt idx="59">
                  <c:v>10</c:v>
                </c:pt>
                <c:pt idx="60">
                  <c:v>10</c:v>
                </c:pt>
                <c:pt idx="61">
                  <c:v>10</c:v>
                </c:pt>
                <c:pt idx="62">
                  <c:v>10</c:v>
                </c:pt>
                <c:pt idx="63">
                  <c:v>10</c:v>
                </c:pt>
                <c:pt idx="64">
                  <c:v>10</c:v>
                </c:pt>
                <c:pt idx="65">
                  <c:v>10</c:v>
                </c:pt>
                <c:pt idx="66">
                  <c:v>10</c:v>
                </c:pt>
                <c:pt idx="67">
                  <c:v>10</c:v>
                </c:pt>
                <c:pt idx="68">
                  <c:v>10</c:v>
                </c:pt>
                <c:pt idx="69">
                  <c:v>10</c:v>
                </c:pt>
                <c:pt idx="70">
                  <c:v>10</c:v>
                </c:pt>
                <c:pt idx="71">
                  <c:v>10</c:v>
                </c:pt>
                <c:pt idx="72">
                  <c:v>10</c:v>
                </c:pt>
                <c:pt idx="73">
                  <c:v>10</c:v>
                </c:pt>
                <c:pt idx="74">
                  <c:v>10</c:v>
                </c:pt>
                <c:pt idx="75">
                  <c:v>10</c:v>
                </c:pt>
                <c:pt idx="76">
                  <c:v>10</c:v>
                </c:pt>
                <c:pt idx="77">
                  <c:v>10</c:v>
                </c:pt>
                <c:pt idx="78">
                  <c:v>10</c:v>
                </c:pt>
                <c:pt idx="79">
                  <c:v>10</c:v>
                </c:pt>
                <c:pt idx="80">
                  <c:v>10</c:v>
                </c:pt>
                <c:pt idx="81">
                  <c:v>10</c:v>
                </c:pt>
                <c:pt idx="82">
                  <c:v>10</c:v>
                </c:pt>
                <c:pt idx="83">
                  <c:v>10</c:v>
                </c:pt>
                <c:pt idx="84">
                  <c:v>10</c:v>
                </c:pt>
                <c:pt idx="85">
                  <c:v>10</c:v>
                </c:pt>
                <c:pt idx="86">
                  <c:v>10</c:v>
                </c:pt>
                <c:pt idx="87">
                  <c:v>10</c:v>
                </c:pt>
                <c:pt idx="88">
                  <c:v>10</c:v>
                </c:pt>
                <c:pt idx="89">
                  <c:v>10</c:v>
                </c:pt>
              </c:numCache>
            </c:numRef>
          </c:val>
          <c:smooth val="0"/>
        </c:ser>
        <c:dLbls>
          <c:numFmt formatCode="#,##0" sourceLinked="0"/>
          <c:txPr>
            <a:bodyPr/>
            <a:lstStyle/>
            <a:p>
              <a:pPr>
                <a:defRPr b="0" i="0" strike="noStrike" sz="1100" u="none">
                  <a:solidFill>
                    <a:srgbClr val="0E1726"/>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100" b="0" i="0" u="none" strike="noStrike">
                <a:solidFill>
                  <a:srgbClr val="5F6B7A"/>
                </a:solidFill>
                <a:latin typeface="+mn-lt"/>
              </a:defRPr>
            </a:pPr>
            <a:endParaRPr lang="en-US"/>
          </a:p>
        </c:txPr>
        <c:crossAx val="2094734552"/>
        <c:crosses val="autoZero"/>
        <c:auto val="1"/>
        <c:lblAlgn val="ctr"/>
        <c:noMultiLvlLbl val="1"/>
        <c:tickLblSkip val="10"/>
      </c:catAx>
      <c:valAx>
        <c:axId val="2094734552"/>
        <c:scaling>
          <c:orientation val="minMax"/>
          <c:max val="12"/>
          <c:min val="0"/>
        </c:scaling>
        <c:delete val="0"/>
        <c:axPos val="l"/>
        <c:majorGridlines>
          <c:spPr>
            <a:ln w="9525" cap="flat">
              <a:solidFill>
                <a:srgbClr val="E3E6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majorUnit val="2"/>
      </c:valAx>
      <c:spPr>
        <a:noFill/>
        <a:ln>
          <a:noFill/>
        </a:ln>
        <a:effectLst/>
      </c:spPr>
    </c:plotArea>
    <c:legend>
      <c:legendPos val="t"/>
      <c:overlay val="0"/>
      <c:txPr>
        <a:bodyPr/>
        <a:lstStyle/>
        <a:p>
          <a:pPr>
            <a:defRPr sz="1100">
              <a:solidFill>
                <a:srgbClr val="5F6B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726"/>
                </a:solidFill>
                <a:latin typeface="+mn-lt"/>
              </a:defRPr>
            </a:pPr>
            <a:r>
              <a:rPr sz="1300" b="0" i="0" u="none" strike="noStrike">
                <a:solidFill>
                  <a:srgbClr val="0E1726"/>
                </a:solidFill>
                <a:latin typeface="+mn-lt"/>
              </a:rPr>
              <a:t>Tensile strength (GPa, log scale)</a:t>
            </a:r>
          </a:p>
        </c:rich>
      </c:tx>
      <c:layout/>
      <c:overlay val="0"/>
    </c:title>
    <c:autoTitleDeleted val="0"/>
    <c:plotArea>
      <c:layout/>
      <c:barChart>
        <c:barDir val="col"/>
        <c:grouping val="stacked"/>
        <c:varyColors val="0"/>
        <c:ser>
          <c:idx val="0"/>
          <c:order val="0"/>
          <c:tx>
            <c:strRef>
              <c:f>Sheet1!$B$1</c:f>
              <c:strCache>
                <c:ptCount val="1"/>
                <c:pt idx="0">
                  <c:v>Real materials</c:v>
                </c:pt>
              </c:strCache>
            </c:strRef>
          </c:tx>
          <c:spPr>
            <a:solidFill>
              <a:srgbClr val="5B6B85"/>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Steel S355</c:v>
                  </c:pt>
                  <c:pt idx="1">
                    <c:v>CFRP</c:v>
                  </c:pt>
                  <c:pt idx="2">
                    <c:v>Nanotube, measured</c:v>
                  </c:pt>
                  <c:pt idx="3">
                    <c:v>E2</c:v>
                  </c:pt>
                  <c:pt idx="4">
                    <c:v>Graphene, measured</c:v>
                  </c:pt>
                </c:lvl>
              </c:multiLvlStrCache>
            </c:multiLvlStrRef>
          </c:cat>
          <c:val>
            <c:numRef>
              <c:f>Sheet1!$B$2:$B$6</c:f>
              <c:numCache>
                <c:formatCode>General</c:formatCode>
                <c:ptCount val="5"/>
                <c:pt idx="0">
                  <c:v>0.355</c:v>
                </c:pt>
                <c:pt idx="1">
                  <c:v>2</c:v>
                </c:pt>
                <c:pt idx="2">
                  <c:v>63</c:v>
                </c:pt>
                <c:pt idx="3">
                  <c:v/>
                </c:pt>
                <c:pt idx="4">
                  <c:v>130</c:v>
                </c:pt>
              </c:numCache>
            </c:numRef>
          </c:val>
        </c:ser>
        <c:ser>
          <c:idx val="1"/>
          <c:order val="1"/>
          <c:tx>
            <c:strRef>
              <c:f>Sheet1!$C$1</c:f>
              <c:strCache>
                <c:ptCount val="1"/>
                <c:pt idx="0">
                  <c:v>E2 (declared)</c:v>
                </c:pt>
              </c:strCache>
            </c:strRef>
          </c:tx>
          <c:spPr>
            <a:solidFill>
              <a:srgbClr val="E8A317"/>
            </a:solidFill>
            <a:effectLst/>
          </c:spPr>
          <c:invertIfNegative val="0"/>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Sheet1!$A$2:$A$6</c:f>
              <c:multiLvlStrCache>
                <c:ptCount val="5"/>
                <c:lvl>
                  <c:pt idx="0">
                    <c:v>Steel S355</c:v>
                  </c:pt>
                  <c:pt idx="1">
                    <c:v>CFRP</c:v>
                  </c:pt>
                  <c:pt idx="2">
                    <c:v>Nanotube, measured</c:v>
                  </c:pt>
                  <c:pt idx="3">
                    <c:v>E2</c:v>
                  </c:pt>
                  <c:pt idx="4">
                    <c:v>Graphene, measured</c:v>
                  </c:pt>
                </c:lvl>
              </c:multiLvlStrCache>
            </c:multiLvlStrRef>
          </c:cat>
          <c:val>
            <c:numRef>
              <c:f>Sheet1!$C$2:$C$6</c:f>
              <c:numCache>
                <c:formatCode>General</c:formatCode>
                <c:ptCount val="5"/>
                <c:pt idx="0">
                  <c:v/>
                </c:pt>
                <c:pt idx="1">
                  <c:v/>
                </c:pt>
                <c:pt idx="2">
                  <c:v/>
                </c:pt>
                <c:pt idx="3">
                  <c:v>100</c:v>
                </c:pt>
                <c:pt idx="4">
                  <c:v/>
                </c:pt>
              </c:numCache>
            </c:numRef>
          </c:val>
        </c:ser>
        <c:dLbls>
          <c:numFmt formatCode="#,##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100" b="0" i="0" u="none" strike="noStrike">
                <a:solidFill>
                  <a:srgbClr val="5F6B7A"/>
                </a:solidFill>
                <a:latin typeface="+mn-lt"/>
              </a:defRPr>
            </a:pPr>
            <a:endParaRPr lang="en-US"/>
          </a:p>
        </c:txPr>
        <c:crossAx val="2094734552"/>
        <c:crosses val="autoZero"/>
        <c:auto val="1"/>
        <c:lblAlgn val="ctr"/>
        <c:noMultiLvlLbl val="1"/>
      </c:catAx>
      <c:valAx>
        <c:axId val="2094734552"/>
        <c:scaling>
          <c:logBase val="10"/>
          <c:orientation val="minMax"/>
          <c:max val="1000"/>
          <c:min val="0.1"/>
        </c:scaling>
        <c:delete val="0"/>
        <c:axPos val="l"/>
        <c:majorGridlines>
          <c:spPr>
            <a:ln w="9525" cap="flat">
              <a:solidFill>
                <a:srgbClr val="E3E6EB"/>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F6B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726"/>
                </a:solidFill>
                <a:latin typeface="+mn-lt"/>
              </a:defRPr>
            </a:pPr>
            <a:r>
              <a:rPr sz="1300" b="0" i="0" u="none" strike="noStrike">
                <a:solidFill>
                  <a:srgbClr val="0E1726"/>
                </a:solidFill>
                <a:latin typeface="+mn-lt"/>
              </a:rPr>
              <a:t>Mass (×10²⁰ kg); E3's bound is 4×10²⁰ kg each</a:t>
            </a:r>
          </a:p>
        </c:rich>
      </c:tx>
      <c:layout/>
      <c:overlay val="0"/>
    </c:title>
    <c:autoTitleDeleted val="0"/>
    <c:plotArea>
      <c:layout/>
      <c:barChart>
        <c:barDir val="col"/>
        <c:grouping val="stacked"/>
        <c:varyColors val="0"/>
        <c:ser>
          <c:idx val="0"/>
          <c:order val="0"/>
          <c:tx>
            <c:strRef>
              <c:f>Sheet1!$B$1</c:f>
              <c:strCache>
                <c:ptCount val="1"/>
                <c:pt idx="0">
                  <c:v>Real asteroids</c:v>
                </c:pt>
              </c:strCache>
            </c:strRef>
          </c:tx>
          <c:spPr>
            <a:solidFill>
              <a:srgbClr val="5B6B85"/>
            </a:solidFill>
            <a:effectLst/>
          </c:spPr>
          <c:invertIfNegative val="0"/>
          <c:dLbls>
            <c:numFmt formatCode="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Hygiea</c:v>
                  </c:pt>
                  <c:pt idx="1">
                    <c:v>Mars tow</c:v>
                  </c:pt>
                  <c:pt idx="2">
                    <c:v>Pallas</c:v>
                  </c:pt>
                  <c:pt idx="3">
                    <c:v>Vesta</c:v>
                  </c:pt>
                  <c:pt idx="4">
                    <c:v>Earth tow</c:v>
                  </c:pt>
                  <c:pt idx="5">
                    <c:v>Ceres</c:v>
                  </c:pt>
                </c:lvl>
              </c:multiLvlStrCache>
            </c:multiLvlStrRef>
          </c:cat>
          <c:val>
            <c:numRef>
              <c:f>Sheet1!$B$2:$B$7</c:f>
              <c:numCache>
                <c:formatCode>General</c:formatCode>
                <c:ptCount val="6"/>
                <c:pt idx="0">
                  <c:v>1.05</c:v>
                </c:pt>
                <c:pt idx="1">
                  <c:v/>
                </c:pt>
                <c:pt idx="2">
                  <c:v>2.04</c:v>
                </c:pt>
                <c:pt idx="3">
                  <c:v>2.59</c:v>
                </c:pt>
                <c:pt idx="4">
                  <c:v/>
                </c:pt>
                <c:pt idx="5">
                  <c:v>9.38</c:v>
                </c:pt>
              </c:numCache>
            </c:numRef>
          </c:val>
        </c:ser>
        <c:ser>
          <c:idx val="1"/>
          <c:order val="1"/>
          <c:tx>
            <c:strRef>
              <c:f>Sheet1!$C$1</c:f>
              <c:strCache>
                <c:ptCount val="1"/>
                <c:pt idx="0">
                  <c:v>Our tow asteroids (E3)</c:v>
                </c:pt>
              </c:strCache>
            </c:strRef>
          </c:tx>
          <c:spPr>
            <a:solidFill>
              <a:srgbClr val="6250D6"/>
            </a:solidFill>
            <a:effectLst/>
          </c:spPr>
          <c:invertIfNegative val="0"/>
          <c:dLbls>
            <c:numFmt formatCode="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cat>
            <c:multiLvlStrRef>
              <c:f>Sheet1!$A$2:$A$7</c:f>
              <c:multiLvlStrCache>
                <c:ptCount val="6"/>
                <c:lvl>
                  <c:pt idx="0">
                    <c:v>Hygiea</c:v>
                  </c:pt>
                  <c:pt idx="1">
                    <c:v>Mars tow</c:v>
                  </c:pt>
                  <c:pt idx="2">
                    <c:v>Pallas</c:v>
                  </c:pt>
                  <c:pt idx="3">
                    <c:v>Vesta</c:v>
                  </c:pt>
                  <c:pt idx="4">
                    <c:v>Earth tow</c:v>
                  </c:pt>
                  <c:pt idx="5">
                    <c:v>Ceres</c:v>
                  </c:pt>
                </c:lvl>
              </c:multiLvlStrCache>
            </c:multiLvlStrRef>
          </c:cat>
          <c:val>
            <c:numRef>
              <c:f>Sheet1!$C$2:$C$7</c:f>
              <c:numCache>
                <c:formatCode>General</c:formatCode>
                <c:ptCount val="6"/>
                <c:pt idx="0">
                  <c:v/>
                </c:pt>
                <c:pt idx="1">
                  <c:v>1.56</c:v>
                </c:pt>
                <c:pt idx="2">
                  <c:v/>
                </c:pt>
                <c:pt idx="3">
                  <c:v/>
                </c:pt>
                <c:pt idx="4">
                  <c:v>3.97</c:v>
                </c:pt>
                <c:pt idx="5">
                  <c:v/>
                </c:pt>
              </c:numCache>
            </c:numRef>
          </c:val>
        </c:ser>
        <c:dLbls>
          <c:numFmt formatCode="0.00" sourceLinked="0"/>
          <c:txPr>
            <a:bodyPr/>
            <a:lstStyle/>
            <a:p>
              <a:pPr>
                <a:defRPr b="0" i="0" strike="noStrike" sz="1100" u="none">
                  <a:solidFill>
                    <a:srgbClr val="FFFFFF"/>
                  </a:solidFill>
                  <a:latin typeface="+mn-lt"/>
                </a:defRPr>
              </a:pPr>
            </a:p>
          </c:txPr>
          <c:dLblPos val="inEnd"/>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1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9525" cap="flat">
              <a:solidFill>
                <a:srgbClr val="E3E6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rgbClr val="5F6B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726"/>
                </a:solidFill>
                <a:latin typeface="+mn-lt"/>
              </a:defRPr>
            </a:pPr>
            <a:r>
              <a:rPr sz="1300" b="0" i="0" u="none" strike="noStrike">
                <a:solidFill>
                  <a:srgbClr val="0E1726"/>
                </a:solidFill>
                <a:latin typeface="+mn-lt"/>
              </a:rPr>
              <a:t>Mars across Jupiter's 2:1 resonance: trials caught (of 8)</a:t>
            </a:r>
          </a:p>
        </c:rich>
      </c:tx>
      <c:layout/>
      <c:overlay val="0"/>
    </c:title>
    <c:autoTitleDeleted val="0"/>
    <c:plotArea>
      <c:layout/>
      <c:barChart>
        <c:barDir val="col"/>
        <c:grouping val="clustered"/>
        <c:varyColors val="0"/>
        <c:ser>
          <c:idx val="0"/>
          <c:order val="0"/>
          <c:tx>
            <c:strRef>
              <c:f>Sheet1!$B$1</c:f>
              <c:strCache>
                <c:ptCount val="1"/>
                <c:pt idx="0">
                  <c:v>Caught by Jupiter (of 8 starts)</c:v>
                </c:pt>
              </c:strCache>
            </c:strRef>
          </c:tx>
          <c:spPr>
            <a:solidFill>
              <a:srgbClr val="EB6834"/>
            </a:solidFill>
            <a:effectLst/>
          </c:spPr>
          <c:invertIfNegative val="0"/>
          <c:dLbls>
            <c:numFmt formatCode="0" sourceLinked="0"/>
            <c:txPr>
              <a:bodyPr/>
              <a:lstStyle/>
              <a:p>
                <a:pPr>
                  <a:defRPr b="0" i="0" strike="noStrike" sz="1100" u="none">
                    <a:solidFill>
                      <a:srgbClr val="0E1726"/>
                    </a:solidFill>
                    <a:latin typeface="+mn-lt"/>
                  </a:defRPr>
                </a:pPr>
              </a:p>
            </c:txPr>
            <c:showLegendKey val="0"/>
            <c:showVal val="1"/>
            <c:showCatName val="0"/>
            <c:showSerName val="0"/>
            <c:showPercent val="0"/>
            <c:showBubbleSize val="0"/>
            <c:showLeaderLines val="0"/>
          </c:dLbls>
          <c:cat>
            <c:multiLvlStrRef>
              <c:f>Sheet1!$A$2:$A$6</c:f>
              <c:multiLvlStrCache>
                <c:ptCount val="5"/>
                <c:lvl>
                  <c:pt idx="0">
                    <c:v>Normal pull</c:v>
                  </c:pt>
                  <c:pt idx="1">
                    <c:v>1.56× pull</c:v>
                  </c:pt>
                  <c:pt idx="2">
                    <c:v>3.3× pull</c:v>
                  </c:pt>
                  <c:pt idx="3">
                    <c:v>4× (chosen)</c:v>
                  </c:pt>
                  <c:pt idx="4">
                    <c:v>4.9× pull</c:v>
                  </c:pt>
                </c:lvl>
              </c:multiLvlStrCache>
            </c:multiLvlStrRef>
          </c:cat>
          <c:val>
            <c:numRef>
              <c:f>Sheet1!$B$2:$B$6</c:f>
              <c:numCache>
                <c:formatCode>General</c:formatCode>
                <c:ptCount val="5"/>
                <c:pt idx="0">
                  <c:v>6</c:v>
                </c:pt>
                <c:pt idx="1">
                  <c:v>2</c:v>
                </c:pt>
                <c:pt idx="2">
                  <c:v>0</c:v>
                </c:pt>
                <c:pt idx="3">
                  <c:v>0</c:v>
                </c:pt>
                <c:pt idx="4">
                  <c:v>0</c:v>
                </c:pt>
              </c:numCache>
            </c:numRef>
          </c:val>
        </c:ser>
        <c:dLbls>
          <c:numFmt formatCode="0" sourceLinked="0"/>
          <c:txPr>
            <a:bodyPr/>
            <a:lstStyle/>
            <a:p>
              <a:pPr>
                <a:defRPr b="0" i="0" strike="noStrike" sz="1100" u="none">
                  <a:solidFill>
                    <a:srgbClr val="0E17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1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8"/>
          <c:min val="0"/>
        </c:scaling>
        <c:delete val="0"/>
        <c:axPos val="l"/>
        <c:majorGridlines>
          <c:spPr>
            <a:ln w="9525" cap="flat">
              <a:solidFill>
                <a:srgbClr val="E3E6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majorUnit val="2"/>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726"/>
                </a:solidFill>
                <a:latin typeface="+mn-lt"/>
              </a:defRPr>
            </a:pPr>
            <a:r>
              <a:rPr sz="1300" b="0" i="0" u="none" strike="noStrike">
                <a:solidFill>
                  <a:srgbClr val="0E1726"/>
                </a:solidFill>
                <a:latin typeface="+mn-lt"/>
              </a:rPr>
              <a:t>Beam outage the tow survives (hours); E1 answers a fault within 12 h</a:t>
            </a:r>
          </a:p>
        </c:rich>
      </c:tx>
      <c:layout/>
      <c:overlay val="0"/>
    </c:title>
    <c:autoTitleDeleted val="0"/>
    <c:plotArea>
      <c:layout/>
      <c:barChart>
        <c:barDir val="col"/>
        <c:grouping val="clustered"/>
        <c:varyColors val="0"/>
        <c:ser>
          <c:idx val="0"/>
          <c:order val="0"/>
          <c:tx>
            <c:strRef>
              <c:f>Sheet1!$B$1</c:f>
              <c:strCache>
                <c:ptCount val="1"/>
                <c:pt idx="0">
                  <c:v>Longest safe outage (hours)</c:v>
                </c:pt>
              </c:strCache>
            </c:strRef>
          </c:tx>
          <c:spPr>
            <a:solidFill>
              <a:srgbClr val="E8A317"/>
            </a:solidFill>
            <a:effectLst/>
          </c:spPr>
          <c:invertIfNegative val="0"/>
          <c:dLbls>
            <c:numFmt formatCode="0" sourceLinked="0"/>
            <c:txPr>
              <a:bodyPr/>
              <a:lstStyle/>
              <a:p>
                <a:pPr>
                  <a:defRPr b="0" i="0" strike="noStrike" sz="1100" u="none">
                    <a:solidFill>
                      <a:srgbClr val="0E1726"/>
                    </a:solidFill>
                    <a:latin typeface="+mn-lt"/>
                  </a:defRPr>
                </a:pPr>
              </a:p>
            </c:txPr>
            <c:showLegendKey val="0"/>
            <c:showVal val="1"/>
            <c:showCatName val="0"/>
            <c:showSerName val="0"/>
            <c:showPercent val="0"/>
            <c:showBubbleSize val="0"/>
            <c:showLeaderLines val="0"/>
          </c:dLbls>
          <c:cat>
            <c:multiLvlStrRef>
              <c:f>Sheet1!$A$2:$A$6</c:f>
              <c:multiLvlStrCache>
                <c:ptCount val="5"/>
                <c:lvl>
                  <c:pt idx="0">
                    <c:v>First design, all off</c:v>
                  </c:pt>
                  <c:pt idx="1">
                    <c:v>Every station off</c:v>
                  </c:pt>
                  <c:pt idx="2">
                    <c:v>Half off</c:v>
                  </c:pt>
                  <c:pt idx="3">
                    <c:v>A quarter off</c:v>
                  </c:pt>
                  <c:pt idx="4">
                    <c:v>Mars tow, all off</c:v>
                  </c:pt>
                </c:lvl>
              </c:multiLvlStrCache>
            </c:multiLvlStrRef>
          </c:cat>
          <c:val>
            <c:numRef>
              <c:f>Sheet1!$B$2:$B$6</c:f>
              <c:numCache>
                <c:formatCode>General</c:formatCode>
                <c:ptCount val="5"/>
                <c:pt idx="0">
                  <c:v>3</c:v>
                </c:pt>
                <c:pt idx="1">
                  <c:v>15</c:v>
                </c:pt>
                <c:pt idx="2">
                  <c:v>30</c:v>
                </c:pt>
                <c:pt idx="3">
                  <c:v>68</c:v>
                </c:pt>
                <c:pt idx="4">
                  <c:v>114</c:v>
                </c:pt>
              </c:numCache>
            </c:numRef>
          </c:val>
        </c:ser>
        <c:dLbls>
          <c:numFmt formatCode="0" sourceLinked="0"/>
          <c:txPr>
            <a:bodyPr/>
            <a:lstStyle/>
            <a:p>
              <a:pPr>
                <a:defRPr b="0" i="0" strike="noStrike" sz="1100" u="none">
                  <a:solidFill>
                    <a:srgbClr val="0E17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000" b="0" i="0" u="none" strike="noStrike">
                <a:solidFill>
                  <a:srgbClr val="5F6B7A"/>
                </a:solidFill>
                <a:latin typeface="+mn-lt"/>
              </a:defRPr>
            </a:pPr>
            <a:endParaRPr lang="en-US"/>
          </a:p>
        </c:txPr>
        <c:crossAx val="2094734552"/>
        <c:crosses val="autoZero"/>
        <c:auto val="1"/>
        <c:lblAlgn val="ctr"/>
        <c:noMultiLvlLbl val="1"/>
      </c:catAx>
      <c:valAx>
        <c:axId val="2094734552"/>
        <c:scaling>
          <c:orientation val="minMax"/>
          <c:max val="125"/>
          <c:min val="0"/>
        </c:scaling>
        <c:delete val="0"/>
        <c:axPos val="l"/>
        <c:majorGridlines>
          <c:spPr>
            <a:ln w="9525" cap="flat">
              <a:solidFill>
                <a:srgbClr val="E3E6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majorUnit val="25"/>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E1726"/>
                </a:solidFill>
                <a:latin typeface="+mn-lt"/>
              </a:defRPr>
            </a:pPr>
            <a:r>
              <a:rPr sz="1300" b="0" i="0" u="none" strike="noStrike">
                <a:solidFill>
                  <a:srgbClr val="0E1726"/>
                </a:solidFill>
                <a:latin typeface="+mn-lt"/>
              </a:rPr>
              <a:t>Earth's axial tilt (degrees) over 1,000 thousand years</a:t>
            </a:r>
          </a:p>
        </c:rich>
      </c:tx>
      <c:layout/>
      <c:overlay val="0"/>
    </c:title>
    <c:autoTitleDeleted val="0"/>
    <c:plotArea>
      <c:layout/>
      <c:lineChart>
        <c:varyColors val="0"/>
        <c:ser>
          <c:idx val="0"/>
          <c:order val="0"/>
          <c:tx>
            <c:strRef>
              <c:f>Sheet1!$B$1</c:f>
              <c:strCache>
                <c:ptCount val="1"/>
                <c:pt idx="0">
                  <c:v>Moved Earth (2.7 AU)</c:v>
                </c:pt>
              </c:strCache>
            </c:strRef>
          </c:tx>
          <c:spPr>
            <a:solidFill>
              <a:srgbClr val="2A78D6"/>
            </a:solidFill>
            <a:ln w="25400" cap="flat">
              <a:solidFill>
                <a:srgbClr val="2A78D6"/>
              </a:solidFill>
              <a:prstDash val="solid"/>
              <a:round/>
            </a:ln>
            <a:effectLst/>
          </c:spPr>
          <c:invertIfNegative val="0"/>
          <c:dLbls>
            <c:numFmt formatCode="#,##0" sourceLinked="0"/>
            <c:txPr>
              <a:bodyPr/>
              <a:lstStyle/>
              <a:p>
                <a:pPr>
                  <a:defRPr b="0" i="0" strike="noStrike" sz="1100" u="none">
                    <a:solidFill>
                      <a:srgbClr val="0E1726"/>
                    </a:solidFill>
                    <a:latin typeface="+mn-lt"/>
                  </a:defRPr>
                </a:pPr>
              </a:p>
            </c:txPr>
            <c:showLegendKey val="0"/>
            <c:showVal val="0"/>
            <c:showCatName val="0"/>
            <c:showSerName val="0"/>
            <c:showPercent val="0"/>
            <c:showBubbleSize val="0"/>
            <c:showLeaderLines val="0"/>
          </c:dLbls>
          <c:marker>
            <c:symbol val="none"/>
            <c:size val="6"/>
            <c:spPr>
              <a:solidFill>
                <a:srgbClr val="2A78D6"/>
              </a:solidFill>
              <a:ln w="9525" cap="flat">
                <a:solidFill>
                  <a:srgbClr val="2A78D6"/>
                </a:solidFill>
                <a:prstDash val="solid"/>
                <a:round/>
              </a:ln>
              <a:effectLst/>
            </c:spPr>
          </c:marker>
          <c:cat>
            <c:multiLvlStrRef>
              <c:f>Sheet1!$A$2:$A$102</c:f>
              <c:multiLvlStrCache>
                <c:ptCount val="101"/>
                <c:lvl>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lvl>
              </c:multiLvlStrCache>
            </c:multiLvlStrRef>
          </c:cat>
          <c:val>
            <c:numRef>
              <c:f>Sheet1!$B$2:$B$102</c:f>
              <c:numCache>
                <c:formatCode>General</c:formatCode>
                <c:ptCount val="101"/>
                <c:pt idx="0">
                  <c:v>21.847</c:v>
                </c:pt>
                <c:pt idx="1">
                  <c:v>21.83</c:v>
                </c:pt>
                <c:pt idx="2">
                  <c:v>22.24</c:v>
                </c:pt>
                <c:pt idx="3">
                  <c:v>22.908</c:v>
                </c:pt>
                <c:pt idx="4">
                  <c:v>23.633</c:v>
                </c:pt>
                <c:pt idx="5">
                  <c:v>24.305</c:v>
                </c:pt>
                <c:pt idx="6">
                  <c:v>24.926</c:v>
                </c:pt>
                <c:pt idx="7">
                  <c:v>25.5</c:v>
                </c:pt>
                <c:pt idx="8">
                  <c:v>25.939</c:v>
                </c:pt>
                <c:pt idx="9">
                  <c:v>26.09</c:v>
                </c:pt>
                <c:pt idx="10">
                  <c:v>25.851</c:v>
                </c:pt>
                <c:pt idx="11">
                  <c:v>25.249</c:v>
                </c:pt>
                <c:pt idx="12">
                  <c:v>24.424</c:v>
                </c:pt>
                <c:pt idx="13">
                  <c:v>23.576</c:v>
                </c:pt>
                <c:pt idx="14">
                  <c:v>22.865</c:v>
                </c:pt>
                <c:pt idx="15">
                  <c:v>22.364</c:v>
                </c:pt>
                <c:pt idx="16">
                  <c:v>22.081</c:v>
                </c:pt>
                <c:pt idx="17">
                  <c:v>22.04</c:v>
                </c:pt>
                <c:pt idx="18">
                  <c:v>22.283</c:v>
                </c:pt>
                <c:pt idx="19">
                  <c:v>22.825</c:v>
                </c:pt>
                <c:pt idx="20">
                  <c:v>23.607</c:v>
                </c:pt>
                <c:pt idx="21">
                  <c:v>24.502</c:v>
                </c:pt>
                <c:pt idx="22">
                  <c:v>25.32</c:v>
                </c:pt>
                <c:pt idx="23">
                  <c:v>25.857</c:v>
                </c:pt>
                <c:pt idx="24">
                  <c:v>26.008</c:v>
                </c:pt>
                <c:pt idx="25">
                  <c:v>25.834</c:v>
                </c:pt>
                <c:pt idx="26">
                  <c:v>25.48</c:v>
                </c:pt>
                <c:pt idx="27">
                  <c:v>25.026</c:v>
                </c:pt>
                <c:pt idx="28">
                  <c:v>24.443</c:v>
                </c:pt>
                <c:pt idx="29">
                  <c:v>23.699</c:v>
                </c:pt>
                <c:pt idx="30">
                  <c:v>22.872</c:v>
                </c:pt>
                <c:pt idx="31">
                  <c:v>22.148</c:v>
                </c:pt>
                <c:pt idx="32">
                  <c:v>21.745</c:v>
                </c:pt>
                <c:pt idx="33">
                  <c:v>21.818</c:v>
                </c:pt>
                <c:pt idx="34">
                  <c:v>22.367</c:v>
                </c:pt>
                <c:pt idx="35">
                  <c:v>23.209</c:v>
                </c:pt>
                <c:pt idx="36">
                  <c:v>24.079</c:v>
                </c:pt>
                <c:pt idx="37">
                  <c:v>24.791</c:v>
                </c:pt>
                <c:pt idx="38">
                  <c:v>25.306</c:v>
                </c:pt>
                <c:pt idx="39">
                  <c:v>25.672</c:v>
                </c:pt>
                <c:pt idx="40">
                  <c:v>25.906</c:v>
                </c:pt>
                <c:pt idx="41">
                  <c:v>25.936</c:v>
                </c:pt>
                <c:pt idx="42">
                  <c:v>25.649</c:v>
                </c:pt>
                <c:pt idx="43">
                  <c:v>25.004</c:v>
                </c:pt>
                <c:pt idx="44">
                  <c:v>24.112</c:v>
                </c:pt>
                <c:pt idx="45">
                  <c:v>23.19</c:v>
                </c:pt>
                <c:pt idx="46">
                  <c:v>22.464</c:v>
                </c:pt>
                <c:pt idx="47">
                  <c:v>22.068</c:v>
                </c:pt>
                <c:pt idx="48">
                  <c:v>22.012</c:v>
                </c:pt>
                <c:pt idx="49">
                  <c:v>22.232</c:v>
                </c:pt>
                <c:pt idx="50">
                  <c:v>22.666</c:v>
                </c:pt>
                <c:pt idx="51">
                  <c:v>23.258</c:v>
                </c:pt>
                <c:pt idx="52">
                  <c:v>23.97</c:v>
                </c:pt>
                <c:pt idx="53">
                  <c:v>24.753</c:v>
                </c:pt>
                <c:pt idx="54">
                  <c:v>25.494</c:v>
                </c:pt>
                <c:pt idx="55">
                  <c:v>26.005</c:v>
                </c:pt>
                <c:pt idx="56">
                  <c:v>26.12</c:v>
                </c:pt>
                <c:pt idx="57">
                  <c:v>25.825</c:v>
                </c:pt>
                <c:pt idx="58">
                  <c:v>25.262</c:v>
                </c:pt>
                <c:pt idx="59">
                  <c:v>24.607</c:v>
                </c:pt>
                <c:pt idx="60">
                  <c:v>23.935</c:v>
                </c:pt>
                <c:pt idx="61">
                  <c:v>23.249</c:v>
                </c:pt>
                <c:pt idx="62">
                  <c:v>22.583</c:v>
                </c:pt>
                <c:pt idx="63">
                  <c:v>22.061</c:v>
                </c:pt>
                <c:pt idx="64">
                  <c:v>21.833</c:v>
                </c:pt>
                <c:pt idx="65">
                  <c:v>22.013</c:v>
                </c:pt>
                <c:pt idx="66">
                  <c:v>22.618</c:v>
                </c:pt>
                <c:pt idx="67">
                  <c:v>23.517</c:v>
                </c:pt>
                <c:pt idx="68">
                  <c:v>24.456</c:v>
                </c:pt>
                <c:pt idx="69">
                  <c:v>25.19</c:v>
                </c:pt>
                <c:pt idx="70">
                  <c:v>25.626</c:v>
                </c:pt>
                <c:pt idx="71">
                  <c:v>25.806</c:v>
                </c:pt>
                <c:pt idx="72">
                  <c:v>25.813</c:v>
                </c:pt>
                <c:pt idx="73">
                  <c:v>25.665</c:v>
                </c:pt>
                <c:pt idx="74">
                  <c:v>25.314</c:v>
                </c:pt>
                <c:pt idx="75">
                  <c:v>24.703</c:v>
                </c:pt>
                <c:pt idx="76">
                  <c:v>23.852</c:v>
                </c:pt>
                <c:pt idx="77">
                  <c:v>22.918</c:v>
                </c:pt>
                <c:pt idx="78">
                  <c:v>22.162</c:v>
                </c:pt>
                <c:pt idx="79">
                  <c:v>21.808</c:v>
                </c:pt>
                <c:pt idx="80">
                  <c:v>21.91</c:v>
                </c:pt>
                <c:pt idx="81">
                  <c:v>22.375</c:v>
                </c:pt>
                <c:pt idx="82">
                  <c:v>23.046</c:v>
                </c:pt>
                <c:pt idx="83">
                  <c:v>23.769</c:v>
                </c:pt>
                <c:pt idx="84">
                  <c:v>24.443</c:v>
                </c:pt>
                <c:pt idx="85">
                  <c:v>25.062</c:v>
                </c:pt>
                <c:pt idx="86">
                  <c:v>25.623</c:v>
                </c:pt>
                <c:pt idx="87">
                  <c:v>26.022</c:v>
                </c:pt>
                <c:pt idx="88">
                  <c:v>26.087</c:v>
                </c:pt>
                <c:pt idx="89">
                  <c:v>25.728</c:v>
                </c:pt>
                <c:pt idx="90">
                  <c:v>25.029</c:v>
                </c:pt>
                <c:pt idx="91">
                  <c:v>24.198</c:v>
                </c:pt>
                <c:pt idx="92">
                  <c:v>23.416</c:v>
                </c:pt>
                <c:pt idx="93">
                  <c:v>22.772</c:v>
                </c:pt>
                <c:pt idx="94">
                  <c:v>22.311</c:v>
                </c:pt>
                <c:pt idx="95">
                  <c:v>22.068</c:v>
                </c:pt>
                <c:pt idx="96">
                  <c:v>22.075</c:v>
                </c:pt>
                <c:pt idx="97">
                  <c:v>22.368</c:v>
                </c:pt>
                <c:pt idx="98">
                  <c:v>22.961</c:v>
                </c:pt>
                <c:pt idx="99">
                  <c:v>23.796</c:v>
                </c:pt>
                <c:pt idx="100">
                  <c:v>24.71</c:v>
                </c:pt>
              </c:numCache>
            </c:numRef>
          </c:val>
          <c:smooth val="0"/>
        </c:ser>
        <c:ser>
          <c:idx val="1"/>
          <c:order val="1"/>
          <c:tx>
            <c:strRef>
              <c:f>Sheet1!$C$1</c:f>
              <c:strCache>
                <c:ptCount val="1"/>
                <c:pt idx="0">
                  <c:v>Real Earth (1 AU)</c:v>
                </c:pt>
              </c:strCache>
            </c:strRef>
          </c:tx>
          <c:spPr>
            <a:solidFill>
              <a:srgbClr val="5B6B85"/>
            </a:solidFill>
            <a:ln w="25400" cap="flat">
              <a:solidFill>
                <a:srgbClr val="5B6B85"/>
              </a:solidFill>
              <a:prstDash val="solid"/>
              <a:round/>
            </a:ln>
            <a:effectLst/>
          </c:spPr>
          <c:invertIfNegative val="0"/>
          <c:dLbls>
            <c:numFmt formatCode="#,##0" sourceLinked="0"/>
            <c:txPr>
              <a:bodyPr/>
              <a:lstStyle/>
              <a:p>
                <a:pPr>
                  <a:defRPr b="0" i="0" strike="noStrike" sz="1100" u="none">
                    <a:solidFill>
                      <a:srgbClr val="0E1726"/>
                    </a:solidFill>
                    <a:latin typeface="+mn-lt"/>
                  </a:defRPr>
                </a:pPr>
              </a:p>
            </c:txPr>
            <c:showLegendKey val="0"/>
            <c:showVal val="0"/>
            <c:showCatName val="0"/>
            <c:showSerName val="0"/>
            <c:showPercent val="0"/>
            <c:showBubbleSize val="0"/>
            <c:showLeaderLines val="0"/>
          </c:dLbls>
          <c:marker>
            <c:symbol val="none"/>
            <c:size val="6"/>
            <c:spPr>
              <a:solidFill>
                <a:srgbClr val="5B6B85"/>
              </a:solidFill>
              <a:ln w="9525" cap="flat">
                <a:solidFill>
                  <a:srgbClr val="5B6B85"/>
                </a:solidFill>
                <a:prstDash val="solid"/>
                <a:round/>
              </a:ln>
              <a:effectLst/>
            </c:spPr>
          </c:marker>
          <c:cat>
            <c:multiLvlStrRef>
              <c:f>Sheet1!$A$2:$A$102</c:f>
              <c:multiLvlStrCache>
                <c:ptCount val="101"/>
                <c:lvl>
                  <c:pt idx="0">
                    <c:v>0</c:v>
                  </c:pt>
                  <c:pt idx="1">
                    <c:v>10</c:v>
                  </c:pt>
                  <c:pt idx="2">
                    <c:v>20</c:v>
                  </c:pt>
                  <c:pt idx="3">
                    <c:v>30</c:v>
                  </c:pt>
                  <c:pt idx="4">
                    <c:v>40</c:v>
                  </c:pt>
                  <c:pt idx="5">
                    <c:v>50</c:v>
                  </c:pt>
                  <c:pt idx="6">
                    <c:v>60</c:v>
                  </c:pt>
                  <c:pt idx="7">
                    <c:v>70</c:v>
                  </c:pt>
                  <c:pt idx="8">
                    <c:v>80</c:v>
                  </c:pt>
                  <c:pt idx="9">
                    <c:v>90</c:v>
                  </c:pt>
                  <c:pt idx="10">
                    <c:v>100</c:v>
                  </c:pt>
                  <c:pt idx="11">
                    <c:v>110</c:v>
                  </c:pt>
                  <c:pt idx="12">
                    <c:v>120</c:v>
                  </c:pt>
                  <c:pt idx="13">
                    <c:v>130</c:v>
                  </c:pt>
                  <c:pt idx="14">
                    <c:v>140</c:v>
                  </c:pt>
                  <c:pt idx="15">
                    <c:v>150</c:v>
                  </c:pt>
                  <c:pt idx="16">
                    <c:v>160</c:v>
                  </c:pt>
                  <c:pt idx="17">
                    <c:v>170</c:v>
                  </c:pt>
                  <c:pt idx="18">
                    <c:v>180</c:v>
                  </c:pt>
                  <c:pt idx="19">
                    <c:v>190</c:v>
                  </c:pt>
                  <c:pt idx="20">
                    <c:v>200</c:v>
                  </c:pt>
                  <c:pt idx="21">
                    <c:v>210</c:v>
                  </c:pt>
                  <c:pt idx="22">
                    <c:v>220</c:v>
                  </c:pt>
                  <c:pt idx="23">
                    <c:v>230</c:v>
                  </c:pt>
                  <c:pt idx="24">
                    <c:v>240</c:v>
                  </c:pt>
                  <c:pt idx="25">
                    <c:v>250</c:v>
                  </c:pt>
                  <c:pt idx="26">
                    <c:v>260</c:v>
                  </c:pt>
                  <c:pt idx="27">
                    <c:v>270</c:v>
                  </c:pt>
                  <c:pt idx="28">
                    <c:v>280</c:v>
                  </c:pt>
                  <c:pt idx="29">
                    <c:v>290</c:v>
                  </c:pt>
                  <c:pt idx="30">
                    <c:v>300</c:v>
                  </c:pt>
                  <c:pt idx="31">
                    <c:v>310</c:v>
                  </c:pt>
                  <c:pt idx="32">
                    <c:v>320</c:v>
                  </c:pt>
                  <c:pt idx="33">
                    <c:v>330</c:v>
                  </c:pt>
                  <c:pt idx="34">
                    <c:v>340</c:v>
                  </c:pt>
                  <c:pt idx="35">
                    <c:v>350</c:v>
                  </c:pt>
                  <c:pt idx="36">
                    <c:v>360</c:v>
                  </c:pt>
                  <c:pt idx="37">
                    <c:v>370</c:v>
                  </c:pt>
                  <c:pt idx="38">
                    <c:v>380</c:v>
                  </c:pt>
                  <c:pt idx="39">
                    <c:v>390</c:v>
                  </c:pt>
                  <c:pt idx="40">
                    <c:v>400</c:v>
                  </c:pt>
                  <c:pt idx="41">
                    <c:v>410</c:v>
                  </c:pt>
                  <c:pt idx="42">
                    <c:v>420</c:v>
                  </c:pt>
                  <c:pt idx="43">
                    <c:v>430</c:v>
                  </c:pt>
                  <c:pt idx="44">
                    <c:v>440</c:v>
                  </c:pt>
                  <c:pt idx="45">
                    <c:v>450</c:v>
                  </c:pt>
                  <c:pt idx="46">
                    <c:v>460</c:v>
                  </c:pt>
                  <c:pt idx="47">
                    <c:v>470</c:v>
                  </c:pt>
                  <c:pt idx="48">
                    <c:v>480</c:v>
                  </c:pt>
                  <c:pt idx="49">
                    <c:v>490</c:v>
                  </c:pt>
                  <c:pt idx="50">
                    <c:v>500</c:v>
                  </c:pt>
                  <c:pt idx="51">
                    <c:v>510</c:v>
                  </c:pt>
                  <c:pt idx="52">
                    <c:v>520</c:v>
                  </c:pt>
                  <c:pt idx="53">
                    <c:v>530</c:v>
                  </c:pt>
                  <c:pt idx="54">
                    <c:v>540</c:v>
                  </c:pt>
                  <c:pt idx="55">
                    <c:v>550</c:v>
                  </c:pt>
                  <c:pt idx="56">
                    <c:v>560</c:v>
                  </c:pt>
                  <c:pt idx="57">
                    <c:v>570</c:v>
                  </c:pt>
                  <c:pt idx="58">
                    <c:v>580</c:v>
                  </c:pt>
                  <c:pt idx="59">
                    <c:v>590</c:v>
                  </c:pt>
                  <c:pt idx="60">
                    <c:v>600</c:v>
                  </c:pt>
                  <c:pt idx="61">
                    <c:v>610</c:v>
                  </c:pt>
                  <c:pt idx="62">
                    <c:v>620</c:v>
                  </c:pt>
                  <c:pt idx="63">
                    <c:v>630</c:v>
                  </c:pt>
                  <c:pt idx="64">
                    <c:v>640</c:v>
                  </c:pt>
                  <c:pt idx="65">
                    <c:v>650</c:v>
                  </c:pt>
                  <c:pt idx="66">
                    <c:v>660</c:v>
                  </c:pt>
                  <c:pt idx="67">
                    <c:v>670</c:v>
                  </c:pt>
                  <c:pt idx="68">
                    <c:v>680</c:v>
                  </c:pt>
                  <c:pt idx="69">
                    <c:v>690</c:v>
                  </c:pt>
                  <c:pt idx="70">
                    <c:v>700</c:v>
                  </c:pt>
                  <c:pt idx="71">
                    <c:v>710</c:v>
                  </c:pt>
                  <c:pt idx="72">
                    <c:v>720</c:v>
                  </c:pt>
                  <c:pt idx="73">
                    <c:v>730</c:v>
                  </c:pt>
                  <c:pt idx="74">
                    <c:v>740</c:v>
                  </c:pt>
                  <c:pt idx="75">
                    <c:v>750</c:v>
                  </c:pt>
                  <c:pt idx="76">
                    <c:v>760</c:v>
                  </c:pt>
                  <c:pt idx="77">
                    <c:v>770</c:v>
                  </c:pt>
                  <c:pt idx="78">
                    <c:v>780</c:v>
                  </c:pt>
                  <c:pt idx="79">
                    <c:v>790</c:v>
                  </c:pt>
                  <c:pt idx="80">
                    <c:v>800</c:v>
                  </c:pt>
                  <c:pt idx="81">
                    <c:v>810</c:v>
                  </c:pt>
                  <c:pt idx="82">
                    <c:v>820</c:v>
                  </c:pt>
                  <c:pt idx="83">
                    <c:v>830</c:v>
                  </c:pt>
                  <c:pt idx="84">
                    <c:v>840</c:v>
                  </c:pt>
                  <c:pt idx="85">
                    <c:v>850</c:v>
                  </c:pt>
                  <c:pt idx="86">
                    <c:v>860</c:v>
                  </c:pt>
                  <c:pt idx="87">
                    <c:v>870</c:v>
                  </c:pt>
                  <c:pt idx="88">
                    <c:v>880</c:v>
                  </c:pt>
                  <c:pt idx="89">
                    <c:v>890</c:v>
                  </c:pt>
                  <c:pt idx="90">
                    <c:v>900</c:v>
                  </c:pt>
                  <c:pt idx="91">
                    <c:v>910</c:v>
                  </c:pt>
                  <c:pt idx="92">
                    <c:v>920</c:v>
                  </c:pt>
                  <c:pt idx="93">
                    <c:v>930</c:v>
                  </c:pt>
                  <c:pt idx="94">
                    <c:v>940</c:v>
                  </c:pt>
                  <c:pt idx="95">
                    <c:v>950</c:v>
                  </c:pt>
                  <c:pt idx="96">
                    <c:v>960</c:v>
                  </c:pt>
                  <c:pt idx="97">
                    <c:v>970</c:v>
                  </c:pt>
                  <c:pt idx="98">
                    <c:v>980</c:v>
                  </c:pt>
                  <c:pt idx="99">
                    <c:v>990</c:v>
                  </c:pt>
                  <c:pt idx="100">
                    <c:v>1000</c:v>
                  </c:pt>
                </c:lvl>
              </c:multiLvlStrCache>
            </c:multiLvlStrRef>
          </c:cat>
          <c:val>
            <c:numRef>
              <c:f>Sheet1!$C$2:$C$102</c:f>
              <c:numCache>
                <c:formatCode>General</c:formatCode>
                <c:ptCount val="101"/>
                <c:pt idx="0">
                  <c:v>23.439</c:v>
                </c:pt>
                <c:pt idx="1">
                  <c:v>22.62</c:v>
                </c:pt>
                <c:pt idx="2">
                  <c:v>23.271</c:v>
                </c:pt>
                <c:pt idx="3">
                  <c:v>23.958</c:v>
                </c:pt>
                <c:pt idx="4">
                  <c:v>23.396</c:v>
                </c:pt>
                <c:pt idx="5">
                  <c:v>22.497</c:v>
                </c:pt>
                <c:pt idx="6">
                  <c:v>23.226</c:v>
                </c:pt>
                <c:pt idx="7">
                  <c:v>24.36</c:v>
                </c:pt>
                <c:pt idx="8">
                  <c:v>23.493</c:v>
                </c:pt>
                <c:pt idx="9">
                  <c:v>22.216</c:v>
                </c:pt>
                <c:pt idx="10">
                  <c:v>23.152</c:v>
                </c:pt>
                <c:pt idx="11">
                  <c:v>24.227</c:v>
                </c:pt>
                <c:pt idx="12">
                  <c:v>23.594</c:v>
                </c:pt>
                <c:pt idx="13">
                  <c:v>22.664</c:v>
                </c:pt>
                <c:pt idx="14">
                  <c:v>22.962</c:v>
                </c:pt>
                <c:pt idx="15">
                  <c:v>23.828</c:v>
                </c:pt>
                <c:pt idx="16">
                  <c:v>23.661</c:v>
                </c:pt>
                <c:pt idx="17">
                  <c:v>22.701</c:v>
                </c:pt>
                <c:pt idx="18">
                  <c:v>23.107</c:v>
                </c:pt>
                <c:pt idx="19">
                  <c:v>24.081</c:v>
                </c:pt>
                <c:pt idx="20">
                  <c:v>23.384</c:v>
                </c:pt>
                <c:pt idx="21">
                  <c:v>22.478</c:v>
                </c:pt>
                <c:pt idx="22">
                  <c:v>23.257</c:v>
                </c:pt>
                <c:pt idx="23">
                  <c:v>24.039</c:v>
                </c:pt>
                <c:pt idx="24">
                  <c:v>23.591</c:v>
                </c:pt>
                <c:pt idx="25">
                  <c:v>22.695</c:v>
                </c:pt>
                <c:pt idx="26">
                  <c:v>22.792</c:v>
                </c:pt>
                <c:pt idx="27">
                  <c:v>23.862</c:v>
                </c:pt>
                <c:pt idx="28">
                  <c:v>23.873</c:v>
                </c:pt>
                <c:pt idx="29">
                  <c:v>22.792</c:v>
                </c:pt>
                <c:pt idx="30">
                  <c:v>22.94</c:v>
                </c:pt>
                <c:pt idx="31">
                  <c:v>23.748</c:v>
                </c:pt>
                <c:pt idx="32">
                  <c:v>23.434</c:v>
                </c:pt>
                <c:pt idx="33">
                  <c:v>22.941</c:v>
                </c:pt>
                <c:pt idx="34">
                  <c:v>23.235</c:v>
                </c:pt>
                <c:pt idx="35">
                  <c:v>23.663</c:v>
                </c:pt>
                <c:pt idx="36">
                  <c:v>23.534</c:v>
                </c:pt>
                <c:pt idx="37">
                  <c:v>22.844</c:v>
                </c:pt>
                <c:pt idx="38">
                  <c:v>22.869</c:v>
                </c:pt>
                <c:pt idx="39">
                  <c:v>23.849</c:v>
                </c:pt>
                <c:pt idx="40">
                  <c:v>23.831</c:v>
                </c:pt>
                <c:pt idx="41">
                  <c:v>22.85</c:v>
                </c:pt>
                <c:pt idx="42">
                  <c:v>22.869</c:v>
                </c:pt>
                <c:pt idx="43">
                  <c:v>23.526</c:v>
                </c:pt>
                <c:pt idx="44">
                  <c:v>23.605</c:v>
                </c:pt>
                <c:pt idx="45">
                  <c:v>23.324</c:v>
                </c:pt>
                <c:pt idx="46">
                  <c:v>23.076</c:v>
                </c:pt>
                <c:pt idx="47">
                  <c:v>23.251</c:v>
                </c:pt>
                <c:pt idx="48">
                  <c:v>23.542</c:v>
                </c:pt>
                <c:pt idx="49">
                  <c:v>23.191</c:v>
                </c:pt>
                <c:pt idx="50">
                  <c:v>23.05</c:v>
                </c:pt>
                <c:pt idx="51">
                  <c:v>23.622</c:v>
                </c:pt>
                <c:pt idx="52">
                  <c:v>23.57</c:v>
                </c:pt>
                <c:pt idx="53">
                  <c:v>23.001</c:v>
                </c:pt>
                <c:pt idx="54">
                  <c:v>23.041</c:v>
                </c:pt>
                <c:pt idx="55">
                  <c:v>23.389</c:v>
                </c:pt>
                <c:pt idx="56">
                  <c:v>23.64</c:v>
                </c:pt>
                <c:pt idx="57">
                  <c:v>23.522</c:v>
                </c:pt>
                <c:pt idx="58">
                  <c:v>22.934</c:v>
                </c:pt>
                <c:pt idx="59">
                  <c:v>23</c:v>
                </c:pt>
                <c:pt idx="60">
                  <c:v>23.635</c:v>
                </c:pt>
                <c:pt idx="61">
                  <c:v>23.531</c:v>
                </c:pt>
                <c:pt idx="62">
                  <c:v>23.194</c:v>
                </c:pt>
                <c:pt idx="63">
                  <c:v>23.246</c:v>
                </c:pt>
                <c:pt idx="64">
                  <c:v>23.24</c:v>
                </c:pt>
                <c:pt idx="65">
                  <c:v>23.356</c:v>
                </c:pt>
                <c:pt idx="66">
                  <c:v>23.388</c:v>
                </c:pt>
                <c:pt idx="67">
                  <c:v>23.172</c:v>
                </c:pt>
                <c:pt idx="68">
                  <c:v>23.44</c:v>
                </c:pt>
                <c:pt idx="69">
                  <c:v>23.565</c:v>
                </c:pt>
                <c:pt idx="70">
                  <c:v>23.005</c:v>
                </c:pt>
                <c:pt idx="71">
                  <c:v>23.021</c:v>
                </c:pt>
                <c:pt idx="72">
                  <c:v>23.587</c:v>
                </c:pt>
                <c:pt idx="73">
                  <c:v>23.649</c:v>
                </c:pt>
                <c:pt idx="74">
                  <c:v>23.313</c:v>
                </c:pt>
                <c:pt idx="75">
                  <c:v>22.91</c:v>
                </c:pt>
                <c:pt idx="76">
                  <c:v>23.057</c:v>
                </c:pt>
                <c:pt idx="77">
                  <c:v>23.779</c:v>
                </c:pt>
                <c:pt idx="78">
                  <c:v>23.656</c:v>
                </c:pt>
                <c:pt idx="79">
                  <c:v>22.906</c:v>
                </c:pt>
                <c:pt idx="80">
                  <c:v>23.102</c:v>
                </c:pt>
                <c:pt idx="81">
                  <c:v>23.578</c:v>
                </c:pt>
                <c:pt idx="82">
                  <c:v>23.37</c:v>
                </c:pt>
                <c:pt idx="83">
                  <c:v>23.144</c:v>
                </c:pt>
                <c:pt idx="84">
                  <c:v>23.278</c:v>
                </c:pt>
                <c:pt idx="85">
                  <c:v>23.55</c:v>
                </c:pt>
                <c:pt idx="86">
                  <c:v>23.475</c:v>
                </c:pt>
                <c:pt idx="87">
                  <c:v>22.857</c:v>
                </c:pt>
                <c:pt idx="88">
                  <c:v>22.992</c:v>
                </c:pt>
                <c:pt idx="89">
                  <c:v>23.946</c:v>
                </c:pt>
                <c:pt idx="90">
                  <c:v>23.746</c:v>
                </c:pt>
                <c:pt idx="91">
                  <c:v>22.723</c:v>
                </c:pt>
                <c:pt idx="92">
                  <c:v>22.865</c:v>
                </c:pt>
                <c:pt idx="93">
                  <c:v>23.652</c:v>
                </c:pt>
                <c:pt idx="94">
                  <c:v>23.763</c:v>
                </c:pt>
                <c:pt idx="95">
                  <c:v>23.215</c:v>
                </c:pt>
                <c:pt idx="96">
                  <c:v>22.824</c:v>
                </c:pt>
                <c:pt idx="97">
                  <c:v>23.384</c:v>
                </c:pt>
                <c:pt idx="98">
                  <c:v>23.777</c:v>
                </c:pt>
                <c:pt idx="99">
                  <c:v>23.033</c:v>
                </c:pt>
                <c:pt idx="100">
                  <c:v>22.901</c:v>
                </c:pt>
              </c:numCache>
            </c:numRef>
          </c:val>
          <c:smooth val="0"/>
        </c:ser>
        <c:dLbls>
          <c:numFmt formatCode="#,##0" sourceLinked="0"/>
          <c:txPr>
            <a:bodyPr/>
            <a:lstStyle/>
            <a:p>
              <a:pPr>
                <a:defRPr b="0" i="0" strike="noStrike" sz="1100" u="none">
                  <a:solidFill>
                    <a:srgbClr val="0E1726"/>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C9CED6"/>
            </a:solidFill>
            <a:prstDash val="solid"/>
            <a:round/>
          </a:ln>
        </c:spPr>
        <c:txPr>
          <a:bodyPr/>
          <a:lstStyle/>
          <a:p>
            <a:pPr>
              <a:defRPr sz="1100" b="0" i="0" u="none" strike="noStrike">
                <a:solidFill>
                  <a:srgbClr val="5F6B7A"/>
                </a:solidFill>
                <a:latin typeface="+mn-lt"/>
              </a:defRPr>
            </a:pPr>
            <a:endParaRPr lang="en-US"/>
          </a:p>
        </c:txPr>
        <c:crossAx val="2094734552"/>
        <c:crosses val="autoZero"/>
        <c:auto val="1"/>
        <c:lblAlgn val="ctr"/>
        <c:noMultiLvlLbl val="1"/>
        <c:tickLblSkip val="10"/>
      </c:catAx>
      <c:valAx>
        <c:axId val="2094734552"/>
        <c:scaling>
          <c:orientation val="minMax"/>
          <c:max val="27"/>
          <c:min val="21"/>
        </c:scaling>
        <c:delete val="0"/>
        <c:axPos val="l"/>
        <c:majorGridlines>
          <c:spPr>
            <a:ln w="9525" cap="flat">
              <a:solidFill>
                <a:srgbClr val="E3E6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5F6B7A"/>
                </a:solidFill>
                <a:latin typeface="+mn-lt"/>
              </a:defRPr>
            </a:pPr>
            <a:endParaRPr lang="en-US"/>
          </a:p>
        </c:txPr>
        <c:crossAx val="2094734554"/>
        <c:crosses val="autoZero"/>
        <c:crossBetween val="between"/>
        <c:majorUnit val="1"/>
      </c:valAx>
      <c:spPr>
        <a:noFill/>
        <a:ln>
          <a:noFill/>
        </a:ln>
        <a:effectLst/>
      </c:spPr>
    </c:plotArea>
    <c:legend>
      <c:legendPos val="t"/>
      <c:overlay val="0"/>
      <c:txPr>
        <a:bodyPr/>
        <a:lstStyle/>
        <a:p>
          <a:pPr>
            <a:defRPr sz="1100">
              <a:solidFill>
                <a:srgbClr val="5F6B7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brief: move Earth from 1 AU to about 2.7 AU in under 10,000 years without harming it. Our answer is a gravity tractor: an asteroid whose gravity pulls Earth, held in place by focused light. In our full N-body simulation Earth arrives in year 8,758, every force is booked with its reaction, and no flag is left unresolved. Click "Open the map" to navigate; every slide has a Map button to come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hub. In a live talk go through 1 to 9 in order; in Q&amp;A click straight to what was asked. The enabler and what-if cards open hidden backup slides with the details and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brief's reference concept, Octo-Earth, puts arms on Earth. But forces between the arms and Earth are internal: they cancel, so Earth's centre of mass cannot move. We checked it with the same physics as our own machine: the two pushes cancel to 3 parts in 10 trillion. The arms also break under their own weight long before 12,000 km. So the push has to come from outside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asteroid four times ten to the twenty kilograms sits 637,100 km from Earth. Its gravity pulls Earth forward and outward; Earth's orbit widens a little every lap. Earth pulls back on the asteroid, so a mirror tied to it is pushed by focused light from stations on the Sun's side. Light can only push, so the asteroid sits at 45 degrees, where the beam can hold it without ever passing near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pieces of ordinary physics carry the design. Newton's gravity gives the pull, about 4 times ten to the 17 newtons. Radiation pressure tells us how much light holds the asteroid: about 8.4 times ten to the 25 watts. Gauss's equation turns the pull into orbit growth: about 8,000 years by hand, 8,758 in the full simulation. The energy books balance to 0.007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allows three hypothetical enablers, each bounded by a number. E1 is the big one: up to ten to the 26 watts of focused light, a quarter of the Sun's output. The physics of pushing with light has flown on IKAROS and LightSail 2; the scale is what we assume. E2 is a mirror material inside the guide's nanotube-graphene range. E3 places the asteroids and builds the optics. Each card opens a detail slide with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Mars sits across Earth's path, so a second tow moves it first. It sprints across Jupiter's 2:1 resonance at 3.28 AU, where a slow crossing gets caught, and parks at 3.64 AU in year 5,168. Earth's orbit widens faster as it goes, and it arrives at 2.7006 AU in year 8,758, with 1,242 years to spare.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that every force be booked with its reaction. The only outside pushes are the beams on the two tow asteroids; their partners are the stations' recoil and the light that bounces away. Everything adds to zero to about 6 parts in ten to the 16, seven orders of magnitude inside the limit. All ten official benchmarks pass, and halving the time step moves arrival by only 0.3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thresholds come from the company's reference demo, checked every 100 simulated days. The hard one is sunlight: at 2.7 AU Earth gets 13.7 percent of today's light and freezes at 150 K. E3's sunlight optics make up the difference. Counted face on, Earth stays at 288 K. Placed realistically as a refracting ring near L1, they give 97 percent of today's sunlight and 286 K, still inside every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what makes the journey safe came from tests that failed. Without the Mars tow, Earth nearly hits Mars. A slow crossing of Jupiter's 2:1 resonance traps Mars. Our first beam design lost its asteroid after a three-hour blackout. Swapping Earth and Mars needs their orbits to cross, which never stayed safe. Each card opens the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winning conditions hold in our simulation. We're explicit about what we assume: E1's power, a global yearly climate model, and the realistic optics placement, which still keeps Earth at 286 K. One risk no enabler covers is the light the tow mirror scatters onto Earth's night side. Thank you; the map is one click away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 is our largest assumption and we say so. The chart shows the run never exceeded the bound: the dips are the Earth tow easing off while Mars sprints, and the ripple near the end is the arrival trim. The physics of light pushing things has flown; the scale is what we assume.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E2 sits between the strongest nanotube ever measured and monolayer graphene, inside the range the guide allows. At full power the cables keep a safety factor of 1.57 and the mirror runs at 1,466 K, just under its 1,500 K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E3 puts two Vesta-class asteroids in place and builds the optics. The Earth tow asteroid is about 1.5 times Vesta's mass and well under Ceres. The realistic optics design is Angel's famous L1 sunshade turned around: instead of shading Earth, it bends extra sunlight onto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charts carry the stress tests. Crossing Jupiter's 2:1 resonance slowly, Mars got trapped six times out of eight; at four times the pull, never. And after giving the beams a shared power budget and many independent stations, the Earth tow survives 15 hours with every station dark, against 3 hours for the first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tows gone, we ran the moved solar system for a million years beside the real one. Earth's orbit stays within 0.002 AU of 2.7. The tilt swings wider than today's, because at 2.7 AU Earth's spin precession nearly matches a slow Jupiter-Saturn mode; keeping today's seasons means re-aiming 1.4 percent of the sunlight with E3's optics.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172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5F6B7A"/>
                </a:solidFill>
              </a:rPr>
              <a:t>Black Ant · towing Earth to 2.7 AU</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CKUP">
    <p:bg>
      <p:bgPr>
        <a:solidFill>
          <a:srgbClr val="F6F7F9"/>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7132320" cy="86868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6446520"/>
            <a:ext cx="6400800" cy="274320"/>
          </a:xfrm>
          <a:prstGeom prst="rect">
            <a:avLst/>
          </a:prstGeom>
          <a:noFill/>
          <a:ln/>
        </p:spPr>
        <p:txBody>
          <a:bodyPr wrap="square" lIns="0" tIns="0" rIns="0" bIns="0" rtlCol="0" anchor="ctr"/>
          <a:lstStyle/>
          <a:p>
            <a:pPr indent="0" marL="0">
              <a:buNone/>
            </a:pPr>
            <a:r>
              <a:rPr lang="en-US" sz="1000" dirty="0">
                <a:solidFill>
                  <a:srgbClr val="5F6B7A"/>
                </a:solidFill>
              </a:rPr>
              <a:t>Backup slide · skipped in the slideshow; reached by clicking</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3.xml"/><Relationship Id="rId4" Type="http://schemas.openxmlformats.org/officeDocument/2006/relationships/slide" Target="slide3.xml"/><Relationship Id="rId5" Type="http://schemas.openxmlformats.org/officeDocument/2006/relationships/slide" Target="slide4.xml"/><Relationship Id="rId6" Type="http://schemas.openxmlformats.org/officeDocument/2006/relationships/slide" Target="slide4.xml"/><Relationship Id="rId8" Type="http://schemas.openxmlformats.org/officeDocument/2006/relationships/slide" Target="slide4.xml"/><Relationship Id="rId9" Type="http://schemas.openxmlformats.org/officeDocument/2006/relationships/slide" Target="slide5.xml"/><Relationship Id="rId10" Type="http://schemas.openxmlformats.org/officeDocument/2006/relationships/slide" Target="slide5.xml"/><Relationship Id="rId12" Type="http://schemas.openxmlformats.org/officeDocument/2006/relationships/slide" Target="slide5.xml"/><Relationship Id="rId13" Type="http://schemas.openxmlformats.org/officeDocument/2006/relationships/slide" Target="slide6.xml"/><Relationship Id="rId14" Type="http://schemas.openxmlformats.org/officeDocument/2006/relationships/slide" Target="slide6.xml"/><Relationship Id="rId16" Type="http://schemas.openxmlformats.org/officeDocument/2006/relationships/slide" Target="slide6.xml"/><Relationship Id="rId17" Type="http://schemas.openxmlformats.org/officeDocument/2006/relationships/slide" Target="slide7.xml"/><Relationship Id="rId18" Type="http://schemas.openxmlformats.org/officeDocument/2006/relationships/slide" Target="slide7.xml"/><Relationship Id="rId20" Type="http://schemas.openxmlformats.org/officeDocument/2006/relationships/slide" Target="slide7.xml"/><Relationship Id="rId21" Type="http://schemas.openxmlformats.org/officeDocument/2006/relationships/slide" Target="slide8.xml"/><Relationship Id="rId22" Type="http://schemas.openxmlformats.org/officeDocument/2006/relationships/slide" Target="slide8.xml"/><Relationship Id="rId24" Type="http://schemas.openxmlformats.org/officeDocument/2006/relationships/slide" Target="slide8.xml"/><Relationship Id="rId25" Type="http://schemas.openxmlformats.org/officeDocument/2006/relationships/slide" Target="slide9.xml"/><Relationship Id="rId26" Type="http://schemas.openxmlformats.org/officeDocument/2006/relationships/slide" Target="slide9.xml"/><Relationship Id="rId28" Type="http://schemas.openxmlformats.org/officeDocument/2006/relationships/slide" Target="slide9.xml"/><Relationship Id="rId29" Type="http://schemas.openxmlformats.org/officeDocument/2006/relationships/slide" Target="slide10.xml"/><Relationship Id="rId30" Type="http://schemas.openxmlformats.org/officeDocument/2006/relationships/slide" Target="slide10.xml"/><Relationship Id="rId32" Type="http://schemas.openxmlformats.org/officeDocument/2006/relationships/slide" Target="slide10.xml"/><Relationship Id="rId33" Type="http://schemas.openxmlformats.org/officeDocument/2006/relationships/slide" Target="slide11.xml"/><Relationship Id="rId34" Type="http://schemas.openxmlformats.org/officeDocument/2006/relationships/slide" Target="slide11.xml"/><Relationship Id="rId36" Type="http://schemas.openxmlformats.org/officeDocument/2006/relationships/slide" Target="slide11.xml"/><Relationship Id="rId3" Type="http://schemas.openxmlformats.org/officeDocument/2006/relationships/image" Target="../media/image-2-1.png"/><Relationship Id="rId7" Type="http://schemas.openxmlformats.org/officeDocument/2006/relationships/image" Target="../media/image-2-2.png"/><Relationship Id="rId11" Type="http://schemas.openxmlformats.org/officeDocument/2006/relationships/image" Target="../media/image-2-3.png"/><Relationship Id="rId15" Type="http://schemas.openxmlformats.org/officeDocument/2006/relationships/image" Target="../media/image-2-4.png"/><Relationship Id="rId19" Type="http://schemas.openxmlformats.org/officeDocument/2006/relationships/image" Target="../media/image-2-5.png"/><Relationship Id="rId23" Type="http://schemas.openxmlformats.org/officeDocument/2006/relationships/image" Target="../media/image-2-6.png"/><Relationship Id="rId27" Type="http://schemas.openxmlformats.org/officeDocument/2006/relationships/image" Target="../media/image-2-7.png"/><Relationship Id="rId31" Type="http://schemas.openxmlformats.org/officeDocument/2006/relationships/image" Target="../media/image-2-8.png"/><Relationship Id="rId35" Type="http://schemas.openxmlformats.org/officeDocument/2006/relationships/image" Target="../media/image-2-9.png"/><Relationship Id="rId37" Type="http://schemas.openxmlformats.org/officeDocument/2006/relationships/slideLayout" Target="../slideLayouts/slideLayout2.xml"/><Relationship Id="rId3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2.xml"/><Relationship Id="rId7" Type="http://schemas.openxmlformats.org/officeDocument/2006/relationships/chart" Target="/ppt/charts/chart1.xml"/><Relationship Id="rId2"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8" Type="http://schemas.openxmlformats.org/officeDocument/2006/relationships/slideLayout" Target="../slideLayouts/slideLayout3.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2.xml"/><Relationship Id="rId2" Type="http://schemas.openxmlformats.org/officeDocument/2006/relationships/image" Target="../media/image-4-1.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2.xml"/><Relationship Id="rId2" Type="http://schemas.openxmlformats.org/officeDocument/2006/relationships/image" Target="../media/image-5-1.png"/><Relationship Id="rId4" Type="http://schemas.openxmlformats.org/officeDocument/2006/relationships/image" Target="../media/image-5-2.png"/><Relationship Id="rId5" Type="http://schemas.openxmlformats.org/officeDocument/2006/relationships/image" Target="../media/image-5-3.png"/><Relationship Id="rId6" Type="http://schemas.openxmlformats.org/officeDocument/2006/relationships/image" Target="../media/image-5-4.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2.xml"/><Relationship Id="rId4" Type="http://schemas.openxmlformats.org/officeDocument/2006/relationships/slide" Target="slide12.xml"/><Relationship Id="rId5" Type="http://schemas.openxmlformats.org/officeDocument/2006/relationships/slide" Target="slide12.xml"/><Relationship Id="rId6" Type="http://schemas.openxmlformats.org/officeDocument/2006/relationships/slide" Target="slide12.xml"/><Relationship Id="rId7" Type="http://schemas.openxmlformats.org/officeDocument/2006/relationships/slide" Target="slide13.xml"/><Relationship Id="rId8" Type="http://schemas.openxmlformats.org/officeDocument/2006/relationships/slide" Target="slide13.xml"/><Relationship Id="rId9" Type="http://schemas.openxmlformats.org/officeDocument/2006/relationships/slide" Target="slide13.xml"/><Relationship Id="rId10" Type="http://schemas.openxmlformats.org/officeDocument/2006/relationships/slide" Target="slide14.xml"/><Relationship Id="rId11" Type="http://schemas.openxmlformats.org/officeDocument/2006/relationships/slide" Target="slide14.xml"/><Relationship Id="rId12" Type="http://schemas.openxmlformats.org/officeDocument/2006/relationships/slide" Target="slide14.xml"/><Relationship Id="rId2" Type="http://schemas.openxmlformats.org/officeDocument/2006/relationships/image" Target="../media/image-6-1.png"/><Relationship Id="rId13" Type="http://schemas.openxmlformats.org/officeDocument/2006/relationships/slideLayout" Target="../slideLayouts/slideLayout3.xml"/><Relationship Id="rId1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2.xml"/><Relationship Id="rId4" Type="http://schemas.openxmlformats.org/officeDocument/2006/relationships/chart" Target="/ppt/charts/chart2.xml"/><Relationship Id="rId2" Type="http://schemas.openxmlformats.org/officeDocument/2006/relationships/image" Target="../media/image-7-1.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2.xml"/><Relationship Id="rId4" Type="http://schemas.openxmlformats.org/officeDocument/2006/relationships/chart" Target="/ppt/charts/chart3.xml"/><Relationship Id="rId2" Type="http://schemas.openxmlformats.org/officeDocument/2006/relationships/image" Target="../media/image-8-1.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2.xml"/><Relationship Id="rId2" Type="http://schemas.openxmlformats.org/officeDocument/2006/relationships/image" Target="../media/image-9-1.png"/><Relationship Id="rId4" Type="http://schemas.openxmlformats.org/officeDocument/2006/relationships/image" Target="../media/image-9-2.png"/><Relationship Id="rId5" Type="http://schemas.openxmlformats.org/officeDocument/2006/relationships/image" Target="../media/image-9-3.png"/><Relationship Id="rId6" Type="http://schemas.openxmlformats.org/officeDocument/2006/relationships/image" Target="../media/image-9-4.png"/><Relationship Id="rId7" Type="http://schemas.openxmlformats.org/officeDocument/2006/relationships/image" Target="../media/image-9-5.png"/><Relationship Id="rId8" Type="http://schemas.openxmlformats.org/officeDocument/2006/relationships/image" Target="../media/image-9-6.png"/><Relationship Id="rId9" Type="http://schemas.openxmlformats.org/officeDocument/2006/relationships/image" Target="../media/image-9-7.png"/><Relationship Id="rId10" Type="http://schemas.openxmlformats.org/officeDocument/2006/relationships/image" Target="../media/image-9-8.png"/><Relationship Id="rId11" Type="http://schemas.openxmlformats.org/officeDocument/2006/relationships/image" Target="../media/image-9-9.png"/><Relationship Id="rId12" Type="http://schemas.openxmlformats.org/officeDocument/2006/relationships/image" Target="../media/image-9-10.png"/><Relationship Id="rId13" Type="http://schemas.openxmlformats.org/officeDocument/2006/relationships/slideLayout" Target="../slideLayouts/slideLayout3.xml"/><Relationship Id="rId1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2.xml"/><Relationship Id="rId4" Type="http://schemas.openxmlformats.org/officeDocument/2006/relationships/slide" Target="slide15.xml"/><Relationship Id="rId5" Type="http://schemas.openxmlformats.org/officeDocument/2006/relationships/slide" Target="slide15.xml"/><Relationship Id="rId7" Type="http://schemas.openxmlformats.org/officeDocument/2006/relationships/slide" Target="slide15.xml"/><Relationship Id="rId8" Type="http://schemas.openxmlformats.org/officeDocument/2006/relationships/slide" Target="slide15.xml"/><Relationship Id="rId9" Type="http://schemas.openxmlformats.org/officeDocument/2006/relationships/slide" Target="slide15.xml"/><Relationship Id="rId10" Type="http://schemas.openxmlformats.org/officeDocument/2006/relationships/slide" Target="slide15.xml"/><Relationship Id="rId12" Type="http://schemas.openxmlformats.org/officeDocument/2006/relationships/slide" Target="slide15.xml"/><Relationship Id="rId13" Type="http://schemas.openxmlformats.org/officeDocument/2006/relationships/slide" Target="slide15.xml"/><Relationship Id="rId14" Type="http://schemas.openxmlformats.org/officeDocument/2006/relationships/slide" Target="slide15.xml"/><Relationship Id="rId15" Type="http://schemas.openxmlformats.org/officeDocument/2006/relationships/slide" Target="slide15.xml"/><Relationship Id="rId17" Type="http://schemas.openxmlformats.org/officeDocument/2006/relationships/slide" Target="slide15.xml"/><Relationship Id="rId18" Type="http://schemas.openxmlformats.org/officeDocument/2006/relationships/slide" Target="slide15.xml"/><Relationship Id="rId19" Type="http://schemas.openxmlformats.org/officeDocument/2006/relationships/slide" Target="slide15.xml"/><Relationship Id="rId20" Type="http://schemas.openxmlformats.org/officeDocument/2006/relationships/slide" Target="slide15.xml"/><Relationship Id="rId22" Type="http://schemas.openxmlformats.org/officeDocument/2006/relationships/slide" Target="slide15.xml"/><Relationship Id="rId23" Type="http://schemas.openxmlformats.org/officeDocument/2006/relationships/slide" Target="slide15.xml"/><Relationship Id="rId24" Type="http://schemas.openxmlformats.org/officeDocument/2006/relationships/slide" Target="slide15.xml"/><Relationship Id="rId25" Type="http://schemas.openxmlformats.org/officeDocument/2006/relationships/slide" Target="slide15.xml"/><Relationship Id="rId27" Type="http://schemas.openxmlformats.org/officeDocument/2006/relationships/slide" Target="slide15.xml"/><Relationship Id="rId28" Type="http://schemas.openxmlformats.org/officeDocument/2006/relationships/slide" Target="slide15.xml"/><Relationship Id="rId29" Type="http://schemas.openxmlformats.org/officeDocument/2006/relationships/slide" Target="slide16.xml"/><Relationship Id="rId30" Type="http://schemas.openxmlformats.org/officeDocument/2006/relationships/slide" Target="slide16.xml"/><Relationship Id="rId32" Type="http://schemas.openxmlformats.org/officeDocument/2006/relationships/slide" Target="slide16.xml"/><Relationship Id="rId33" Type="http://schemas.openxmlformats.org/officeDocument/2006/relationships/slide" Target="slide16.xml"/><Relationship Id="rId2" Type="http://schemas.openxmlformats.org/officeDocument/2006/relationships/image" Target="../media/image-10-1.png"/><Relationship Id="rId6" Type="http://schemas.openxmlformats.org/officeDocument/2006/relationships/image" Target="../media/image-10-2.png"/><Relationship Id="rId11" Type="http://schemas.openxmlformats.org/officeDocument/2006/relationships/image" Target="../media/image-10-3.png"/><Relationship Id="rId16" Type="http://schemas.openxmlformats.org/officeDocument/2006/relationships/image" Target="../media/image-10-4.png"/><Relationship Id="rId21" Type="http://schemas.openxmlformats.org/officeDocument/2006/relationships/image" Target="../media/image-10-5.png"/><Relationship Id="rId26" Type="http://schemas.openxmlformats.org/officeDocument/2006/relationships/image" Target="../media/image-10-6.png"/><Relationship Id="rId31" Type="http://schemas.openxmlformats.org/officeDocument/2006/relationships/image" Target="../media/image-10-7.png"/><Relationship Id="rId34" Type="http://schemas.openxmlformats.org/officeDocument/2006/relationships/slideLayout" Target="../slideLayouts/slideLayout3.xml"/><Relationship Id="rId3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xml"/><Relationship Id="rId3" Type="http://schemas.openxmlformats.org/officeDocument/2006/relationships/slide" Target="slide2.xml"/><Relationship Id="rId10" Type="http://schemas.openxmlformats.org/officeDocument/2006/relationships/hyperlink" Target="https://github.com/Ashish000011/black-ant" TargetMode="External"/><Relationship Id="rId11" Type="http://schemas.openxmlformats.org/officeDocument/2006/relationships/hyperlink" Target="https://ashish000011.github.io/black-ant/" TargetMode="External"/><Relationship Id="rId2" Type="http://schemas.openxmlformats.org/officeDocument/2006/relationships/image" Target="../media/image-11-1.png"/><Relationship Id="rId4" Type="http://schemas.openxmlformats.org/officeDocument/2006/relationships/image" Target="../media/image-11-2.png"/><Relationship Id="rId5" Type="http://schemas.openxmlformats.org/officeDocument/2006/relationships/image" Target="../media/image-11-3.png"/><Relationship Id="rId6" Type="http://schemas.openxmlformats.org/officeDocument/2006/relationships/image" Target="../media/image-11-4.png"/><Relationship Id="rId7" Type="http://schemas.openxmlformats.org/officeDocument/2006/relationships/image" Target="../media/image-11-5.png"/><Relationship Id="rId8" Type="http://schemas.openxmlformats.org/officeDocument/2006/relationships/image" Target="../media/image-11-6.png"/><Relationship Id="rId9" Type="http://schemas.openxmlformats.org/officeDocument/2006/relationships/image" Target="../media/image-11-7.png"/><Relationship Id="rId12" Type="http://schemas.openxmlformats.org/officeDocument/2006/relationships/slideLayout" Target="../slideLayouts/slideLayout2.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6.xml"/><Relationship Id="rId3" Type="http://schemas.openxmlformats.org/officeDocument/2006/relationships/slide" Target="slide6.xml"/><Relationship Id="rId4" Type="http://schemas.openxmlformats.org/officeDocument/2006/relationships/slide" Target="slide2.xml"/><Relationship Id="rId6" Type="http://schemas.openxmlformats.org/officeDocument/2006/relationships/slide" Target="slide2.xml"/><Relationship Id="rId7" Type="http://schemas.openxmlformats.org/officeDocument/2006/relationships/chart" Target="/ppt/charts/chart4.xml"/><Relationship Id="rId2" Type="http://schemas.openxmlformats.org/officeDocument/2006/relationships/image" Target="../media/image-12-1.png"/><Relationship Id="rId5" Type="http://schemas.openxmlformats.org/officeDocument/2006/relationships/image" Target="../media/image-12-2.png"/><Relationship Id="rId8" Type="http://schemas.openxmlformats.org/officeDocument/2006/relationships/slideLayout" Target="../slideLayouts/slideLayout4.xml"/><Relationship Id="rId9"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6.xml"/><Relationship Id="rId3" Type="http://schemas.openxmlformats.org/officeDocument/2006/relationships/slide" Target="slide6.xml"/><Relationship Id="rId4" Type="http://schemas.openxmlformats.org/officeDocument/2006/relationships/slide" Target="slide2.xml"/><Relationship Id="rId6" Type="http://schemas.openxmlformats.org/officeDocument/2006/relationships/slide" Target="slide2.xml"/><Relationship Id="rId7" Type="http://schemas.openxmlformats.org/officeDocument/2006/relationships/chart" Target="/ppt/charts/chart5.xml"/><Relationship Id="rId2" Type="http://schemas.openxmlformats.org/officeDocument/2006/relationships/image" Target="../media/image-13-1.png"/><Relationship Id="rId5" Type="http://schemas.openxmlformats.org/officeDocument/2006/relationships/image" Target="../media/image-13-2.png"/><Relationship Id="rId8" Type="http://schemas.openxmlformats.org/officeDocument/2006/relationships/slideLayout" Target="../slideLayouts/slideLayout4.xml"/><Relationship Id="rId9"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6.xml"/><Relationship Id="rId3" Type="http://schemas.openxmlformats.org/officeDocument/2006/relationships/slide" Target="slide6.xml"/><Relationship Id="rId4" Type="http://schemas.openxmlformats.org/officeDocument/2006/relationships/slide" Target="slide2.xml"/><Relationship Id="rId6" Type="http://schemas.openxmlformats.org/officeDocument/2006/relationships/slide" Target="slide2.xml"/><Relationship Id="rId7" Type="http://schemas.openxmlformats.org/officeDocument/2006/relationships/chart" Target="/ppt/charts/chart6.xml"/><Relationship Id="rId2" Type="http://schemas.openxmlformats.org/officeDocument/2006/relationships/image" Target="../media/image-14-1.png"/><Relationship Id="rId5" Type="http://schemas.openxmlformats.org/officeDocument/2006/relationships/image" Target="../media/image-14-2.png"/><Relationship Id="rId8" Type="http://schemas.openxmlformats.org/officeDocument/2006/relationships/slideLayout" Target="../slideLayouts/slideLayout4.xml"/><Relationship Id="rId9"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10.xml"/><Relationship Id="rId3" Type="http://schemas.openxmlformats.org/officeDocument/2006/relationships/slide" Target="slide10.xml"/><Relationship Id="rId4" Type="http://schemas.openxmlformats.org/officeDocument/2006/relationships/slide" Target="slide2.xml"/><Relationship Id="rId6" Type="http://schemas.openxmlformats.org/officeDocument/2006/relationships/slide" Target="slide2.xml"/><Relationship Id="rId7" Type="http://schemas.openxmlformats.org/officeDocument/2006/relationships/chart" Target="/ppt/charts/chart7.xml"/><Relationship Id="rId8" Type="http://schemas.openxmlformats.org/officeDocument/2006/relationships/chart" Target="/ppt/charts/chart8.xml"/><Relationship Id="rId2" Type="http://schemas.openxmlformats.org/officeDocument/2006/relationships/image" Target="../media/image-15-1.png"/><Relationship Id="rId5" Type="http://schemas.openxmlformats.org/officeDocument/2006/relationships/image" Target="../media/image-15-2.png"/><Relationship Id="rId9" Type="http://schemas.openxmlformats.org/officeDocument/2006/relationships/slideLayout" Target="../slideLayouts/slideLayout4.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10.xml"/><Relationship Id="rId3" Type="http://schemas.openxmlformats.org/officeDocument/2006/relationships/slide" Target="slide10.xml"/><Relationship Id="rId4" Type="http://schemas.openxmlformats.org/officeDocument/2006/relationships/slide" Target="slide2.xml"/><Relationship Id="rId6" Type="http://schemas.openxmlformats.org/officeDocument/2006/relationships/slide" Target="slide2.xml"/><Relationship Id="rId7" Type="http://schemas.openxmlformats.org/officeDocument/2006/relationships/chart" Target="/ppt/charts/chart9.xml"/><Relationship Id="rId2" Type="http://schemas.openxmlformats.org/officeDocument/2006/relationships/image" Target="../media/image-16-1.png"/><Relationship Id="rId5" Type="http://schemas.openxmlformats.org/officeDocument/2006/relationships/image" Target="../media/image-16-2.png"/><Relationship Id="rId8" Type="http://schemas.openxmlformats.org/officeDocument/2006/relationships/slideLayout" Target="../slideLayouts/slideLayout4.xml"/><Relationship Id="rId9"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rbit"/>
          <p:cNvSpPr/>
          <p:nvPr/>
        </p:nvSpPr>
        <p:spPr>
          <a:xfrm>
            <a:off x="11018520" y="2011680"/>
            <a:ext cx="2834640" cy="2834640"/>
          </a:xfrm>
          <a:prstGeom prst="ellipse">
            <a:avLst/>
          </a:prstGeom>
          <a:ln w="15875">
            <a:solidFill>
              <a:srgbClr val="2B3B5E"/>
            </a:solidFill>
            <a:prstDash val="solid"/>
          </a:ln>
        </p:spPr>
      </p:sp>
      <p:sp>
        <p:nvSpPr>
          <p:cNvPr id="3" name="orbit"/>
          <p:cNvSpPr/>
          <p:nvPr/>
        </p:nvSpPr>
        <p:spPr>
          <a:xfrm>
            <a:off x="8595360" y="-411480"/>
            <a:ext cx="7680960" cy="7680960"/>
          </a:xfrm>
          <a:prstGeom prst="ellipse">
            <a:avLst/>
          </a:prstGeom>
          <a:ln w="15875">
            <a:solidFill>
              <a:srgbClr val="2B3B5E"/>
            </a:solidFill>
            <a:prstDash val="solid"/>
          </a:ln>
        </p:spPr>
      </p:sp>
      <p:sp>
        <p:nvSpPr>
          <p:cNvPr id="4" name="Sun"/>
          <p:cNvSpPr/>
          <p:nvPr/>
        </p:nvSpPr>
        <p:spPr>
          <a:xfrm>
            <a:off x="11978640" y="2971800"/>
            <a:ext cx="914400" cy="914400"/>
          </a:xfrm>
          <a:prstGeom prst="ellipse">
            <a:avLst/>
          </a:prstGeom>
          <a:solidFill>
            <a:srgbClr val="E8A317"/>
          </a:solidFill>
          <a:ln w="12700">
            <a:solidFill>
              <a:srgbClr val="E8A317"/>
            </a:solidFill>
            <a:prstDash val="solid"/>
          </a:ln>
        </p:spPr>
      </p:sp>
      <p:sp>
        <p:nvSpPr>
          <p:cNvPr id="5" name="Earth today"/>
          <p:cNvSpPr/>
          <p:nvPr/>
        </p:nvSpPr>
        <p:spPr>
          <a:xfrm>
            <a:off x="11083900" y="2601468"/>
            <a:ext cx="237744" cy="237744"/>
          </a:xfrm>
          <a:prstGeom prst="ellipse">
            <a:avLst/>
          </a:prstGeom>
          <a:solidFill>
            <a:srgbClr val="2A78D6"/>
          </a:solidFill>
          <a:ln w="12700">
            <a:solidFill>
              <a:srgbClr val="2A78D6"/>
            </a:solidFill>
            <a:prstDash val="solid"/>
          </a:ln>
        </p:spPr>
      </p:sp>
      <p:sp>
        <p:nvSpPr>
          <p:cNvPr id="6" name="Earth at 2.7 AU"/>
          <p:cNvSpPr/>
          <p:nvPr/>
        </p:nvSpPr>
        <p:spPr>
          <a:xfrm>
            <a:off x="9994392" y="219456"/>
            <a:ext cx="274320" cy="274320"/>
          </a:xfrm>
          <a:prstGeom prst="ellipse">
            <a:avLst/>
          </a:prstGeom>
          <a:solidFill>
            <a:srgbClr val="2A78D6"/>
          </a:solidFill>
          <a:ln w="12700">
            <a:solidFill>
              <a:srgbClr val="2A78D6"/>
            </a:solidFill>
            <a:prstDash val="solid"/>
          </a:ln>
        </p:spPr>
      </p:sp>
      <p:sp>
        <p:nvSpPr>
          <p:cNvPr id="7" name="Text 5"/>
          <p:cNvSpPr txBox="1"/>
          <p:nvPr/>
        </p:nvSpPr>
        <p:spPr>
          <a:xfrm>
            <a:off x="548640" y="685800"/>
            <a:ext cx="7315200" cy="365760"/>
          </a:xfrm>
          <a:prstGeom prst="rect">
            <a:avLst/>
          </a:prstGeom>
          <a:noFill/>
          <a:ln/>
        </p:spPr>
        <p:txBody>
          <a:bodyPr wrap="square" lIns="0" tIns="0" rIns="0" bIns="0" rtlCol="0" anchor="ctr"/>
          <a:lstStyle/>
          <a:p>
            <a:pPr indent="0" marL="0">
              <a:buNone/>
            </a:pPr>
            <a:r>
              <a:rPr lang="en-US" sz="1400" b="1" spc="200" kern="0" dirty="0">
                <a:solidFill>
                  <a:schemeClr val="accent1"/>
                </a:solidFill>
              </a:rPr>
              <a:t>TransfiNITTe 2026 · Team Black Ant</a:t>
            </a:r>
            <a:endParaRPr lang="en-US" sz="1400" dirty="0"/>
          </a:p>
        </p:txBody>
      </p:sp>
      <p:sp>
        <p:nvSpPr>
          <p:cNvPr id="8" name="Text 6"/>
          <p:cNvSpPr txBox="1"/>
          <p:nvPr/>
        </p:nvSpPr>
        <p:spPr>
          <a:xfrm>
            <a:off x="548640" y="1097280"/>
            <a:ext cx="8686800" cy="868680"/>
          </a:xfrm>
          <a:prstGeom prst="rect">
            <a:avLst/>
          </a:prstGeom>
          <a:noFill/>
          <a:ln/>
        </p:spPr>
        <p:txBody>
          <a:bodyPr wrap="square" lIns="0" tIns="0" rIns="0" bIns="0" rtlCol="0" anchor="ctr"/>
          <a:lstStyle/>
          <a:p>
            <a:pPr indent="0" marL="0">
              <a:buNone/>
            </a:pPr>
            <a:r>
              <a:rPr lang="en-US" sz="4800" b="1" dirty="0">
                <a:solidFill>
                  <a:schemeClr val="bg1"/>
                </a:solidFill>
                <a:latin typeface="Cambria" pitchFamily="34" charset="0"/>
                <a:ea typeface="Cambria" pitchFamily="34" charset="-122"/>
                <a:cs typeface="Cambria" pitchFamily="34" charset="-120"/>
              </a:rPr>
              <a:t>Towing Earth to 2.7 AU</a:t>
            </a:r>
            <a:endParaRPr lang="en-US" sz="4800" dirty="0"/>
          </a:p>
        </p:txBody>
      </p:sp>
      <p:sp>
        <p:nvSpPr>
          <p:cNvPr id="9" name="Text 7"/>
          <p:cNvSpPr txBox="1"/>
          <p:nvPr/>
        </p:nvSpPr>
        <p:spPr>
          <a:xfrm>
            <a:off x="548640" y="2011680"/>
            <a:ext cx="8595360" cy="548640"/>
          </a:xfrm>
          <a:prstGeom prst="rect">
            <a:avLst/>
          </a:prstGeom>
          <a:noFill/>
          <a:ln/>
        </p:spPr>
        <p:txBody>
          <a:bodyPr wrap="square" lIns="0" tIns="0" rIns="0" bIns="0" rtlCol="0" anchor="ctr"/>
          <a:lstStyle/>
          <a:p>
            <a:pPr indent="0" marL="0">
              <a:buNone/>
            </a:pPr>
            <a:r>
              <a:rPr lang="en-US" sz="2200" dirty="0">
                <a:solidFill>
                  <a:srgbClr val="CADCFC"/>
                </a:solidFill>
              </a:rPr>
              <a:t>A gravity tractor held by light: the physics that makes it work</a:t>
            </a:r>
            <a:endParaRPr lang="en-US" sz="2200" dirty="0"/>
          </a:p>
        </p:txBody>
      </p:sp>
      <p:sp>
        <p:nvSpPr>
          <p:cNvPr id="10" name="title stat 1"/>
          <p:cNvSpPr/>
          <p:nvPr/>
        </p:nvSpPr>
        <p:spPr>
          <a:xfrm>
            <a:off x="548640" y="2971800"/>
            <a:ext cx="2697480" cy="1600200"/>
          </a:xfrm>
          <a:prstGeom prst="roundRect">
            <a:avLst>
              <a:gd name="adj" fmla="val 6857"/>
            </a:avLst>
          </a:prstGeom>
          <a:solidFill>
            <a:srgbClr val="1D2B45"/>
          </a:solidFill>
          <a:ln w="12700">
            <a:solidFill>
              <a:srgbClr val="1D2B45"/>
            </a:solidFill>
            <a:prstDash val="solid"/>
          </a:ln>
        </p:spPr>
      </p:sp>
      <p:sp>
        <p:nvSpPr>
          <p:cNvPr id="11" name="Text 9"/>
          <p:cNvSpPr txBox="1"/>
          <p:nvPr/>
        </p:nvSpPr>
        <p:spPr>
          <a:xfrm>
            <a:off x="777240" y="3108960"/>
            <a:ext cx="2286000" cy="68580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Year 8,758</a:t>
            </a:r>
            <a:endParaRPr lang="en-US" sz="3400" dirty="0"/>
          </a:p>
        </p:txBody>
      </p:sp>
      <p:sp>
        <p:nvSpPr>
          <p:cNvPr id="12" name="Text 10"/>
          <p:cNvSpPr txBox="1"/>
          <p:nvPr/>
        </p:nvSpPr>
        <p:spPr>
          <a:xfrm>
            <a:off x="777240" y="3794760"/>
            <a:ext cx="2286000" cy="685800"/>
          </a:xfrm>
          <a:prstGeom prst="rect">
            <a:avLst/>
          </a:prstGeom>
          <a:noFill/>
          <a:ln/>
        </p:spPr>
        <p:txBody>
          <a:bodyPr wrap="square" lIns="0" tIns="0" rIns="0" bIns="0" rtlCol="0" anchor="t"/>
          <a:lstStyle/>
          <a:p>
            <a:pPr indent="0" marL="0">
              <a:buNone/>
            </a:pPr>
            <a:r>
              <a:rPr lang="en-US" sz="1300" dirty="0">
                <a:solidFill>
                  <a:schemeClr val="bg1"/>
                </a:solidFill>
              </a:rPr>
              <a:t>Earth reaches 2.7006 AU (limit: year 10,000)</a:t>
            </a:r>
            <a:endParaRPr lang="en-US" sz="1300" dirty="0"/>
          </a:p>
        </p:txBody>
      </p:sp>
      <p:sp>
        <p:nvSpPr>
          <p:cNvPr id="13" name="title stat 2"/>
          <p:cNvSpPr/>
          <p:nvPr/>
        </p:nvSpPr>
        <p:spPr>
          <a:xfrm>
            <a:off x="3429000" y="2971800"/>
            <a:ext cx="2697480" cy="1600200"/>
          </a:xfrm>
          <a:prstGeom prst="roundRect">
            <a:avLst>
              <a:gd name="adj" fmla="val 6857"/>
            </a:avLst>
          </a:prstGeom>
          <a:solidFill>
            <a:srgbClr val="1D2B45"/>
          </a:solidFill>
          <a:ln w="12700">
            <a:solidFill>
              <a:srgbClr val="1D2B45"/>
            </a:solidFill>
            <a:prstDash val="solid"/>
          </a:ln>
        </p:spPr>
      </p:sp>
      <p:sp>
        <p:nvSpPr>
          <p:cNvPr id="14" name="Text 12"/>
          <p:cNvSpPr txBox="1"/>
          <p:nvPr/>
        </p:nvSpPr>
        <p:spPr>
          <a:xfrm>
            <a:off x="3657600" y="3108960"/>
            <a:ext cx="2286000" cy="68580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0</a:t>
            </a:r>
            <a:endParaRPr lang="en-US" sz="3400" dirty="0"/>
          </a:p>
        </p:txBody>
      </p:sp>
      <p:sp>
        <p:nvSpPr>
          <p:cNvPr id="15" name="Text 13"/>
          <p:cNvSpPr txBox="1"/>
          <p:nvPr/>
        </p:nvSpPr>
        <p:spPr>
          <a:xfrm>
            <a:off x="3657600" y="3794760"/>
            <a:ext cx="2286000" cy="685800"/>
          </a:xfrm>
          <a:prstGeom prst="rect">
            <a:avLst/>
          </a:prstGeom>
          <a:noFill/>
          <a:ln/>
        </p:spPr>
        <p:txBody>
          <a:bodyPr wrap="square" lIns="0" tIns="0" rIns="0" bIns="0" rtlCol="0" anchor="t"/>
          <a:lstStyle/>
          <a:p>
            <a:pPr indent="0" marL="0">
              <a:buNone/>
            </a:pPr>
            <a:r>
              <a:rPr lang="en-US" sz="1300" dirty="0">
                <a:solidFill>
                  <a:schemeClr val="bg1"/>
                </a:solidFill>
              </a:rPr>
              <a:t>unresolved flags; 6 covered by our enablers E1–E3</a:t>
            </a:r>
            <a:endParaRPr lang="en-US" sz="1300" dirty="0"/>
          </a:p>
        </p:txBody>
      </p:sp>
      <p:sp>
        <p:nvSpPr>
          <p:cNvPr id="16" name="title stat 3"/>
          <p:cNvSpPr/>
          <p:nvPr/>
        </p:nvSpPr>
        <p:spPr>
          <a:xfrm>
            <a:off x="6309360" y="2971800"/>
            <a:ext cx="2697480" cy="1600200"/>
          </a:xfrm>
          <a:prstGeom prst="roundRect">
            <a:avLst>
              <a:gd name="adj" fmla="val 6857"/>
            </a:avLst>
          </a:prstGeom>
          <a:solidFill>
            <a:srgbClr val="1D2B45"/>
          </a:solidFill>
          <a:ln w="12700">
            <a:solidFill>
              <a:srgbClr val="1D2B45"/>
            </a:solidFill>
            <a:prstDash val="solid"/>
          </a:ln>
        </p:spPr>
      </p:sp>
      <p:sp>
        <p:nvSpPr>
          <p:cNvPr id="17" name="Text 15"/>
          <p:cNvSpPr txBox="1"/>
          <p:nvPr/>
        </p:nvSpPr>
        <p:spPr>
          <a:xfrm>
            <a:off x="6537960" y="3108960"/>
            <a:ext cx="2286000" cy="68580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5.6×10</a:t>
            </a:r>
            <a:pPr indent="0" marL="0">
              <a:buNone/>
            </a:pPr>
            <a:r>
              <a:rPr lang="en-US" sz="3400" b="1" baseline="30000" dirty="0">
                <a:solidFill>
                  <a:schemeClr val="accent1"/>
                </a:solidFill>
                <a:latin typeface="Cambria" pitchFamily="34" charset="0"/>
                <a:ea typeface="Cambria" pitchFamily="34" charset="-122"/>
                <a:cs typeface="Cambria" pitchFamily="34" charset="-120"/>
              </a:rPr>
              <a:t>−16</a:t>
            </a:r>
            <a:endParaRPr lang="en-US" sz="3400" dirty="0"/>
          </a:p>
        </p:txBody>
      </p:sp>
      <p:sp>
        <p:nvSpPr>
          <p:cNvPr id="18" name="Text 16"/>
          <p:cNvSpPr txBox="1"/>
          <p:nvPr/>
        </p:nvSpPr>
        <p:spPr>
          <a:xfrm>
            <a:off x="6537960" y="3794760"/>
            <a:ext cx="2286000" cy="685800"/>
          </a:xfrm>
          <a:prstGeom prst="rect">
            <a:avLst/>
          </a:prstGeom>
          <a:noFill/>
          <a:ln/>
        </p:spPr>
        <p:txBody>
          <a:bodyPr wrap="square" lIns="0" tIns="0" rIns="0" bIns="0" rtlCol="0" anchor="t"/>
          <a:lstStyle/>
          <a:p>
            <a:pPr indent="0" marL="0">
              <a:buNone/>
            </a:pPr>
            <a:r>
              <a:rPr lang="en-US" sz="1300" dirty="0">
                <a:solidFill>
                  <a:schemeClr val="bg1"/>
                </a:solidFill>
              </a:rPr>
              <a:t>momentum ledger closure (limit 10</a:t>
            </a:r>
            <a:pPr indent="0" marL="0">
              <a:buNone/>
            </a:pPr>
            <a:r>
              <a:rPr lang="en-US" sz="1300" baseline="30000" dirty="0">
                <a:solidFill>
                  <a:schemeClr val="bg1"/>
                </a:solidFill>
              </a:rPr>
              <a:t>−9</a:t>
            </a:r>
            <a:pPr indent="0" marL="0">
              <a:buNone/>
            </a:pPr>
            <a:r>
              <a:rPr lang="en-US" sz="1300" dirty="0">
                <a:solidFill>
                  <a:schemeClr val="bg1"/>
                </a:solidFill>
              </a:rPr>
              <a:t>)</a:t>
            </a:r>
            <a:endParaRPr lang="en-US" sz="1300" dirty="0"/>
          </a:p>
        </p:txBody>
      </p:sp>
      <p:sp>
        <p:nvSpPr>
          <p:cNvPr id="19" name="Text 17"/>
          <p:cNvSpPr txBox="1"/>
          <p:nvPr/>
        </p:nvSpPr>
        <p:spPr>
          <a:xfrm>
            <a:off x="548640" y="5257800"/>
            <a:ext cx="8229600" cy="320040"/>
          </a:xfrm>
          <a:prstGeom prst="rect">
            <a:avLst/>
          </a:prstGeom>
          <a:noFill/>
          <a:ln/>
        </p:spPr>
        <p:txBody>
          <a:bodyPr wrap="square" lIns="0" tIns="0" rIns="0" bIns="0" rtlCol="0" anchor="ctr"/>
          <a:lstStyle/>
          <a:p>
            <a:pPr indent="0" marL="0">
              <a:buNone/>
            </a:pPr>
            <a:r>
              <a:rPr lang="en-US" sz="1300" dirty="0">
                <a:solidFill>
                  <a:srgbClr val="AEB9CC"/>
                </a:solidFill>
              </a:rPr>
              <a:t>Ashish Bharti · Madhukar Verma · Akhil Semwal · Sushmit Sukla · Prabhanshu Kerketa</a:t>
            </a:r>
            <a:endParaRPr lang="en-US" sz="1300" dirty="0"/>
          </a:p>
        </p:txBody>
      </p:sp>
      <p:sp>
        <p:nvSpPr>
          <p:cNvPr id="20" name="Open the map">
            <a:hlinkClick r:id="rId1" tooltip="Go to the map" action="ppaction://hlinksldjump"/>
          </p:cNvPr>
          <p:cNvSpPr/>
          <p:nvPr/>
        </p:nvSpPr>
        <p:spPr>
          <a:xfrm>
            <a:off x="548640" y="5760720"/>
            <a:ext cx="2194560" cy="457200"/>
          </a:xfrm>
          <a:prstGeom prst="roundRect">
            <a:avLst>
              <a:gd name="adj" fmla="val 50000"/>
            </a:avLst>
          </a:prstGeom>
          <a:solidFill>
            <a:srgbClr val="E8A317"/>
          </a:solidFill>
          <a:ln>
            <a:solidFill>
              <a:srgbClr val="E8A317"/>
            </a:solidFill>
          </a:ln>
        </p:spPr>
        <p:txBody>
          <a:bodyPr wrap="square" rtlCol="0" anchor="ctr"/>
          <a:lstStyle/>
          <a:p>
            <a:pPr algn="ctr" indent="0" marL="0">
              <a:buNone/>
            </a:pPr>
            <a:r>
              <a:rPr lang="en-US" sz="1400" b="1" u="sng" dirty="0">
                <a:solidFill>
                  <a:schemeClr val="tx1"/>
                </a:solidFill>
                <a:hlinkClick r:id="rId1" action="ppaction://hlinksldjump" tooltip="Go to the map">
                  <a:extLst>
                    <a:ext uri="{A12FA001-AC4F-418D-AE19-62706E023703}">
                      <ahyp:hlinkClr xmlns:ahyp="http://schemas.microsoft.com/office/drawing/2018/hyperlinkcolor" val="tx"/>
                    </a:ext>
                  </a:extLst>
                </a:hlinkClick>
              </a:rPr>
              <a:t>Open the map</a:t>
            </a:r>
            <a:endParaRPr lang="en-US" sz="1400" dirty="0"/>
          </a:p>
        </p:txBody>
      </p:sp>
      <p:sp>
        <p:nvSpPr>
          <p:cNvPr id="2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600" b="1" dirty="0">
                <a:solidFill>
                  <a:schemeClr val="bg1"/>
                </a:solidFill>
              </a:rPr>
              <a:t>Map of the talk</a:t>
            </a:r>
            <a:endParaRPr lang="en-US" sz="3600" dirty="0"/>
          </a:p>
        </p:txBody>
      </p:sp>
      <p:sp>
        <p:nvSpPr>
          <p:cNvPr id="3" name="Text 1"/>
          <p:cNvSpPr txBox="1"/>
          <p:nvPr/>
        </p:nvSpPr>
        <p:spPr>
          <a:xfrm>
            <a:off x="548640" y="1143000"/>
            <a:ext cx="10515600" cy="365760"/>
          </a:xfrm>
          <a:prstGeom prst="rect">
            <a:avLst/>
          </a:prstGeom>
          <a:noFill/>
          <a:ln/>
        </p:spPr>
        <p:txBody>
          <a:bodyPr wrap="square" lIns="0" tIns="0" rIns="0" bIns="0" rtlCol="0" anchor="ctr"/>
          <a:lstStyle/>
          <a:p>
            <a:pPr indent="0" marL="0">
              <a:buNone/>
            </a:pPr>
            <a:r>
              <a:rPr lang="en-US" sz="1400" dirty="0">
                <a:solidFill>
                  <a:srgbClr val="AEB9CC"/>
                </a:solidFill>
              </a:rPr>
              <a:t>Click a tile to jump there. Every slide has a Map button to come back; cards marked “details” open backup slides.</a:t>
            </a:r>
            <a:endParaRPr lang="en-US" sz="1400" dirty="0"/>
          </a:p>
        </p:txBody>
      </p:sp>
      <p:sp>
        <p:nvSpPr>
          <p:cNvPr id="4" name="tile The problem">
            <a:hlinkClick r:id="rId1" tooltip="Go to: The problem" action="ppaction://hlinksldjump"/>
          </p:cNvPr>
          <p:cNvSpPr/>
          <p:nvPr/>
        </p:nvSpPr>
        <p:spPr>
          <a:xfrm>
            <a:off x="548640" y="1783080"/>
            <a:ext cx="3520440" cy="1325880"/>
          </a:xfrm>
          <a:prstGeom prst="roundRect">
            <a:avLst>
              <a:gd name="adj" fmla="val 8276"/>
            </a:avLst>
          </a:prstGeom>
          <a:solidFill>
            <a:srgbClr val="1D2B45"/>
          </a:solidFill>
          <a:ln>
            <a:solidFill>
              <a:srgbClr val="1D2B45"/>
            </a:solidFill>
          </a:ln>
        </p:spPr>
        <p:txBody>
          <a:bodyPr wrap="square" lIns="965200" tIns="0" rIns="127000" bIns="0" rtlCol="0" anchor="ctr"/>
          <a:lstStyle/>
          <a:p>
            <a:pPr indent="0" marL="0">
              <a:buNone/>
            </a:pPr>
            <a:r>
              <a:rPr lang="en-US" sz="1800" b="1" u="sng" dirty="0">
                <a:solidFill>
                  <a:schemeClr val="bg1"/>
                </a:solidFill>
                <a:hlinkClick r:id="rId1" action="ppaction://hlinksldjump" tooltip="Go to: The problem">
                  <a:extLst>
                    <a:ext uri="{A12FA001-AC4F-418D-AE19-62706E023703}">
                      <ahyp:hlinkClr xmlns:ahyp="http://schemas.microsoft.com/office/drawing/2018/hyperlinkcolor" val="tx"/>
                    </a:ext>
                  </a:extLst>
                </a:hlinkClick>
              </a:rPr>
              <a:t>1  The problem</a:t>
            </a:r>
            <a:endParaRPr lang="en-US" sz="1800" dirty="0"/>
          </a:p>
          <a:p>
            <a:pPr indent="0" marL="0">
              <a:buNone/>
            </a:pPr>
            <a:r>
              <a:rPr lang="en-US" sz="1300" u="sng" dirty="0">
                <a:solidFill>
                  <a:srgbClr val="CADCFC"/>
                </a:solidFill>
                <a:hlinkClick r:id="rId1" action="ppaction://hlinksldjump" tooltip="Go to: The problem">
                  <a:extLst>
                    <a:ext uri="{A12FA001-AC4F-418D-AE19-62706E023703}">
                      <ahyp:hlinkClr xmlns:ahyp="http://schemas.microsoft.com/office/drawing/2018/hyperlinkcolor" val="tx"/>
                    </a:ext>
                  </a:extLst>
                </a:hlinkClick>
              </a:rPr>
              <a:t>Arms on Earth can't push it</a:t>
            </a:r>
            <a:endParaRPr lang="en-US" sz="1800" dirty="0"/>
          </a:p>
        </p:txBody>
      </p:sp>
      <p:sp>
        <p:nvSpPr>
          <p:cNvPr id="5" name="badge FaBan">
            <a:hlinkClick r:id="rId2" tooltip="Open" action="ppaction://hlinksldjump"/>
          </p:cNvPr>
          <p:cNvSpPr/>
          <p:nvPr/>
        </p:nvSpPr>
        <p:spPr>
          <a:xfrm>
            <a:off x="777240" y="2167128"/>
            <a:ext cx="566928" cy="566928"/>
          </a:xfrm>
          <a:prstGeom prst="ellipse">
            <a:avLst/>
          </a:prstGeom>
          <a:solidFill>
            <a:srgbClr val="EB6834"/>
          </a:solidFill>
          <a:ln w="12700">
            <a:solidFill>
              <a:srgbClr val="EB6834"/>
            </a:solidFill>
            <a:prstDash val="solid"/>
          </a:ln>
        </p:spPr>
      </p:sp>
      <p:pic>
        <p:nvPicPr>
          <p:cNvPr id="6" name="icon FaBan" descr="preencoded.png">
            <a:hlinkClick r:id="rId4" tooltip="Open" action="ppaction://hlinksldjump"/>
          </p:cNvPr>
          <p:cNvPicPr>
            <a:picLocks noChangeAspect="1"/>
          </p:cNvPicPr>
          <p:nvPr/>
        </p:nvPicPr>
        <p:blipFill>
          <a:blip r:embed="rId3"/>
          <a:stretch>
            <a:fillRect/>
          </a:stretch>
        </p:blipFill>
        <p:spPr>
          <a:xfrm>
            <a:off x="913303" y="2303191"/>
            <a:ext cx="294803" cy="294803"/>
          </a:xfrm>
          <a:prstGeom prst="rect">
            <a:avLst/>
          </a:prstGeom>
        </p:spPr>
      </p:pic>
      <p:sp>
        <p:nvSpPr>
          <p:cNvPr id="7" name="tile The idea">
            <a:hlinkClick r:id="rId5" tooltip="Go to: The idea" action="ppaction://hlinksldjump"/>
          </p:cNvPr>
          <p:cNvSpPr/>
          <p:nvPr/>
        </p:nvSpPr>
        <p:spPr>
          <a:xfrm>
            <a:off x="4297680" y="1783080"/>
            <a:ext cx="3520440" cy="1325880"/>
          </a:xfrm>
          <a:prstGeom prst="roundRect">
            <a:avLst>
              <a:gd name="adj" fmla="val 8276"/>
            </a:avLst>
          </a:prstGeom>
          <a:solidFill>
            <a:srgbClr val="1D2B45"/>
          </a:solidFill>
          <a:ln>
            <a:solidFill>
              <a:srgbClr val="1D2B45"/>
            </a:solidFill>
          </a:ln>
        </p:spPr>
        <p:txBody>
          <a:bodyPr wrap="square" lIns="965200" tIns="0" rIns="127000" bIns="0" rtlCol="0" anchor="ctr"/>
          <a:lstStyle/>
          <a:p>
            <a:pPr indent="0" marL="0">
              <a:buNone/>
            </a:pPr>
            <a:r>
              <a:rPr lang="en-US" sz="1800" b="1" u="sng" dirty="0">
                <a:solidFill>
                  <a:schemeClr val="bg1"/>
                </a:solidFill>
                <a:hlinkClick r:id="rId5" action="ppaction://hlinksldjump" tooltip="Go to: The idea">
                  <a:extLst>
                    <a:ext uri="{A12FA001-AC4F-418D-AE19-62706E023703}">
                      <ahyp:hlinkClr xmlns:ahyp="http://schemas.microsoft.com/office/drawing/2018/hyperlinkcolor" val="tx"/>
                    </a:ext>
                  </a:extLst>
                </a:hlinkClick>
              </a:rPr>
              <a:t>2  The idea</a:t>
            </a:r>
            <a:endParaRPr lang="en-US" sz="1800" dirty="0"/>
          </a:p>
          <a:p>
            <a:pPr indent="0" marL="0">
              <a:buNone/>
            </a:pPr>
            <a:r>
              <a:rPr lang="en-US" sz="1300" u="sng" dirty="0">
                <a:solidFill>
                  <a:srgbClr val="CADCFC"/>
                </a:solidFill>
                <a:hlinkClick r:id="rId5" action="ppaction://hlinksldjump" tooltip="Go to: The idea">
                  <a:extLst>
                    <a:ext uri="{A12FA001-AC4F-418D-AE19-62706E023703}">
                      <ahyp:hlinkClr xmlns:ahyp="http://schemas.microsoft.com/office/drawing/2018/hyperlinkcolor" val="tx"/>
                    </a:ext>
                  </a:extLst>
                </a:hlinkClick>
              </a:rPr>
              <a:t>An asteroid held by light</a:t>
            </a:r>
            <a:endParaRPr lang="en-US" sz="1800" dirty="0"/>
          </a:p>
        </p:txBody>
      </p:sp>
      <p:sp>
        <p:nvSpPr>
          <p:cNvPr id="8" name="badge FaLightbulb">
            <a:hlinkClick r:id="rId6" tooltip="Open" action="ppaction://hlinksldjump"/>
          </p:cNvPr>
          <p:cNvSpPr/>
          <p:nvPr/>
        </p:nvSpPr>
        <p:spPr>
          <a:xfrm>
            <a:off x="4526280" y="2167128"/>
            <a:ext cx="566928" cy="566928"/>
          </a:xfrm>
          <a:prstGeom prst="ellipse">
            <a:avLst/>
          </a:prstGeom>
          <a:solidFill>
            <a:srgbClr val="E8A317"/>
          </a:solidFill>
          <a:ln w="12700">
            <a:solidFill>
              <a:srgbClr val="E8A317"/>
            </a:solidFill>
            <a:prstDash val="solid"/>
          </a:ln>
        </p:spPr>
      </p:sp>
      <p:pic>
        <p:nvPicPr>
          <p:cNvPr id="9" name="icon FaLightbulb" descr="preencoded.png">
            <a:hlinkClick r:id="rId8" tooltip="Open" action="ppaction://hlinksldjump"/>
          </p:cNvPr>
          <p:cNvPicPr>
            <a:picLocks noChangeAspect="1"/>
          </p:cNvPicPr>
          <p:nvPr/>
        </p:nvPicPr>
        <p:blipFill>
          <a:blip r:embed="rId7"/>
          <a:stretch>
            <a:fillRect/>
          </a:stretch>
        </p:blipFill>
        <p:spPr>
          <a:xfrm>
            <a:off x="4662343" y="2303191"/>
            <a:ext cx="294803" cy="294803"/>
          </a:xfrm>
          <a:prstGeom prst="rect">
            <a:avLst/>
          </a:prstGeom>
        </p:spPr>
      </p:pic>
      <p:sp>
        <p:nvSpPr>
          <p:cNvPr id="10" name="tile The physics">
            <a:hlinkClick r:id="rId9" tooltip="Go to: The physics" action="ppaction://hlinksldjump"/>
          </p:cNvPr>
          <p:cNvSpPr/>
          <p:nvPr/>
        </p:nvSpPr>
        <p:spPr>
          <a:xfrm>
            <a:off x="8046720" y="1783080"/>
            <a:ext cx="3520440" cy="1325880"/>
          </a:xfrm>
          <a:prstGeom prst="roundRect">
            <a:avLst>
              <a:gd name="adj" fmla="val 8276"/>
            </a:avLst>
          </a:prstGeom>
          <a:solidFill>
            <a:srgbClr val="1D2B45"/>
          </a:solidFill>
          <a:ln>
            <a:solidFill>
              <a:srgbClr val="1D2B45"/>
            </a:solidFill>
          </a:ln>
        </p:spPr>
        <p:txBody>
          <a:bodyPr wrap="square" lIns="965200" tIns="0" rIns="127000" bIns="0" rtlCol="0" anchor="ctr"/>
          <a:lstStyle/>
          <a:p>
            <a:pPr indent="0" marL="0">
              <a:buNone/>
            </a:pPr>
            <a:r>
              <a:rPr lang="en-US" sz="1800" b="1" u="sng" dirty="0">
                <a:solidFill>
                  <a:schemeClr val="bg1"/>
                </a:solidFill>
                <a:hlinkClick r:id="rId9" action="ppaction://hlinksldjump" tooltip="Go to: The physics">
                  <a:extLst>
                    <a:ext uri="{A12FA001-AC4F-418D-AE19-62706E023703}">
                      <ahyp:hlinkClr xmlns:ahyp="http://schemas.microsoft.com/office/drawing/2018/hyperlinkcolor" val="tx"/>
                    </a:ext>
                  </a:extLst>
                </a:hlinkClick>
              </a:rPr>
              <a:t>3  The physics</a:t>
            </a:r>
            <a:endParaRPr lang="en-US" sz="1800" dirty="0"/>
          </a:p>
          <a:p>
            <a:pPr indent="0" marL="0">
              <a:buNone/>
            </a:pPr>
            <a:r>
              <a:rPr lang="en-US" sz="1300" u="sng" dirty="0">
                <a:solidFill>
                  <a:srgbClr val="CADCFC"/>
                </a:solidFill>
                <a:hlinkClick r:id="rId9" action="ppaction://hlinksldjump" tooltip="Go to: The physics">
                  <a:extLst>
                    <a:ext uri="{A12FA001-AC4F-418D-AE19-62706E023703}">
                      <ahyp:hlinkClr xmlns:ahyp="http://schemas.microsoft.com/office/drawing/2018/hyperlinkcolor" val="tx"/>
                    </a:ext>
                  </a:extLst>
                </a:hlinkClick>
              </a:rPr>
              <a:t>Three equations, by hand</a:t>
            </a:r>
            <a:endParaRPr lang="en-US" sz="1800" dirty="0"/>
          </a:p>
        </p:txBody>
      </p:sp>
      <p:sp>
        <p:nvSpPr>
          <p:cNvPr id="11" name="badge FaSquareRootVariable">
            <a:hlinkClick r:id="rId10" tooltip="Open" action="ppaction://hlinksldjump"/>
          </p:cNvPr>
          <p:cNvSpPr/>
          <p:nvPr/>
        </p:nvSpPr>
        <p:spPr>
          <a:xfrm>
            <a:off x="8275320" y="2167128"/>
            <a:ext cx="566928" cy="566928"/>
          </a:xfrm>
          <a:prstGeom prst="ellipse">
            <a:avLst/>
          </a:prstGeom>
          <a:solidFill>
            <a:srgbClr val="2A78D6"/>
          </a:solidFill>
          <a:ln w="12700">
            <a:solidFill>
              <a:srgbClr val="2A78D6"/>
            </a:solidFill>
            <a:prstDash val="solid"/>
          </a:ln>
        </p:spPr>
      </p:sp>
      <p:pic>
        <p:nvPicPr>
          <p:cNvPr id="12" name="icon FaSquareRootVariable" descr="preencoded.png">
            <a:hlinkClick r:id="rId12" tooltip="Open" action="ppaction://hlinksldjump"/>
          </p:cNvPr>
          <p:cNvPicPr>
            <a:picLocks noChangeAspect="1"/>
          </p:cNvPicPr>
          <p:nvPr/>
        </p:nvPicPr>
        <p:blipFill>
          <a:blip r:embed="rId11"/>
          <a:stretch>
            <a:fillRect/>
          </a:stretch>
        </p:blipFill>
        <p:spPr>
          <a:xfrm>
            <a:off x="8411383" y="2303191"/>
            <a:ext cx="294803" cy="294803"/>
          </a:xfrm>
          <a:prstGeom prst="rect">
            <a:avLst/>
          </a:prstGeom>
        </p:spPr>
      </p:pic>
      <p:sp>
        <p:nvSpPr>
          <p:cNvPr id="13" name="tile The enablers">
            <a:hlinkClick r:id="rId13" tooltip="Go to: The enablers" action="ppaction://hlinksldjump"/>
          </p:cNvPr>
          <p:cNvSpPr/>
          <p:nvPr/>
        </p:nvSpPr>
        <p:spPr>
          <a:xfrm>
            <a:off x="548640" y="3319272"/>
            <a:ext cx="3520440" cy="1325880"/>
          </a:xfrm>
          <a:prstGeom prst="roundRect">
            <a:avLst>
              <a:gd name="adj" fmla="val 8276"/>
            </a:avLst>
          </a:prstGeom>
          <a:solidFill>
            <a:srgbClr val="1D2B45"/>
          </a:solidFill>
          <a:ln>
            <a:solidFill>
              <a:srgbClr val="1D2B45"/>
            </a:solidFill>
          </a:ln>
        </p:spPr>
        <p:txBody>
          <a:bodyPr wrap="square" lIns="965200" tIns="0" rIns="127000" bIns="0" rtlCol="0" anchor="ctr"/>
          <a:lstStyle/>
          <a:p>
            <a:pPr indent="0" marL="0">
              <a:buNone/>
            </a:pPr>
            <a:r>
              <a:rPr lang="en-US" sz="1800" b="1" u="sng" dirty="0">
                <a:solidFill>
                  <a:schemeClr val="bg1"/>
                </a:solidFill>
                <a:hlinkClick r:id="rId13" action="ppaction://hlinksldjump" tooltip="Go to: The enablers">
                  <a:extLst>
                    <a:ext uri="{A12FA001-AC4F-418D-AE19-62706E023703}">
                      <ahyp:hlinkClr xmlns:ahyp="http://schemas.microsoft.com/office/drawing/2018/hyperlinkcolor" val="tx"/>
                    </a:ext>
                  </a:extLst>
                </a:hlinkClick>
              </a:rPr>
              <a:t>4  The enablers</a:t>
            </a:r>
            <a:endParaRPr lang="en-US" sz="1800" dirty="0"/>
          </a:p>
          <a:p>
            <a:pPr indent="0" marL="0">
              <a:buNone/>
            </a:pPr>
            <a:r>
              <a:rPr lang="en-US" sz="1300" u="sng" dirty="0">
                <a:solidFill>
                  <a:srgbClr val="CADCFC"/>
                </a:solidFill>
                <a:hlinkClick r:id="rId13" action="ppaction://hlinksldjump" tooltip="Go to: The enablers">
                  <a:extLst>
                    <a:ext uri="{A12FA001-AC4F-418D-AE19-62706E023703}">
                      <ahyp:hlinkClr xmlns:ahyp="http://schemas.microsoft.com/office/drawing/2018/hyperlinkcolor" val="tx"/>
                    </a:ext>
                  </a:extLst>
                </a:hlinkClick>
              </a:rPr>
              <a:t>E1, E2, E3 and sources</a:t>
            </a:r>
            <a:endParaRPr lang="en-US" sz="1800" dirty="0"/>
          </a:p>
        </p:txBody>
      </p:sp>
      <p:sp>
        <p:nvSpPr>
          <p:cNvPr id="14" name="badge FaBolt">
            <a:hlinkClick r:id="rId14" tooltip="Open" action="ppaction://hlinksldjump"/>
          </p:cNvPr>
          <p:cNvSpPr/>
          <p:nvPr/>
        </p:nvSpPr>
        <p:spPr>
          <a:xfrm>
            <a:off x="777240" y="3703320"/>
            <a:ext cx="566928" cy="566928"/>
          </a:xfrm>
          <a:prstGeom prst="ellipse">
            <a:avLst/>
          </a:prstGeom>
          <a:solidFill>
            <a:srgbClr val="E8A317"/>
          </a:solidFill>
          <a:ln w="12700">
            <a:solidFill>
              <a:srgbClr val="E8A317"/>
            </a:solidFill>
            <a:prstDash val="solid"/>
          </a:ln>
        </p:spPr>
      </p:sp>
      <p:pic>
        <p:nvPicPr>
          <p:cNvPr id="15" name="icon FaBolt" descr="preencoded.png">
            <a:hlinkClick r:id="rId16" tooltip="Open" action="ppaction://hlinksldjump"/>
          </p:cNvPr>
          <p:cNvPicPr>
            <a:picLocks noChangeAspect="1"/>
          </p:cNvPicPr>
          <p:nvPr/>
        </p:nvPicPr>
        <p:blipFill>
          <a:blip r:embed="rId15"/>
          <a:stretch>
            <a:fillRect/>
          </a:stretch>
        </p:blipFill>
        <p:spPr>
          <a:xfrm>
            <a:off x="913303" y="3839383"/>
            <a:ext cx="294803" cy="294803"/>
          </a:xfrm>
          <a:prstGeom prst="rect">
            <a:avLst/>
          </a:prstGeom>
        </p:spPr>
      </p:pic>
      <p:sp>
        <p:nvSpPr>
          <p:cNvPr id="16" name="tile The journey">
            <a:hlinkClick r:id="rId17" tooltip="Go to: The journey" action="ppaction://hlinksldjump"/>
          </p:cNvPr>
          <p:cNvSpPr/>
          <p:nvPr/>
        </p:nvSpPr>
        <p:spPr>
          <a:xfrm>
            <a:off x="4297680" y="3319272"/>
            <a:ext cx="3520440" cy="1325880"/>
          </a:xfrm>
          <a:prstGeom prst="roundRect">
            <a:avLst>
              <a:gd name="adj" fmla="val 8276"/>
            </a:avLst>
          </a:prstGeom>
          <a:solidFill>
            <a:srgbClr val="1D2B45"/>
          </a:solidFill>
          <a:ln>
            <a:solidFill>
              <a:srgbClr val="1D2B45"/>
            </a:solidFill>
          </a:ln>
        </p:spPr>
        <p:txBody>
          <a:bodyPr wrap="square" lIns="965200" tIns="0" rIns="127000" bIns="0" rtlCol="0" anchor="ctr"/>
          <a:lstStyle/>
          <a:p>
            <a:pPr indent="0" marL="0">
              <a:buNone/>
            </a:pPr>
            <a:r>
              <a:rPr lang="en-US" sz="1800" b="1" u="sng" dirty="0">
                <a:solidFill>
                  <a:schemeClr val="bg1"/>
                </a:solidFill>
                <a:hlinkClick r:id="rId17" action="ppaction://hlinksldjump" tooltip="Go to: The journey">
                  <a:extLst>
                    <a:ext uri="{A12FA001-AC4F-418D-AE19-62706E023703}">
                      <ahyp:hlinkClr xmlns:ahyp="http://schemas.microsoft.com/office/drawing/2018/hyperlinkcolor" val="tx"/>
                    </a:ext>
                  </a:extLst>
                </a:hlinkClick>
              </a:rPr>
              <a:t>5  The journey</a:t>
            </a:r>
            <a:endParaRPr lang="en-US" sz="1800" dirty="0"/>
          </a:p>
          <a:p>
            <a:pPr indent="0" marL="0">
              <a:buNone/>
            </a:pPr>
            <a:r>
              <a:rPr lang="en-US" sz="1300" u="sng" dirty="0">
                <a:solidFill>
                  <a:srgbClr val="CADCFC"/>
                </a:solidFill>
                <a:hlinkClick r:id="rId17" action="ppaction://hlinksldjump" tooltip="Go to: The journey">
                  <a:extLst>
                    <a:ext uri="{A12FA001-AC4F-418D-AE19-62706E023703}">
                      <ahyp:hlinkClr xmlns:ahyp="http://schemas.microsoft.com/office/drawing/2018/hyperlinkcolor" val="tx"/>
                    </a:ext>
                  </a:extLst>
                </a:hlinkClick>
              </a:rPr>
              <a:t>8,758 years, Mars first</a:t>
            </a:r>
            <a:endParaRPr lang="en-US" sz="1800" dirty="0"/>
          </a:p>
        </p:txBody>
      </p:sp>
      <p:sp>
        <p:nvSpPr>
          <p:cNvPr id="17" name="badge FaRoute">
            <a:hlinkClick r:id="rId18" tooltip="Open" action="ppaction://hlinksldjump"/>
          </p:cNvPr>
          <p:cNvSpPr/>
          <p:nvPr/>
        </p:nvSpPr>
        <p:spPr>
          <a:xfrm>
            <a:off x="4526280" y="3703320"/>
            <a:ext cx="566928" cy="566928"/>
          </a:xfrm>
          <a:prstGeom prst="ellipse">
            <a:avLst/>
          </a:prstGeom>
          <a:solidFill>
            <a:srgbClr val="2A78D6"/>
          </a:solidFill>
          <a:ln w="12700">
            <a:solidFill>
              <a:srgbClr val="2A78D6"/>
            </a:solidFill>
            <a:prstDash val="solid"/>
          </a:ln>
        </p:spPr>
      </p:sp>
      <p:pic>
        <p:nvPicPr>
          <p:cNvPr id="18" name="icon FaRoute" descr="preencoded.png">
            <a:hlinkClick r:id="rId20" tooltip="Open" action="ppaction://hlinksldjump"/>
          </p:cNvPr>
          <p:cNvPicPr>
            <a:picLocks noChangeAspect="1"/>
          </p:cNvPicPr>
          <p:nvPr/>
        </p:nvPicPr>
        <p:blipFill>
          <a:blip r:embed="rId19"/>
          <a:stretch>
            <a:fillRect/>
          </a:stretch>
        </p:blipFill>
        <p:spPr>
          <a:xfrm>
            <a:off x="4662343" y="3839383"/>
            <a:ext cx="294803" cy="294803"/>
          </a:xfrm>
          <a:prstGeom prst="rect">
            <a:avLst/>
          </a:prstGeom>
        </p:spPr>
      </p:pic>
      <p:sp>
        <p:nvSpPr>
          <p:cNvPr id="19" name="tile Honest physics">
            <a:hlinkClick r:id="rId21" tooltip="Go to: Honest physics" action="ppaction://hlinksldjump"/>
          </p:cNvPr>
          <p:cNvSpPr/>
          <p:nvPr/>
        </p:nvSpPr>
        <p:spPr>
          <a:xfrm>
            <a:off x="8046720" y="3319272"/>
            <a:ext cx="3520440" cy="1325880"/>
          </a:xfrm>
          <a:prstGeom prst="roundRect">
            <a:avLst>
              <a:gd name="adj" fmla="val 8276"/>
            </a:avLst>
          </a:prstGeom>
          <a:solidFill>
            <a:srgbClr val="1D2B45"/>
          </a:solidFill>
          <a:ln>
            <a:solidFill>
              <a:srgbClr val="1D2B45"/>
            </a:solidFill>
          </a:ln>
        </p:spPr>
        <p:txBody>
          <a:bodyPr wrap="square" lIns="965200" tIns="0" rIns="127000" bIns="0" rtlCol="0" anchor="ctr"/>
          <a:lstStyle/>
          <a:p>
            <a:pPr indent="0" marL="0">
              <a:buNone/>
            </a:pPr>
            <a:r>
              <a:rPr lang="en-US" sz="1800" b="1" u="sng" dirty="0">
                <a:solidFill>
                  <a:schemeClr val="bg1"/>
                </a:solidFill>
                <a:hlinkClick r:id="rId21" action="ppaction://hlinksldjump" tooltip="Go to: Honest physics">
                  <a:extLst>
                    <a:ext uri="{A12FA001-AC4F-418D-AE19-62706E023703}">
                      <ahyp:hlinkClr xmlns:ahyp="http://schemas.microsoft.com/office/drawing/2018/hyperlinkcolor" val="tx"/>
                    </a:ext>
                  </a:extLst>
                </a:hlinkClick>
              </a:rPr>
              <a:t>6  Honest physics</a:t>
            </a:r>
            <a:endParaRPr lang="en-US" sz="1800" dirty="0"/>
          </a:p>
          <a:p>
            <a:pPr indent="0" marL="0">
              <a:buNone/>
            </a:pPr>
            <a:r>
              <a:rPr lang="en-US" sz="1300" u="sng" dirty="0">
                <a:solidFill>
                  <a:srgbClr val="CADCFC"/>
                </a:solidFill>
                <a:hlinkClick r:id="rId21" action="ppaction://hlinksldjump" tooltip="Go to: Honest physics">
                  <a:extLst>
                    <a:ext uri="{A12FA001-AC4F-418D-AE19-62706E023703}">
                      <ahyp:hlinkClr xmlns:ahyp="http://schemas.microsoft.com/office/drawing/2018/hyperlinkcolor" val="tx"/>
                    </a:ext>
                  </a:extLst>
                </a:hlinkClick>
              </a:rPr>
              <a:t>Every push booked</a:t>
            </a:r>
            <a:endParaRPr lang="en-US" sz="1800" dirty="0"/>
          </a:p>
        </p:txBody>
      </p:sp>
      <p:sp>
        <p:nvSpPr>
          <p:cNvPr id="20" name="badge FaScaleBalanced">
            <a:hlinkClick r:id="rId22" tooltip="Open" action="ppaction://hlinksldjump"/>
          </p:cNvPr>
          <p:cNvSpPr/>
          <p:nvPr/>
        </p:nvSpPr>
        <p:spPr>
          <a:xfrm>
            <a:off x="8275320" y="3703320"/>
            <a:ext cx="566928" cy="566928"/>
          </a:xfrm>
          <a:prstGeom prst="ellipse">
            <a:avLst/>
          </a:prstGeom>
          <a:solidFill>
            <a:srgbClr val="6250D6"/>
          </a:solidFill>
          <a:ln w="12700">
            <a:solidFill>
              <a:srgbClr val="6250D6"/>
            </a:solidFill>
            <a:prstDash val="solid"/>
          </a:ln>
        </p:spPr>
      </p:sp>
      <p:pic>
        <p:nvPicPr>
          <p:cNvPr id="21" name="icon FaScaleBalanced" descr="preencoded.png">
            <a:hlinkClick r:id="rId24" tooltip="Open" action="ppaction://hlinksldjump"/>
          </p:cNvPr>
          <p:cNvPicPr>
            <a:picLocks noChangeAspect="1"/>
          </p:cNvPicPr>
          <p:nvPr/>
        </p:nvPicPr>
        <p:blipFill>
          <a:blip r:embed="rId23"/>
          <a:stretch>
            <a:fillRect/>
          </a:stretch>
        </p:blipFill>
        <p:spPr>
          <a:xfrm>
            <a:off x="8411383" y="3839383"/>
            <a:ext cx="294803" cy="294803"/>
          </a:xfrm>
          <a:prstGeom prst="rect">
            <a:avLst/>
          </a:prstGeom>
        </p:spPr>
      </p:pic>
      <p:sp>
        <p:nvSpPr>
          <p:cNvPr id="22" name="tile Earth stays safe">
            <a:hlinkClick r:id="rId25" tooltip="Go to: Earth stays safe" action="ppaction://hlinksldjump"/>
          </p:cNvPr>
          <p:cNvSpPr/>
          <p:nvPr/>
        </p:nvSpPr>
        <p:spPr>
          <a:xfrm>
            <a:off x="548640" y="4855464"/>
            <a:ext cx="3520440" cy="1325880"/>
          </a:xfrm>
          <a:prstGeom prst="roundRect">
            <a:avLst>
              <a:gd name="adj" fmla="val 8276"/>
            </a:avLst>
          </a:prstGeom>
          <a:solidFill>
            <a:srgbClr val="1D2B45"/>
          </a:solidFill>
          <a:ln>
            <a:solidFill>
              <a:srgbClr val="1D2B45"/>
            </a:solidFill>
          </a:ln>
        </p:spPr>
        <p:txBody>
          <a:bodyPr wrap="square" lIns="965200" tIns="0" rIns="127000" bIns="0" rtlCol="0" anchor="ctr"/>
          <a:lstStyle/>
          <a:p>
            <a:pPr indent="0" marL="0">
              <a:buNone/>
            </a:pPr>
            <a:r>
              <a:rPr lang="en-US" sz="1800" b="1" u="sng" dirty="0">
                <a:solidFill>
                  <a:schemeClr val="bg1"/>
                </a:solidFill>
                <a:hlinkClick r:id="rId25" action="ppaction://hlinksldjump" tooltip="Go to: Earth stays safe">
                  <a:extLst>
                    <a:ext uri="{A12FA001-AC4F-418D-AE19-62706E023703}">
                      <ahyp:hlinkClr xmlns:ahyp="http://schemas.microsoft.com/office/drawing/2018/hyperlinkcolor" val="tx"/>
                    </a:ext>
                  </a:extLst>
                </a:hlinkClick>
              </a:rPr>
              <a:t>7  Earth stays safe</a:t>
            </a:r>
            <a:endParaRPr lang="en-US" sz="1800" dirty="0"/>
          </a:p>
          <a:p>
            <a:pPr indent="0" marL="0">
              <a:buNone/>
            </a:pPr>
            <a:r>
              <a:rPr lang="en-US" sz="1300" u="sng" dirty="0">
                <a:solidFill>
                  <a:srgbClr val="CADCFC"/>
                </a:solidFill>
                <a:hlinkClick r:id="rId25" action="ppaction://hlinksldjump" tooltip="Go to: Earth stays safe">
                  <a:extLst>
                    <a:ext uri="{A12FA001-AC4F-418D-AE19-62706E023703}">
                      <ahyp:hlinkClr xmlns:ahyp="http://schemas.microsoft.com/office/drawing/2018/hyperlinkcolor" val="tx"/>
                    </a:ext>
                  </a:extLst>
                </a:hlinkClick>
              </a:rPr>
              <a:t>Ten thresholds, all held</a:t>
            </a:r>
            <a:endParaRPr lang="en-US" sz="1800" dirty="0"/>
          </a:p>
        </p:txBody>
      </p:sp>
      <p:sp>
        <p:nvSpPr>
          <p:cNvPr id="23" name="badge FaShieldHalved">
            <a:hlinkClick r:id="rId26" tooltip="Open" action="ppaction://hlinksldjump"/>
          </p:cNvPr>
          <p:cNvSpPr/>
          <p:nvPr/>
        </p:nvSpPr>
        <p:spPr>
          <a:xfrm>
            <a:off x="777240" y="5239512"/>
            <a:ext cx="566928" cy="566928"/>
          </a:xfrm>
          <a:prstGeom prst="ellipse">
            <a:avLst/>
          </a:prstGeom>
          <a:solidFill>
            <a:srgbClr val="15936A"/>
          </a:solidFill>
          <a:ln w="12700">
            <a:solidFill>
              <a:srgbClr val="15936A"/>
            </a:solidFill>
            <a:prstDash val="solid"/>
          </a:ln>
        </p:spPr>
      </p:sp>
      <p:pic>
        <p:nvPicPr>
          <p:cNvPr id="24" name="icon FaShieldHalved" descr="preencoded.png">
            <a:hlinkClick r:id="rId28" tooltip="Open" action="ppaction://hlinksldjump"/>
          </p:cNvPr>
          <p:cNvPicPr>
            <a:picLocks noChangeAspect="1"/>
          </p:cNvPicPr>
          <p:nvPr/>
        </p:nvPicPr>
        <p:blipFill>
          <a:blip r:embed="rId27"/>
          <a:stretch>
            <a:fillRect/>
          </a:stretch>
        </p:blipFill>
        <p:spPr>
          <a:xfrm>
            <a:off x="913303" y="5375575"/>
            <a:ext cx="294803" cy="294803"/>
          </a:xfrm>
          <a:prstGeom prst="rect">
            <a:avLst/>
          </a:prstGeom>
        </p:spPr>
      </p:pic>
      <p:sp>
        <p:nvSpPr>
          <p:cNvPr id="25" name="tile What if…?">
            <a:hlinkClick r:id="rId29" tooltip="Go to: What if…?" action="ppaction://hlinksldjump"/>
          </p:cNvPr>
          <p:cNvSpPr/>
          <p:nvPr/>
        </p:nvSpPr>
        <p:spPr>
          <a:xfrm>
            <a:off x="4297680" y="4855464"/>
            <a:ext cx="3520440" cy="1325880"/>
          </a:xfrm>
          <a:prstGeom prst="roundRect">
            <a:avLst>
              <a:gd name="adj" fmla="val 8276"/>
            </a:avLst>
          </a:prstGeom>
          <a:solidFill>
            <a:srgbClr val="1D2B45"/>
          </a:solidFill>
          <a:ln>
            <a:solidFill>
              <a:srgbClr val="1D2B45"/>
            </a:solidFill>
          </a:ln>
        </p:spPr>
        <p:txBody>
          <a:bodyPr wrap="square" lIns="965200" tIns="0" rIns="127000" bIns="0" rtlCol="0" anchor="ctr"/>
          <a:lstStyle/>
          <a:p>
            <a:pPr indent="0" marL="0">
              <a:buNone/>
            </a:pPr>
            <a:r>
              <a:rPr lang="en-US" sz="1800" b="1" u="sng" dirty="0">
                <a:solidFill>
                  <a:schemeClr val="bg1"/>
                </a:solidFill>
                <a:hlinkClick r:id="rId29" action="ppaction://hlinksldjump" tooltip="Go to: What if…?">
                  <a:extLst>
                    <a:ext uri="{A12FA001-AC4F-418D-AE19-62706E023703}">
                      <ahyp:hlinkClr xmlns:ahyp="http://schemas.microsoft.com/office/drawing/2018/hyperlinkcolor" val="tx"/>
                    </a:ext>
                  </a:extLst>
                </a:hlinkClick>
              </a:rPr>
              <a:t>8  What if…?</a:t>
            </a:r>
            <a:endParaRPr lang="en-US" sz="1800" dirty="0"/>
          </a:p>
          <a:p>
            <a:pPr indent="0" marL="0">
              <a:buNone/>
            </a:pPr>
            <a:r>
              <a:rPr lang="en-US" sz="1300" u="sng" dirty="0">
                <a:solidFill>
                  <a:srgbClr val="CADCFC"/>
                </a:solidFill>
                <a:hlinkClick r:id="rId29" action="ppaction://hlinksldjump" tooltip="Go to: What if…?">
                  <a:extLst>
                    <a:ext uri="{A12FA001-AC4F-418D-AE19-62706E023703}">
                      <ahyp:hlinkClr xmlns:ahyp="http://schemas.microsoft.com/office/drawing/2018/hyperlinkcolor" val="tx"/>
                    </a:ext>
                  </a:extLst>
                </a:hlinkClick>
              </a:rPr>
              <a:t>Tests that shaped it</a:t>
            </a:r>
            <a:endParaRPr lang="en-US" sz="1800" dirty="0"/>
          </a:p>
        </p:txBody>
      </p:sp>
      <p:sp>
        <p:nvSpPr>
          <p:cNvPr id="26" name="badge FaFlask">
            <a:hlinkClick r:id="rId30" tooltip="Open" action="ppaction://hlinksldjump"/>
          </p:cNvPr>
          <p:cNvSpPr/>
          <p:nvPr/>
        </p:nvSpPr>
        <p:spPr>
          <a:xfrm>
            <a:off x="4526280" y="5239512"/>
            <a:ext cx="566928" cy="566928"/>
          </a:xfrm>
          <a:prstGeom prst="ellipse">
            <a:avLst/>
          </a:prstGeom>
          <a:solidFill>
            <a:srgbClr val="EB6834"/>
          </a:solidFill>
          <a:ln w="12700">
            <a:solidFill>
              <a:srgbClr val="EB6834"/>
            </a:solidFill>
            <a:prstDash val="solid"/>
          </a:ln>
        </p:spPr>
      </p:sp>
      <p:pic>
        <p:nvPicPr>
          <p:cNvPr id="27" name="icon FaFlask" descr="preencoded.png">
            <a:hlinkClick r:id="rId32" tooltip="Open" action="ppaction://hlinksldjump"/>
          </p:cNvPr>
          <p:cNvPicPr>
            <a:picLocks noChangeAspect="1"/>
          </p:cNvPicPr>
          <p:nvPr/>
        </p:nvPicPr>
        <p:blipFill>
          <a:blip r:embed="rId31"/>
          <a:stretch>
            <a:fillRect/>
          </a:stretch>
        </p:blipFill>
        <p:spPr>
          <a:xfrm>
            <a:off x="4662343" y="5375575"/>
            <a:ext cx="294803" cy="294803"/>
          </a:xfrm>
          <a:prstGeom prst="rect">
            <a:avLst/>
          </a:prstGeom>
        </p:spPr>
      </p:pic>
      <p:sp>
        <p:nvSpPr>
          <p:cNvPr id="28" name="tile Verdict and limits">
            <a:hlinkClick r:id="rId33" tooltip="Go to: Verdict and limits" action="ppaction://hlinksldjump"/>
          </p:cNvPr>
          <p:cNvSpPr/>
          <p:nvPr/>
        </p:nvSpPr>
        <p:spPr>
          <a:xfrm>
            <a:off x="8046720" y="4855464"/>
            <a:ext cx="3520440" cy="1325880"/>
          </a:xfrm>
          <a:prstGeom prst="roundRect">
            <a:avLst>
              <a:gd name="adj" fmla="val 8276"/>
            </a:avLst>
          </a:prstGeom>
          <a:solidFill>
            <a:srgbClr val="1D2B45"/>
          </a:solidFill>
          <a:ln>
            <a:solidFill>
              <a:srgbClr val="1D2B45"/>
            </a:solidFill>
          </a:ln>
        </p:spPr>
        <p:txBody>
          <a:bodyPr wrap="square" lIns="965200" tIns="0" rIns="127000" bIns="0" rtlCol="0" anchor="ctr"/>
          <a:lstStyle/>
          <a:p>
            <a:pPr indent="0" marL="0">
              <a:buNone/>
            </a:pPr>
            <a:r>
              <a:rPr lang="en-US" sz="1800" b="1" u="sng" dirty="0">
                <a:solidFill>
                  <a:schemeClr val="bg1"/>
                </a:solidFill>
                <a:hlinkClick r:id="rId33" action="ppaction://hlinksldjump" tooltip="Go to: Verdict and limits">
                  <a:extLst>
                    <a:ext uri="{A12FA001-AC4F-418D-AE19-62706E023703}">
                      <ahyp:hlinkClr xmlns:ahyp="http://schemas.microsoft.com/office/drawing/2018/hyperlinkcolor" val="tx"/>
                    </a:ext>
                  </a:extLst>
                </a:hlinkClick>
              </a:rPr>
              <a:t>9  Verdict and limits</a:t>
            </a:r>
            <a:endParaRPr lang="en-US" sz="1800" dirty="0"/>
          </a:p>
          <a:p>
            <a:pPr indent="0" marL="0">
              <a:buNone/>
            </a:pPr>
            <a:r>
              <a:rPr lang="en-US" sz="1300" u="sng" dirty="0">
                <a:solidFill>
                  <a:srgbClr val="CADCFC"/>
                </a:solidFill>
                <a:hlinkClick r:id="rId33" action="ppaction://hlinksldjump" tooltip="Go to: Verdict and limits">
                  <a:extLst>
                    <a:ext uri="{A12FA001-AC4F-418D-AE19-62706E023703}">
                      <ahyp:hlinkClr xmlns:ahyp="http://schemas.microsoft.com/office/drawing/2018/hyperlinkcolor" val="tx"/>
                    </a:ext>
                  </a:extLst>
                </a:hlinkClick>
              </a:rPr>
              <a:t>What holds, what we assume</a:t>
            </a:r>
            <a:endParaRPr lang="en-US" sz="1800" dirty="0"/>
          </a:p>
        </p:txBody>
      </p:sp>
      <p:sp>
        <p:nvSpPr>
          <p:cNvPr id="29" name="badge FaListCheck">
            <a:hlinkClick r:id="rId34" tooltip="Open" action="ppaction://hlinksldjump"/>
          </p:cNvPr>
          <p:cNvSpPr/>
          <p:nvPr/>
        </p:nvSpPr>
        <p:spPr>
          <a:xfrm>
            <a:off x="8275320" y="5239512"/>
            <a:ext cx="566928" cy="566928"/>
          </a:xfrm>
          <a:prstGeom prst="ellipse">
            <a:avLst/>
          </a:prstGeom>
          <a:solidFill>
            <a:srgbClr val="5B6B85"/>
          </a:solidFill>
          <a:ln w="12700">
            <a:solidFill>
              <a:srgbClr val="5B6B85"/>
            </a:solidFill>
            <a:prstDash val="solid"/>
          </a:ln>
        </p:spPr>
      </p:sp>
      <p:pic>
        <p:nvPicPr>
          <p:cNvPr id="30" name="icon FaListCheck" descr="preencoded.png">
            <a:hlinkClick r:id="rId36" tooltip="Open" action="ppaction://hlinksldjump"/>
          </p:cNvPr>
          <p:cNvPicPr>
            <a:picLocks noChangeAspect="1"/>
          </p:cNvPicPr>
          <p:nvPr/>
        </p:nvPicPr>
        <p:blipFill>
          <a:blip r:embed="rId35"/>
          <a:stretch>
            <a:fillRect/>
          </a:stretch>
        </p:blipFill>
        <p:spPr>
          <a:xfrm>
            <a:off x="8411383" y="5375575"/>
            <a:ext cx="294803" cy="29480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600" b="1" dirty="0">
                <a:solidFill>
                  <a:schemeClr val="tx1"/>
                </a:solidFill>
              </a:rPr>
              <a:t>You can't push a planet from inside</a:t>
            </a:r>
            <a:endParaRPr lang="en-US" sz="3600" dirty="0"/>
          </a:p>
        </p:txBody>
      </p:sp>
      <p:sp>
        <p:nvSpPr>
          <p:cNvPr id="3" name="Map button">
            <a:hlinkClick r:id="rId1"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1"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4" name="Map icon" descr="preencoded.png">
            <a:hlinkClick r:id="rId3" tooltip="Back to the map" action="ppaction://hlinksldjump"/>
          </p:cNvPr>
          <p:cNvPicPr>
            <a:picLocks noChangeAspect="1"/>
          </p:cNvPicPr>
          <p:nvPr/>
        </p:nvPicPr>
        <p:blipFill>
          <a:blip r:embed="rId2"/>
          <a:stretch>
            <a:fillRect/>
          </a:stretch>
        </p:blipFill>
        <p:spPr>
          <a:xfrm>
            <a:off x="10972800" y="475488"/>
            <a:ext cx="201168" cy="201168"/>
          </a:xfrm>
          <a:prstGeom prst="rect">
            <a:avLst/>
          </a:prstGeom>
        </p:spPr>
      </p:pic>
      <p:sp>
        <p:nvSpPr>
          <p:cNvPr id="5" name="badge FaRightLeft"/>
          <p:cNvSpPr/>
          <p:nvPr/>
        </p:nvSpPr>
        <p:spPr>
          <a:xfrm>
            <a:off x="548640" y="1463040"/>
            <a:ext cx="566928" cy="566928"/>
          </a:xfrm>
          <a:prstGeom prst="ellipse">
            <a:avLst/>
          </a:prstGeom>
          <a:solidFill>
            <a:srgbClr val="EB6834"/>
          </a:solidFill>
          <a:ln w="12700">
            <a:solidFill>
              <a:srgbClr val="EB6834"/>
            </a:solidFill>
            <a:prstDash val="solid"/>
          </a:ln>
        </p:spPr>
      </p:sp>
      <p:pic>
        <p:nvPicPr>
          <p:cNvPr id="6" name="icon FaRightLeft" descr="preencoded.png">    </p:cNvPr>
          <p:cNvPicPr>
            <a:picLocks noChangeAspect="1"/>
          </p:cNvPicPr>
          <p:nvPr/>
        </p:nvPicPr>
        <p:blipFill>
          <a:blip r:embed="rId4"/>
          <a:stretch>
            <a:fillRect/>
          </a:stretch>
        </p:blipFill>
        <p:spPr>
          <a:xfrm>
            <a:off x="684703" y="1599103"/>
            <a:ext cx="294803" cy="294803"/>
          </a:xfrm>
          <a:prstGeom prst="rect">
            <a:avLst/>
          </a:prstGeom>
        </p:spPr>
      </p:pic>
      <p:sp>
        <p:nvSpPr>
          <p:cNvPr id="7" name="Text 3"/>
          <p:cNvSpPr txBox="1"/>
          <p:nvPr/>
        </p:nvSpPr>
        <p:spPr>
          <a:xfrm>
            <a:off x="1325880" y="1417320"/>
            <a:ext cx="4526280" cy="137160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Newton's third law</a:t>
            </a:r>
            <a:endParaRPr lang="en-US" sz="1800" dirty="0"/>
          </a:p>
          <a:p>
            <a:pPr indent="0" marL="0">
              <a:spcAft>
                <a:spcPts val="400"/>
              </a:spcAft>
              <a:buNone/>
            </a:pPr>
            <a:r>
              <a:rPr lang="en-US" sz="1400" dirty="0">
                <a:solidFill>
                  <a:schemeClr val="tx1"/>
                </a:solidFill>
              </a:rPr>
              <a:t>Arms rooted on Earth push Earth, and Earth pushes back. In our audit the core's 1.94×10</a:t>
            </a:r>
            <a:pPr indent="0" marL="0">
              <a:spcAft>
                <a:spcPts val="400"/>
              </a:spcAft>
              <a:buNone/>
            </a:pPr>
            <a:r>
              <a:rPr lang="en-US" sz="1400" baseline="30000" dirty="0">
                <a:solidFill>
                  <a:schemeClr val="tx1"/>
                </a:solidFill>
              </a:rPr>
              <a:t>6</a:t>
            </a:r>
            <a:pPr indent="0" marL="0">
              <a:spcAft>
                <a:spcPts val="400"/>
              </a:spcAft>
              <a:buNone/>
            </a:pPr>
            <a:r>
              <a:rPr lang="en-US" sz="1400" dirty="0">
                <a:solidFill>
                  <a:schemeClr val="tx1"/>
                </a:solidFill>
              </a:rPr>
              <a:t> N push on the arms and the arms' push on the core cancel to 3.4×10</a:t>
            </a:r>
            <a:pPr indent="0" marL="0">
              <a:spcAft>
                <a:spcPts val="400"/>
              </a:spcAft>
              <a:buNone/>
            </a:pPr>
            <a:r>
              <a:rPr lang="en-US" sz="1400" baseline="30000" dirty="0">
                <a:solidFill>
                  <a:schemeClr val="tx1"/>
                </a:solidFill>
              </a:rPr>
              <a:t>−13</a:t>
            </a:r>
            <a:pPr indent="0" marL="0">
              <a:spcAft>
                <a:spcPts val="400"/>
              </a:spcAft>
              <a:buNone/>
            </a:pPr>
            <a:r>
              <a:rPr lang="en-US" sz="1400" dirty="0">
                <a:solidFill>
                  <a:schemeClr val="tx1"/>
                </a:solidFill>
              </a:rPr>
              <a:t>.</a:t>
            </a:r>
            <a:endParaRPr lang="en-US" sz="1800" dirty="0"/>
          </a:p>
        </p:txBody>
      </p:sp>
      <p:sp>
        <p:nvSpPr>
          <p:cNvPr id="8" name="badge FaTriangleExclamation"/>
          <p:cNvSpPr/>
          <p:nvPr/>
        </p:nvSpPr>
        <p:spPr>
          <a:xfrm>
            <a:off x="548640" y="2971800"/>
            <a:ext cx="566928" cy="566928"/>
          </a:xfrm>
          <a:prstGeom prst="ellipse">
            <a:avLst/>
          </a:prstGeom>
          <a:solidFill>
            <a:srgbClr val="EB6834"/>
          </a:solidFill>
          <a:ln w="12700">
            <a:solidFill>
              <a:srgbClr val="EB6834"/>
            </a:solidFill>
            <a:prstDash val="solid"/>
          </a:ln>
        </p:spPr>
      </p:sp>
      <p:pic>
        <p:nvPicPr>
          <p:cNvPr id="9" name="icon FaTriangleExclamation" descr="preencoded.png">    </p:cNvPr>
          <p:cNvPicPr>
            <a:picLocks noChangeAspect="1"/>
          </p:cNvPicPr>
          <p:nvPr/>
        </p:nvPicPr>
        <p:blipFill>
          <a:blip r:embed="rId5"/>
          <a:stretch>
            <a:fillRect/>
          </a:stretch>
        </p:blipFill>
        <p:spPr>
          <a:xfrm>
            <a:off x="684703" y="3107863"/>
            <a:ext cx="294803" cy="294803"/>
          </a:xfrm>
          <a:prstGeom prst="rect">
            <a:avLst/>
          </a:prstGeom>
        </p:spPr>
      </p:pic>
      <p:sp>
        <p:nvSpPr>
          <p:cNvPr id="10" name="Text 5"/>
          <p:cNvSpPr txBox="1"/>
          <p:nvPr/>
        </p:nvSpPr>
        <p:spPr>
          <a:xfrm>
            <a:off x="1325880" y="2926080"/>
            <a:ext cx="4526280" cy="137160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The arms can't hold themselves up</a:t>
            </a:r>
            <a:endParaRPr lang="en-US" sz="1800" dirty="0"/>
          </a:p>
          <a:p>
            <a:pPr indent="0" marL="0">
              <a:spcAft>
                <a:spcPts val="400"/>
              </a:spcAft>
              <a:buNone/>
            </a:pPr>
            <a:r>
              <a:rPr lang="en-US" sz="1400" dirty="0">
                <a:solidFill>
                  <a:schemeClr val="tx1"/>
                </a:solidFill>
              </a:rPr>
              <a:t>Curled as the company's demo draws it, a 12,000 km arm breaks at its root past 5 km in steel and 637 km in ideal nanotube.</a:t>
            </a:r>
            <a:endParaRPr lang="en-US" sz="1800" dirty="0"/>
          </a:p>
        </p:txBody>
      </p:sp>
      <p:sp>
        <p:nvSpPr>
          <p:cNvPr id="11" name="badge FaEarthAmericas"/>
          <p:cNvSpPr/>
          <p:nvPr/>
        </p:nvSpPr>
        <p:spPr>
          <a:xfrm>
            <a:off x="548640" y="4480560"/>
            <a:ext cx="566928" cy="566928"/>
          </a:xfrm>
          <a:prstGeom prst="ellipse">
            <a:avLst/>
          </a:prstGeom>
          <a:solidFill>
            <a:srgbClr val="2A78D6"/>
          </a:solidFill>
          <a:ln w="12700">
            <a:solidFill>
              <a:srgbClr val="2A78D6"/>
            </a:solidFill>
            <a:prstDash val="solid"/>
          </a:ln>
        </p:spPr>
      </p:sp>
      <p:pic>
        <p:nvPicPr>
          <p:cNvPr id="12" name="icon FaEarthAmericas" descr="preencoded.png">    </p:cNvPr>
          <p:cNvPicPr>
            <a:picLocks noChangeAspect="1"/>
          </p:cNvPicPr>
          <p:nvPr/>
        </p:nvPicPr>
        <p:blipFill>
          <a:blip r:embed="rId6"/>
          <a:stretch>
            <a:fillRect/>
          </a:stretch>
        </p:blipFill>
        <p:spPr>
          <a:xfrm>
            <a:off x="684703" y="4616623"/>
            <a:ext cx="294803" cy="294803"/>
          </a:xfrm>
          <a:prstGeom prst="rect">
            <a:avLst/>
          </a:prstGeom>
        </p:spPr>
      </p:pic>
      <p:sp>
        <p:nvSpPr>
          <p:cNvPr id="13" name="Text 7"/>
          <p:cNvSpPr txBox="1"/>
          <p:nvPr/>
        </p:nvSpPr>
        <p:spPr>
          <a:xfrm>
            <a:off x="1325880" y="4434840"/>
            <a:ext cx="4526280" cy="137160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So the force must come from outside</a:t>
            </a:r>
            <a:endParaRPr lang="en-US" sz="1800" dirty="0"/>
          </a:p>
          <a:p>
            <a:pPr indent="0" marL="0">
              <a:spcAft>
                <a:spcPts val="400"/>
              </a:spcAft>
              <a:buNone/>
            </a:pPr>
            <a:r>
              <a:rPr lang="en-US" sz="1400" dirty="0">
                <a:solidFill>
                  <a:schemeClr val="tx1"/>
                </a:solidFill>
              </a:rPr>
              <a:t>Another body's gravity is a real outside force, and nothing has to touch Earth.</a:t>
            </a:r>
            <a:endParaRPr lang="en-US" sz="1800" dirty="0"/>
          </a:p>
        </p:txBody>
      </p:sp>
      <p:graphicFrame>
        <p:nvGraphicFramePr>
          <p:cNvPr id="14" name="Chart 0" descr=""/>
          <p:cNvGraphicFramePr/>
          <p:nvPr/>
        </p:nvGraphicFramePr>
        <p:xfrm>
          <a:off x="6172200" y="1325880"/>
          <a:ext cx="5486400" cy="4663440"/>
        </p:xfrm>
        <a:graphic xmlns:a="http://schemas.openxmlformats.org/drawingml/2006/main">
          <a:graphicData uri="http://schemas.openxmlformats.org/drawingml/2006/chart">
            <c:chart xmlns:c="http://schemas.openxmlformats.org/drawingml/2006/chart" r:id="rId7"/>
          </a:graphicData>
        </a:graphic>
      </p:graphicFrame>
      <p:sp>
        <p:nvSpPr>
          <p:cNvPr id="15" name="source"/>
          <p:cNvSpPr txBox="1"/>
          <p:nvPr/>
        </p:nvSpPr>
        <p:spPr>
          <a:xfrm>
            <a:off x="548640" y="6126480"/>
            <a:ext cx="9692640" cy="274320"/>
          </a:xfrm>
          <a:prstGeom prst="rect">
            <a:avLst/>
          </a:prstGeom>
          <a:noFill/>
          <a:ln/>
        </p:spPr>
        <p:txBody>
          <a:bodyPr wrap="square" lIns="0" tIns="0" rIns="0" bIns="0" rtlCol="0" anchor="ctr"/>
          <a:lstStyle/>
          <a:p>
            <a:pPr indent="0" marL="0">
              <a:buNone/>
            </a:pPr>
            <a:r>
              <a:rPr lang="en-US" sz="1000" dirty="0">
                <a:solidFill>
                  <a:srgbClr val="5F6B7A"/>
                </a:solidFill>
              </a:rPr>
              <a:t>Source: results/octo_earth.json (sim/scenarios/octo.py; test X8). Standing straight up, arms buckle past 471 km (steel) or 1,444 km (nanotube).</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600" b="1" dirty="0">
                <a:solidFill>
                  <a:schemeClr val="tx1"/>
                </a:solidFill>
              </a:rPr>
              <a:t>The idea: a gravity tractor held by light</a:t>
            </a:r>
            <a:endParaRPr lang="en-US" sz="3600" dirty="0"/>
          </a:p>
        </p:txBody>
      </p:sp>
      <p:sp>
        <p:nvSpPr>
          <p:cNvPr id="3" name="Map button">
            <a:hlinkClick r:id="rId1"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1"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4" name="Map icon" descr="preencoded.png">
            <a:hlinkClick r:id="rId3" tooltip="Back to the map" action="ppaction://hlinksldjump"/>
          </p:cNvPr>
          <p:cNvPicPr>
            <a:picLocks noChangeAspect="1"/>
          </p:cNvPicPr>
          <p:nvPr/>
        </p:nvPicPr>
        <p:blipFill>
          <a:blip r:embed="rId2"/>
          <a:stretch>
            <a:fillRect/>
          </a:stretch>
        </p:blipFill>
        <p:spPr>
          <a:xfrm>
            <a:off x="10972800" y="475488"/>
            <a:ext cx="201168" cy="201168"/>
          </a:xfrm>
          <a:prstGeom prst="rect">
            <a:avLst/>
          </a:prstGeom>
        </p:spPr>
      </p:pic>
      <p:sp>
        <p:nvSpPr>
          <p:cNvPr id="5" name="diagram panel"/>
          <p:cNvSpPr/>
          <p:nvPr/>
        </p:nvSpPr>
        <p:spPr>
          <a:xfrm>
            <a:off x="548640" y="1325880"/>
            <a:ext cx="6858000" cy="4709160"/>
          </a:xfrm>
          <a:prstGeom prst="roundRect">
            <a:avLst>
              <a:gd name="adj" fmla="val 2330"/>
            </a:avLst>
          </a:prstGeom>
          <a:solidFill>
            <a:srgbClr val="F6F7F9"/>
          </a:solidFill>
          <a:ln w="12700">
            <a:solidFill>
              <a:srgbClr val="F6F7F9"/>
            </a:solidFill>
            <a:prstDash val="solid"/>
          </a:ln>
        </p:spPr>
      </p:sp>
      <p:sp>
        <p:nvSpPr>
          <p:cNvPr id="6" name="Sun"/>
          <p:cNvSpPr/>
          <p:nvPr/>
        </p:nvSpPr>
        <p:spPr>
          <a:xfrm>
            <a:off x="685800" y="1965960"/>
            <a:ext cx="1005840" cy="1005840"/>
          </a:xfrm>
          <a:prstGeom prst="ellipse">
            <a:avLst/>
          </a:prstGeom>
          <a:solidFill>
            <a:srgbClr val="E8A317"/>
          </a:solidFill>
          <a:ln w="12700">
            <a:solidFill>
              <a:srgbClr val="E8A317"/>
            </a:solidFill>
            <a:prstDash val="solid"/>
          </a:ln>
        </p:spPr>
      </p:sp>
      <p:sp>
        <p:nvSpPr>
          <p:cNvPr id="7" name="Text 4"/>
          <p:cNvSpPr txBox="1"/>
          <p:nvPr/>
        </p:nvSpPr>
        <p:spPr>
          <a:xfrm>
            <a:off x="640080" y="3017520"/>
            <a:ext cx="1463040" cy="274320"/>
          </a:xfrm>
          <a:prstGeom prst="rect">
            <a:avLst/>
          </a:prstGeom>
          <a:noFill/>
          <a:ln/>
        </p:spPr>
        <p:txBody>
          <a:bodyPr wrap="square" lIns="0" tIns="0" rIns="0" bIns="0" rtlCol="0" anchor="ctr"/>
          <a:lstStyle/>
          <a:p>
            <a:pPr indent="0" marL="0">
              <a:buNone/>
            </a:pPr>
            <a:r>
              <a:rPr lang="en-US" sz="1100" dirty="0">
                <a:solidFill>
                  <a:srgbClr val="5F6B7A"/>
                </a:solidFill>
              </a:rPr>
              <a:t>Sun (far away)</a:t>
            </a:r>
            <a:endParaRPr lang="en-US" sz="1100" dirty="0"/>
          </a:p>
        </p:txBody>
      </p:sp>
      <p:sp>
        <p:nvSpPr>
          <p:cNvPr id="8" name="arrow"/>
          <p:cNvSpPr/>
          <p:nvPr/>
        </p:nvSpPr>
        <p:spPr>
          <a:xfrm>
            <a:off x="1783080" y="2468880"/>
            <a:ext cx="3429000" cy="914"/>
          </a:xfrm>
          <a:prstGeom prst="line">
            <a:avLst/>
          </a:prstGeom>
          <a:noFill/>
          <a:ln w="76200">
            <a:solidFill>
              <a:srgbClr val="E8A317"/>
            </a:solidFill>
            <a:prstDash val="solid"/>
            <a:tailEnd type="triangle"/>
          </a:ln>
        </p:spPr>
      </p:sp>
      <p:sp>
        <p:nvSpPr>
          <p:cNvPr id="9" name="Text 6"/>
          <p:cNvSpPr txBox="1"/>
          <p:nvPr/>
        </p:nvSpPr>
        <p:spPr>
          <a:xfrm>
            <a:off x="1920240" y="2057400"/>
            <a:ext cx="2011680" cy="320040"/>
          </a:xfrm>
          <a:prstGeom prst="rect">
            <a:avLst/>
          </a:prstGeom>
          <a:noFill/>
          <a:ln/>
        </p:spPr>
        <p:txBody>
          <a:bodyPr wrap="square" lIns="0" tIns="0" rIns="0" bIns="0" rtlCol="0" anchor="ctr"/>
          <a:lstStyle/>
          <a:p>
            <a:pPr indent="0" marL="0">
              <a:buNone/>
            </a:pPr>
            <a:r>
              <a:rPr lang="en-US" sz="1300" b="1" dirty="0">
                <a:solidFill>
                  <a:srgbClr val="8A5D00"/>
                </a:solidFill>
              </a:rPr>
              <a:t>light in (E1)</a:t>
            </a:r>
            <a:endParaRPr lang="en-US" sz="1300" dirty="0"/>
          </a:p>
        </p:txBody>
      </p:sp>
      <p:sp>
        <p:nvSpPr>
          <p:cNvPr id="10" name="arrow"/>
          <p:cNvSpPr/>
          <p:nvPr/>
        </p:nvSpPr>
        <p:spPr>
          <a:xfrm>
            <a:off x="5257800" y="2514600"/>
            <a:ext cx="914" cy="3291840"/>
          </a:xfrm>
          <a:prstGeom prst="line">
            <a:avLst/>
          </a:prstGeom>
          <a:noFill/>
          <a:ln w="76200">
            <a:solidFill>
              <a:srgbClr val="E8A317"/>
            </a:solidFill>
            <a:prstDash val="solid"/>
            <a:tailEnd type="triangle"/>
          </a:ln>
        </p:spPr>
      </p:sp>
      <p:sp>
        <p:nvSpPr>
          <p:cNvPr id="11" name="Text 8"/>
          <p:cNvSpPr txBox="1"/>
          <p:nvPr/>
        </p:nvSpPr>
        <p:spPr>
          <a:xfrm>
            <a:off x="5394960" y="5212080"/>
            <a:ext cx="1280160" cy="320040"/>
          </a:xfrm>
          <a:prstGeom prst="rect">
            <a:avLst/>
          </a:prstGeom>
          <a:noFill/>
          <a:ln/>
        </p:spPr>
        <p:txBody>
          <a:bodyPr wrap="square" lIns="0" tIns="0" rIns="0" bIns="0" rtlCol="0" anchor="ctr"/>
          <a:lstStyle/>
          <a:p>
            <a:pPr indent="0" marL="0">
              <a:buNone/>
            </a:pPr>
            <a:r>
              <a:rPr lang="en-US" sz="1300" b="1" dirty="0">
                <a:solidFill>
                  <a:srgbClr val="8A5D00"/>
                </a:solidFill>
              </a:rPr>
              <a:t>light out</a:t>
            </a:r>
            <a:endParaRPr lang="en-US" sz="1300" dirty="0"/>
          </a:p>
        </p:txBody>
      </p:sp>
      <p:sp>
        <p:nvSpPr>
          <p:cNvPr id="12" name="mirror"/>
          <p:cNvSpPr/>
          <p:nvPr/>
        </p:nvSpPr>
        <p:spPr>
          <a:xfrm>
            <a:off x="4873752" y="2084832"/>
            <a:ext cx="768096" cy="768096"/>
          </a:xfrm>
          <a:prstGeom prst="line">
            <a:avLst/>
          </a:prstGeom>
          <a:noFill/>
          <a:ln w="88900">
            <a:solidFill>
              <a:srgbClr val="0E1726"/>
            </a:solidFill>
            <a:prstDash val="solid"/>
          </a:ln>
        </p:spPr>
      </p:sp>
      <p:sp>
        <p:nvSpPr>
          <p:cNvPr id="13" name="Text 10"/>
          <p:cNvSpPr txBox="1"/>
          <p:nvPr/>
        </p:nvSpPr>
        <p:spPr>
          <a:xfrm>
            <a:off x="5669280" y="2423160"/>
            <a:ext cx="1371600" cy="292608"/>
          </a:xfrm>
          <a:prstGeom prst="rect">
            <a:avLst/>
          </a:prstGeom>
          <a:noFill/>
          <a:ln/>
        </p:spPr>
        <p:txBody>
          <a:bodyPr wrap="square" lIns="0" tIns="0" rIns="0" bIns="0" rtlCol="0" anchor="ctr"/>
          <a:lstStyle/>
          <a:p>
            <a:pPr indent="0" marL="0">
              <a:buNone/>
            </a:pPr>
            <a:r>
              <a:rPr lang="en-US" sz="1300" b="1" dirty="0">
                <a:solidFill>
                  <a:schemeClr val="tx1"/>
                </a:solidFill>
              </a:rPr>
              <a:t>mirror (E2)</a:t>
            </a:r>
            <a:endParaRPr lang="en-US" sz="1300" dirty="0"/>
          </a:p>
        </p:txBody>
      </p:sp>
      <p:sp>
        <p:nvSpPr>
          <p:cNvPr id="14" name="arrow"/>
          <p:cNvSpPr/>
          <p:nvPr/>
        </p:nvSpPr>
        <p:spPr>
          <a:xfrm flipV="1">
            <a:off x="5394960" y="1828800"/>
            <a:ext cx="502920" cy="502920"/>
          </a:xfrm>
          <a:prstGeom prst="line">
            <a:avLst/>
          </a:prstGeom>
          <a:noFill/>
          <a:ln w="44450">
            <a:solidFill>
              <a:srgbClr val="8A5D00"/>
            </a:solidFill>
            <a:prstDash val="solid"/>
            <a:tailEnd type="triangle"/>
          </a:ln>
        </p:spPr>
      </p:sp>
      <p:sp>
        <p:nvSpPr>
          <p:cNvPr id="15" name="Text 12"/>
          <p:cNvSpPr txBox="1"/>
          <p:nvPr/>
        </p:nvSpPr>
        <p:spPr>
          <a:xfrm>
            <a:off x="5943600" y="1554480"/>
            <a:ext cx="731520" cy="274320"/>
          </a:xfrm>
          <a:prstGeom prst="rect">
            <a:avLst/>
          </a:prstGeom>
          <a:noFill/>
          <a:ln/>
        </p:spPr>
        <p:txBody>
          <a:bodyPr wrap="square" lIns="0" tIns="0" rIns="0" bIns="0" rtlCol="0" anchor="ctr"/>
          <a:lstStyle/>
          <a:p>
            <a:pPr indent="0" marL="0">
              <a:buNone/>
            </a:pPr>
            <a:r>
              <a:rPr lang="en-US" sz="1200" dirty="0">
                <a:solidFill>
                  <a:srgbClr val="8A5D00"/>
                </a:solidFill>
              </a:rPr>
              <a:t>push</a:t>
            </a:r>
            <a:endParaRPr lang="en-US" sz="1200" dirty="0"/>
          </a:p>
        </p:txBody>
      </p:sp>
      <p:sp>
        <p:nvSpPr>
          <p:cNvPr id="16" name="arrow"/>
          <p:cNvSpPr/>
          <p:nvPr/>
        </p:nvSpPr>
        <p:spPr>
          <a:xfrm flipV="1">
            <a:off x="4572000" y="2578608"/>
            <a:ext cx="576072" cy="576072"/>
          </a:xfrm>
          <a:prstGeom prst="line">
            <a:avLst/>
          </a:prstGeom>
          <a:noFill/>
          <a:ln w="19050">
            <a:solidFill>
              <a:srgbClr val="8C96A6"/>
            </a:solidFill>
            <a:prstDash val="solid"/>
          </a:ln>
        </p:spPr>
      </p:sp>
      <p:sp>
        <p:nvSpPr>
          <p:cNvPr id="17" name="asteroid"/>
          <p:cNvSpPr/>
          <p:nvPr/>
        </p:nvSpPr>
        <p:spPr>
          <a:xfrm>
            <a:off x="4206240" y="3063240"/>
            <a:ext cx="457200" cy="457200"/>
          </a:xfrm>
          <a:prstGeom prst="ellipse">
            <a:avLst/>
          </a:prstGeom>
          <a:solidFill>
            <a:srgbClr val="6B7280"/>
          </a:solidFill>
          <a:ln w="12700">
            <a:solidFill>
              <a:srgbClr val="6B7280"/>
            </a:solidFill>
            <a:prstDash val="solid"/>
          </a:ln>
        </p:spPr>
      </p:sp>
      <p:sp>
        <p:nvSpPr>
          <p:cNvPr id="18" name="Text 15"/>
          <p:cNvSpPr txBox="1"/>
          <p:nvPr/>
        </p:nvSpPr>
        <p:spPr>
          <a:xfrm>
            <a:off x="4754880" y="3246120"/>
            <a:ext cx="2377440" cy="548640"/>
          </a:xfrm>
          <a:prstGeom prst="rect">
            <a:avLst/>
          </a:prstGeom>
          <a:noFill/>
          <a:ln/>
        </p:spPr>
        <p:txBody>
          <a:bodyPr wrap="square" lIns="0" tIns="0" rIns="0" bIns="0" rtlCol="0" anchor="ctr"/>
          <a:lstStyle/>
          <a:p>
            <a:pPr indent="0" marL="0">
              <a:buNone/>
            </a:pPr>
            <a:r>
              <a:rPr lang="en-US" sz="1300" b="1" dirty="0">
                <a:solidFill>
                  <a:schemeClr val="tx1"/>
                </a:solidFill>
              </a:rPr>
              <a:t>asteroid (E3), 3.97×10</a:t>
            </a:r>
            <a:pPr indent="0" marL="0">
              <a:buNone/>
            </a:pPr>
            <a:r>
              <a:rPr lang="en-US" sz="1300" b="1" baseline="30000" dirty="0">
                <a:solidFill>
                  <a:schemeClr val="tx1"/>
                </a:solidFill>
              </a:rPr>
              <a:t>20</a:t>
            </a:r>
            <a:pPr indent="0" marL="0">
              <a:buNone/>
            </a:pPr>
            <a:r>
              <a:rPr lang="en-US" sz="1300" b="1" dirty="0">
                <a:solidFill>
                  <a:schemeClr val="tx1"/>
                </a:solidFill>
              </a:rPr>
              <a:t> kg</a:t>
            </a:r>
            <a:endParaRPr lang="en-US" sz="1300" dirty="0"/>
          </a:p>
        </p:txBody>
      </p:sp>
      <p:sp>
        <p:nvSpPr>
          <p:cNvPr id="19" name="arrow"/>
          <p:cNvSpPr/>
          <p:nvPr/>
        </p:nvSpPr>
        <p:spPr>
          <a:xfrm flipV="1">
            <a:off x="2743200" y="3474720"/>
            <a:ext cx="1508760" cy="1508760"/>
          </a:xfrm>
          <a:prstGeom prst="line">
            <a:avLst/>
          </a:prstGeom>
          <a:noFill/>
          <a:ln w="15875">
            <a:solidFill>
              <a:srgbClr val="8C96A6"/>
            </a:solidFill>
            <a:prstDash val="dash"/>
          </a:ln>
        </p:spPr>
      </p:sp>
      <p:sp>
        <p:nvSpPr>
          <p:cNvPr id="20" name="Text 17"/>
          <p:cNvSpPr txBox="1"/>
          <p:nvPr/>
        </p:nvSpPr>
        <p:spPr>
          <a:xfrm rot="-2700000">
            <a:off x="2697480" y="3886200"/>
            <a:ext cx="1188720" cy="274320"/>
          </a:xfrm>
          <a:prstGeom prst="rect">
            <a:avLst/>
          </a:prstGeom>
          <a:noFill/>
          <a:ln/>
        </p:spPr>
        <p:txBody>
          <a:bodyPr wrap="square" lIns="0" tIns="0" rIns="0" bIns="0" rtlCol="0" anchor="ctr"/>
          <a:lstStyle/>
          <a:p>
            <a:pPr indent="0" marL="0">
              <a:buNone/>
            </a:pPr>
            <a:r>
              <a:rPr lang="en-US" sz="1200" dirty="0">
                <a:solidFill>
                  <a:srgbClr val="5F6B7A"/>
                </a:solidFill>
              </a:rPr>
              <a:t>637,100 km</a:t>
            </a:r>
            <a:endParaRPr lang="en-US" sz="1200" dirty="0"/>
          </a:p>
        </p:txBody>
      </p:sp>
      <p:sp>
        <p:nvSpPr>
          <p:cNvPr id="21" name="arrow"/>
          <p:cNvSpPr/>
          <p:nvPr/>
        </p:nvSpPr>
        <p:spPr>
          <a:xfrm flipV="1">
            <a:off x="2944368" y="4206240"/>
            <a:ext cx="576072" cy="576072"/>
          </a:xfrm>
          <a:prstGeom prst="line">
            <a:avLst/>
          </a:prstGeom>
          <a:noFill/>
          <a:ln w="50800">
            <a:solidFill>
              <a:srgbClr val="2A78D6"/>
            </a:solidFill>
            <a:prstDash val="solid"/>
            <a:tailEnd type="triangle"/>
          </a:ln>
        </p:spPr>
      </p:sp>
      <p:sp>
        <p:nvSpPr>
          <p:cNvPr id="22" name="Text 19"/>
          <p:cNvSpPr txBox="1"/>
          <p:nvPr/>
        </p:nvSpPr>
        <p:spPr>
          <a:xfrm>
            <a:off x="3520440" y="4434840"/>
            <a:ext cx="640080" cy="274320"/>
          </a:xfrm>
          <a:prstGeom prst="rect">
            <a:avLst/>
          </a:prstGeom>
          <a:noFill/>
          <a:ln/>
        </p:spPr>
        <p:txBody>
          <a:bodyPr wrap="square" lIns="0" tIns="0" rIns="0" bIns="0" rtlCol="0" anchor="ctr"/>
          <a:lstStyle/>
          <a:p>
            <a:pPr indent="0" marL="0">
              <a:buNone/>
            </a:pPr>
            <a:r>
              <a:rPr lang="en-US" sz="1300" b="1" dirty="0">
                <a:solidFill>
                  <a:schemeClr val="accent2"/>
                </a:solidFill>
              </a:rPr>
              <a:t>pull</a:t>
            </a:r>
            <a:endParaRPr lang="en-US" sz="1300" dirty="0"/>
          </a:p>
        </p:txBody>
      </p:sp>
      <p:sp>
        <p:nvSpPr>
          <p:cNvPr id="23" name="arrow"/>
          <p:cNvSpPr/>
          <p:nvPr/>
        </p:nvSpPr>
        <p:spPr>
          <a:xfrm flipV="1">
            <a:off x="2743200" y="3886200"/>
            <a:ext cx="914" cy="822960"/>
          </a:xfrm>
          <a:prstGeom prst="line">
            <a:avLst/>
          </a:prstGeom>
          <a:noFill/>
          <a:ln w="22225">
            <a:solidFill>
              <a:srgbClr val="0E1726"/>
            </a:solidFill>
            <a:prstDash val="solid"/>
            <a:tailEnd type="triangle"/>
          </a:ln>
        </p:spPr>
      </p:sp>
      <p:sp>
        <p:nvSpPr>
          <p:cNvPr id="24" name="Text 21"/>
          <p:cNvSpPr txBox="1"/>
          <p:nvPr/>
        </p:nvSpPr>
        <p:spPr>
          <a:xfrm>
            <a:off x="1965960" y="4023360"/>
            <a:ext cx="685800" cy="274320"/>
          </a:xfrm>
          <a:prstGeom prst="rect">
            <a:avLst/>
          </a:prstGeom>
          <a:noFill/>
          <a:ln/>
        </p:spPr>
        <p:txBody>
          <a:bodyPr wrap="square" lIns="0" tIns="0" rIns="0" bIns="0" rtlCol="0" anchor="ctr"/>
          <a:lstStyle/>
          <a:p>
            <a:pPr algn="r" indent="0" marL="0">
              <a:buNone/>
            </a:pPr>
            <a:r>
              <a:rPr lang="en-US" sz="1200" dirty="0">
                <a:solidFill>
                  <a:srgbClr val="5F6B7A"/>
                </a:solidFill>
              </a:rPr>
              <a:t>orbit</a:t>
            </a:r>
            <a:endParaRPr lang="en-US" sz="1200" dirty="0"/>
          </a:p>
        </p:txBody>
      </p:sp>
      <p:sp>
        <p:nvSpPr>
          <p:cNvPr id="25" name="Earth"/>
          <p:cNvSpPr/>
          <p:nvPr/>
        </p:nvSpPr>
        <p:spPr>
          <a:xfrm>
            <a:off x="2468880" y="4709160"/>
            <a:ext cx="548640" cy="548640"/>
          </a:xfrm>
          <a:prstGeom prst="ellipse">
            <a:avLst/>
          </a:prstGeom>
          <a:solidFill>
            <a:srgbClr val="2A78D6"/>
          </a:solidFill>
          <a:ln w="12700">
            <a:solidFill>
              <a:srgbClr val="2A78D6"/>
            </a:solidFill>
            <a:prstDash val="solid"/>
          </a:ln>
        </p:spPr>
      </p:sp>
      <p:sp>
        <p:nvSpPr>
          <p:cNvPr id="26" name="Text 23"/>
          <p:cNvSpPr txBox="1"/>
          <p:nvPr/>
        </p:nvSpPr>
        <p:spPr>
          <a:xfrm>
            <a:off x="2194560" y="5303520"/>
            <a:ext cx="1097280" cy="274320"/>
          </a:xfrm>
          <a:prstGeom prst="rect">
            <a:avLst/>
          </a:prstGeom>
          <a:noFill/>
          <a:ln/>
        </p:spPr>
        <p:txBody>
          <a:bodyPr wrap="square" lIns="0" tIns="0" rIns="0" bIns="0" rtlCol="0" anchor="ctr"/>
          <a:lstStyle/>
          <a:p>
            <a:pPr algn="ctr" indent="0" marL="0">
              <a:buNone/>
            </a:pPr>
            <a:r>
              <a:rPr lang="en-US" sz="1300" b="1" dirty="0">
                <a:solidFill>
                  <a:schemeClr val="tx1"/>
                </a:solidFill>
              </a:rPr>
              <a:t>Earth</a:t>
            </a:r>
            <a:endParaRPr lang="en-US" sz="1300" dirty="0"/>
          </a:p>
        </p:txBody>
      </p:sp>
      <p:sp>
        <p:nvSpPr>
          <p:cNvPr id="27" name="Text 24"/>
          <p:cNvSpPr txBox="1"/>
          <p:nvPr/>
        </p:nvSpPr>
        <p:spPr>
          <a:xfrm>
            <a:off x="731520" y="5669280"/>
            <a:ext cx="1828800" cy="274320"/>
          </a:xfrm>
          <a:prstGeom prst="rect">
            <a:avLst/>
          </a:prstGeom>
          <a:noFill/>
          <a:ln/>
        </p:spPr>
        <p:txBody>
          <a:bodyPr wrap="square" lIns="0" tIns="0" rIns="0" bIns="0" rtlCol="0" anchor="ctr"/>
          <a:lstStyle/>
          <a:p>
            <a:pPr indent="0" marL="0">
              <a:buNone/>
            </a:pPr>
            <a:r>
              <a:rPr lang="en-US" sz="1100" dirty="0">
                <a:solidFill>
                  <a:srgbClr val="5F6B7A"/>
                </a:solidFill>
              </a:rPr>
              <a:t>Not to scale</a:t>
            </a:r>
            <a:endParaRPr lang="en-US" sz="1100" dirty="0"/>
          </a:p>
        </p:txBody>
      </p:sp>
      <p:sp>
        <p:nvSpPr>
          <p:cNvPr id="28" name="Text 25"/>
          <p:cNvSpPr txBox="1"/>
          <p:nvPr/>
        </p:nvSpPr>
        <p:spPr>
          <a:xfrm>
            <a:off x="7726680" y="1371600"/>
            <a:ext cx="3931920"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3.97×10</a:t>
            </a:r>
            <a:pPr indent="0" marL="0">
              <a:buNone/>
            </a:pPr>
            <a:r>
              <a:rPr lang="en-US" sz="2600" b="1" baseline="30000" dirty="0">
                <a:solidFill>
                  <a:schemeClr val="tx1"/>
                </a:solidFill>
                <a:latin typeface="Cambria" pitchFamily="34" charset="0"/>
                <a:ea typeface="Cambria" pitchFamily="34" charset="-122"/>
                <a:cs typeface="Cambria" pitchFamily="34" charset="-120"/>
              </a:rPr>
              <a:t>20</a:t>
            </a:r>
            <a:endParaRPr lang="en-US" sz="2600" dirty="0"/>
          </a:p>
        </p:txBody>
      </p:sp>
      <p:sp>
        <p:nvSpPr>
          <p:cNvPr id="29" name="Text 26"/>
          <p:cNvSpPr txBox="1"/>
          <p:nvPr/>
        </p:nvSpPr>
        <p:spPr>
          <a:xfrm>
            <a:off x="7726680" y="1874520"/>
            <a:ext cx="3931920" cy="548640"/>
          </a:xfrm>
          <a:prstGeom prst="rect">
            <a:avLst/>
          </a:prstGeom>
          <a:noFill/>
          <a:ln/>
        </p:spPr>
        <p:txBody>
          <a:bodyPr wrap="square" lIns="0" tIns="0" rIns="0" bIns="0" rtlCol="0" anchor="t"/>
          <a:lstStyle/>
          <a:p>
            <a:pPr indent="0" marL="0">
              <a:buNone/>
            </a:pPr>
            <a:r>
              <a:rPr lang="en-US" sz="1400" dirty="0">
                <a:solidFill>
                  <a:schemeClr val="tx1"/>
                </a:solidFill>
              </a:rPr>
              <a:t>kg asteroid, between Vesta and Ceres in mass</a:t>
            </a:r>
            <a:endParaRPr lang="en-US" sz="1400" dirty="0"/>
          </a:p>
        </p:txBody>
      </p:sp>
      <p:sp>
        <p:nvSpPr>
          <p:cNvPr id="30" name="Text 27"/>
          <p:cNvSpPr txBox="1"/>
          <p:nvPr/>
        </p:nvSpPr>
        <p:spPr>
          <a:xfrm>
            <a:off x="7726680" y="2542032"/>
            <a:ext cx="3931920"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637,100 km</a:t>
            </a:r>
            <a:endParaRPr lang="en-US" sz="2600" dirty="0"/>
          </a:p>
        </p:txBody>
      </p:sp>
      <p:sp>
        <p:nvSpPr>
          <p:cNvPr id="31" name="Text 28"/>
          <p:cNvSpPr txBox="1"/>
          <p:nvPr/>
        </p:nvSpPr>
        <p:spPr>
          <a:xfrm>
            <a:off x="7726680" y="3044952"/>
            <a:ext cx="3931920" cy="548640"/>
          </a:xfrm>
          <a:prstGeom prst="rect">
            <a:avLst/>
          </a:prstGeom>
          <a:noFill/>
          <a:ln/>
        </p:spPr>
        <p:txBody>
          <a:bodyPr wrap="square" lIns="0" tIns="0" rIns="0" bIns="0" rtlCol="0" anchor="t"/>
          <a:lstStyle/>
          <a:p>
            <a:pPr indent="0" marL="0">
              <a:buNone/>
            </a:pPr>
            <a:r>
              <a:rPr lang="en-US" sz="1400" dirty="0">
                <a:solidFill>
                  <a:schemeClr val="tx1"/>
                </a:solidFill>
              </a:rPr>
              <a:t>from Earth, 45° between ahead and away from the Sun</a:t>
            </a:r>
            <a:endParaRPr lang="en-US" sz="1400" dirty="0"/>
          </a:p>
        </p:txBody>
      </p:sp>
      <p:sp>
        <p:nvSpPr>
          <p:cNvPr id="32" name="Text 29"/>
          <p:cNvSpPr txBox="1"/>
          <p:nvPr/>
        </p:nvSpPr>
        <p:spPr>
          <a:xfrm>
            <a:off x="7726680" y="3712464"/>
            <a:ext cx="3931920"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3.95×10</a:t>
            </a:r>
            <a:pPr indent="0" marL="0">
              <a:buNone/>
            </a:pPr>
            <a:r>
              <a:rPr lang="en-US" sz="2600" b="1" baseline="30000" dirty="0">
                <a:solidFill>
                  <a:schemeClr val="tx1"/>
                </a:solidFill>
                <a:latin typeface="Cambria" pitchFamily="34" charset="0"/>
                <a:ea typeface="Cambria" pitchFamily="34" charset="-122"/>
                <a:cs typeface="Cambria" pitchFamily="34" charset="-120"/>
              </a:rPr>
              <a:t>17</a:t>
            </a:r>
            <a:pPr indent="0" marL="0">
              <a:buNone/>
            </a:pPr>
            <a:r>
              <a:rPr lang="en-US" sz="2600" b="1" dirty="0">
                <a:solidFill>
                  <a:schemeClr val="tx1"/>
                </a:solidFill>
                <a:latin typeface="Cambria" pitchFamily="34" charset="0"/>
                <a:ea typeface="Cambria" pitchFamily="34" charset="-122"/>
                <a:cs typeface="Cambria" pitchFamily="34" charset="-120"/>
              </a:rPr>
              <a:t> N</a:t>
            </a:r>
            <a:endParaRPr lang="en-US" sz="2600" dirty="0"/>
          </a:p>
        </p:txBody>
      </p:sp>
      <p:sp>
        <p:nvSpPr>
          <p:cNvPr id="33" name="Text 30"/>
          <p:cNvSpPr txBox="1"/>
          <p:nvPr/>
        </p:nvSpPr>
        <p:spPr>
          <a:xfrm>
            <a:off x="7726680" y="4215384"/>
            <a:ext cx="3931920" cy="548640"/>
          </a:xfrm>
          <a:prstGeom prst="rect">
            <a:avLst/>
          </a:prstGeom>
          <a:noFill/>
          <a:ln/>
        </p:spPr>
        <p:txBody>
          <a:bodyPr wrap="square" lIns="0" tIns="0" rIns="0" bIns="0" rtlCol="0" anchor="t"/>
          <a:lstStyle/>
          <a:p>
            <a:pPr indent="0" marL="0">
              <a:buNone/>
            </a:pPr>
            <a:r>
              <a:rPr lang="en-US" sz="1400" dirty="0">
                <a:solidFill>
                  <a:schemeClr val="tx1"/>
                </a:solidFill>
              </a:rPr>
              <a:t>pull on Earth: the only new force on the planet</a:t>
            </a:r>
            <a:endParaRPr lang="en-US" sz="1400" dirty="0"/>
          </a:p>
        </p:txBody>
      </p:sp>
      <p:sp>
        <p:nvSpPr>
          <p:cNvPr id="34" name="Text 31"/>
          <p:cNvSpPr txBox="1"/>
          <p:nvPr/>
        </p:nvSpPr>
        <p:spPr>
          <a:xfrm>
            <a:off x="7726680" y="4882896"/>
            <a:ext cx="3931920"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8.4×10</a:t>
            </a:r>
            <a:pPr indent="0" marL="0">
              <a:buNone/>
            </a:pPr>
            <a:r>
              <a:rPr lang="en-US" sz="2600" b="1" baseline="30000" dirty="0">
                <a:solidFill>
                  <a:schemeClr val="tx1"/>
                </a:solidFill>
                <a:latin typeface="Cambria" pitchFamily="34" charset="0"/>
                <a:ea typeface="Cambria" pitchFamily="34" charset="-122"/>
                <a:cs typeface="Cambria" pitchFamily="34" charset="-120"/>
              </a:rPr>
              <a:t>25</a:t>
            </a:r>
            <a:pPr indent="0" marL="0">
              <a:buNone/>
            </a:pPr>
            <a:r>
              <a:rPr lang="en-US" sz="2600" b="1" dirty="0">
                <a:solidFill>
                  <a:schemeClr val="tx1"/>
                </a:solidFill>
                <a:latin typeface="Cambria" pitchFamily="34" charset="0"/>
                <a:ea typeface="Cambria" pitchFamily="34" charset="-122"/>
                <a:cs typeface="Cambria" pitchFamily="34" charset="-120"/>
              </a:rPr>
              <a:t> W</a:t>
            </a:r>
            <a:endParaRPr lang="en-US" sz="2600" dirty="0"/>
          </a:p>
        </p:txBody>
      </p:sp>
      <p:sp>
        <p:nvSpPr>
          <p:cNvPr id="35" name="Text 32"/>
          <p:cNvSpPr txBox="1"/>
          <p:nvPr/>
        </p:nvSpPr>
        <p:spPr>
          <a:xfrm>
            <a:off x="7726680" y="5385816"/>
            <a:ext cx="3931920" cy="548640"/>
          </a:xfrm>
          <a:prstGeom prst="rect">
            <a:avLst/>
          </a:prstGeom>
          <a:noFill/>
          <a:ln/>
        </p:spPr>
        <p:txBody>
          <a:bodyPr wrap="square" lIns="0" tIns="0" rIns="0" bIns="0" rtlCol="0" anchor="t"/>
          <a:lstStyle/>
          <a:p>
            <a:pPr indent="0" marL="0">
              <a:buNone/>
            </a:pPr>
            <a:r>
              <a:rPr lang="en-US" sz="1400" dirty="0">
                <a:solidFill>
                  <a:schemeClr val="tx1"/>
                </a:solidFill>
              </a:rPr>
              <a:t>of focused light hold the asteroid on its spot</a:t>
            </a:r>
            <a:endParaRPr lang="en-US" sz="1400" dirty="0"/>
          </a:p>
        </p:txBody>
      </p:sp>
      <p:sp>
        <p:nvSpPr>
          <p:cNvPr id="36" name="source"/>
          <p:cNvSpPr txBox="1"/>
          <p:nvPr/>
        </p:nvSpPr>
        <p:spPr>
          <a:xfrm>
            <a:off x="548640" y="6126480"/>
            <a:ext cx="9692640" cy="274320"/>
          </a:xfrm>
          <a:prstGeom prst="rect">
            <a:avLst/>
          </a:prstGeom>
          <a:noFill/>
          <a:ln/>
        </p:spPr>
        <p:txBody>
          <a:bodyPr wrap="square" lIns="0" tIns="0" rIns="0" bIns="0" rtlCol="0" anchor="ctr"/>
          <a:lstStyle/>
          <a:p>
            <a:pPr indent="0" marL="0">
              <a:buNone/>
            </a:pPr>
            <a:r>
              <a:rPr lang="en-US" sz="1000" dirty="0">
                <a:solidFill>
                  <a:srgbClr val="5F6B7A"/>
                </a:solidFill>
              </a:rPr>
              <a:t>Source: config.yaml (tows); results/summary.json. Mars is towed first, to 3.64 AU, by a second tow of 1.56×10</a:t>
            </a:r>
            <a:pPr indent="0" marL="0">
              <a:buNone/>
            </a:pPr>
            <a:r>
              <a:rPr lang="en-US" sz="1000" baseline="30000" dirty="0">
                <a:solidFill>
                  <a:srgbClr val="5F6B7A"/>
                </a:solidFill>
              </a:rPr>
              <a:t>20</a:t>
            </a:r>
            <a:pPr indent="0" marL="0">
              <a:buNone/>
            </a:pPr>
            <a:r>
              <a:rPr lang="en-US" sz="1000" dirty="0">
                <a:solidFill>
                  <a:srgbClr val="5F6B7A"/>
                </a:solidFill>
              </a:rPr>
              <a:t> kg at 400,000 km.</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600" b="1" dirty="0">
                <a:solidFill>
                  <a:schemeClr val="tx1"/>
                </a:solidFill>
              </a:rPr>
              <a:t>The physics in three equations</a:t>
            </a:r>
            <a:endParaRPr lang="en-US" sz="3600" dirty="0"/>
          </a:p>
        </p:txBody>
      </p:sp>
      <p:sp>
        <p:nvSpPr>
          <p:cNvPr id="3" name="Map button">
            <a:hlinkClick r:id="rId1"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1"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4" name="Map icon" descr="preencoded.png">
            <a:hlinkClick r:id="rId3" tooltip="Back to the map" action="ppaction://hlinksldjump"/>
          </p:cNvPr>
          <p:cNvPicPr>
            <a:picLocks noChangeAspect="1"/>
          </p:cNvPicPr>
          <p:nvPr/>
        </p:nvPicPr>
        <p:blipFill>
          <a:blip r:embed="rId2"/>
          <a:stretch>
            <a:fillRect/>
          </a:stretch>
        </p:blipFill>
        <p:spPr>
          <a:xfrm>
            <a:off x="10972800" y="475488"/>
            <a:ext cx="201168" cy="201168"/>
          </a:xfrm>
          <a:prstGeom prst="rect">
            <a:avLst/>
          </a:prstGeom>
        </p:spPr>
      </p:pic>
      <p:sp>
        <p:nvSpPr>
          <p:cNvPr id="5" name="equation card 1"/>
          <p:cNvSpPr/>
          <p:nvPr/>
        </p:nvSpPr>
        <p:spPr>
          <a:xfrm>
            <a:off x="548640" y="1371600"/>
            <a:ext cx="3520440" cy="3611880"/>
          </a:xfrm>
          <a:prstGeom prst="roundRect">
            <a:avLst>
              <a:gd name="adj" fmla="val 3117"/>
            </a:avLst>
          </a:prstGeom>
          <a:solidFill>
            <a:srgbClr val="F1F3F6"/>
          </a:solidFill>
          <a:ln w="12700">
            <a:solidFill>
              <a:srgbClr val="F1F3F6"/>
            </a:solidFill>
            <a:prstDash val="solid"/>
          </a:ln>
        </p:spPr>
      </p:sp>
      <p:sp>
        <p:nvSpPr>
          <p:cNvPr id="6" name="badge FaEarthAmericas"/>
          <p:cNvSpPr/>
          <p:nvPr/>
        </p:nvSpPr>
        <p:spPr>
          <a:xfrm>
            <a:off x="777240" y="1572768"/>
            <a:ext cx="502920" cy="502920"/>
          </a:xfrm>
          <a:prstGeom prst="ellipse">
            <a:avLst/>
          </a:prstGeom>
          <a:solidFill>
            <a:srgbClr val="2A78D6"/>
          </a:solidFill>
          <a:ln w="12700">
            <a:solidFill>
              <a:srgbClr val="2A78D6"/>
            </a:solidFill>
            <a:prstDash val="solid"/>
          </a:ln>
        </p:spPr>
      </p:sp>
      <p:pic>
        <p:nvPicPr>
          <p:cNvPr id="7" name="icon FaEarthAmericas" descr="preencoded.png">    </p:cNvPr>
          <p:cNvPicPr>
            <a:picLocks noChangeAspect="1"/>
          </p:cNvPicPr>
          <p:nvPr/>
        </p:nvPicPr>
        <p:blipFill>
          <a:blip r:embed="rId4"/>
          <a:stretch>
            <a:fillRect/>
          </a:stretch>
        </p:blipFill>
        <p:spPr>
          <a:xfrm>
            <a:off x="897941" y="1693469"/>
            <a:ext cx="261518" cy="261518"/>
          </a:xfrm>
          <a:prstGeom prst="rect">
            <a:avLst/>
          </a:prstGeom>
        </p:spPr>
      </p:pic>
      <p:sp>
        <p:nvSpPr>
          <p:cNvPr id="8" name="Text 4"/>
          <p:cNvSpPr txBox="1"/>
          <p:nvPr/>
        </p:nvSpPr>
        <p:spPr>
          <a:xfrm>
            <a:off x="1417320" y="1572768"/>
            <a:ext cx="2514600" cy="502920"/>
          </a:xfrm>
          <a:prstGeom prst="rect">
            <a:avLst/>
          </a:prstGeom>
          <a:noFill/>
          <a:ln/>
        </p:spPr>
        <p:txBody>
          <a:bodyPr wrap="square" lIns="0" tIns="0" rIns="0" bIns="0" rtlCol="0" anchor="ctr"/>
          <a:lstStyle/>
          <a:p>
            <a:pPr indent="0" marL="0">
              <a:buNone/>
            </a:pPr>
            <a:r>
              <a:rPr lang="en-US" sz="1700" b="1" dirty="0">
                <a:solidFill>
                  <a:schemeClr val="tx1"/>
                </a:solidFill>
              </a:rPr>
              <a:t>Gravity pulls Earth</a:t>
            </a:r>
            <a:endParaRPr lang="en-US" sz="1700" dirty="0"/>
          </a:p>
        </p:txBody>
      </p:sp>
      <p:sp>
        <p:nvSpPr>
          <p:cNvPr id="9" name="Text 5"/>
          <p:cNvSpPr txBox="1"/>
          <p:nvPr/>
        </p:nvSpPr>
        <p:spPr>
          <a:xfrm>
            <a:off x="777240" y="2240280"/>
            <a:ext cx="3108960" cy="548640"/>
          </a:xfrm>
          <a:prstGeom prst="rect">
            <a:avLst/>
          </a:prstGeom>
          <a:noFill/>
          <a:ln/>
        </p:spPr>
        <p:txBody>
          <a:bodyPr wrap="square" lIns="0" tIns="0" rIns="0" bIns="0" rtlCol="0" anchor="ctr"/>
          <a:lstStyle/>
          <a:p>
            <a:pPr indent="0" marL="0">
              <a:buNone/>
            </a:pPr>
            <a:r>
              <a:rPr lang="en-US" sz="2100" i="1" dirty="0">
                <a:solidFill>
                  <a:schemeClr val="tx1"/>
                </a:solidFill>
                <a:latin typeface="Cambria" pitchFamily="34" charset="0"/>
                <a:ea typeface="Cambria" pitchFamily="34" charset="-122"/>
                <a:cs typeface="Cambria" pitchFamily="34" charset="-120"/>
              </a:rPr>
              <a:t>F = G M</a:t>
            </a:r>
            <a:pPr indent="0" marL="0">
              <a:buNone/>
            </a:pPr>
            <a:r>
              <a:rPr lang="en-US" sz="2100" i="1" baseline="-40000" dirty="0">
                <a:solidFill>
                  <a:schemeClr val="tx1"/>
                </a:solidFill>
                <a:latin typeface="Cambria" pitchFamily="34" charset="0"/>
                <a:ea typeface="Cambria" pitchFamily="34" charset="-122"/>
                <a:cs typeface="Cambria" pitchFamily="34" charset="-120"/>
              </a:rPr>
              <a:t>E</a:t>
            </a:r>
            <a:pPr indent="0" marL="0">
              <a:buNone/>
            </a:pPr>
            <a:r>
              <a:rPr lang="en-US" sz="2100" i="1" dirty="0">
                <a:solidFill>
                  <a:schemeClr val="tx1"/>
                </a:solidFill>
                <a:latin typeface="Cambria" pitchFamily="34" charset="0"/>
                <a:ea typeface="Cambria" pitchFamily="34" charset="-122"/>
                <a:cs typeface="Cambria" pitchFamily="34" charset="-120"/>
              </a:rPr>
              <a:t> m</a:t>
            </a:r>
            <a:pPr indent="0" marL="0">
              <a:buNone/>
            </a:pPr>
            <a:r>
              <a:rPr lang="en-US" sz="2100" i="1" baseline="-40000" dirty="0">
                <a:solidFill>
                  <a:schemeClr val="tx1"/>
                </a:solidFill>
                <a:latin typeface="Cambria" pitchFamily="34" charset="0"/>
                <a:ea typeface="Cambria" pitchFamily="34" charset="-122"/>
                <a:cs typeface="Cambria" pitchFamily="34" charset="-120"/>
              </a:rPr>
              <a:t>a</a:t>
            </a:r>
            <a:pPr indent="0" marL="0">
              <a:buNone/>
            </a:pPr>
            <a:r>
              <a:rPr lang="en-US" sz="2100" i="1" dirty="0">
                <a:solidFill>
                  <a:schemeClr val="tx1"/>
                </a:solidFill>
                <a:latin typeface="Cambria" pitchFamily="34" charset="0"/>
                <a:ea typeface="Cambria" pitchFamily="34" charset="-122"/>
                <a:cs typeface="Cambria" pitchFamily="34" charset="-120"/>
              </a:rPr>
              <a:t> / d</a:t>
            </a:r>
            <a:pPr indent="0" marL="0">
              <a:buNone/>
            </a:pPr>
            <a:r>
              <a:rPr lang="en-US" sz="2100" i="1" baseline="30000" dirty="0">
                <a:solidFill>
                  <a:schemeClr val="tx1"/>
                </a:solidFill>
                <a:latin typeface="Cambria" pitchFamily="34" charset="0"/>
                <a:ea typeface="Cambria" pitchFamily="34" charset="-122"/>
                <a:cs typeface="Cambria" pitchFamily="34" charset="-120"/>
              </a:rPr>
              <a:t>2</a:t>
            </a:r>
            <a:endParaRPr lang="en-US" sz="2100" dirty="0"/>
          </a:p>
        </p:txBody>
      </p:sp>
      <p:sp>
        <p:nvSpPr>
          <p:cNvPr id="10" name="Text 6"/>
          <p:cNvSpPr txBox="1"/>
          <p:nvPr/>
        </p:nvSpPr>
        <p:spPr>
          <a:xfrm>
            <a:off x="777240" y="2834640"/>
            <a:ext cx="3108960" cy="685800"/>
          </a:xfrm>
          <a:prstGeom prst="rect">
            <a:avLst/>
          </a:prstGeom>
          <a:noFill/>
          <a:ln/>
        </p:spPr>
        <p:txBody>
          <a:bodyPr wrap="square" lIns="0" tIns="0" rIns="0" bIns="0" rtlCol="0" anchor="t"/>
          <a:lstStyle/>
          <a:p>
            <a:pPr indent="0" marL="0">
              <a:buNone/>
            </a:pPr>
            <a:r>
              <a:rPr lang="en-US" sz="1300" dirty="0">
                <a:solidFill>
                  <a:srgbClr val="5F6B7A"/>
                </a:solidFill>
              </a:rPr>
              <a:t>M</a:t>
            </a:r>
            <a:pPr indent="0" marL="0">
              <a:buNone/>
            </a:pPr>
            <a:r>
              <a:rPr lang="en-US" sz="1300" baseline="-40000" dirty="0">
                <a:solidFill>
                  <a:srgbClr val="5F6B7A"/>
                </a:solidFill>
              </a:rPr>
              <a:t>E</a:t>
            </a:r>
            <a:pPr indent="0" marL="0">
              <a:buNone/>
            </a:pPr>
            <a:r>
              <a:rPr lang="en-US" sz="1300" dirty="0">
                <a:solidFill>
                  <a:srgbClr val="5F6B7A"/>
                </a:solidFill>
              </a:rPr>
              <a:t> = 6.05×10</a:t>
            </a:r>
            <a:pPr indent="0" marL="0">
              <a:buNone/>
            </a:pPr>
            <a:r>
              <a:rPr lang="en-US" sz="1300" baseline="30000" dirty="0">
                <a:solidFill>
                  <a:srgbClr val="5F6B7A"/>
                </a:solidFill>
              </a:rPr>
              <a:t>24</a:t>
            </a:r>
            <a:pPr indent="0" marL="0">
              <a:buNone/>
            </a:pPr>
            <a:r>
              <a:rPr lang="en-US" sz="1300" dirty="0">
                <a:solidFill>
                  <a:srgbClr val="5F6B7A"/>
                </a:solidFill>
              </a:rPr>
              <a:t> kg, m</a:t>
            </a:r>
            <a:pPr indent="0" marL="0">
              <a:buNone/>
            </a:pPr>
            <a:r>
              <a:rPr lang="en-US" sz="1300" baseline="-40000" dirty="0">
                <a:solidFill>
                  <a:srgbClr val="5F6B7A"/>
                </a:solidFill>
              </a:rPr>
              <a:t>a</a:t>
            </a:r>
            <a:pPr indent="0" marL="0">
              <a:buNone/>
            </a:pPr>
            <a:r>
              <a:rPr lang="en-US" sz="1300" dirty="0">
                <a:solidFill>
                  <a:srgbClr val="5F6B7A"/>
                </a:solidFill>
              </a:rPr>
              <a:t> = 3.97×10</a:t>
            </a:r>
            <a:pPr indent="0" marL="0">
              <a:buNone/>
            </a:pPr>
            <a:r>
              <a:rPr lang="en-US" sz="1300" baseline="30000" dirty="0">
                <a:solidFill>
                  <a:srgbClr val="5F6B7A"/>
                </a:solidFill>
              </a:rPr>
              <a:t>20</a:t>
            </a:r>
            <a:pPr indent="0" marL="0">
              <a:buNone/>
            </a:pPr>
            <a:r>
              <a:rPr lang="en-US" sz="1300" dirty="0">
                <a:solidFill>
                  <a:srgbClr val="5F6B7A"/>
                </a:solidFill>
              </a:rPr>
              <a:t> kg, d = 637,100 km</a:t>
            </a:r>
            <a:endParaRPr lang="en-US" sz="1300" dirty="0"/>
          </a:p>
        </p:txBody>
      </p:sp>
      <p:sp>
        <p:nvSpPr>
          <p:cNvPr id="11" name="Text 7"/>
          <p:cNvSpPr txBox="1"/>
          <p:nvPr/>
        </p:nvSpPr>
        <p:spPr>
          <a:xfrm>
            <a:off x="777240" y="3566160"/>
            <a:ext cx="310896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F = 3.95×10</a:t>
            </a:r>
            <a:pPr indent="0" marL="0">
              <a:buNone/>
            </a:pPr>
            <a:r>
              <a:rPr lang="en-US" sz="2000" b="1" baseline="30000" dirty="0">
                <a:solidFill>
                  <a:schemeClr val="tx1"/>
                </a:solidFill>
                <a:latin typeface="Cambria" pitchFamily="34" charset="0"/>
                <a:ea typeface="Cambria" pitchFamily="34" charset="-122"/>
                <a:cs typeface="Cambria" pitchFamily="34" charset="-120"/>
              </a:rPr>
              <a:t>17</a:t>
            </a:r>
            <a:pPr indent="0" marL="0">
              <a:buNone/>
            </a:pPr>
            <a:r>
              <a:rPr lang="en-US" sz="2000" b="1" dirty="0">
                <a:solidFill>
                  <a:schemeClr val="tx1"/>
                </a:solidFill>
                <a:latin typeface="Cambria" pitchFamily="34" charset="0"/>
                <a:ea typeface="Cambria" pitchFamily="34" charset="-122"/>
                <a:cs typeface="Cambria" pitchFamily="34" charset="-120"/>
              </a:rPr>
              <a:t> N</a:t>
            </a:r>
            <a:endParaRPr lang="en-US" sz="2000" dirty="0"/>
          </a:p>
        </p:txBody>
      </p:sp>
      <p:sp>
        <p:nvSpPr>
          <p:cNvPr id="12" name="Text 8"/>
          <p:cNvSpPr txBox="1"/>
          <p:nvPr/>
        </p:nvSpPr>
        <p:spPr>
          <a:xfrm>
            <a:off x="777240" y="4069080"/>
            <a:ext cx="3108960" cy="777240"/>
          </a:xfrm>
          <a:prstGeom prst="rect">
            <a:avLst/>
          </a:prstGeom>
          <a:noFill/>
          <a:ln/>
        </p:spPr>
        <p:txBody>
          <a:bodyPr wrap="square" lIns="0" tIns="0" rIns="0" bIns="0" rtlCol="0" anchor="t"/>
          <a:lstStyle/>
          <a:p>
            <a:pPr indent="0" marL="0">
              <a:buNone/>
            </a:pPr>
            <a:r>
              <a:rPr lang="en-US" sz="1300" dirty="0">
                <a:solidFill>
                  <a:schemeClr val="tx1"/>
                </a:solidFill>
              </a:rPr>
              <a:t>Earth's acceleration 6.53×10</a:t>
            </a:r>
            <a:pPr indent="0" marL="0">
              <a:buNone/>
            </a:pPr>
            <a:r>
              <a:rPr lang="en-US" sz="1300" baseline="30000" dirty="0">
                <a:solidFill>
                  <a:schemeClr val="tx1"/>
                </a:solidFill>
              </a:rPr>
              <a:t>−8</a:t>
            </a:r>
            <a:pPr indent="0" marL="0">
              <a:buNone/>
            </a:pPr>
            <a:r>
              <a:rPr lang="en-US" sz="1300" dirty="0">
                <a:solidFill>
                  <a:schemeClr val="tx1"/>
                </a:solidFill>
              </a:rPr>
              <a:t> m/s</a:t>
            </a:r>
            <a:pPr indent="0" marL="0">
              <a:buNone/>
            </a:pPr>
            <a:r>
              <a:rPr lang="en-US" sz="1300" baseline="30000" dirty="0">
                <a:solidFill>
                  <a:schemeClr val="tx1"/>
                </a:solidFill>
              </a:rPr>
              <a:t>2</a:t>
            </a:r>
            <a:endParaRPr lang="en-US" sz="1300" dirty="0"/>
          </a:p>
        </p:txBody>
      </p:sp>
      <p:sp>
        <p:nvSpPr>
          <p:cNvPr id="13" name="equation card 2"/>
          <p:cNvSpPr/>
          <p:nvPr/>
        </p:nvSpPr>
        <p:spPr>
          <a:xfrm>
            <a:off x="4297680" y="1371600"/>
            <a:ext cx="3520440" cy="3611880"/>
          </a:xfrm>
          <a:prstGeom prst="roundRect">
            <a:avLst>
              <a:gd name="adj" fmla="val 3117"/>
            </a:avLst>
          </a:prstGeom>
          <a:solidFill>
            <a:srgbClr val="F1F3F6"/>
          </a:solidFill>
          <a:ln w="12700">
            <a:solidFill>
              <a:srgbClr val="F1F3F6"/>
            </a:solidFill>
            <a:prstDash val="solid"/>
          </a:ln>
        </p:spPr>
      </p:sp>
      <p:sp>
        <p:nvSpPr>
          <p:cNvPr id="14" name="badge FaSun"/>
          <p:cNvSpPr/>
          <p:nvPr/>
        </p:nvSpPr>
        <p:spPr>
          <a:xfrm>
            <a:off x="4526280" y="1572768"/>
            <a:ext cx="502920" cy="502920"/>
          </a:xfrm>
          <a:prstGeom prst="ellipse">
            <a:avLst/>
          </a:prstGeom>
          <a:solidFill>
            <a:srgbClr val="E8A317"/>
          </a:solidFill>
          <a:ln w="12700">
            <a:solidFill>
              <a:srgbClr val="E8A317"/>
            </a:solidFill>
            <a:prstDash val="solid"/>
          </a:ln>
        </p:spPr>
      </p:sp>
      <p:pic>
        <p:nvPicPr>
          <p:cNvPr id="15" name="icon FaSun" descr="preencoded.png">    </p:cNvPr>
          <p:cNvPicPr>
            <a:picLocks noChangeAspect="1"/>
          </p:cNvPicPr>
          <p:nvPr/>
        </p:nvPicPr>
        <p:blipFill>
          <a:blip r:embed="rId5"/>
          <a:stretch>
            <a:fillRect/>
          </a:stretch>
        </p:blipFill>
        <p:spPr>
          <a:xfrm>
            <a:off x="4646981" y="1693469"/>
            <a:ext cx="261518" cy="261518"/>
          </a:xfrm>
          <a:prstGeom prst="rect">
            <a:avLst/>
          </a:prstGeom>
        </p:spPr>
      </p:pic>
      <p:sp>
        <p:nvSpPr>
          <p:cNvPr id="16" name="Text 11"/>
          <p:cNvSpPr txBox="1"/>
          <p:nvPr/>
        </p:nvSpPr>
        <p:spPr>
          <a:xfrm>
            <a:off x="5166360" y="1572768"/>
            <a:ext cx="2514600" cy="502920"/>
          </a:xfrm>
          <a:prstGeom prst="rect">
            <a:avLst/>
          </a:prstGeom>
          <a:noFill/>
          <a:ln/>
        </p:spPr>
        <p:txBody>
          <a:bodyPr wrap="square" lIns="0" tIns="0" rIns="0" bIns="0" rtlCol="0" anchor="ctr"/>
          <a:lstStyle/>
          <a:p>
            <a:pPr indent="0" marL="0">
              <a:buNone/>
            </a:pPr>
            <a:r>
              <a:rPr lang="en-US" sz="1700" b="1" dirty="0">
                <a:solidFill>
                  <a:schemeClr val="tx1"/>
                </a:solidFill>
              </a:rPr>
              <a:t>Light holds the asteroid</a:t>
            </a:r>
            <a:endParaRPr lang="en-US" sz="1700" dirty="0"/>
          </a:p>
        </p:txBody>
      </p:sp>
      <p:sp>
        <p:nvSpPr>
          <p:cNvPr id="17" name="Text 12"/>
          <p:cNvSpPr txBox="1"/>
          <p:nvPr/>
        </p:nvSpPr>
        <p:spPr>
          <a:xfrm>
            <a:off x="4526280" y="2240280"/>
            <a:ext cx="3108960" cy="548640"/>
          </a:xfrm>
          <a:prstGeom prst="rect">
            <a:avLst/>
          </a:prstGeom>
          <a:noFill/>
          <a:ln/>
        </p:spPr>
        <p:txBody>
          <a:bodyPr wrap="square" lIns="0" tIns="0" rIns="0" bIns="0" rtlCol="0" anchor="ctr"/>
          <a:lstStyle/>
          <a:p>
            <a:pPr indent="0" marL="0">
              <a:buNone/>
            </a:pPr>
            <a:r>
              <a:rPr lang="en-US" sz="2100" i="1" dirty="0">
                <a:solidFill>
                  <a:schemeClr val="tx1"/>
                </a:solidFill>
                <a:latin typeface="Cambria" pitchFamily="34" charset="0"/>
                <a:ea typeface="Cambria" pitchFamily="34" charset="-122"/>
                <a:cs typeface="Cambria" pitchFamily="34" charset="-120"/>
              </a:rPr>
              <a:t>F = (P/c)(n</a:t>
            </a:r>
            <a:pPr indent="0" marL="0">
              <a:buNone/>
            </a:pPr>
            <a:r>
              <a:rPr lang="en-US" sz="2100" i="1" baseline="-40000" dirty="0">
                <a:solidFill>
                  <a:schemeClr val="tx1"/>
                </a:solidFill>
                <a:latin typeface="Cambria" pitchFamily="34" charset="0"/>
                <a:ea typeface="Cambria" pitchFamily="34" charset="-122"/>
                <a:cs typeface="Cambria" pitchFamily="34" charset="-120"/>
              </a:rPr>
              <a:t>in</a:t>
            </a:r>
            <a:pPr indent="0" marL="0">
              <a:buNone/>
            </a:pPr>
            <a:r>
              <a:rPr lang="en-US" sz="2100" i="1" dirty="0">
                <a:solidFill>
                  <a:schemeClr val="tx1"/>
                </a:solidFill>
                <a:latin typeface="Cambria" pitchFamily="34" charset="0"/>
                <a:ea typeface="Cambria" pitchFamily="34" charset="-122"/>
                <a:cs typeface="Cambria" pitchFamily="34" charset="-120"/>
              </a:rPr>
              <a:t> − n</a:t>
            </a:r>
            <a:pPr indent="0" marL="0">
              <a:buNone/>
            </a:pPr>
            <a:r>
              <a:rPr lang="en-US" sz="2100" i="1" baseline="-40000" dirty="0">
                <a:solidFill>
                  <a:schemeClr val="tx1"/>
                </a:solidFill>
                <a:latin typeface="Cambria" pitchFamily="34" charset="0"/>
                <a:ea typeface="Cambria" pitchFamily="34" charset="-122"/>
                <a:cs typeface="Cambria" pitchFamily="34" charset="-120"/>
              </a:rPr>
              <a:t>out</a:t>
            </a:r>
            <a:pPr indent="0" marL="0">
              <a:buNone/>
            </a:pPr>
            <a:r>
              <a:rPr lang="en-US" sz="2100" i="1" dirty="0">
                <a:solidFill>
                  <a:schemeClr val="tx1"/>
                </a:solidFill>
                <a:latin typeface="Cambria" pitchFamily="34" charset="0"/>
                <a:ea typeface="Cambria" pitchFamily="34" charset="-122"/>
                <a:cs typeface="Cambria" pitchFamily="34" charset="-120"/>
              </a:rPr>
              <a:t>)</a:t>
            </a:r>
            <a:endParaRPr lang="en-US" sz="2100" dirty="0"/>
          </a:p>
        </p:txBody>
      </p:sp>
      <p:sp>
        <p:nvSpPr>
          <p:cNvPr id="18" name="Text 13"/>
          <p:cNvSpPr txBox="1"/>
          <p:nvPr/>
        </p:nvSpPr>
        <p:spPr>
          <a:xfrm>
            <a:off x="4526280" y="2834640"/>
            <a:ext cx="3108960" cy="685800"/>
          </a:xfrm>
          <a:prstGeom prst="rect">
            <a:avLst/>
          </a:prstGeom>
          <a:noFill/>
          <a:ln/>
        </p:spPr>
        <p:txBody>
          <a:bodyPr wrap="square" lIns="0" tIns="0" rIns="0" bIns="0" rtlCol="0" anchor="t"/>
          <a:lstStyle/>
          <a:p>
            <a:pPr indent="0" marL="0">
              <a:buNone/>
            </a:pPr>
            <a:r>
              <a:rPr lang="en-US" sz="1300" dirty="0">
                <a:solidFill>
                  <a:srgbClr val="5F6B7A"/>
                </a:solidFill>
              </a:rPr>
              <a:t>Light turned through 90° pushes with √2·P/c (n = the light's direction)</a:t>
            </a:r>
            <a:endParaRPr lang="en-US" sz="1300" dirty="0"/>
          </a:p>
        </p:txBody>
      </p:sp>
      <p:sp>
        <p:nvSpPr>
          <p:cNvPr id="19" name="Text 14"/>
          <p:cNvSpPr txBox="1"/>
          <p:nvPr/>
        </p:nvSpPr>
        <p:spPr>
          <a:xfrm>
            <a:off x="4526280" y="3566160"/>
            <a:ext cx="310896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P = F c / √2 = 8.4×10</a:t>
            </a:r>
            <a:pPr indent="0" marL="0">
              <a:buNone/>
            </a:pPr>
            <a:r>
              <a:rPr lang="en-US" sz="2000" b="1" baseline="30000" dirty="0">
                <a:solidFill>
                  <a:schemeClr val="tx1"/>
                </a:solidFill>
                <a:latin typeface="Cambria" pitchFamily="34" charset="0"/>
                <a:ea typeface="Cambria" pitchFamily="34" charset="-122"/>
                <a:cs typeface="Cambria" pitchFamily="34" charset="-120"/>
              </a:rPr>
              <a:t>25</a:t>
            </a:r>
            <a:pPr indent="0" marL="0">
              <a:buNone/>
            </a:pPr>
            <a:r>
              <a:rPr lang="en-US" sz="2000" b="1" dirty="0">
                <a:solidFill>
                  <a:schemeClr val="tx1"/>
                </a:solidFill>
                <a:latin typeface="Cambria" pitchFamily="34" charset="0"/>
                <a:ea typeface="Cambria" pitchFamily="34" charset="-122"/>
                <a:cs typeface="Cambria" pitchFamily="34" charset="-120"/>
              </a:rPr>
              <a:t> W</a:t>
            </a:r>
            <a:endParaRPr lang="en-US" sz="2000" dirty="0"/>
          </a:p>
        </p:txBody>
      </p:sp>
      <p:sp>
        <p:nvSpPr>
          <p:cNvPr id="20" name="Text 15"/>
          <p:cNvSpPr txBox="1"/>
          <p:nvPr/>
        </p:nvSpPr>
        <p:spPr>
          <a:xfrm>
            <a:off x="4526280" y="4069080"/>
            <a:ext cx="3108960" cy="777240"/>
          </a:xfrm>
          <a:prstGeom prst="rect">
            <a:avLst/>
          </a:prstGeom>
          <a:noFill/>
          <a:ln/>
        </p:spPr>
        <p:txBody>
          <a:bodyPr wrap="square" lIns="0" tIns="0" rIns="0" bIns="0" rtlCol="0" anchor="t"/>
          <a:lstStyle/>
          <a:p>
            <a:pPr indent="0" marL="0">
              <a:buNone/>
            </a:pPr>
            <a:r>
              <a:rPr lang="en-US" sz="1300" dirty="0">
                <a:solidFill>
                  <a:schemeClr val="tx1"/>
                </a:solidFill>
              </a:rPr>
              <a:t>A head-on bounce would need 5.9×10</a:t>
            </a:r>
            <a:pPr indent="0" marL="0">
              <a:buNone/>
            </a:pPr>
            <a:r>
              <a:rPr lang="en-US" sz="1300" baseline="30000" dirty="0">
                <a:solidFill>
                  <a:schemeClr val="tx1"/>
                </a:solidFill>
              </a:rPr>
              <a:t>25</a:t>
            </a:r>
            <a:pPr indent="0" marL="0">
              <a:buNone/>
            </a:pPr>
            <a:r>
              <a:rPr lang="en-US" sz="1300" dirty="0">
                <a:solidFill>
                  <a:schemeClr val="tx1"/>
                </a:solidFill>
              </a:rPr>
              <a:t> W but cannot keep the beam clear of Earth</a:t>
            </a:r>
            <a:endParaRPr lang="en-US" sz="1300" dirty="0"/>
          </a:p>
        </p:txBody>
      </p:sp>
      <p:sp>
        <p:nvSpPr>
          <p:cNvPr id="21" name="equation card 3"/>
          <p:cNvSpPr/>
          <p:nvPr/>
        </p:nvSpPr>
        <p:spPr>
          <a:xfrm>
            <a:off x="8046720" y="1371600"/>
            <a:ext cx="3520440" cy="3611880"/>
          </a:xfrm>
          <a:prstGeom prst="roundRect">
            <a:avLst>
              <a:gd name="adj" fmla="val 3117"/>
            </a:avLst>
          </a:prstGeom>
          <a:solidFill>
            <a:srgbClr val="F1F3F6"/>
          </a:solidFill>
          <a:ln w="12700">
            <a:solidFill>
              <a:srgbClr val="F1F3F6"/>
            </a:solidFill>
            <a:prstDash val="solid"/>
          </a:ln>
        </p:spPr>
      </p:sp>
      <p:sp>
        <p:nvSpPr>
          <p:cNvPr id="22" name="badge FaRoute"/>
          <p:cNvSpPr/>
          <p:nvPr/>
        </p:nvSpPr>
        <p:spPr>
          <a:xfrm>
            <a:off x="8275320" y="1572768"/>
            <a:ext cx="502920" cy="502920"/>
          </a:xfrm>
          <a:prstGeom prst="ellipse">
            <a:avLst/>
          </a:prstGeom>
          <a:solidFill>
            <a:srgbClr val="6250D6"/>
          </a:solidFill>
          <a:ln w="12700">
            <a:solidFill>
              <a:srgbClr val="6250D6"/>
            </a:solidFill>
            <a:prstDash val="solid"/>
          </a:ln>
        </p:spPr>
      </p:sp>
      <p:pic>
        <p:nvPicPr>
          <p:cNvPr id="23" name="icon FaRoute" descr="preencoded.png">    </p:cNvPr>
          <p:cNvPicPr>
            <a:picLocks noChangeAspect="1"/>
          </p:cNvPicPr>
          <p:nvPr/>
        </p:nvPicPr>
        <p:blipFill>
          <a:blip r:embed="rId6"/>
          <a:stretch>
            <a:fillRect/>
          </a:stretch>
        </p:blipFill>
        <p:spPr>
          <a:xfrm>
            <a:off x="8396021" y="1693469"/>
            <a:ext cx="261518" cy="261518"/>
          </a:xfrm>
          <a:prstGeom prst="rect">
            <a:avLst/>
          </a:prstGeom>
        </p:spPr>
      </p:pic>
      <p:sp>
        <p:nvSpPr>
          <p:cNvPr id="24" name="Text 18"/>
          <p:cNvSpPr txBox="1"/>
          <p:nvPr/>
        </p:nvSpPr>
        <p:spPr>
          <a:xfrm>
            <a:off x="8915400" y="1572768"/>
            <a:ext cx="2514600" cy="502920"/>
          </a:xfrm>
          <a:prstGeom prst="rect">
            <a:avLst/>
          </a:prstGeom>
          <a:noFill/>
          <a:ln/>
        </p:spPr>
        <p:txBody>
          <a:bodyPr wrap="square" lIns="0" tIns="0" rIns="0" bIns="0" rtlCol="0" anchor="ctr"/>
          <a:lstStyle/>
          <a:p>
            <a:pPr indent="0" marL="0">
              <a:buNone/>
            </a:pPr>
            <a:r>
              <a:rPr lang="en-US" sz="1700" b="1" dirty="0">
                <a:solidFill>
                  <a:schemeClr val="tx1"/>
                </a:solidFill>
              </a:rPr>
              <a:t>The orbit grows (Gauss)</a:t>
            </a:r>
            <a:endParaRPr lang="en-US" sz="1700" dirty="0"/>
          </a:p>
        </p:txBody>
      </p:sp>
      <p:sp>
        <p:nvSpPr>
          <p:cNvPr id="25" name="Text 19"/>
          <p:cNvSpPr txBox="1"/>
          <p:nvPr/>
        </p:nvSpPr>
        <p:spPr>
          <a:xfrm>
            <a:off x="8275320" y="2240280"/>
            <a:ext cx="3108960" cy="548640"/>
          </a:xfrm>
          <a:prstGeom prst="rect">
            <a:avLst/>
          </a:prstGeom>
          <a:noFill/>
          <a:ln/>
        </p:spPr>
        <p:txBody>
          <a:bodyPr wrap="square" lIns="0" tIns="0" rIns="0" bIns="0" rtlCol="0" anchor="ctr"/>
          <a:lstStyle/>
          <a:p>
            <a:pPr indent="0" marL="0">
              <a:buNone/>
            </a:pPr>
            <a:r>
              <a:rPr lang="en-US" sz="2100" i="1" dirty="0">
                <a:solidFill>
                  <a:schemeClr val="tx1"/>
                </a:solidFill>
                <a:latin typeface="Cambria" pitchFamily="34" charset="0"/>
                <a:ea typeface="Cambria" pitchFamily="34" charset="-122"/>
                <a:cs typeface="Cambria" pitchFamily="34" charset="-120"/>
              </a:rPr>
              <a:t>da/dt = 2a</a:t>
            </a:r>
            <a:pPr indent="0" marL="0">
              <a:buNone/>
            </a:pPr>
            <a:r>
              <a:rPr lang="en-US" sz="2100" i="1" baseline="30000" dirty="0">
                <a:solidFill>
                  <a:schemeClr val="tx1"/>
                </a:solidFill>
                <a:latin typeface="Cambria" pitchFamily="34" charset="0"/>
                <a:ea typeface="Cambria" pitchFamily="34" charset="-122"/>
                <a:cs typeface="Cambria" pitchFamily="34" charset="-120"/>
              </a:rPr>
              <a:t>2</a:t>
            </a:r>
            <a:pPr indent="0" marL="0">
              <a:buNone/>
            </a:pPr>
            <a:r>
              <a:rPr lang="en-US" sz="2100" i="1" dirty="0">
                <a:solidFill>
                  <a:schemeClr val="tx1"/>
                </a:solidFill>
                <a:latin typeface="Cambria" pitchFamily="34" charset="0"/>
                <a:ea typeface="Cambria" pitchFamily="34" charset="-122"/>
                <a:cs typeface="Cambria" pitchFamily="34" charset="-120"/>
              </a:rPr>
              <a:t> (v·f) / μ</a:t>
            </a:r>
            <a:endParaRPr lang="en-US" sz="2100" dirty="0"/>
          </a:p>
        </p:txBody>
      </p:sp>
      <p:sp>
        <p:nvSpPr>
          <p:cNvPr id="26" name="Text 20"/>
          <p:cNvSpPr txBox="1"/>
          <p:nvPr/>
        </p:nvSpPr>
        <p:spPr>
          <a:xfrm>
            <a:off x="8275320" y="2834640"/>
            <a:ext cx="3108960" cy="685800"/>
          </a:xfrm>
          <a:prstGeom prst="rect">
            <a:avLst/>
          </a:prstGeom>
          <a:noFill/>
          <a:ln/>
        </p:spPr>
        <p:txBody>
          <a:bodyPr wrap="square" lIns="0" tIns="0" rIns="0" bIns="0" rtlCol="0" anchor="t"/>
          <a:lstStyle/>
          <a:p>
            <a:pPr indent="0" marL="0">
              <a:buNone/>
            </a:pPr>
            <a:r>
              <a:rPr lang="en-US" sz="1300" dirty="0">
                <a:solidFill>
                  <a:srgbClr val="5F6B7A"/>
                </a:solidFill>
              </a:rPr>
              <a:t>A constant along-orbit pull, from 1 AU to 2.7 AU</a:t>
            </a:r>
            <a:endParaRPr lang="en-US" sz="1300" dirty="0"/>
          </a:p>
        </p:txBody>
      </p:sp>
      <p:sp>
        <p:nvSpPr>
          <p:cNvPr id="27" name="Text 21"/>
          <p:cNvSpPr txBox="1"/>
          <p:nvPr/>
        </p:nvSpPr>
        <p:spPr>
          <a:xfrm>
            <a:off x="8275320" y="3566160"/>
            <a:ext cx="3108960"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8,004 years by hand</a:t>
            </a:r>
            <a:endParaRPr lang="en-US" sz="2000" dirty="0"/>
          </a:p>
        </p:txBody>
      </p:sp>
      <p:sp>
        <p:nvSpPr>
          <p:cNvPr id="28" name="Text 22"/>
          <p:cNvSpPr txBox="1"/>
          <p:nvPr/>
        </p:nvSpPr>
        <p:spPr>
          <a:xfrm>
            <a:off x="8275320" y="4069080"/>
            <a:ext cx="3108960" cy="777240"/>
          </a:xfrm>
          <a:prstGeom prst="rect">
            <a:avLst/>
          </a:prstGeom>
          <a:noFill/>
          <a:ln/>
        </p:spPr>
        <p:txBody>
          <a:bodyPr wrap="square" lIns="0" tIns="0" rIns="0" bIns="0" rtlCol="0" anchor="t"/>
          <a:lstStyle/>
          <a:p>
            <a:pPr indent="0" marL="0">
              <a:buNone/>
            </a:pPr>
            <a:r>
              <a:rPr lang="en-US" sz="1300" dirty="0">
                <a:solidFill>
                  <a:schemeClr val="tx1"/>
                </a:solidFill>
              </a:rPr>
              <a:t>8,758 simulated: the tow eases off for Mars and trims Earth's orbit on arrival</a:t>
            </a:r>
            <a:endParaRPr lang="en-US" sz="1300" dirty="0"/>
          </a:p>
        </p:txBody>
      </p:sp>
      <p:sp>
        <p:nvSpPr>
          <p:cNvPr id="29" name="strip 1"/>
          <p:cNvSpPr/>
          <p:nvPr/>
        </p:nvSpPr>
        <p:spPr>
          <a:xfrm>
            <a:off x="548640" y="5166360"/>
            <a:ext cx="5440680" cy="914400"/>
          </a:xfrm>
          <a:prstGeom prst="roundRect">
            <a:avLst>
              <a:gd name="adj" fmla="val 12000"/>
            </a:avLst>
          </a:prstGeom>
          <a:solidFill>
            <a:srgbClr val="FDF3DC"/>
          </a:solidFill>
          <a:ln w="12700">
            <a:solidFill>
              <a:srgbClr val="FDF3DC"/>
            </a:solidFill>
            <a:prstDash val="solid"/>
          </a:ln>
        </p:spPr>
      </p:sp>
      <p:sp>
        <p:nvSpPr>
          <p:cNvPr id="30" name="Text 24"/>
          <p:cNvSpPr txBox="1"/>
          <p:nvPr/>
        </p:nvSpPr>
        <p:spPr>
          <a:xfrm>
            <a:off x="731520" y="5212080"/>
            <a:ext cx="5120640" cy="822960"/>
          </a:xfrm>
          <a:prstGeom prst="rect">
            <a:avLst/>
          </a:prstGeom>
          <a:noFill/>
          <a:ln/>
        </p:spPr>
        <p:txBody>
          <a:bodyPr wrap="square" lIns="0" tIns="0" rIns="0" bIns="0" rtlCol="0" anchor="ctr"/>
          <a:lstStyle/>
          <a:p>
            <a:pPr indent="0" marL="0">
              <a:buNone/>
            </a:pPr>
            <a:r>
              <a:rPr lang="en-US" sz="1300" b="1" dirty="0">
                <a:solidFill>
                  <a:schemeClr val="tx1"/>
                </a:solidFill>
              </a:rPr>
              <a:t>Energy check. </a:t>
            </a:r>
            <a:pPr indent="0" marL="0">
              <a:buNone/>
            </a:pPr>
            <a:r>
              <a:rPr lang="en-US" sz="1300" dirty="0">
                <a:solidFill>
                  <a:schemeClr val="tx1"/>
                </a:solidFill>
              </a:rPr>
              <a:t>Earth's orbit needs 1.69×10</a:t>
            </a:r>
            <a:pPr indent="0" marL="0">
              <a:buNone/>
            </a:pPr>
            <a:r>
              <a:rPr lang="en-US" sz="1300" baseline="30000" dirty="0">
                <a:solidFill>
                  <a:schemeClr val="tx1"/>
                </a:solidFill>
              </a:rPr>
              <a:t>33</a:t>
            </a:r>
            <a:pPr indent="0" marL="0">
              <a:buNone/>
            </a:pPr>
            <a:r>
              <a:rPr lang="en-US" sz="1300" dirty="0">
                <a:solidFill>
                  <a:schemeClr val="tx1"/>
                </a:solidFill>
              </a:rPr>
              <a:t> J. The beams did 1.7969×10</a:t>
            </a:r>
            <a:pPr indent="0" marL="0">
              <a:buNone/>
            </a:pPr>
            <a:r>
              <a:rPr lang="en-US" sz="1300" baseline="30000" dirty="0">
                <a:solidFill>
                  <a:schemeClr val="tx1"/>
                </a:solidFill>
              </a:rPr>
              <a:t>33</a:t>
            </a:r>
            <a:pPr indent="0" marL="0">
              <a:buNone/>
            </a:pPr>
            <a:r>
              <a:rPr lang="en-US" sz="1300" dirty="0">
                <a:solidFill>
                  <a:schemeClr val="tx1"/>
                </a:solidFill>
              </a:rPr>
              <a:t> J of work and the bodies gained 1.7970×10</a:t>
            </a:r>
            <a:pPr indent="0" marL="0">
              <a:buNone/>
            </a:pPr>
            <a:r>
              <a:rPr lang="en-US" sz="1300" baseline="30000" dirty="0">
                <a:solidFill>
                  <a:schemeClr val="tx1"/>
                </a:solidFill>
              </a:rPr>
              <a:t>33</a:t>
            </a:r>
            <a:pPr indent="0" marL="0">
              <a:buNone/>
            </a:pPr>
            <a:r>
              <a:rPr lang="en-US" sz="1300" dirty="0">
                <a:solidFill>
                  <a:schemeClr val="tx1"/>
                </a:solidFill>
              </a:rPr>
              <a:t> J (Mars included): a 0.007% match.</a:t>
            </a:r>
            <a:endParaRPr lang="en-US" sz="1300" dirty="0"/>
          </a:p>
        </p:txBody>
      </p:sp>
      <p:sp>
        <p:nvSpPr>
          <p:cNvPr id="31" name="strip 2"/>
          <p:cNvSpPr/>
          <p:nvPr/>
        </p:nvSpPr>
        <p:spPr>
          <a:xfrm>
            <a:off x="6172200" y="5166360"/>
            <a:ext cx="5440680" cy="914400"/>
          </a:xfrm>
          <a:prstGeom prst="roundRect">
            <a:avLst>
              <a:gd name="adj" fmla="val 12000"/>
            </a:avLst>
          </a:prstGeom>
          <a:solidFill>
            <a:srgbClr val="FDF3DC"/>
          </a:solidFill>
          <a:ln w="12700">
            <a:solidFill>
              <a:srgbClr val="FDF3DC"/>
            </a:solidFill>
            <a:prstDash val="solid"/>
          </a:ln>
        </p:spPr>
      </p:sp>
      <p:sp>
        <p:nvSpPr>
          <p:cNvPr id="32" name="Text 26"/>
          <p:cNvSpPr txBox="1"/>
          <p:nvPr/>
        </p:nvSpPr>
        <p:spPr>
          <a:xfrm>
            <a:off x="6355080" y="5212080"/>
            <a:ext cx="5120640" cy="822960"/>
          </a:xfrm>
          <a:prstGeom prst="rect">
            <a:avLst/>
          </a:prstGeom>
          <a:noFill/>
          <a:ln/>
        </p:spPr>
        <p:txBody>
          <a:bodyPr wrap="square" lIns="0" tIns="0" rIns="0" bIns="0" rtlCol="0" anchor="ctr"/>
          <a:lstStyle/>
          <a:p>
            <a:pPr indent="0" marL="0">
              <a:buNone/>
            </a:pPr>
            <a:r>
              <a:rPr lang="en-US" sz="1300" b="1" dirty="0">
                <a:solidFill>
                  <a:schemeClr val="tx1"/>
                </a:solidFill>
              </a:rPr>
              <a:t>Why 10</a:t>
            </a:r>
            <a:pPr indent="0" marL="0">
              <a:buNone/>
            </a:pPr>
            <a:r>
              <a:rPr lang="en-US" sz="1300" b="1" baseline="30000" dirty="0">
                <a:solidFill>
                  <a:schemeClr val="tx1"/>
                </a:solidFill>
              </a:rPr>
              <a:t>26</a:t>
            </a:r>
            <a:pPr indent="0" marL="0">
              <a:buNone/>
            </a:pPr>
            <a:r>
              <a:rPr lang="en-US" sz="1300" b="1" dirty="0">
                <a:solidFill>
                  <a:schemeClr val="tx1"/>
                </a:solidFill>
              </a:rPr>
              <a:t> W? </a:t>
            </a:r>
            <a:pPr indent="0" marL="0">
              <a:buNone/>
            </a:pPr>
            <a:r>
              <a:rPr lang="en-US" sz="1300" dirty="0">
                <a:solidFill>
                  <a:schemeClr val="tx1"/>
                </a:solidFill>
              </a:rPr>
              <a:t>Light carries only P/c of momentum. The work it does is the energy it loses to Doppler shift off the moving mirror: about v/c ≈ 10</a:t>
            </a:r>
            <a:pPr indent="0" marL="0">
              <a:buNone/>
            </a:pPr>
            <a:r>
              <a:rPr lang="en-US" sz="1300" baseline="30000" dirty="0">
                <a:solidFill>
                  <a:schemeClr val="tx1"/>
                </a:solidFill>
              </a:rPr>
              <a:t>−4</a:t>
            </a:r>
            <a:pPr indent="0" marL="0">
              <a:buNone/>
            </a:pPr>
            <a:r>
              <a:rPr lang="en-US" sz="1300" dirty="0">
                <a:solidFill>
                  <a:schemeClr val="tx1"/>
                </a:solidFill>
              </a:rPr>
              <a:t> of the light.</a:t>
            </a:r>
            <a:endParaRPr lang="en-US" sz="13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600" b="1" dirty="0">
                <a:solidFill>
                  <a:schemeClr val="tx1"/>
                </a:solidFill>
              </a:rPr>
              <a:t>Three enablers, each with a hard limit</a:t>
            </a:r>
            <a:endParaRPr lang="en-US" sz="3600" dirty="0"/>
          </a:p>
        </p:txBody>
      </p:sp>
      <p:sp>
        <p:nvSpPr>
          <p:cNvPr id="3" name="Map button">
            <a:hlinkClick r:id="rId1"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1"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4" name="Map icon" descr="preencoded.png">
            <a:hlinkClick r:id="rId3" tooltip="Back to the map" action="ppaction://hlinksldjump"/>
          </p:cNvPr>
          <p:cNvPicPr>
            <a:picLocks noChangeAspect="1"/>
          </p:cNvPicPr>
          <p:nvPr/>
        </p:nvPicPr>
        <p:blipFill>
          <a:blip r:embed="rId2"/>
          <a:stretch>
            <a:fillRect/>
          </a:stretch>
        </p:blipFill>
        <p:spPr>
          <a:xfrm>
            <a:off x="10972800" y="475488"/>
            <a:ext cx="201168" cy="201168"/>
          </a:xfrm>
          <a:prstGeom prst="rect">
            <a:avLst/>
          </a:prstGeom>
        </p:spPr>
      </p:pic>
      <p:sp>
        <p:nvSpPr>
          <p:cNvPr id="5" name="E1 card">
            <a:hlinkClick r:id="rId4" tooltip="Open the details" action="ppaction://hlinksldjump"/>
          </p:cNvPr>
          <p:cNvSpPr/>
          <p:nvPr/>
        </p:nvSpPr>
        <p:spPr>
          <a:xfrm>
            <a:off x="548640" y="1371600"/>
            <a:ext cx="3520440" cy="4343400"/>
          </a:xfrm>
          <a:prstGeom prst="roundRect">
            <a:avLst>
              <a:gd name="adj" fmla="val 3117"/>
            </a:avLst>
          </a:prstGeom>
          <a:solidFill>
            <a:srgbClr val="F1F3F6"/>
          </a:solidFill>
          <a:ln w="12700">
            <a:solidFill>
              <a:srgbClr val="F1F3F6"/>
            </a:solidFill>
            <a:prstDash val="solid"/>
          </a:ln>
        </p:spPr>
      </p:sp>
      <p:sp>
        <p:nvSpPr>
          <p:cNvPr id="6" name="Text 3">
            <a:hlinkClick r:id="rId5" tooltip="Open the details" action="ppaction://hlinksldjump"/>
          </p:cNvPr>
          <p:cNvSpPr/>
          <p:nvPr/>
        </p:nvSpPr>
        <p:spPr>
          <a:xfrm>
            <a:off x="777240" y="1572768"/>
            <a:ext cx="640080" cy="640080"/>
          </a:xfrm>
          <a:prstGeom prst="ellipse">
            <a:avLst/>
          </a:prstGeom>
          <a:solidFill>
            <a:srgbClr val="E8A317"/>
          </a:solidFill>
          <a:ln>
            <a:solidFill>
              <a:srgbClr val="E8A317"/>
            </a:solidFill>
          </a:ln>
        </p:spPr>
        <p:txBody>
          <a:bodyPr wrap="square" lIns="0" tIns="0" rIns="0" bIns="0" rtlCol="0" anchor="ctr"/>
          <a:lstStyle/>
          <a:p>
            <a:pPr algn="ctr" indent="0" marL="0">
              <a:buNone/>
            </a:pPr>
            <a:r>
              <a:rPr lang="en-US" sz="1800" b="1" u="sng" dirty="0">
                <a:solidFill>
                  <a:schemeClr val="bg1"/>
                </a:solidFill>
                <a:hlinkClick r:id="rId5" action="ppaction://hlinksldjump" tooltip="Open the details">
                  <a:extLst>
                    <a:ext uri="{A12FA001-AC4F-418D-AE19-62706E023703}">
                      <ahyp:hlinkClr xmlns:ahyp="http://schemas.microsoft.com/office/drawing/2018/hyperlinkcolor" val="tx"/>
                    </a:ext>
                  </a:extLst>
                </a:hlinkClick>
              </a:rPr>
              <a:t>E1</a:t>
            </a:r>
            <a:endParaRPr lang="en-US" sz="1800" dirty="0"/>
          </a:p>
        </p:txBody>
      </p:sp>
      <p:sp>
        <p:nvSpPr>
          <p:cNvPr id="7" name="Text 4"/>
          <p:cNvSpPr txBox="1"/>
          <p:nvPr/>
        </p:nvSpPr>
        <p:spPr>
          <a:xfrm>
            <a:off x="1554480" y="1572768"/>
            <a:ext cx="2377440" cy="640080"/>
          </a:xfrm>
          <a:prstGeom prst="rect">
            <a:avLst/>
          </a:prstGeom>
          <a:noFill/>
          <a:ln/>
        </p:spPr>
        <p:txBody>
          <a:bodyPr wrap="square" lIns="0" tIns="0" rIns="0" bIns="0" rtlCol="0" anchor="ctr"/>
          <a:lstStyle/>
          <a:p>
            <a:pPr indent="0" marL="0">
              <a:buNone/>
            </a:pPr>
            <a:r>
              <a:rPr lang="en-US" sz="1700" b="1" dirty="0">
                <a:solidFill>
                  <a:schemeClr val="tx1"/>
                </a:solidFill>
              </a:rPr>
              <a:t>Focused light</a:t>
            </a:r>
            <a:endParaRPr lang="en-US" sz="1700" dirty="0"/>
          </a:p>
        </p:txBody>
      </p:sp>
      <p:sp>
        <p:nvSpPr>
          <p:cNvPr id="8" name="Text 5"/>
          <p:cNvSpPr txBox="1"/>
          <p:nvPr/>
        </p:nvSpPr>
        <p:spPr>
          <a:xfrm>
            <a:off x="777240" y="2377440"/>
            <a:ext cx="3108960" cy="731520"/>
          </a:xfrm>
          <a:prstGeom prst="rect">
            <a:avLst/>
          </a:prstGeom>
          <a:noFill/>
          <a:ln/>
        </p:spPr>
        <p:txBody>
          <a:bodyPr wrap="square" lIns="0" tIns="0" rIns="0" bIns="0" rtlCol="0" anchor="t"/>
          <a:lstStyle/>
          <a:p>
            <a:pPr indent="0" marL="0">
              <a:buNone/>
            </a:pPr>
            <a:r>
              <a:rPr lang="en-US" sz="1200" b="1" dirty="0">
                <a:solidFill>
                  <a:srgbClr val="5F6B7A"/>
                </a:solidFill>
              </a:rPr>
              <a:t>Allowed as</a:t>
            </a:r>
            <a:endParaRPr lang="en-US" sz="1200" dirty="0"/>
          </a:p>
          <a:p>
            <a:pPr indent="0" marL="0">
              <a:buNone/>
            </a:pPr>
            <a:r>
              <a:rPr lang="en-US" sz="1300" dirty="0">
                <a:solidFill>
                  <a:schemeClr val="tx1"/>
                </a:solidFill>
              </a:rPr>
              <a:t>Power source of a stated wattage (guide §7)</a:t>
            </a:r>
            <a:endParaRPr lang="en-US" sz="1200" dirty="0"/>
          </a:p>
        </p:txBody>
      </p:sp>
      <p:sp>
        <p:nvSpPr>
          <p:cNvPr id="9" name="Text 6"/>
          <p:cNvSpPr txBox="1"/>
          <p:nvPr/>
        </p:nvSpPr>
        <p:spPr>
          <a:xfrm>
            <a:off x="777240" y="3108960"/>
            <a:ext cx="3108960" cy="685800"/>
          </a:xfrm>
          <a:prstGeom prst="rect">
            <a:avLst/>
          </a:prstGeom>
          <a:noFill/>
          <a:ln/>
        </p:spPr>
        <p:txBody>
          <a:bodyPr wrap="square" lIns="0" tIns="0" rIns="0" bIns="0" rtlCol="0" anchor="t"/>
          <a:lstStyle/>
          <a:p>
            <a:pPr indent="0" marL="0">
              <a:buNone/>
            </a:pPr>
            <a:r>
              <a:rPr lang="en-US" sz="1200" b="1" dirty="0">
                <a:solidFill>
                  <a:srgbClr val="5F6B7A"/>
                </a:solidFill>
              </a:rPr>
              <a:t>Bound</a:t>
            </a:r>
            <a:endParaRPr lang="en-US" sz="1200" dirty="0"/>
          </a:p>
          <a:p>
            <a:pPr indent="0" marL="0">
              <a:buNone/>
            </a:pPr>
            <a:r>
              <a:rPr lang="en-US" sz="1400" b="1" dirty="0">
                <a:solidFill>
                  <a:schemeClr val="tx1"/>
                </a:solidFill>
              </a:rPr>
              <a:t>≤ 10</a:t>
            </a:r>
            <a:pPr indent="0" marL="0">
              <a:buNone/>
            </a:pPr>
            <a:r>
              <a:rPr lang="en-US" sz="1400" b="1" baseline="30000" dirty="0">
                <a:solidFill>
                  <a:schemeClr val="tx1"/>
                </a:solidFill>
              </a:rPr>
              <a:t>26</a:t>
            </a:r>
            <a:pPr indent="0" marL="0">
              <a:buNone/>
            </a:pPr>
            <a:r>
              <a:rPr lang="en-US" sz="1400" b="1" dirty="0">
                <a:solidFill>
                  <a:schemeClr val="tx1"/>
                </a:solidFill>
              </a:rPr>
              <a:t> W in total</a:t>
            </a:r>
            <a:endParaRPr lang="en-US" sz="1200" dirty="0"/>
          </a:p>
        </p:txBody>
      </p:sp>
      <p:sp>
        <p:nvSpPr>
          <p:cNvPr id="10" name="E1 meter"/>
          <p:cNvSpPr/>
          <p:nvPr/>
        </p:nvSpPr>
        <p:spPr>
          <a:xfrm>
            <a:off x="777240" y="3886200"/>
            <a:ext cx="3063240" cy="182880"/>
          </a:xfrm>
          <a:prstGeom prst="roundRect">
            <a:avLst>
              <a:gd name="adj" fmla="val 50000"/>
            </a:avLst>
          </a:prstGeom>
          <a:solidFill>
            <a:srgbClr val="D9DEE5"/>
          </a:solidFill>
          <a:ln w="12700">
            <a:solidFill>
              <a:srgbClr val="D9DEE5"/>
            </a:solidFill>
            <a:prstDash val="solid"/>
          </a:ln>
        </p:spPr>
      </p:sp>
      <p:sp>
        <p:nvSpPr>
          <p:cNvPr id="11" name="E1 meter fill"/>
          <p:cNvSpPr/>
          <p:nvPr/>
        </p:nvSpPr>
        <p:spPr>
          <a:xfrm>
            <a:off x="777240" y="3886200"/>
            <a:ext cx="2839835" cy="182880"/>
          </a:xfrm>
          <a:prstGeom prst="roundRect">
            <a:avLst>
              <a:gd name="adj" fmla="val 50000"/>
            </a:avLst>
          </a:prstGeom>
          <a:solidFill>
            <a:srgbClr val="E8A317"/>
          </a:solidFill>
          <a:ln w="12700">
            <a:solidFill>
              <a:srgbClr val="E8A317"/>
            </a:solidFill>
            <a:prstDash val="solid"/>
          </a:ln>
        </p:spPr>
      </p:sp>
      <p:sp>
        <p:nvSpPr>
          <p:cNvPr id="12" name="Text 9"/>
          <p:cNvSpPr txBox="1"/>
          <p:nvPr/>
        </p:nvSpPr>
        <p:spPr>
          <a:xfrm>
            <a:off x="777240" y="4114800"/>
            <a:ext cx="3108960" cy="320040"/>
          </a:xfrm>
          <a:prstGeom prst="rect">
            <a:avLst/>
          </a:prstGeom>
          <a:noFill/>
          <a:ln/>
        </p:spPr>
        <p:txBody>
          <a:bodyPr wrap="square" lIns="0" tIns="0" rIns="0" bIns="0" rtlCol="0" anchor="ctr"/>
          <a:lstStyle/>
          <a:p>
            <a:pPr indent="0" marL="0">
              <a:buNone/>
            </a:pPr>
            <a:r>
              <a:rPr lang="en-US" sz="1200" dirty="0">
                <a:solidFill>
                  <a:schemeClr val="tx1"/>
                </a:solidFill>
              </a:rPr>
              <a:t>Used: peak 9.27×10</a:t>
            </a:r>
            <a:pPr indent="0" marL="0">
              <a:buNone/>
            </a:pPr>
            <a:r>
              <a:rPr lang="en-US" sz="1200" baseline="30000" dirty="0">
                <a:solidFill>
                  <a:schemeClr val="tx1"/>
                </a:solidFill>
              </a:rPr>
              <a:t>25</a:t>
            </a:r>
            <a:pPr indent="0" marL="0">
              <a:buNone/>
            </a:pPr>
            <a:r>
              <a:rPr lang="en-US" sz="1200" dirty="0">
                <a:solidFill>
                  <a:schemeClr val="tx1"/>
                </a:solidFill>
              </a:rPr>
              <a:t> W (93% of the bound)</a:t>
            </a:r>
            <a:endParaRPr lang="en-US" sz="1200" dirty="0"/>
          </a:p>
        </p:txBody>
      </p:sp>
      <p:sp>
        <p:nvSpPr>
          <p:cNvPr id="13" name="Text 10"/>
          <p:cNvSpPr txBox="1"/>
          <p:nvPr/>
        </p:nvSpPr>
        <p:spPr>
          <a:xfrm>
            <a:off x="777240" y="4480560"/>
            <a:ext cx="3108960" cy="822960"/>
          </a:xfrm>
          <a:prstGeom prst="rect">
            <a:avLst/>
          </a:prstGeom>
          <a:noFill/>
          <a:ln/>
        </p:spPr>
        <p:txBody>
          <a:bodyPr wrap="square" lIns="0" tIns="0" rIns="0" bIns="0" rtlCol="0" anchor="t"/>
          <a:lstStyle/>
          <a:p>
            <a:pPr indent="0" marL="0">
              <a:buNone/>
            </a:pPr>
            <a:r>
              <a:rPr lang="en-US" sz="1200" dirty="0">
                <a:solidFill>
                  <a:schemeClr val="tx1"/>
                </a:solidFill>
              </a:rPr>
              <a:t>Light pressure has flown: IKAROS, LightSail 2. Laser sails (Starshot) and laser asteroid defence (DE-STAR) are planned.</a:t>
            </a:r>
            <a:endParaRPr lang="en-US" sz="1200" dirty="0"/>
          </a:p>
        </p:txBody>
      </p:sp>
      <p:sp>
        <p:nvSpPr>
          <p:cNvPr id="14" name="Text 11">
            <a:hlinkClick r:id="rId6" tooltip="Open the details" action="ppaction://hlinksldjump"/>
          </p:cNvPr>
          <p:cNvSpPr/>
          <p:nvPr/>
        </p:nvSpPr>
        <p:spPr>
          <a:xfrm>
            <a:off x="2697480" y="5330952"/>
            <a:ext cx="1188720" cy="292608"/>
          </a:xfrm>
          <a:prstGeom prst="rect">
            <a:avLst/>
          </a:prstGeom>
          <a:noFill/>
          <a:ln/>
        </p:spPr>
        <p:txBody>
          <a:bodyPr wrap="square" lIns="0" tIns="0" rIns="0" bIns="0" rtlCol="0" anchor="ctr"/>
          <a:lstStyle/>
          <a:p>
            <a:pPr algn="r" indent="0" marL="0">
              <a:buNone/>
            </a:pPr>
            <a:r>
              <a:rPr lang="en-US" sz="1300" b="1" u="sng" dirty="0">
                <a:solidFill>
                  <a:schemeClr val="accent2"/>
                </a:solidFill>
                <a:hlinkClick r:id="rId6" action="ppaction://hlinksldjump" tooltip="Open the details">
                  <a:extLst>
                    <a:ext uri="{A12FA001-AC4F-418D-AE19-62706E023703}">
                      <ahyp:hlinkClr xmlns:ahyp="http://schemas.microsoft.com/office/drawing/2018/hyperlinkcolor" val="tx"/>
                    </a:ext>
                  </a:extLst>
                </a:hlinkClick>
              </a:rPr>
              <a:t>Details →</a:t>
            </a:r>
            <a:endParaRPr lang="en-US" sz="1300" dirty="0"/>
          </a:p>
        </p:txBody>
      </p:sp>
      <p:sp>
        <p:nvSpPr>
          <p:cNvPr id="15" name="E2 card">
            <a:hlinkClick r:id="rId7" tooltip="Open the details" action="ppaction://hlinksldjump"/>
          </p:cNvPr>
          <p:cNvSpPr/>
          <p:nvPr/>
        </p:nvSpPr>
        <p:spPr>
          <a:xfrm>
            <a:off x="4297680" y="1371600"/>
            <a:ext cx="3520440" cy="4343400"/>
          </a:xfrm>
          <a:prstGeom prst="roundRect">
            <a:avLst>
              <a:gd name="adj" fmla="val 3117"/>
            </a:avLst>
          </a:prstGeom>
          <a:solidFill>
            <a:srgbClr val="F1F3F6"/>
          </a:solidFill>
          <a:ln w="12700">
            <a:solidFill>
              <a:srgbClr val="F1F3F6"/>
            </a:solidFill>
            <a:prstDash val="solid"/>
          </a:ln>
        </p:spPr>
      </p:sp>
      <p:sp>
        <p:nvSpPr>
          <p:cNvPr id="16" name="Text 13">
            <a:hlinkClick r:id="rId8" tooltip="Open the details" action="ppaction://hlinksldjump"/>
          </p:cNvPr>
          <p:cNvSpPr/>
          <p:nvPr/>
        </p:nvSpPr>
        <p:spPr>
          <a:xfrm>
            <a:off x="4526280" y="1572768"/>
            <a:ext cx="640080" cy="640080"/>
          </a:xfrm>
          <a:prstGeom prst="ellipse">
            <a:avLst/>
          </a:prstGeom>
          <a:solidFill>
            <a:srgbClr val="5B6B85"/>
          </a:solidFill>
          <a:ln>
            <a:solidFill>
              <a:srgbClr val="5B6B85"/>
            </a:solidFill>
          </a:ln>
        </p:spPr>
        <p:txBody>
          <a:bodyPr wrap="square" lIns="0" tIns="0" rIns="0" bIns="0" rtlCol="0" anchor="ctr"/>
          <a:lstStyle/>
          <a:p>
            <a:pPr algn="ctr" indent="0" marL="0">
              <a:buNone/>
            </a:pPr>
            <a:r>
              <a:rPr lang="en-US" sz="1800" b="1" u="sng" dirty="0">
                <a:solidFill>
                  <a:schemeClr val="bg1"/>
                </a:solidFill>
                <a:hlinkClick r:id="rId8" action="ppaction://hlinksldjump" tooltip="Open the details">
                  <a:extLst>
                    <a:ext uri="{A12FA001-AC4F-418D-AE19-62706E023703}">
                      <ahyp:hlinkClr xmlns:ahyp="http://schemas.microsoft.com/office/drawing/2018/hyperlinkcolor" val="tx"/>
                    </a:ext>
                  </a:extLst>
                </a:hlinkClick>
              </a:rPr>
              <a:t>E2</a:t>
            </a:r>
            <a:endParaRPr lang="en-US" sz="1800" dirty="0"/>
          </a:p>
        </p:txBody>
      </p:sp>
      <p:sp>
        <p:nvSpPr>
          <p:cNvPr id="17" name="Text 14"/>
          <p:cNvSpPr txBox="1"/>
          <p:nvPr/>
        </p:nvSpPr>
        <p:spPr>
          <a:xfrm>
            <a:off x="5303520" y="1572768"/>
            <a:ext cx="2377440" cy="640080"/>
          </a:xfrm>
          <a:prstGeom prst="rect">
            <a:avLst/>
          </a:prstGeom>
          <a:noFill/>
          <a:ln/>
        </p:spPr>
        <p:txBody>
          <a:bodyPr wrap="square" lIns="0" tIns="0" rIns="0" bIns="0" rtlCol="0" anchor="ctr"/>
          <a:lstStyle/>
          <a:p>
            <a:pPr indent="0" marL="0">
              <a:buNone/>
            </a:pPr>
            <a:r>
              <a:rPr lang="en-US" sz="1700" b="1" dirty="0">
                <a:solidFill>
                  <a:schemeClr val="tx1"/>
                </a:solidFill>
              </a:rPr>
              <a:t>Super-mirror material</a:t>
            </a:r>
            <a:endParaRPr lang="en-US" sz="1700" dirty="0"/>
          </a:p>
        </p:txBody>
      </p:sp>
      <p:sp>
        <p:nvSpPr>
          <p:cNvPr id="18" name="Text 15"/>
          <p:cNvSpPr txBox="1"/>
          <p:nvPr/>
        </p:nvSpPr>
        <p:spPr>
          <a:xfrm>
            <a:off x="4526280" y="2377440"/>
            <a:ext cx="3108960" cy="731520"/>
          </a:xfrm>
          <a:prstGeom prst="rect">
            <a:avLst/>
          </a:prstGeom>
          <a:noFill/>
          <a:ln/>
        </p:spPr>
        <p:txBody>
          <a:bodyPr wrap="square" lIns="0" tIns="0" rIns="0" bIns="0" rtlCol="0" anchor="t"/>
          <a:lstStyle/>
          <a:p>
            <a:pPr indent="0" marL="0">
              <a:buNone/>
            </a:pPr>
            <a:r>
              <a:rPr lang="en-US" sz="1200" b="1" dirty="0">
                <a:solidFill>
                  <a:srgbClr val="5F6B7A"/>
                </a:solidFill>
              </a:rPr>
              <a:t>Allowed as</a:t>
            </a:r>
            <a:endParaRPr lang="en-US" sz="1200" dirty="0"/>
          </a:p>
          <a:p>
            <a:pPr indent="0" marL="0">
              <a:buNone/>
            </a:pPr>
            <a:r>
              <a:rPr lang="en-US" sz="1300" dirty="0">
                <a:solidFill>
                  <a:schemeClr val="tx1"/>
                </a:solidFill>
              </a:rPr>
              <a:t>Ideal nanotube or graphene, 50–130 GPa (guide §7)</a:t>
            </a:r>
            <a:endParaRPr lang="en-US" sz="1200" dirty="0"/>
          </a:p>
        </p:txBody>
      </p:sp>
      <p:sp>
        <p:nvSpPr>
          <p:cNvPr id="19" name="Text 16"/>
          <p:cNvSpPr txBox="1"/>
          <p:nvPr/>
        </p:nvSpPr>
        <p:spPr>
          <a:xfrm>
            <a:off x="4526280" y="3108960"/>
            <a:ext cx="3108960" cy="685800"/>
          </a:xfrm>
          <a:prstGeom prst="rect">
            <a:avLst/>
          </a:prstGeom>
          <a:noFill/>
          <a:ln/>
        </p:spPr>
        <p:txBody>
          <a:bodyPr wrap="square" lIns="0" tIns="0" rIns="0" bIns="0" rtlCol="0" anchor="t"/>
          <a:lstStyle/>
          <a:p>
            <a:pPr indent="0" marL="0">
              <a:buNone/>
            </a:pPr>
            <a:r>
              <a:rPr lang="en-US" sz="1200" b="1" dirty="0">
                <a:solidFill>
                  <a:srgbClr val="5F6B7A"/>
                </a:solidFill>
              </a:rPr>
              <a:t>Bound</a:t>
            </a:r>
            <a:endParaRPr lang="en-US" sz="1200" dirty="0"/>
          </a:p>
          <a:p>
            <a:pPr indent="0" marL="0">
              <a:buNone/>
            </a:pPr>
            <a:r>
              <a:rPr lang="en-US" sz="1400" b="1" dirty="0">
                <a:solidFill>
                  <a:schemeClr val="tx1"/>
                </a:solidFill>
              </a:rPr>
              <a:t>100 GPa · absorbs 10</a:t>
            </a:r>
            <a:pPr indent="0" marL="0">
              <a:buNone/>
            </a:pPr>
            <a:r>
              <a:rPr lang="en-US" sz="1400" b="1" baseline="30000" dirty="0">
                <a:solidFill>
                  <a:schemeClr val="tx1"/>
                </a:solidFill>
              </a:rPr>
              <a:t>−7</a:t>
            </a:r>
            <a:pPr indent="0" marL="0">
              <a:buNone/>
            </a:pPr>
            <a:r>
              <a:rPr lang="en-US" sz="1400" b="1" dirty="0">
                <a:solidFill>
                  <a:schemeClr val="tx1"/>
                </a:solidFill>
              </a:rPr>
              <a:t> · ≤ 1,500 K</a:t>
            </a:r>
            <a:endParaRPr lang="en-US" sz="1200" dirty="0"/>
          </a:p>
        </p:txBody>
      </p:sp>
      <p:sp>
        <p:nvSpPr>
          <p:cNvPr id="20" name="E2 meter"/>
          <p:cNvSpPr/>
          <p:nvPr/>
        </p:nvSpPr>
        <p:spPr>
          <a:xfrm>
            <a:off x="4526280" y="3886200"/>
            <a:ext cx="3063240" cy="182880"/>
          </a:xfrm>
          <a:prstGeom prst="roundRect">
            <a:avLst>
              <a:gd name="adj" fmla="val 50000"/>
            </a:avLst>
          </a:prstGeom>
          <a:solidFill>
            <a:srgbClr val="D9DEE5"/>
          </a:solidFill>
          <a:ln w="12700">
            <a:solidFill>
              <a:srgbClr val="D9DEE5"/>
            </a:solidFill>
            <a:prstDash val="solid"/>
          </a:ln>
        </p:spPr>
      </p:sp>
      <p:sp>
        <p:nvSpPr>
          <p:cNvPr id="21" name="E2 meter fill"/>
          <p:cNvSpPr/>
          <p:nvPr/>
        </p:nvSpPr>
        <p:spPr>
          <a:xfrm>
            <a:off x="4526280" y="3886200"/>
            <a:ext cx="2992916" cy="182880"/>
          </a:xfrm>
          <a:prstGeom prst="roundRect">
            <a:avLst>
              <a:gd name="adj" fmla="val 50000"/>
            </a:avLst>
          </a:prstGeom>
          <a:solidFill>
            <a:srgbClr val="5B6B85"/>
          </a:solidFill>
          <a:ln w="12700">
            <a:solidFill>
              <a:srgbClr val="5B6B85"/>
            </a:solidFill>
            <a:prstDash val="solid"/>
          </a:ln>
        </p:spPr>
      </p:sp>
      <p:sp>
        <p:nvSpPr>
          <p:cNvPr id="22" name="Text 19"/>
          <p:cNvSpPr txBox="1"/>
          <p:nvPr/>
        </p:nvSpPr>
        <p:spPr>
          <a:xfrm>
            <a:off x="4526280" y="4114800"/>
            <a:ext cx="3108960" cy="320040"/>
          </a:xfrm>
          <a:prstGeom prst="rect">
            <a:avLst/>
          </a:prstGeom>
          <a:noFill/>
          <a:ln/>
        </p:spPr>
        <p:txBody>
          <a:bodyPr wrap="square" lIns="0" tIns="0" rIns="0" bIns="0" rtlCol="0" anchor="ctr"/>
          <a:lstStyle/>
          <a:p>
            <a:pPr indent="0" marL="0">
              <a:buNone/>
            </a:pPr>
            <a:r>
              <a:rPr lang="en-US" sz="1200" dirty="0">
                <a:solidFill>
                  <a:schemeClr val="tx1"/>
                </a:solidFill>
              </a:rPr>
              <a:t>Used: mirror 1,466 K at full power (98% of the bound)</a:t>
            </a:r>
            <a:endParaRPr lang="en-US" sz="1200" dirty="0"/>
          </a:p>
        </p:txBody>
      </p:sp>
      <p:sp>
        <p:nvSpPr>
          <p:cNvPr id="23" name="Text 20"/>
          <p:cNvSpPr txBox="1"/>
          <p:nvPr/>
        </p:nvSpPr>
        <p:spPr>
          <a:xfrm>
            <a:off x="4526280" y="4480560"/>
            <a:ext cx="3108960" cy="822960"/>
          </a:xfrm>
          <a:prstGeom prst="rect">
            <a:avLst/>
          </a:prstGeom>
          <a:noFill/>
          <a:ln/>
        </p:spPr>
        <p:txBody>
          <a:bodyPr wrap="square" lIns="0" tIns="0" rIns="0" bIns="0" rtlCol="0" anchor="t"/>
          <a:lstStyle/>
          <a:p>
            <a:pPr indent="0" marL="0">
              <a:buNone/>
            </a:pPr>
            <a:r>
              <a:rPr lang="en-US" sz="1200" dirty="0">
                <a:solidFill>
                  <a:schemeClr val="tx1"/>
                </a:solidFill>
              </a:rPr>
              <a:t>Strongest nanotube measured: 63 GPa (Yu 2000); graphene 130 GPa (Lee 2008). LIGO's mirror coatings absorb under 10</a:t>
            </a:r>
            <a:pPr indent="0" marL="0">
              <a:buNone/>
            </a:pPr>
            <a:r>
              <a:rPr lang="en-US" sz="1200" baseline="30000" dirty="0">
                <a:solidFill>
                  <a:schemeClr val="tx1"/>
                </a:solidFill>
              </a:rPr>
              <a:t>−6</a:t>
            </a:r>
            <a:pPr indent="0" marL="0">
              <a:buNone/>
            </a:pPr>
            <a:r>
              <a:rPr lang="en-US" sz="1200" dirty="0">
                <a:solidFill>
                  <a:schemeClr val="tx1"/>
                </a:solidFill>
              </a:rPr>
              <a:t>.</a:t>
            </a:r>
            <a:endParaRPr lang="en-US" sz="1200" dirty="0"/>
          </a:p>
        </p:txBody>
      </p:sp>
      <p:sp>
        <p:nvSpPr>
          <p:cNvPr id="24" name="Text 21">
            <a:hlinkClick r:id="rId9" tooltip="Open the details" action="ppaction://hlinksldjump"/>
          </p:cNvPr>
          <p:cNvSpPr/>
          <p:nvPr/>
        </p:nvSpPr>
        <p:spPr>
          <a:xfrm>
            <a:off x="6446520" y="5330952"/>
            <a:ext cx="1188720" cy="292608"/>
          </a:xfrm>
          <a:prstGeom prst="rect">
            <a:avLst/>
          </a:prstGeom>
          <a:noFill/>
          <a:ln/>
        </p:spPr>
        <p:txBody>
          <a:bodyPr wrap="square" lIns="0" tIns="0" rIns="0" bIns="0" rtlCol="0" anchor="ctr"/>
          <a:lstStyle/>
          <a:p>
            <a:pPr algn="r" indent="0" marL="0">
              <a:buNone/>
            </a:pPr>
            <a:r>
              <a:rPr lang="en-US" sz="1300" b="1" u="sng" dirty="0">
                <a:solidFill>
                  <a:schemeClr val="accent2"/>
                </a:solidFill>
                <a:hlinkClick r:id="rId9" action="ppaction://hlinksldjump" tooltip="Open the details">
                  <a:extLst>
                    <a:ext uri="{A12FA001-AC4F-418D-AE19-62706E023703}">
                      <ahyp:hlinkClr xmlns:ahyp="http://schemas.microsoft.com/office/drawing/2018/hyperlinkcolor" val="tx"/>
                    </a:ext>
                  </a:extLst>
                </a:hlinkClick>
              </a:rPr>
              <a:t>Details →</a:t>
            </a:r>
            <a:endParaRPr lang="en-US" sz="1300" dirty="0"/>
          </a:p>
        </p:txBody>
      </p:sp>
      <p:sp>
        <p:nvSpPr>
          <p:cNvPr id="25" name="E3 card">
            <a:hlinkClick r:id="rId10" tooltip="Open the details" action="ppaction://hlinksldjump"/>
          </p:cNvPr>
          <p:cNvSpPr/>
          <p:nvPr/>
        </p:nvSpPr>
        <p:spPr>
          <a:xfrm>
            <a:off x="8046720" y="1371600"/>
            <a:ext cx="3520440" cy="4343400"/>
          </a:xfrm>
          <a:prstGeom prst="roundRect">
            <a:avLst>
              <a:gd name="adj" fmla="val 3117"/>
            </a:avLst>
          </a:prstGeom>
          <a:solidFill>
            <a:srgbClr val="F1F3F6"/>
          </a:solidFill>
          <a:ln w="12700">
            <a:solidFill>
              <a:srgbClr val="F1F3F6"/>
            </a:solidFill>
            <a:prstDash val="solid"/>
          </a:ln>
        </p:spPr>
      </p:sp>
      <p:sp>
        <p:nvSpPr>
          <p:cNvPr id="26" name="Text 23">
            <a:hlinkClick r:id="rId11" tooltip="Open the details" action="ppaction://hlinksldjump"/>
          </p:cNvPr>
          <p:cNvSpPr/>
          <p:nvPr/>
        </p:nvSpPr>
        <p:spPr>
          <a:xfrm>
            <a:off x="8275320" y="1572768"/>
            <a:ext cx="640080" cy="640080"/>
          </a:xfrm>
          <a:prstGeom prst="ellipse">
            <a:avLst/>
          </a:prstGeom>
          <a:solidFill>
            <a:srgbClr val="6250D6"/>
          </a:solidFill>
          <a:ln>
            <a:solidFill>
              <a:srgbClr val="6250D6"/>
            </a:solidFill>
          </a:ln>
        </p:spPr>
        <p:txBody>
          <a:bodyPr wrap="square" lIns="0" tIns="0" rIns="0" bIns="0" rtlCol="0" anchor="ctr"/>
          <a:lstStyle/>
          <a:p>
            <a:pPr algn="ctr" indent="0" marL="0">
              <a:buNone/>
            </a:pPr>
            <a:r>
              <a:rPr lang="en-US" sz="1800" b="1" u="sng" dirty="0">
                <a:solidFill>
                  <a:schemeClr val="bg1"/>
                </a:solidFill>
                <a:hlinkClick r:id="rId11" action="ppaction://hlinksldjump" tooltip="Open the details">
                  <a:extLst>
                    <a:ext uri="{A12FA001-AC4F-418D-AE19-62706E023703}">
                      <ahyp:hlinkClr xmlns:ahyp="http://schemas.microsoft.com/office/drawing/2018/hyperlinkcolor" val="tx"/>
                    </a:ext>
                  </a:extLst>
                </a:hlinkClick>
              </a:rPr>
              <a:t>E3</a:t>
            </a:r>
            <a:endParaRPr lang="en-US" sz="1800" dirty="0"/>
          </a:p>
        </p:txBody>
      </p:sp>
      <p:sp>
        <p:nvSpPr>
          <p:cNvPr id="27" name="Text 24"/>
          <p:cNvSpPr txBox="1"/>
          <p:nvPr/>
        </p:nvSpPr>
        <p:spPr>
          <a:xfrm>
            <a:off x="9052560" y="1572768"/>
            <a:ext cx="2377440" cy="640080"/>
          </a:xfrm>
          <a:prstGeom prst="rect">
            <a:avLst/>
          </a:prstGeom>
          <a:noFill/>
          <a:ln/>
        </p:spPr>
        <p:txBody>
          <a:bodyPr wrap="square" lIns="0" tIns="0" rIns="0" bIns="0" rtlCol="0" anchor="ctr"/>
          <a:lstStyle/>
          <a:p>
            <a:pPr indent="0" marL="0">
              <a:buNone/>
            </a:pPr>
            <a:r>
              <a:rPr lang="en-US" sz="1700" b="1" dirty="0">
                <a:solidFill>
                  <a:schemeClr val="tx1"/>
                </a:solidFill>
              </a:rPr>
              <a:t>Planet-scale manufacturing</a:t>
            </a:r>
            <a:endParaRPr lang="en-US" sz="1700" dirty="0"/>
          </a:p>
        </p:txBody>
      </p:sp>
      <p:sp>
        <p:nvSpPr>
          <p:cNvPr id="28" name="Text 25"/>
          <p:cNvSpPr txBox="1"/>
          <p:nvPr/>
        </p:nvSpPr>
        <p:spPr>
          <a:xfrm>
            <a:off x="8275320" y="2377440"/>
            <a:ext cx="3108960" cy="731520"/>
          </a:xfrm>
          <a:prstGeom prst="rect">
            <a:avLst/>
          </a:prstGeom>
          <a:noFill/>
          <a:ln/>
        </p:spPr>
        <p:txBody>
          <a:bodyPr wrap="square" lIns="0" tIns="0" rIns="0" bIns="0" rtlCol="0" anchor="t"/>
          <a:lstStyle/>
          <a:p>
            <a:pPr indent="0" marL="0">
              <a:buNone/>
            </a:pPr>
            <a:r>
              <a:rPr lang="en-US" sz="1200" b="1" dirty="0">
                <a:solidFill>
                  <a:srgbClr val="5F6B7A"/>
                </a:solidFill>
              </a:rPr>
              <a:t>Allowed as</a:t>
            </a:r>
            <a:endParaRPr lang="en-US" sz="1200" dirty="0"/>
          </a:p>
          <a:p>
            <a:pPr indent="0" marL="0">
              <a:buNone/>
            </a:pPr>
            <a:r>
              <a:rPr lang="en-US" sz="1300" dirty="0">
                <a:solidFill>
                  <a:schemeClr val="tx1"/>
                </a:solidFill>
              </a:rPr>
              <a:t>Asteroid of stated mass; built at the start (guide §7)</a:t>
            </a:r>
            <a:endParaRPr lang="en-US" sz="1200" dirty="0"/>
          </a:p>
        </p:txBody>
      </p:sp>
      <p:sp>
        <p:nvSpPr>
          <p:cNvPr id="29" name="Text 26"/>
          <p:cNvSpPr txBox="1"/>
          <p:nvPr/>
        </p:nvSpPr>
        <p:spPr>
          <a:xfrm>
            <a:off x="8275320" y="3108960"/>
            <a:ext cx="3108960" cy="685800"/>
          </a:xfrm>
          <a:prstGeom prst="rect">
            <a:avLst/>
          </a:prstGeom>
          <a:noFill/>
          <a:ln/>
        </p:spPr>
        <p:txBody>
          <a:bodyPr wrap="square" lIns="0" tIns="0" rIns="0" bIns="0" rtlCol="0" anchor="t"/>
          <a:lstStyle/>
          <a:p>
            <a:pPr indent="0" marL="0">
              <a:buNone/>
            </a:pPr>
            <a:r>
              <a:rPr lang="en-US" sz="1200" b="1" dirty="0">
                <a:solidFill>
                  <a:srgbClr val="5F6B7A"/>
                </a:solidFill>
              </a:rPr>
              <a:t>Bound</a:t>
            </a:r>
            <a:endParaRPr lang="en-US" sz="1200" dirty="0"/>
          </a:p>
          <a:p>
            <a:pPr indent="0" marL="0">
              <a:buNone/>
            </a:pPr>
            <a:r>
              <a:rPr lang="en-US" sz="1400" b="1" dirty="0">
                <a:solidFill>
                  <a:schemeClr val="tx1"/>
                </a:solidFill>
              </a:rPr>
              <a:t>asteroids ≤ 4×10</a:t>
            </a:r>
            <a:pPr indent="0" marL="0">
              <a:buNone/>
            </a:pPr>
            <a:r>
              <a:rPr lang="en-US" sz="1400" b="1" baseline="30000" dirty="0">
                <a:solidFill>
                  <a:schemeClr val="tx1"/>
                </a:solidFill>
              </a:rPr>
              <a:t>20</a:t>
            </a:r>
            <a:pPr indent="0" marL="0">
              <a:buNone/>
            </a:pPr>
            <a:r>
              <a:rPr lang="en-US" sz="1400" b="1" dirty="0">
                <a:solidFill>
                  <a:schemeClr val="tx1"/>
                </a:solidFill>
              </a:rPr>
              <a:t> kg each · optics ≤ 10</a:t>
            </a:r>
            <a:pPr indent="0" marL="0">
              <a:buNone/>
            </a:pPr>
            <a:r>
              <a:rPr lang="en-US" sz="1400" b="1" baseline="30000" dirty="0">
                <a:solidFill>
                  <a:schemeClr val="tx1"/>
                </a:solidFill>
              </a:rPr>
              <a:t>9</a:t>
            </a:r>
            <a:pPr indent="0" marL="0">
              <a:buNone/>
            </a:pPr>
            <a:r>
              <a:rPr lang="en-US" sz="1400" b="1" dirty="0">
                <a:solidFill>
                  <a:schemeClr val="tx1"/>
                </a:solidFill>
              </a:rPr>
              <a:t> km</a:t>
            </a:r>
            <a:pPr indent="0" marL="0">
              <a:buNone/>
            </a:pPr>
            <a:r>
              <a:rPr lang="en-US" sz="1400" b="1" baseline="30000" dirty="0">
                <a:solidFill>
                  <a:schemeClr val="tx1"/>
                </a:solidFill>
              </a:rPr>
              <a:t>2</a:t>
            </a:r>
            <a:endParaRPr lang="en-US" sz="1200" dirty="0"/>
          </a:p>
        </p:txBody>
      </p:sp>
      <p:sp>
        <p:nvSpPr>
          <p:cNvPr id="30" name="E3 meter"/>
          <p:cNvSpPr/>
          <p:nvPr/>
        </p:nvSpPr>
        <p:spPr>
          <a:xfrm>
            <a:off x="8275320" y="3886200"/>
            <a:ext cx="3063240" cy="182880"/>
          </a:xfrm>
          <a:prstGeom prst="roundRect">
            <a:avLst>
              <a:gd name="adj" fmla="val 50000"/>
            </a:avLst>
          </a:prstGeom>
          <a:solidFill>
            <a:srgbClr val="D9DEE5"/>
          </a:solidFill>
          <a:ln w="12700">
            <a:solidFill>
              <a:srgbClr val="D9DEE5"/>
            </a:solidFill>
            <a:prstDash val="solid"/>
          </a:ln>
        </p:spPr>
      </p:sp>
      <p:sp>
        <p:nvSpPr>
          <p:cNvPr id="31" name="E3 meter fill"/>
          <p:cNvSpPr/>
          <p:nvPr/>
        </p:nvSpPr>
        <p:spPr>
          <a:xfrm>
            <a:off x="8275320" y="3886200"/>
            <a:ext cx="2604813" cy="182880"/>
          </a:xfrm>
          <a:prstGeom prst="roundRect">
            <a:avLst>
              <a:gd name="adj" fmla="val 50000"/>
            </a:avLst>
          </a:prstGeom>
          <a:solidFill>
            <a:srgbClr val="6250D6"/>
          </a:solidFill>
          <a:ln w="12700">
            <a:solidFill>
              <a:srgbClr val="6250D6"/>
            </a:solidFill>
            <a:prstDash val="solid"/>
          </a:ln>
        </p:spPr>
      </p:sp>
      <p:sp>
        <p:nvSpPr>
          <p:cNvPr id="32" name="Text 29"/>
          <p:cNvSpPr txBox="1"/>
          <p:nvPr/>
        </p:nvSpPr>
        <p:spPr>
          <a:xfrm>
            <a:off x="8275320" y="4114800"/>
            <a:ext cx="3108960" cy="320040"/>
          </a:xfrm>
          <a:prstGeom prst="rect">
            <a:avLst/>
          </a:prstGeom>
          <a:noFill/>
          <a:ln/>
        </p:spPr>
        <p:txBody>
          <a:bodyPr wrap="square" lIns="0" tIns="0" rIns="0" bIns="0" rtlCol="0" anchor="ctr"/>
          <a:lstStyle/>
          <a:p>
            <a:pPr indent="0" marL="0">
              <a:buNone/>
            </a:pPr>
            <a:r>
              <a:rPr lang="en-US" sz="1200" dirty="0">
                <a:solidFill>
                  <a:schemeClr val="tx1"/>
                </a:solidFill>
              </a:rPr>
              <a:t>Used: optics 8.5×10</a:t>
            </a:r>
            <a:pPr indent="0" marL="0">
              <a:buNone/>
            </a:pPr>
            <a:r>
              <a:rPr lang="en-US" sz="1200" baseline="30000" dirty="0">
                <a:solidFill>
                  <a:schemeClr val="tx1"/>
                </a:solidFill>
              </a:rPr>
              <a:t>8</a:t>
            </a:r>
            <a:pPr indent="0" marL="0">
              <a:buNone/>
            </a:pPr>
            <a:r>
              <a:rPr lang="en-US" sz="1200" dirty="0">
                <a:solidFill>
                  <a:schemeClr val="tx1"/>
                </a:solidFill>
              </a:rPr>
              <a:t> km</a:t>
            </a:r>
            <a:pPr indent="0" marL="0">
              <a:buNone/>
            </a:pPr>
            <a:r>
              <a:rPr lang="en-US" sz="1200" baseline="30000" dirty="0">
                <a:solidFill>
                  <a:schemeClr val="tx1"/>
                </a:solidFill>
              </a:rPr>
              <a:t>2</a:t>
            </a:r>
            <a:pPr indent="0" marL="0">
              <a:buNone/>
            </a:pPr>
            <a:r>
              <a:rPr lang="en-US" sz="1200" dirty="0">
                <a:solidFill>
                  <a:schemeClr val="tx1"/>
                </a:solidFill>
              </a:rPr>
              <a:t> (85% of the bound)</a:t>
            </a:r>
            <a:endParaRPr lang="en-US" sz="1200" dirty="0"/>
          </a:p>
        </p:txBody>
      </p:sp>
      <p:sp>
        <p:nvSpPr>
          <p:cNvPr id="33" name="Text 30"/>
          <p:cNvSpPr txBox="1"/>
          <p:nvPr/>
        </p:nvSpPr>
        <p:spPr>
          <a:xfrm>
            <a:off x="8275320" y="4480560"/>
            <a:ext cx="3108960" cy="822960"/>
          </a:xfrm>
          <a:prstGeom prst="rect">
            <a:avLst/>
          </a:prstGeom>
          <a:noFill/>
          <a:ln/>
        </p:spPr>
        <p:txBody>
          <a:bodyPr wrap="square" lIns="0" tIns="0" rIns="0" bIns="0" rtlCol="0" anchor="t"/>
          <a:lstStyle/>
          <a:p>
            <a:pPr indent="0" marL="0">
              <a:buNone/>
            </a:pPr>
            <a:r>
              <a:rPr lang="en-US" sz="1200" dirty="0">
                <a:solidFill>
                  <a:schemeClr val="tx1"/>
                </a:solidFill>
              </a:rPr>
              <a:t>Tow asteroids are Vesta-class bodies. The sunlight optics follow Angel's L1 sunshade (PNAS 2006), used the other way round.</a:t>
            </a:r>
            <a:endParaRPr lang="en-US" sz="1200" dirty="0"/>
          </a:p>
        </p:txBody>
      </p:sp>
      <p:sp>
        <p:nvSpPr>
          <p:cNvPr id="34" name="Text 31">
            <a:hlinkClick r:id="rId12" tooltip="Open the details" action="ppaction://hlinksldjump"/>
          </p:cNvPr>
          <p:cNvSpPr/>
          <p:nvPr/>
        </p:nvSpPr>
        <p:spPr>
          <a:xfrm>
            <a:off x="10195560" y="5330952"/>
            <a:ext cx="1188720" cy="292608"/>
          </a:xfrm>
          <a:prstGeom prst="rect">
            <a:avLst/>
          </a:prstGeom>
          <a:noFill/>
          <a:ln/>
        </p:spPr>
        <p:txBody>
          <a:bodyPr wrap="square" lIns="0" tIns="0" rIns="0" bIns="0" rtlCol="0" anchor="ctr"/>
          <a:lstStyle/>
          <a:p>
            <a:pPr algn="r" indent="0" marL="0">
              <a:buNone/>
            </a:pPr>
            <a:r>
              <a:rPr lang="en-US" sz="1300" b="1" u="sng" dirty="0">
                <a:solidFill>
                  <a:schemeClr val="accent2"/>
                </a:solidFill>
                <a:hlinkClick r:id="rId12" action="ppaction://hlinksldjump" tooltip="Open the details">
                  <a:extLst>
                    <a:ext uri="{A12FA001-AC4F-418D-AE19-62706E023703}">
                      <ahyp:hlinkClr xmlns:ahyp="http://schemas.microsoft.com/office/drawing/2018/hyperlinkcolor" val="tx"/>
                    </a:ext>
                  </a:extLst>
                </a:hlinkClick>
              </a:rPr>
              <a:t>Details →</a:t>
            </a:r>
            <a:endParaRPr lang="en-US" sz="1300" dirty="0"/>
          </a:p>
        </p:txBody>
      </p:sp>
      <p:sp>
        <p:nvSpPr>
          <p:cNvPr id="35" name="Text 32"/>
          <p:cNvSpPr txBox="1"/>
          <p:nvPr/>
        </p:nvSpPr>
        <p:spPr>
          <a:xfrm>
            <a:off x="548640" y="5806440"/>
            <a:ext cx="11155680" cy="548640"/>
          </a:xfrm>
          <a:prstGeom prst="rect">
            <a:avLst/>
          </a:prstGeom>
          <a:noFill/>
          <a:ln/>
        </p:spPr>
        <p:txBody>
          <a:bodyPr wrap="square" lIns="0" tIns="0" rIns="0" bIns="0" rtlCol="0" anchor="ctr"/>
          <a:lstStyle/>
          <a:p>
            <a:pPr indent="0" marL="0">
              <a:buNone/>
            </a:pPr>
            <a:r>
              <a:rPr lang="en-US" sz="1300" dirty="0">
                <a:solidFill>
                  <a:schemeClr val="tx1"/>
                </a:solidFill>
              </a:rPr>
              <a:t>Declared at the mid-point and frozen since. None creates energy or momentum: E1's recoil and bounced light are booked. Every flag that relies on an enabler names it (6 during the journey, 2 in the million years after).</a:t>
            </a:r>
            <a:endParaRPr lang="en-US" sz="13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600" b="1" dirty="0">
                <a:solidFill>
                  <a:schemeClr val="tx1"/>
                </a:solidFill>
              </a:rPr>
              <a:t>The journey: 8,758 years, Mars first</a:t>
            </a:r>
            <a:endParaRPr lang="en-US" sz="3600" dirty="0"/>
          </a:p>
        </p:txBody>
      </p:sp>
      <p:sp>
        <p:nvSpPr>
          <p:cNvPr id="3" name="Map button">
            <a:hlinkClick r:id="rId1"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1"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4" name="Map icon" descr="preencoded.png">
            <a:hlinkClick r:id="rId3" tooltip="Back to the map" action="ppaction://hlinksldjump"/>
          </p:cNvPr>
          <p:cNvPicPr>
            <a:picLocks noChangeAspect="1"/>
          </p:cNvPicPr>
          <p:nvPr/>
        </p:nvPicPr>
        <p:blipFill>
          <a:blip r:embed="rId2"/>
          <a:stretch>
            <a:fillRect/>
          </a:stretch>
        </p:blipFill>
        <p:spPr>
          <a:xfrm>
            <a:off x="10972800" y="475488"/>
            <a:ext cx="201168" cy="201168"/>
          </a:xfrm>
          <a:prstGeom prst="rect">
            <a:avLst/>
          </a:prstGeom>
        </p:spPr>
      </p:pic>
      <p:graphicFrame>
        <p:nvGraphicFramePr>
          <p:cNvPr id="5" name="Chart 0" descr=""/>
          <p:cNvGraphicFramePr/>
          <p:nvPr/>
        </p:nvGraphicFramePr>
        <p:xfrm>
          <a:off x="548640" y="1325880"/>
          <a:ext cx="7406640" cy="4709160"/>
        </p:xfrm>
        <a:graphic xmlns:a="http://schemas.openxmlformats.org/drawingml/2006/main">
          <a:graphicData uri="http://schemas.openxmlformats.org/drawingml/2006/chart">
            <c:chart xmlns:c="http://schemas.openxmlformats.org/drawingml/2006/chart" r:id="rId4"/>
          </a:graphicData>
        </a:graphic>
      </p:graphicFrame>
      <p:sp>
        <p:nvSpPr>
          <p:cNvPr id="6" name="journey stat 1"/>
          <p:cNvSpPr/>
          <p:nvPr/>
        </p:nvSpPr>
        <p:spPr>
          <a:xfrm>
            <a:off x="8229600" y="1371600"/>
            <a:ext cx="3429000" cy="1051560"/>
          </a:xfrm>
          <a:prstGeom prst="roundRect">
            <a:avLst>
              <a:gd name="adj" fmla="val 10435"/>
            </a:avLst>
          </a:prstGeom>
          <a:solidFill>
            <a:srgbClr val="F1F3F6"/>
          </a:solidFill>
          <a:ln w="12700">
            <a:solidFill>
              <a:srgbClr val="F1F3F6"/>
            </a:solidFill>
            <a:prstDash val="solid"/>
          </a:ln>
        </p:spPr>
      </p:sp>
      <p:sp>
        <p:nvSpPr>
          <p:cNvPr id="7" name="key dot"/>
          <p:cNvSpPr/>
          <p:nvPr/>
        </p:nvSpPr>
        <p:spPr>
          <a:xfrm>
            <a:off x="8412480" y="1572768"/>
            <a:ext cx="201168" cy="201168"/>
          </a:xfrm>
          <a:prstGeom prst="ellipse">
            <a:avLst/>
          </a:prstGeom>
          <a:solidFill>
            <a:srgbClr val="EB6834"/>
          </a:solidFill>
          <a:ln w="12700">
            <a:solidFill>
              <a:srgbClr val="EB6834"/>
            </a:solidFill>
            <a:prstDash val="solid"/>
          </a:ln>
        </p:spPr>
      </p:sp>
      <p:sp>
        <p:nvSpPr>
          <p:cNvPr id="8" name="Text 4"/>
          <p:cNvSpPr txBox="1"/>
          <p:nvPr/>
        </p:nvSpPr>
        <p:spPr>
          <a:xfrm>
            <a:off x="8732520" y="1444752"/>
            <a:ext cx="28346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Year 5,168</a:t>
            </a:r>
            <a:endParaRPr lang="en-US" sz="2000" dirty="0"/>
          </a:p>
        </p:txBody>
      </p:sp>
      <p:sp>
        <p:nvSpPr>
          <p:cNvPr id="9" name="Text 5"/>
          <p:cNvSpPr txBox="1"/>
          <p:nvPr/>
        </p:nvSpPr>
        <p:spPr>
          <a:xfrm>
            <a:off x="8732520" y="1847088"/>
            <a:ext cx="2834640" cy="530352"/>
          </a:xfrm>
          <a:prstGeom prst="rect">
            <a:avLst/>
          </a:prstGeom>
          <a:noFill/>
          <a:ln/>
        </p:spPr>
        <p:txBody>
          <a:bodyPr wrap="square" lIns="0" tIns="0" rIns="0" bIns="0" rtlCol="0" anchor="t"/>
          <a:lstStyle/>
          <a:p>
            <a:pPr indent="0" marL="0">
              <a:buNone/>
            </a:pPr>
            <a:r>
              <a:rPr lang="en-US" sz="1200" dirty="0">
                <a:solidFill>
                  <a:schemeClr val="tx1"/>
                </a:solidFill>
              </a:rPr>
              <a:t>Mars parks at 3.6408 AU, past Jupiter's 2:1 resonance</a:t>
            </a:r>
            <a:endParaRPr lang="en-US" sz="1200" dirty="0"/>
          </a:p>
        </p:txBody>
      </p:sp>
      <p:sp>
        <p:nvSpPr>
          <p:cNvPr id="10" name="journey stat 2"/>
          <p:cNvSpPr/>
          <p:nvPr/>
        </p:nvSpPr>
        <p:spPr>
          <a:xfrm>
            <a:off x="8229600" y="2560320"/>
            <a:ext cx="3429000" cy="1051560"/>
          </a:xfrm>
          <a:prstGeom prst="roundRect">
            <a:avLst>
              <a:gd name="adj" fmla="val 10435"/>
            </a:avLst>
          </a:prstGeom>
          <a:solidFill>
            <a:srgbClr val="F1F3F6"/>
          </a:solidFill>
          <a:ln w="12700">
            <a:solidFill>
              <a:srgbClr val="F1F3F6"/>
            </a:solidFill>
            <a:prstDash val="solid"/>
          </a:ln>
        </p:spPr>
      </p:sp>
      <p:sp>
        <p:nvSpPr>
          <p:cNvPr id="11" name="key dot"/>
          <p:cNvSpPr/>
          <p:nvPr/>
        </p:nvSpPr>
        <p:spPr>
          <a:xfrm>
            <a:off x="8412480" y="2761488"/>
            <a:ext cx="201168" cy="201168"/>
          </a:xfrm>
          <a:prstGeom prst="ellipse">
            <a:avLst/>
          </a:prstGeom>
          <a:solidFill>
            <a:srgbClr val="2A78D6"/>
          </a:solidFill>
          <a:ln w="12700">
            <a:solidFill>
              <a:srgbClr val="2A78D6"/>
            </a:solidFill>
            <a:prstDash val="solid"/>
          </a:ln>
        </p:spPr>
      </p:sp>
      <p:sp>
        <p:nvSpPr>
          <p:cNvPr id="12" name="Text 8"/>
          <p:cNvSpPr txBox="1"/>
          <p:nvPr/>
        </p:nvSpPr>
        <p:spPr>
          <a:xfrm>
            <a:off x="8732520" y="2633472"/>
            <a:ext cx="28346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Year 8,758</a:t>
            </a:r>
            <a:endParaRPr lang="en-US" sz="2000" dirty="0"/>
          </a:p>
        </p:txBody>
      </p:sp>
      <p:sp>
        <p:nvSpPr>
          <p:cNvPr id="13" name="Text 9"/>
          <p:cNvSpPr txBox="1"/>
          <p:nvPr/>
        </p:nvSpPr>
        <p:spPr>
          <a:xfrm>
            <a:off x="8732520" y="3035808"/>
            <a:ext cx="2834640" cy="530352"/>
          </a:xfrm>
          <a:prstGeom prst="rect">
            <a:avLst/>
          </a:prstGeom>
          <a:noFill/>
          <a:ln/>
        </p:spPr>
        <p:txBody>
          <a:bodyPr wrap="square" lIns="0" tIns="0" rIns="0" bIns="0" rtlCol="0" anchor="t"/>
          <a:lstStyle/>
          <a:p>
            <a:pPr indent="0" marL="0">
              <a:buNone/>
            </a:pPr>
            <a:r>
              <a:rPr lang="en-US" sz="1200" dirty="0">
                <a:solidFill>
                  <a:schemeClr val="tx1"/>
                </a:solidFill>
              </a:rPr>
              <a:t>Earth arrives at 2.7006 AU, eccentricity 0.0331</a:t>
            </a:r>
            <a:endParaRPr lang="en-US" sz="1200" dirty="0"/>
          </a:p>
        </p:txBody>
      </p:sp>
      <p:sp>
        <p:nvSpPr>
          <p:cNvPr id="14" name="journey stat 3"/>
          <p:cNvSpPr/>
          <p:nvPr/>
        </p:nvSpPr>
        <p:spPr>
          <a:xfrm>
            <a:off x="8229600" y="3749040"/>
            <a:ext cx="3429000" cy="1051560"/>
          </a:xfrm>
          <a:prstGeom prst="roundRect">
            <a:avLst>
              <a:gd name="adj" fmla="val 10435"/>
            </a:avLst>
          </a:prstGeom>
          <a:solidFill>
            <a:srgbClr val="F1F3F6"/>
          </a:solidFill>
          <a:ln w="12700">
            <a:solidFill>
              <a:srgbClr val="F1F3F6"/>
            </a:solidFill>
            <a:prstDash val="solid"/>
          </a:ln>
        </p:spPr>
      </p:sp>
      <p:sp>
        <p:nvSpPr>
          <p:cNvPr id="15" name="key dot"/>
          <p:cNvSpPr/>
          <p:nvPr/>
        </p:nvSpPr>
        <p:spPr>
          <a:xfrm>
            <a:off x="8412480" y="3950208"/>
            <a:ext cx="201168" cy="201168"/>
          </a:xfrm>
          <a:prstGeom prst="ellipse">
            <a:avLst/>
          </a:prstGeom>
          <a:solidFill>
            <a:srgbClr val="15936A"/>
          </a:solidFill>
          <a:ln w="12700">
            <a:solidFill>
              <a:srgbClr val="15936A"/>
            </a:solidFill>
            <a:prstDash val="solid"/>
          </a:ln>
        </p:spPr>
      </p:sp>
      <p:sp>
        <p:nvSpPr>
          <p:cNvPr id="16" name="Text 12"/>
          <p:cNvSpPr txBox="1"/>
          <p:nvPr/>
        </p:nvSpPr>
        <p:spPr>
          <a:xfrm>
            <a:off x="8732520" y="3822192"/>
            <a:ext cx="28346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0.373 AU</a:t>
            </a:r>
            <a:endParaRPr lang="en-US" sz="2000" dirty="0"/>
          </a:p>
        </p:txBody>
      </p:sp>
      <p:sp>
        <p:nvSpPr>
          <p:cNvPr id="17" name="Text 13"/>
          <p:cNvSpPr txBox="1"/>
          <p:nvPr/>
        </p:nvSpPr>
        <p:spPr>
          <a:xfrm>
            <a:off x="8732520" y="4224528"/>
            <a:ext cx="2834640" cy="530352"/>
          </a:xfrm>
          <a:prstGeom prst="rect">
            <a:avLst/>
          </a:prstGeom>
          <a:noFill/>
          <a:ln/>
        </p:spPr>
        <p:txBody>
          <a:bodyPr wrap="square" lIns="0" tIns="0" rIns="0" bIns="0" rtlCol="0" anchor="t"/>
          <a:lstStyle/>
          <a:p>
            <a:pPr indent="0" marL="0">
              <a:buNone/>
            </a:pPr>
            <a:r>
              <a:rPr lang="en-US" sz="1200" dirty="0">
                <a:solidFill>
                  <a:schemeClr val="tx1"/>
                </a:solidFill>
              </a:rPr>
              <a:t>closest Earth–Mars pass (limit 0.05 AU)</a:t>
            </a:r>
            <a:endParaRPr lang="en-US" sz="1200" dirty="0"/>
          </a:p>
        </p:txBody>
      </p:sp>
      <p:sp>
        <p:nvSpPr>
          <p:cNvPr id="18" name="journey stat 4"/>
          <p:cNvSpPr/>
          <p:nvPr/>
        </p:nvSpPr>
        <p:spPr>
          <a:xfrm>
            <a:off x="8229600" y="4937760"/>
            <a:ext cx="3429000" cy="1051560"/>
          </a:xfrm>
          <a:prstGeom prst="roundRect">
            <a:avLst>
              <a:gd name="adj" fmla="val 10435"/>
            </a:avLst>
          </a:prstGeom>
          <a:solidFill>
            <a:srgbClr val="F1F3F6"/>
          </a:solidFill>
          <a:ln w="12700">
            <a:solidFill>
              <a:srgbClr val="F1F3F6"/>
            </a:solidFill>
            <a:prstDash val="solid"/>
          </a:ln>
        </p:spPr>
      </p:sp>
      <p:sp>
        <p:nvSpPr>
          <p:cNvPr id="19" name="key dot"/>
          <p:cNvSpPr/>
          <p:nvPr/>
        </p:nvSpPr>
        <p:spPr>
          <a:xfrm>
            <a:off x="8412480" y="5138928"/>
            <a:ext cx="201168" cy="201168"/>
          </a:xfrm>
          <a:prstGeom prst="ellipse">
            <a:avLst/>
          </a:prstGeom>
          <a:solidFill>
            <a:srgbClr val="E8A317"/>
          </a:solidFill>
          <a:ln w="12700">
            <a:solidFill>
              <a:srgbClr val="E8A317"/>
            </a:solidFill>
            <a:prstDash val="solid"/>
          </a:ln>
        </p:spPr>
      </p:sp>
      <p:sp>
        <p:nvSpPr>
          <p:cNvPr id="20" name="Text 16"/>
          <p:cNvSpPr txBox="1"/>
          <p:nvPr/>
        </p:nvSpPr>
        <p:spPr>
          <a:xfrm>
            <a:off x="8732520" y="5010912"/>
            <a:ext cx="28346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9.27×10</a:t>
            </a:r>
            <a:pPr indent="0" marL="0">
              <a:buNone/>
            </a:pPr>
            <a:r>
              <a:rPr lang="en-US" sz="2000" b="1" baseline="30000" dirty="0">
                <a:solidFill>
                  <a:schemeClr val="tx1"/>
                </a:solidFill>
                <a:latin typeface="Cambria" pitchFamily="34" charset="0"/>
                <a:ea typeface="Cambria" pitchFamily="34" charset="-122"/>
                <a:cs typeface="Cambria" pitchFamily="34" charset="-120"/>
              </a:rPr>
              <a:t>25</a:t>
            </a:r>
            <a:pPr indent="0" marL="0">
              <a:buNone/>
            </a:pPr>
            <a:r>
              <a:rPr lang="en-US" sz="2000" b="1" dirty="0">
                <a:solidFill>
                  <a:schemeClr val="tx1"/>
                </a:solidFill>
                <a:latin typeface="Cambria" pitchFamily="34" charset="0"/>
                <a:ea typeface="Cambria" pitchFamily="34" charset="-122"/>
                <a:cs typeface="Cambria" pitchFamily="34" charset="-120"/>
              </a:rPr>
              <a:t> W</a:t>
            </a:r>
            <a:endParaRPr lang="en-US" sz="2000" dirty="0"/>
          </a:p>
        </p:txBody>
      </p:sp>
      <p:sp>
        <p:nvSpPr>
          <p:cNvPr id="21" name="Text 17"/>
          <p:cNvSpPr txBox="1"/>
          <p:nvPr/>
        </p:nvSpPr>
        <p:spPr>
          <a:xfrm>
            <a:off x="8732520" y="5413248"/>
            <a:ext cx="2834640" cy="530352"/>
          </a:xfrm>
          <a:prstGeom prst="rect">
            <a:avLst/>
          </a:prstGeom>
          <a:noFill/>
          <a:ln/>
        </p:spPr>
        <p:txBody>
          <a:bodyPr wrap="square" lIns="0" tIns="0" rIns="0" bIns="0" rtlCol="0" anchor="t"/>
          <a:lstStyle/>
          <a:p>
            <a:pPr indent="0" marL="0">
              <a:buNone/>
            </a:pPr>
            <a:r>
              <a:rPr lang="en-US" sz="1200" dirty="0">
                <a:solidFill>
                  <a:schemeClr val="tx1"/>
                </a:solidFill>
              </a:rPr>
              <a:t>peak beam power: 93% of E1's bound</a:t>
            </a:r>
            <a:endParaRPr lang="en-US" sz="1200" dirty="0"/>
          </a:p>
        </p:txBody>
      </p:sp>
      <p:sp>
        <p:nvSpPr>
          <p:cNvPr id="22" name="source"/>
          <p:cNvSpPr txBox="1"/>
          <p:nvPr/>
        </p:nvSpPr>
        <p:spPr>
          <a:xfrm>
            <a:off x="548640" y="6126480"/>
            <a:ext cx="9692640" cy="274320"/>
          </a:xfrm>
          <a:prstGeom prst="rect">
            <a:avLst/>
          </a:prstGeom>
          <a:noFill/>
          <a:ln/>
        </p:spPr>
        <p:txBody>
          <a:bodyPr wrap="square" lIns="0" tIns="0" rIns="0" bIns="0" rtlCol="0" anchor="ctr"/>
          <a:lstStyle/>
          <a:p>
            <a:pPr indent="0" marL="0">
              <a:buNone/>
            </a:pPr>
            <a:r>
              <a:rPr lang="en-US" sz="1000" dirty="0">
                <a:solidFill>
                  <a:srgbClr val="5F6B7A"/>
                </a:solidFill>
              </a:rPr>
              <a:t>Source: results/run.json (one frame per 10 years; plotted every 100) and results/summary.json.</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600" b="1" dirty="0">
                <a:solidFill>
                  <a:schemeClr val="tx1"/>
                </a:solidFill>
              </a:rPr>
              <a:t>Honest physics: every push is booked</a:t>
            </a:r>
            <a:endParaRPr lang="en-US" sz="3600" dirty="0"/>
          </a:p>
        </p:txBody>
      </p:sp>
      <p:sp>
        <p:nvSpPr>
          <p:cNvPr id="3" name="Map button">
            <a:hlinkClick r:id="rId1"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1"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4" name="Map icon" descr="preencoded.png">
            <a:hlinkClick r:id="rId3" tooltip="Back to the map" action="ppaction://hlinksldjump"/>
          </p:cNvPr>
          <p:cNvPicPr>
            <a:picLocks noChangeAspect="1"/>
          </p:cNvPicPr>
          <p:nvPr/>
        </p:nvPicPr>
        <p:blipFill>
          <a:blip r:embed="rId2"/>
          <a:stretch>
            <a:fillRect/>
          </a:stretch>
        </p:blipFill>
        <p:spPr>
          <a:xfrm>
            <a:off x="10972800" y="475488"/>
            <a:ext cx="201168" cy="201168"/>
          </a:xfrm>
          <a:prstGeom prst="rect">
            <a:avLst/>
          </a:prstGeom>
        </p:spPr>
      </p:pic>
      <p:graphicFrame>
        <p:nvGraphicFramePr>
          <p:cNvPr id="5" name="Chart 0" descr=""/>
          <p:cNvGraphicFramePr/>
          <p:nvPr/>
        </p:nvGraphicFramePr>
        <p:xfrm>
          <a:off x="548640" y="1325880"/>
          <a:ext cx="6400800" cy="4709160"/>
        </p:xfrm>
        <a:graphic xmlns:a="http://schemas.openxmlformats.org/drawingml/2006/main">
          <a:graphicData uri="http://schemas.openxmlformats.org/drawingml/2006/chart">
            <c:chart xmlns:c="http://schemas.openxmlformats.org/drawingml/2006/chart" r:id="rId4"/>
          </a:graphicData>
        </a:graphic>
      </p:graphicFrame>
      <p:sp>
        <p:nvSpPr>
          <p:cNvPr id="6" name="honest stat 1"/>
          <p:cNvSpPr/>
          <p:nvPr/>
        </p:nvSpPr>
        <p:spPr>
          <a:xfrm>
            <a:off x="7269480" y="1371600"/>
            <a:ext cx="4389120" cy="1280160"/>
          </a:xfrm>
          <a:prstGeom prst="roundRect">
            <a:avLst>
              <a:gd name="adj" fmla="val 8571"/>
            </a:avLst>
          </a:prstGeom>
          <a:solidFill>
            <a:srgbClr val="F1F3F6"/>
          </a:solidFill>
          <a:ln w="12700">
            <a:solidFill>
              <a:srgbClr val="F1F3F6"/>
            </a:solidFill>
            <a:prstDash val="solid"/>
          </a:ln>
        </p:spPr>
      </p:sp>
      <p:sp>
        <p:nvSpPr>
          <p:cNvPr id="7" name="Text 3"/>
          <p:cNvSpPr txBox="1"/>
          <p:nvPr/>
        </p:nvSpPr>
        <p:spPr>
          <a:xfrm>
            <a:off x="7498080" y="1481328"/>
            <a:ext cx="4023360"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10 / 10</a:t>
            </a:r>
            <a:endParaRPr lang="en-US" sz="2600" dirty="0"/>
          </a:p>
        </p:txBody>
      </p:sp>
      <p:sp>
        <p:nvSpPr>
          <p:cNvPr id="8" name="Text 4"/>
          <p:cNvSpPr txBox="1"/>
          <p:nvPr/>
        </p:nvSpPr>
        <p:spPr>
          <a:xfrm>
            <a:off x="7498080" y="1993392"/>
            <a:ext cx="4023360" cy="594360"/>
          </a:xfrm>
          <a:prstGeom prst="rect">
            <a:avLst/>
          </a:prstGeom>
          <a:noFill/>
          <a:ln/>
        </p:spPr>
        <p:txBody>
          <a:bodyPr wrap="square" lIns="0" tIns="0" rIns="0" bIns="0" rtlCol="0" anchor="t"/>
          <a:lstStyle/>
          <a:p>
            <a:pPr indent="0" marL="0">
              <a:buNone/>
            </a:pPr>
            <a:r>
              <a:rPr lang="en-US" sz="1300" dirty="0">
                <a:solidFill>
                  <a:schemeClr val="tx1"/>
                </a:solidFill>
              </a:rPr>
              <a:t>official benchmarks pass, also with changed inputs (Kepler, Hohmann, Biot–Savart, energy balance…)</a:t>
            </a:r>
            <a:endParaRPr lang="en-US" sz="1300" dirty="0"/>
          </a:p>
        </p:txBody>
      </p:sp>
      <p:sp>
        <p:nvSpPr>
          <p:cNvPr id="9" name="honest stat 2"/>
          <p:cNvSpPr/>
          <p:nvPr/>
        </p:nvSpPr>
        <p:spPr>
          <a:xfrm>
            <a:off x="7269480" y="2834640"/>
            <a:ext cx="4389120" cy="1280160"/>
          </a:xfrm>
          <a:prstGeom prst="roundRect">
            <a:avLst>
              <a:gd name="adj" fmla="val 8571"/>
            </a:avLst>
          </a:prstGeom>
          <a:solidFill>
            <a:srgbClr val="F1F3F6"/>
          </a:solidFill>
          <a:ln w="12700">
            <a:solidFill>
              <a:srgbClr val="F1F3F6"/>
            </a:solidFill>
            <a:prstDash val="solid"/>
          </a:ln>
        </p:spPr>
      </p:sp>
      <p:sp>
        <p:nvSpPr>
          <p:cNvPr id="10" name="Text 6"/>
          <p:cNvSpPr txBox="1"/>
          <p:nvPr/>
        </p:nvSpPr>
        <p:spPr>
          <a:xfrm>
            <a:off x="7498080" y="2944368"/>
            <a:ext cx="4023360"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0.007%</a:t>
            </a:r>
            <a:endParaRPr lang="en-US" sz="2600" dirty="0"/>
          </a:p>
        </p:txBody>
      </p:sp>
      <p:sp>
        <p:nvSpPr>
          <p:cNvPr id="11" name="Text 7"/>
          <p:cNvSpPr txBox="1"/>
          <p:nvPr/>
        </p:nvSpPr>
        <p:spPr>
          <a:xfrm>
            <a:off x="7498080" y="3456432"/>
            <a:ext cx="4023360" cy="594360"/>
          </a:xfrm>
          <a:prstGeom prst="rect">
            <a:avLst/>
          </a:prstGeom>
          <a:noFill/>
          <a:ln/>
        </p:spPr>
        <p:txBody>
          <a:bodyPr wrap="square" lIns="0" tIns="0" rIns="0" bIns="0" rtlCol="0" anchor="t"/>
          <a:lstStyle/>
          <a:p>
            <a:pPr indent="0" marL="0">
              <a:buNone/>
            </a:pPr>
            <a:r>
              <a:rPr lang="en-US" sz="1300" dirty="0">
                <a:solidFill>
                  <a:schemeClr val="tx1"/>
                </a:solidFill>
              </a:rPr>
              <a:t>beams' work against the bodies' energy gain over the whole journey</a:t>
            </a:r>
            <a:endParaRPr lang="en-US" sz="1300" dirty="0"/>
          </a:p>
        </p:txBody>
      </p:sp>
      <p:sp>
        <p:nvSpPr>
          <p:cNvPr id="12" name="honest stat 3"/>
          <p:cNvSpPr/>
          <p:nvPr/>
        </p:nvSpPr>
        <p:spPr>
          <a:xfrm>
            <a:off x="7269480" y="4297680"/>
            <a:ext cx="4389120" cy="1280160"/>
          </a:xfrm>
          <a:prstGeom prst="roundRect">
            <a:avLst>
              <a:gd name="adj" fmla="val 8571"/>
            </a:avLst>
          </a:prstGeom>
          <a:solidFill>
            <a:srgbClr val="F1F3F6"/>
          </a:solidFill>
          <a:ln w="12700">
            <a:solidFill>
              <a:srgbClr val="F1F3F6"/>
            </a:solidFill>
            <a:prstDash val="solid"/>
          </a:ln>
        </p:spPr>
      </p:sp>
      <p:sp>
        <p:nvSpPr>
          <p:cNvPr id="13" name="Text 9"/>
          <p:cNvSpPr txBox="1"/>
          <p:nvPr/>
        </p:nvSpPr>
        <p:spPr>
          <a:xfrm>
            <a:off x="7498080" y="4407408"/>
            <a:ext cx="4023360" cy="502920"/>
          </a:xfrm>
          <a:prstGeom prst="rect">
            <a:avLst/>
          </a:prstGeom>
          <a:noFill/>
          <a:ln/>
        </p:spPr>
        <p:txBody>
          <a:bodyPr wrap="square" lIns="0" tIns="0" rIns="0" bIns="0" rtlCol="0" anchor="ctr"/>
          <a:lstStyle/>
          <a:p>
            <a:pPr indent="0" marL="0">
              <a:buNone/>
            </a:pPr>
            <a:r>
              <a:rPr lang="en-US" sz="2600" b="1" dirty="0">
                <a:solidFill>
                  <a:schemeClr val="tx1"/>
                </a:solidFill>
                <a:latin typeface="Cambria" pitchFamily="34" charset="0"/>
                <a:ea typeface="Cambria" pitchFamily="34" charset="-122"/>
                <a:cs typeface="Cambria" pitchFamily="34" charset="-120"/>
              </a:rPr>
              <a:t>8,730 vs 8,758</a:t>
            </a:r>
            <a:endParaRPr lang="en-US" sz="2600" dirty="0"/>
          </a:p>
        </p:txBody>
      </p:sp>
      <p:sp>
        <p:nvSpPr>
          <p:cNvPr id="14" name="Text 10"/>
          <p:cNvSpPr txBox="1"/>
          <p:nvPr/>
        </p:nvSpPr>
        <p:spPr>
          <a:xfrm>
            <a:off x="7498080" y="4919472"/>
            <a:ext cx="4023360" cy="594360"/>
          </a:xfrm>
          <a:prstGeom prst="rect">
            <a:avLst/>
          </a:prstGeom>
          <a:noFill/>
          <a:ln/>
        </p:spPr>
        <p:txBody>
          <a:bodyPr wrap="square" lIns="0" tIns="0" rIns="0" bIns="0" rtlCol="0" anchor="t"/>
          <a:lstStyle/>
          <a:p>
            <a:pPr indent="0" marL="0">
              <a:buNone/>
            </a:pPr>
            <a:r>
              <a:rPr lang="en-US" sz="1300" dirty="0">
                <a:solidFill>
                  <a:schemeClr val="tx1"/>
                </a:solidFill>
              </a:rPr>
              <a:t>arrival year with half-day steps: the result has converged (0.3%)</a:t>
            </a:r>
            <a:endParaRPr lang="en-US" sz="1300" dirty="0"/>
          </a:p>
        </p:txBody>
      </p:sp>
      <p:sp>
        <p:nvSpPr>
          <p:cNvPr id="15" name="source"/>
          <p:cNvSpPr txBox="1"/>
          <p:nvPr/>
        </p:nvSpPr>
        <p:spPr>
          <a:xfrm>
            <a:off x="548640" y="6126480"/>
            <a:ext cx="9692640" cy="274320"/>
          </a:xfrm>
          <a:prstGeom prst="rect">
            <a:avLst/>
          </a:prstGeom>
          <a:noFill/>
          <a:ln/>
        </p:spPr>
        <p:txBody>
          <a:bodyPr wrap="square" lIns="0" tIns="0" rIns="0" bIns="0" rtlCol="0" anchor="ctr"/>
          <a:lstStyle/>
          <a:p>
            <a:pPr indent="0" marL="0">
              <a:buNone/>
            </a:pPr>
            <a:r>
              <a:rPr lang="en-US" sz="1000" dirty="0">
                <a:solidFill>
                  <a:srgbClr val="5F6B7A"/>
                </a:solidFill>
              </a:rPr>
              <a:t>Source: results/summary.json (ledger); sim/benchmarks.py. Gravity acts in exact pairs; the beams' partners are the stations' recoil, the bounced light and the departing asteroids.</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600" b="1" dirty="0">
                <a:solidFill>
                  <a:schemeClr val="tx1"/>
                </a:solidFill>
              </a:rPr>
              <a:t>Earth stays safe the whole way</a:t>
            </a:r>
            <a:endParaRPr lang="en-US" sz="3600" dirty="0"/>
          </a:p>
        </p:txBody>
      </p:sp>
      <p:sp>
        <p:nvSpPr>
          <p:cNvPr id="3" name="Map button">
            <a:hlinkClick r:id="rId1"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1"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4" name="Map icon" descr="preencoded.png">
            <a:hlinkClick r:id="rId3" tooltip="Back to the map" action="ppaction://hlinksldjump"/>
          </p:cNvPr>
          <p:cNvPicPr>
            <a:picLocks noChangeAspect="1"/>
          </p:cNvPicPr>
          <p:nvPr/>
        </p:nvPicPr>
        <p:blipFill>
          <a:blip r:embed="rId2"/>
          <a:stretch>
            <a:fillRect/>
          </a:stretch>
        </p:blipFill>
        <p:spPr>
          <a:xfrm>
            <a:off x="10972800" y="475488"/>
            <a:ext cx="201168" cy="201168"/>
          </a:xfrm>
          <a:prstGeom prst="rect">
            <a:avLst/>
          </a:prstGeom>
        </p:spPr>
      </p:pic>
      <p:sp>
        <p:nvSpPr>
          <p:cNvPr id="5" name="threshold 1"/>
          <p:cNvSpPr/>
          <p:nvPr/>
        </p:nvSpPr>
        <p:spPr>
          <a:xfrm>
            <a:off x="548640" y="1371600"/>
            <a:ext cx="2148840" cy="1435608"/>
          </a:xfrm>
          <a:prstGeom prst="roundRect">
            <a:avLst>
              <a:gd name="adj" fmla="val 7643"/>
            </a:avLst>
          </a:prstGeom>
          <a:solidFill>
            <a:srgbClr val="F1F3F6"/>
          </a:solidFill>
          <a:ln w="12700">
            <a:solidFill>
              <a:srgbClr val="F1F3F6"/>
            </a:solidFill>
            <a:prstDash val="solid"/>
          </a:ln>
        </p:spPr>
      </p:sp>
      <p:pic>
        <p:nvPicPr>
          <p:cNvPr id="6" name="check" descr="preencoded.png">    </p:cNvPr>
          <p:cNvPicPr>
            <a:picLocks noChangeAspect="1"/>
          </p:cNvPicPr>
          <p:nvPr/>
        </p:nvPicPr>
        <p:blipFill>
          <a:blip r:embed="rId4"/>
          <a:stretch>
            <a:fillRect/>
          </a:stretch>
        </p:blipFill>
        <p:spPr>
          <a:xfrm>
            <a:off x="2313432" y="1508760"/>
            <a:ext cx="246888" cy="246888"/>
          </a:xfrm>
          <a:prstGeom prst="rect">
            <a:avLst/>
          </a:prstGeom>
        </p:spPr>
      </p:pic>
      <p:sp>
        <p:nvSpPr>
          <p:cNvPr id="7" name="Text 3"/>
          <p:cNvSpPr txBox="1"/>
          <p:nvPr/>
        </p:nvSpPr>
        <p:spPr>
          <a:xfrm>
            <a:off x="713232" y="1481328"/>
            <a:ext cx="1600200" cy="365760"/>
          </a:xfrm>
          <a:prstGeom prst="rect">
            <a:avLst/>
          </a:prstGeom>
          <a:noFill/>
          <a:ln/>
        </p:spPr>
        <p:txBody>
          <a:bodyPr wrap="square" lIns="0" tIns="0" rIns="0" bIns="0" rtlCol="0" anchor="ctr"/>
          <a:lstStyle/>
          <a:p>
            <a:pPr indent="0" marL="0">
              <a:buNone/>
            </a:pPr>
            <a:r>
              <a:rPr lang="en-US" sz="1300" b="1" dirty="0">
                <a:solidFill>
                  <a:schemeClr val="tx1"/>
                </a:solidFill>
              </a:rPr>
              <a:t>Mean temperature</a:t>
            </a:r>
            <a:endParaRPr lang="en-US" sz="1300" dirty="0"/>
          </a:p>
        </p:txBody>
      </p:sp>
      <p:sp>
        <p:nvSpPr>
          <p:cNvPr id="8" name="Text 4"/>
          <p:cNvSpPr txBox="1"/>
          <p:nvPr/>
        </p:nvSpPr>
        <p:spPr>
          <a:xfrm>
            <a:off x="713232" y="1874520"/>
            <a:ext cx="18745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287.8–288.8 K</a:t>
            </a:r>
            <a:endParaRPr lang="en-US" sz="1800" dirty="0"/>
          </a:p>
        </p:txBody>
      </p:sp>
      <p:sp>
        <p:nvSpPr>
          <p:cNvPr id="9" name="Text 5"/>
          <p:cNvSpPr txBox="1"/>
          <p:nvPr/>
        </p:nvSpPr>
        <p:spPr>
          <a:xfrm>
            <a:off x="713232" y="2359152"/>
            <a:ext cx="1874520" cy="320040"/>
          </a:xfrm>
          <a:prstGeom prst="rect">
            <a:avLst/>
          </a:prstGeom>
          <a:noFill/>
          <a:ln/>
        </p:spPr>
        <p:txBody>
          <a:bodyPr wrap="square" lIns="0" tIns="0" rIns="0" bIns="0" rtlCol="0" anchor="ctr"/>
          <a:lstStyle/>
          <a:p>
            <a:pPr indent="0" marL="0">
              <a:buNone/>
            </a:pPr>
            <a:r>
              <a:rPr lang="en-US" sz="1200" dirty="0">
                <a:solidFill>
                  <a:srgbClr val="5F6B7A"/>
                </a:solidFill>
              </a:rPr>
              <a:t>limit 263–308 K</a:t>
            </a:r>
            <a:endParaRPr lang="en-US" sz="1200" dirty="0"/>
          </a:p>
        </p:txBody>
      </p:sp>
      <p:sp>
        <p:nvSpPr>
          <p:cNvPr id="10" name="threshold 2"/>
          <p:cNvSpPr/>
          <p:nvPr/>
        </p:nvSpPr>
        <p:spPr>
          <a:xfrm>
            <a:off x="2834640" y="1371600"/>
            <a:ext cx="2148840" cy="1435608"/>
          </a:xfrm>
          <a:prstGeom prst="roundRect">
            <a:avLst>
              <a:gd name="adj" fmla="val 7643"/>
            </a:avLst>
          </a:prstGeom>
          <a:solidFill>
            <a:srgbClr val="F1F3F6"/>
          </a:solidFill>
          <a:ln w="12700">
            <a:solidFill>
              <a:srgbClr val="F1F3F6"/>
            </a:solidFill>
            <a:prstDash val="solid"/>
          </a:ln>
        </p:spPr>
      </p:sp>
      <p:pic>
        <p:nvPicPr>
          <p:cNvPr id="11" name="check" descr="preencoded.png">    </p:cNvPr>
          <p:cNvPicPr>
            <a:picLocks noChangeAspect="1"/>
          </p:cNvPicPr>
          <p:nvPr/>
        </p:nvPicPr>
        <p:blipFill>
          <a:blip r:embed="rId5"/>
          <a:stretch>
            <a:fillRect/>
          </a:stretch>
        </p:blipFill>
        <p:spPr>
          <a:xfrm>
            <a:off x="4599432" y="1508760"/>
            <a:ext cx="246888" cy="246888"/>
          </a:xfrm>
          <a:prstGeom prst="rect">
            <a:avLst/>
          </a:prstGeom>
        </p:spPr>
      </p:pic>
      <p:sp>
        <p:nvSpPr>
          <p:cNvPr id="12" name="Text 7"/>
          <p:cNvSpPr txBox="1"/>
          <p:nvPr/>
        </p:nvSpPr>
        <p:spPr>
          <a:xfrm>
            <a:off x="2999232" y="1481328"/>
            <a:ext cx="1600200" cy="365760"/>
          </a:xfrm>
          <a:prstGeom prst="rect">
            <a:avLst/>
          </a:prstGeom>
          <a:noFill/>
          <a:ln/>
        </p:spPr>
        <p:txBody>
          <a:bodyPr wrap="square" lIns="0" tIns="0" rIns="0" bIns="0" rtlCol="0" anchor="ctr"/>
          <a:lstStyle/>
          <a:p>
            <a:pPr indent="0" marL="0">
              <a:buNone/>
            </a:pPr>
            <a:r>
              <a:rPr lang="en-US" sz="1300" b="1" dirty="0">
                <a:solidFill>
                  <a:schemeClr val="tx1"/>
                </a:solidFill>
              </a:rPr>
              <a:t>Liquid-water area</a:t>
            </a:r>
            <a:endParaRPr lang="en-US" sz="1300" dirty="0"/>
          </a:p>
        </p:txBody>
      </p:sp>
      <p:sp>
        <p:nvSpPr>
          <p:cNvPr id="13" name="Text 8"/>
          <p:cNvSpPr txBox="1"/>
          <p:nvPr/>
        </p:nvSpPr>
        <p:spPr>
          <a:xfrm>
            <a:off x="2999232" y="1874520"/>
            <a:ext cx="18745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 82%</a:t>
            </a:r>
            <a:endParaRPr lang="en-US" sz="1800" dirty="0"/>
          </a:p>
        </p:txBody>
      </p:sp>
      <p:sp>
        <p:nvSpPr>
          <p:cNvPr id="14" name="Text 9"/>
          <p:cNvSpPr txBox="1"/>
          <p:nvPr/>
        </p:nvSpPr>
        <p:spPr>
          <a:xfrm>
            <a:off x="2999232" y="2359152"/>
            <a:ext cx="1874520" cy="320040"/>
          </a:xfrm>
          <a:prstGeom prst="rect">
            <a:avLst/>
          </a:prstGeom>
          <a:noFill/>
          <a:ln/>
        </p:spPr>
        <p:txBody>
          <a:bodyPr wrap="square" lIns="0" tIns="0" rIns="0" bIns="0" rtlCol="0" anchor="ctr"/>
          <a:lstStyle/>
          <a:p>
            <a:pPr indent="0" marL="0">
              <a:buNone/>
            </a:pPr>
            <a:r>
              <a:rPr lang="en-US" sz="1200" dirty="0">
                <a:solidFill>
                  <a:srgbClr val="5F6B7A"/>
                </a:solidFill>
              </a:rPr>
              <a:t>limit ≥ 30%</a:t>
            </a:r>
            <a:endParaRPr lang="en-US" sz="1200" dirty="0"/>
          </a:p>
        </p:txBody>
      </p:sp>
      <p:sp>
        <p:nvSpPr>
          <p:cNvPr id="15" name="threshold 3"/>
          <p:cNvSpPr/>
          <p:nvPr/>
        </p:nvSpPr>
        <p:spPr>
          <a:xfrm>
            <a:off x="5120640" y="1371600"/>
            <a:ext cx="2148840" cy="1435608"/>
          </a:xfrm>
          <a:prstGeom prst="roundRect">
            <a:avLst>
              <a:gd name="adj" fmla="val 7643"/>
            </a:avLst>
          </a:prstGeom>
          <a:solidFill>
            <a:srgbClr val="F1F3F6"/>
          </a:solidFill>
          <a:ln w="12700">
            <a:solidFill>
              <a:srgbClr val="F1F3F6"/>
            </a:solidFill>
            <a:prstDash val="solid"/>
          </a:ln>
        </p:spPr>
      </p:sp>
      <p:pic>
        <p:nvPicPr>
          <p:cNvPr id="16" name="check" descr="preencoded.png">    </p:cNvPr>
          <p:cNvPicPr>
            <a:picLocks noChangeAspect="1"/>
          </p:cNvPicPr>
          <p:nvPr/>
        </p:nvPicPr>
        <p:blipFill>
          <a:blip r:embed="rId6"/>
          <a:stretch>
            <a:fillRect/>
          </a:stretch>
        </p:blipFill>
        <p:spPr>
          <a:xfrm>
            <a:off x="6885432" y="1508760"/>
            <a:ext cx="246888" cy="246888"/>
          </a:xfrm>
          <a:prstGeom prst="rect">
            <a:avLst/>
          </a:prstGeom>
        </p:spPr>
      </p:pic>
      <p:sp>
        <p:nvSpPr>
          <p:cNvPr id="17" name="Text 11"/>
          <p:cNvSpPr txBox="1"/>
          <p:nvPr/>
        </p:nvSpPr>
        <p:spPr>
          <a:xfrm>
            <a:off x="5285232" y="1481328"/>
            <a:ext cx="1600200" cy="365760"/>
          </a:xfrm>
          <a:prstGeom prst="rect">
            <a:avLst/>
          </a:prstGeom>
          <a:noFill/>
          <a:ln/>
        </p:spPr>
        <p:txBody>
          <a:bodyPr wrap="square" lIns="0" tIns="0" rIns="0" bIns="0" rtlCol="0" anchor="ctr"/>
          <a:lstStyle/>
          <a:p>
            <a:pPr indent="0" marL="0">
              <a:buNone/>
            </a:pPr>
            <a:r>
              <a:rPr lang="en-US" sz="1300" b="1" dirty="0">
                <a:solidFill>
                  <a:schemeClr val="tx1"/>
                </a:solidFill>
              </a:rPr>
              <a:t>Absorbed sunlight</a:t>
            </a:r>
            <a:endParaRPr lang="en-US" sz="1300" dirty="0"/>
          </a:p>
        </p:txBody>
      </p:sp>
      <p:sp>
        <p:nvSpPr>
          <p:cNvPr id="18" name="Text 12"/>
          <p:cNvSpPr txBox="1"/>
          <p:nvPr/>
        </p:nvSpPr>
        <p:spPr>
          <a:xfrm>
            <a:off x="5285232" y="1874520"/>
            <a:ext cx="18745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 240.9 W/m</a:t>
            </a:r>
            <a:pPr indent="0" marL="0">
              <a:buNone/>
            </a:pPr>
            <a:r>
              <a:rPr lang="en-US" sz="1800" b="1" baseline="30000" dirty="0">
                <a:solidFill>
                  <a:schemeClr val="tx1"/>
                </a:solidFill>
                <a:latin typeface="Cambria" pitchFamily="34" charset="0"/>
                <a:ea typeface="Cambria" pitchFamily="34" charset="-122"/>
                <a:cs typeface="Cambria" pitchFamily="34" charset="-120"/>
              </a:rPr>
              <a:t>2</a:t>
            </a:r>
            <a:endParaRPr lang="en-US" sz="1800" dirty="0"/>
          </a:p>
        </p:txBody>
      </p:sp>
      <p:sp>
        <p:nvSpPr>
          <p:cNvPr id="19" name="Text 13"/>
          <p:cNvSpPr txBox="1"/>
          <p:nvPr/>
        </p:nvSpPr>
        <p:spPr>
          <a:xfrm>
            <a:off x="5285232" y="2359152"/>
            <a:ext cx="1874520" cy="320040"/>
          </a:xfrm>
          <a:prstGeom prst="rect">
            <a:avLst/>
          </a:prstGeom>
          <a:noFill/>
          <a:ln/>
        </p:spPr>
        <p:txBody>
          <a:bodyPr wrap="square" lIns="0" tIns="0" rIns="0" bIns="0" rtlCol="0" anchor="ctr"/>
          <a:lstStyle/>
          <a:p>
            <a:pPr indent="0" marL="0">
              <a:buNone/>
            </a:pPr>
            <a:r>
              <a:rPr lang="en-US" sz="1200" dirty="0">
                <a:solidFill>
                  <a:srgbClr val="5F6B7A"/>
                </a:solidFill>
              </a:rPr>
              <a:t>limit &lt; 282 W/m</a:t>
            </a:r>
            <a:pPr indent="0" marL="0">
              <a:buNone/>
            </a:pPr>
            <a:r>
              <a:rPr lang="en-US" sz="1200" baseline="30000" dirty="0">
                <a:solidFill>
                  <a:srgbClr val="5F6B7A"/>
                </a:solidFill>
              </a:rPr>
              <a:t>2</a:t>
            </a:r>
            <a:endParaRPr lang="en-US" sz="1200" dirty="0"/>
          </a:p>
        </p:txBody>
      </p:sp>
      <p:sp>
        <p:nvSpPr>
          <p:cNvPr id="20" name="threshold 4"/>
          <p:cNvSpPr/>
          <p:nvPr/>
        </p:nvSpPr>
        <p:spPr>
          <a:xfrm>
            <a:off x="548640" y="2944368"/>
            <a:ext cx="2148840" cy="1435608"/>
          </a:xfrm>
          <a:prstGeom prst="roundRect">
            <a:avLst>
              <a:gd name="adj" fmla="val 7643"/>
            </a:avLst>
          </a:prstGeom>
          <a:solidFill>
            <a:srgbClr val="F1F3F6"/>
          </a:solidFill>
          <a:ln w="12700">
            <a:solidFill>
              <a:srgbClr val="F1F3F6"/>
            </a:solidFill>
            <a:prstDash val="solid"/>
          </a:ln>
        </p:spPr>
      </p:sp>
      <p:pic>
        <p:nvPicPr>
          <p:cNvPr id="21" name="check" descr="preencoded.png">    </p:cNvPr>
          <p:cNvPicPr>
            <a:picLocks noChangeAspect="1"/>
          </p:cNvPicPr>
          <p:nvPr/>
        </p:nvPicPr>
        <p:blipFill>
          <a:blip r:embed="rId7"/>
          <a:stretch>
            <a:fillRect/>
          </a:stretch>
        </p:blipFill>
        <p:spPr>
          <a:xfrm>
            <a:off x="2313432" y="3081528"/>
            <a:ext cx="246888" cy="246888"/>
          </a:xfrm>
          <a:prstGeom prst="rect">
            <a:avLst/>
          </a:prstGeom>
        </p:spPr>
      </p:pic>
      <p:sp>
        <p:nvSpPr>
          <p:cNvPr id="22" name="Text 15"/>
          <p:cNvSpPr txBox="1"/>
          <p:nvPr/>
        </p:nvSpPr>
        <p:spPr>
          <a:xfrm>
            <a:off x="713232" y="3054096"/>
            <a:ext cx="1600200" cy="365760"/>
          </a:xfrm>
          <a:prstGeom prst="rect">
            <a:avLst/>
          </a:prstGeom>
          <a:noFill/>
          <a:ln/>
        </p:spPr>
        <p:txBody>
          <a:bodyPr wrap="square" lIns="0" tIns="0" rIns="0" bIns="0" rtlCol="0" anchor="ctr"/>
          <a:lstStyle/>
          <a:p>
            <a:pPr indent="0" marL="0">
              <a:buNone/>
            </a:pPr>
            <a:r>
              <a:rPr lang="en-US" sz="1300" b="1" dirty="0">
                <a:solidFill>
                  <a:schemeClr val="tx1"/>
                </a:solidFill>
              </a:rPr>
              <a:t>Surface pressure</a:t>
            </a:r>
            <a:endParaRPr lang="en-US" sz="1300" dirty="0"/>
          </a:p>
        </p:txBody>
      </p:sp>
      <p:sp>
        <p:nvSpPr>
          <p:cNvPr id="23" name="Text 16"/>
          <p:cNvSpPr txBox="1"/>
          <p:nvPr/>
        </p:nvSpPr>
        <p:spPr>
          <a:xfrm>
            <a:off x="713232" y="3447288"/>
            <a:ext cx="18745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101.3 kPa</a:t>
            </a:r>
            <a:endParaRPr lang="en-US" sz="1800" dirty="0"/>
          </a:p>
        </p:txBody>
      </p:sp>
      <p:sp>
        <p:nvSpPr>
          <p:cNvPr id="24" name="Text 17"/>
          <p:cNvSpPr txBox="1"/>
          <p:nvPr/>
        </p:nvSpPr>
        <p:spPr>
          <a:xfrm>
            <a:off x="713232" y="3931920"/>
            <a:ext cx="1874520" cy="320040"/>
          </a:xfrm>
          <a:prstGeom prst="rect">
            <a:avLst/>
          </a:prstGeom>
          <a:noFill/>
          <a:ln/>
        </p:spPr>
        <p:txBody>
          <a:bodyPr wrap="square" lIns="0" tIns="0" rIns="0" bIns="0" rtlCol="0" anchor="ctr"/>
          <a:lstStyle/>
          <a:p>
            <a:pPr indent="0" marL="0">
              <a:buNone/>
            </a:pPr>
            <a:r>
              <a:rPr lang="en-US" sz="1200" dirty="0">
                <a:solidFill>
                  <a:srgbClr val="5F6B7A"/>
                </a:solidFill>
              </a:rPr>
              <a:t>limit ≥ 50 kPa</a:t>
            </a:r>
            <a:endParaRPr lang="en-US" sz="1200" dirty="0"/>
          </a:p>
        </p:txBody>
      </p:sp>
      <p:sp>
        <p:nvSpPr>
          <p:cNvPr id="25" name="threshold 5"/>
          <p:cNvSpPr/>
          <p:nvPr/>
        </p:nvSpPr>
        <p:spPr>
          <a:xfrm>
            <a:off x="2834640" y="2944368"/>
            <a:ext cx="2148840" cy="1435608"/>
          </a:xfrm>
          <a:prstGeom prst="roundRect">
            <a:avLst>
              <a:gd name="adj" fmla="val 7643"/>
            </a:avLst>
          </a:prstGeom>
          <a:solidFill>
            <a:srgbClr val="F1F3F6"/>
          </a:solidFill>
          <a:ln w="12700">
            <a:solidFill>
              <a:srgbClr val="F1F3F6"/>
            </a:solidFill>
            <a:prstDash val="solid"/>
          </a:ln>
        </p:spPr>
      </p:sp>
      <p:pic>
        <p:nvPicPr>
          <p:cNvPr id="26" name="check" descr="preencoded.png">    </p:cNvPr>
          <p:cNvPicPr>
            <a:picLocks noChangeAspect="1"/>
          </p:cNvPicPr>
          <p:nvPr/>
        </p:nvPicPr>
        <p:blipFill>
          <a:blip r:embed="rId8"/>
          <a:stretch>
            <a:fillRect/>
          </a:stretch>
        </p:blipFill>
        <p:spPr>
          <a:xfrm>
            <a:off x="4599432" y="3081528"/>
            <a:ext cx="246888" cy="246888"/>
          </a:xfrm>
          <a:prstGeom prst="rect">
            <a:avLst/>
          </a:prstGeom>
        </p:spPr>
      </p:pic>
      <p:sp>
        <p:nvSpPr>
          <p:cNvPr id="27" name="Text 19"/>
          <p:cNvSpPr txBox="1"/>
          <p:nvPr/>
        </p:nvSpPr>
        <p:spPr>
          <a:xfrm>
            <a:off x="2999232" y="3054096"/>
            <a:ext cx="1600200" cy="365760"/>
          </a:xfrm>
          <a:prstGeom prst="rect">
            <a:avLst/>
          </a:prstGeom>
          <a:noFill/>
          <a:ln/>
        </p:spPr>
        <p:txBody>
          <a:bodyPr wrap="square" lIns="0" tIns="0" rIns="0" bIns="0" rtlCol="0" anchor="ctr"/>
          <a:lstStyle/>
          <a:p>
            <a:pPr indent="0" marL="0">
              <a:buNone/>
            </a:pPr>
            <a:r>
              <a:rPr lang="en-US" sz="1300" b="1" dirty="0">
                <a:solidFill>
                  <a:schemeClr val="tx1"/>
                </a:solidFill>
              </a:rPr>
              <a:t>Air kept (N</a:t>
            </a:r>
            <a:pPr indent="0" marL="0">
              <a:buNone/>
            </a:pPr>
            <a:r>
              <a:rPr lang="en-US" sz="1300" b="1" baseline="-40000" dirty="0">
                <a:solidFill>
                  <a:schemeClr val="tx1"/>
                </a:solidFill>
              </a:rPr>
              <a:t>2</a:t>
            </a:r>
            <a:pPr indent="0" marL="0">
              <a:buNone/>
            </a:pPr>
            <a:r>
              <a:rPr lang="en-US" sz="1300" b="1" dirty="0">
                <a:solidFill>
                  <a:schemeClr val="tx1"/>
                </a:solidFill>
              </a:rPr>
              <a:t> Jeans λ)</a:t>
            </a:r>
            <a:endParaRPr lang="en-US" sz="1300" dirty="0"/>
          </a:p>
        </p:txBody>
      </p:sp>
      <p:sp>
        <p:nvSpPr>
          <p:cNvPr id="28" name="Text 20"/>
          <p:cNvSpPr txBox="1"/>
          <p:nvPr/>
        </p:nvSpPr>
        <p:spPr>
          <a:xfrm>
            <a:off x="2999232" y="3447288"/>
            <a:ext cx="18745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 194</a:t>
            </a:r>
            <a:endParaRPr lang="en-US" sz="1800" dirty="0"/>
          </a:p>
        </p:txBody>
      </p:sp>
      <p:sp>
        <p:nvSpPr>
          <p:cNvPr id="29" name="Text 21"/>
          <p:cNvSpPr txBox="1"/>
          <p:nvPr/>
        </p:nvSpPr>
        <p:spPr>
          <a:xfrm>
            <a:off x="2999232" y="3931920"/>
            <a:ext cx="1874520" cy="320040"/>
          </a:xfrm>
          <a:prstGeom prst="rect">
            <a:avLst/>
          </a:prstGeom>
          <a:noFill/>
          <a:ln/>
        </p:spPr>
        <p:txBody>
          <a:bodyPr wrap="square" lIns="0" tIns="0" rIns="0" bIns="0" rtlCol="0" anchor="ctr"/>
          <a:lstStyle/>
          <a:p>
            <a:pPr indent="0" marL="0">
              <a:buNone/>
            </a:pPr>
            <a:r>
              <a:rPr lang="en-US" sz="1200" dirty="0">
                <a:solidFill>
                  <a:srgbClr val="5F6B7A"/>
                </a:solidFill>
              </a:rPr>
              <a:t>limit &gt; 30</a:t>
            </a:r>
            <a:endParaRPr lang="en-US" sz="1200" dirty="0"/>
          </a:p>
        </p:txBody>
      </p:sp>
      <p:sp>
        <p:nvSpPr>
          <p:cNvPr id="30" name="threshold 6"/>
          <p:cNvSpPr/>
          <p:nvPr/>
        </p:nvSpPr>
        <p:spPr>
          <a:xfrm>
            <a:off x="5120640" y="2944368"/>
            <a:ext cx="2148840" cy="1435608"/>
          </a:xfrm>
          <a:prstGeom prst="roundRect">
            <a:avLst>
              <a:gd name="adj" fmla="val 7643"/>
            </a:avLst>
          </a:prstGeom>
          <a:solidFill>
            <a:srgbClr val="F1F3F6"/>
          </a:solidFill>
          <a:ln w="12700">
            <a:solidFill>
              <a:srgbClr val="F1F3F6"/>
            </a:solidFill>
            <a:prstDash val="solid"/>
          </a:ln>
        </p:spPr>
      </p:sp>
      <p:pic>
        <p:nvPicPr>
          <p:cNvPr id="31" name="check" descr="preencoded.png">    </p:cNvPr>
          <p:cNvPicPr>
            <a:picLocks noChangeAspect="1"/>
          </p:cNvPicPr>
          <p:nvPr/>
        </p:nvPicPr>
        <p:blipFill>
          <a:blip r:embed="rId9"/>
          <a:stretch>
            <a:fillRect/>
          </a:stretch>
        </p:blipFill>
        <p:spPr>
          <a:xfrm>
            <a:off x="6885432" y="3081528"/>
            <a:ext cx="246888" cy="246888"/>
          </a:xfrm>
          <a:prstGeom prst="rect">
            <a:avLst/>
          </a:prstGeom>
        </p:spPr>
      </p:pic>
      <p:sp>
        <p:nvSpPr>
          <p:cNvPr id="32" name="Text 23"/>
          <p:cNvSpPr txBox="1"/>
          <p:nvPr/>
        </p:nvSpPr>
        <p:spPr>
          <a:xfrm>
            <a:off x="5285232" y="3054096"/>
            <a:ext cx="1600200" cy="365760"/>
          </a:xfrm>
          <a:prstGeom prst="rect">
            <a:avLst/>
          </a:prstGeom>
          <a:noFill/>
          <a:ln/>
        </p:spPr>
        <p:txBody>
          <a:bodyPr wrap="square" lIns="0" tIns="0" rIns="0" bIns="0" rtlCol="0" anchor="ctr"/>
          <a:lstStyle/>
          <a:p>
            <a:pPr indent="0" marL="0">
              <a:buNone/>
            </a:pPr>
            <a:r>
              <a:rPr lang="en-US" sz="1300" b="1" dirty="0">
                <a:solidFill>
                  <a:schemeClr val="tx1"/>
                </a:solidFill>
              </a:rPr>
              <a:t>Magnetic shield</a:t>
            </a:r>
            <a:endParaRPr lang="en-US" sz="1300" dirty="0"/>
          </a:p>
        </p:txBody>
      </p:sp>
      <p:sp>
        <p:nvSpPr>
          <p:cNvPr id="33" name="Text 24"/>
          <p:cNvSpPr txBox="1"/>
          <p:nvPr/>
        </p:nvSpPr>
        <p:spPr>
          <a:xfrm>
            <a:off x="5285232" y="3447288"/>
            <a:ext cx="18745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 10.0 R</a:t>
            </a:r>
            <a:pPr indent="0" marL="0">
              <a:buNone/>
            </a:pPr>
            <a:r>
              <a:rPr lang="en-US" sz="1800" b="1" baseline="-40000" dirty="0">
                <a:solidFill>
                  <a:schemeClr val="tx1"/>
                </a:solidFill>
                <a:latin typeface="Cambria" pitchFamily="34" charset="0"/>
                <a:ea typeface="Cambria" pitchFamily="34" charset="-122"/>
                <a:cs typeface="Cambria" pitchFamily="34" charset="-120"/>
              </a:rPr>
              <a:t>E</a:t>
            </a:r>
            <a:endParaRPr lang="en-US" sz="1800" dirty="0"/>
          </a:p>
        </p:txBody>
      </p:sp>
      <p:sp>
        <p:nvSpPr>
          <p:cNvPr id="34" name="Text 25"/>
          <p:cNvSpPr txBox="1"/>
          <p:nvPr/>
        </p:nvSpPr>
        <p:spPr>
          <a:xfrm>
            <a:off x="5285232" y="3931920"/>
            <a:ext cx="1874520" cy="320040"/>
          </a:xfrm>
          <a:prstGeom prst="rect">
            <a:avLst/>
          </a:prstGeom>
          <a:noFill/>
          <a:ln/>
        </p:spPr>
        <p:txBody>
          <a:bodyPr wrap="square" lIns="0" tIns="0" rIns="0" bIns="0" rtlCol="0" anchor="ctr"/>
          <a:lstStyle/>
          <a:p>
            <a:pPr indent="0" marL="0">
              <a:buNone/>
            </a:pPr>
            <a:r>
              <a:rPr lang="en-US" sz="1200" dirty="0">
                <a:solidFill>
                  <a:srgbClr val="5F6B7A"/>
                </a:solidFill>
              </a:rPr>
              <a:t>limit ≥ 3 R</a:t>
            </a:r>
            <a:pPr indent="0" marL="0">
              <a:buNone/>
            </a:pPr>
            <a:r>
              <a:rPr lang="en-US" sz="1200" baseline="-40000" dirty="0">
                <a:solidFill>
                  <a:srgbClr val="5F6B7A"/>
                </a:solidFill>
              </a:rPr>
              <a:t>E</a:t>
            </a:r>
            <a:endParaRPr lang="en-US" sz="1200" dirty="0"/>
          </a:p>
        </p:txBody>
      </p:sp>
      <p:sp>
        <p:nvSpPr>
          <p:cNvPr id="35" name="threshold 7"/>
          <p:cNvSpPr/>
          <p:nvPr/>
        </p:nvSpPr>
        <p:spPr>
          <a:xfrm>
            <a:off x="548640" y="4517136"/>
            <a:ext cx="2148840" cy="1435608"/>
          </a:xfrm>
          <a:prstGeom prst="roundRect">
            <a:avLst>
              <a:gd name="adj" fmla="val 7643"/>
            </a:avLst>
          </a:prstGeom>
          <a:solidFill>
            <a:srgbClr val="F1F3F6"/>
          </a:solidFill>
          <a:ln w="12700">
            <a:solidFill>
              <a:srgbClr val="F1F3F6"/>
            </a:solidFill>
            <a:prstDash val="solid"/>
          </a:ln>
        </p:spPr>
      </p:sp>
      <p:pic>
        <p:nvPicPr>
          <p:cNvPr id="36" name="check" descr="preencoded.png">    </p:cNvPr>
          <p:cNvPicPr>
            <a:picLocks noChangeAspect="1"/>
          </p:cNvPicPr>
          <p:nvPr/>
        </p:nvPicPr>
        <p:blipFill>
          <a:blip r:embed="rId10"/>
          <a:stretch>
            <a:fillRect/>
          </a:stretch>
        </p:blipFill>
        <p:spPr>
          <a:xfrm>
            <a:off x="2313432" y="4654296"/>
            <a:ext cx="246888" cy="246888"/>
          </a:xfrm>
          <a:prstGeom prst="rect">
            <a:avLst/>
          </a:prstGeom>
        </p:spPr>
      </p:pic>
      <p:sp>
        <p:nvSpPr>
          <p:cNvPr id="37" name="Text 27"/>
          <p:cNvSpPr txBox="1"/>
          <p:nvPr/>
        </p:nvSpPr>
        <p:spPr>
          <a:xfrm>
            <a:off x="713232" y="4626864"/>
            <a:ext cx="1600200" cy="365760"/>
          </a:xfrm>
          <a:prstGeom prst="rect">
            <a:avLst/>
          </a:prstGeom>
          <a:noFill/>
          <a:ln/>
        </p:spPr>
        <p:txBody>
          <a:bodyPr wrap="square" lIns="0" tIns="0" rIns="0" bIns="0" rtlCol="0" anchor="ctr"/>
          <a:lstStyle/>
          <a:p>
            <a:pPr indent="0" marL="0">
              <a:buNone/>
            </a:pPr>
            <a:r>
              <a:rPr lang="en-US" sz="1300" b="1" dirty="0">
                <a:solidFill>
                  <a:schemeClr val="tx1"/>
                </a:solidFill>
              </a:rPr>
              <a:t>Day length change</a:t>
            </a:r>
            <a:endParaRPr lang="en-US" sz="1300" dirty="0"/>
          </a:p>
        </p:txBody>
      </p:sp>
      <p:sp>
        <p:nvSpPr>
          <p:cNvPr id="38" name="Text 28"/>
          <p:cNvSpPr txBox="1"/>
          <p:nvPr/>
        </p:nvSpPr>
        <p:spPr>
          <a:xfrm>
            <a:off x="713232" y="5020056"/>
            <a:ext cx="18745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&lt; 10</a:t>
            </a:r>
            <a:pPr indent="0" marL="0">
              <a:buNone/>
            </a:pPr>
            <a:r>
              <a:rPr lang="en-US" sz="1800" b="1" baseline="30000" dirty="0">
                <a:solidFill>
                  <a:schemeClr val="tx1"/>
                </a:solidFill>
                <a:latin typeface="Cambria" pitchFamily="34" charset="0"/>
                <a:ea typeface="Cambria" pitchFamily="34" charset="-122"/>
                <a:cs typeface="Cambria" pitchFamily="34" charset="-120"/>
              </a:rPr>
              <a:t>−6</a:t>
            </a:r>
            <a:pPr indent="0" marL="0">
              <a:buNone/>
            </a:pPr>
            <a:r>
              <a:rPr lang="en-US" sz="1800" b="1" dirty="0">
                <a:solidFill>
                  <a:schemeClr val="tx1"/>
                </a:solidFill>
                <a:latin typeface="Cambria" pitchFamily="34" charset="0"/>
                <a:ea typeface="Cambria" pitchFamily="34" charset="-122"/>
                <a:cs typeface="Cambria" pitchFamily="34" charset="-120"/>
              </a:rPr>
              <a:t> s</a:t>
            </a:r>
            <a:endParaRPr lang="en-US" sz="1800" dirty="0"/>
          </a:p>
        </p:txBody>
      </p:sp>
      <p:sp>
        <p:nvSpPr>
          <p:cNvPr id="39" name="Text 29"/>
          <p:cNvSpPr txBox="1"/>
          <p:nvPr/>
        </p:nvSpPr>
        <p:spPr>
          <a:xfrm>
            <a:off x="713232" y="5504688"/>
            <a:ext cx="1874520" cy="320040"/>
          </a:xfrm>
          <a:prstGeom prst="rect">
            <a:avLst/>
          </a:prstGeom>
          <a:noFill/>
          <a:ln/>
        </p:spPr>
        <p:txBody>
          <a:bodyPr wrap="square" lIns="0" tIns="0" rIns="0" bIns="0" rtlCol="0" anchor="ctr"/>
          <a:lstStyle/>
          <a:p>
            <a:pPr indent="0" marL="0">
              <a:buNone/>
            </a:pPr>
            <a:r>
              <a:rPr lang="en-US" sz="1200" dirty="0">
                <a:solidFill>
                  <a:srgbClr val="5F6B7A"/>
                </a:solidFill>
              </a:rPr>
              <a:t>limit ≤ 1 s</a:t>
            </a:r>
            <a:endParaRPr lang="en-US" sz="1200" dirty="0"/>
          </a:p>
        </p:txBody>
      </p:sp>
      <p:sp>
        <p:nvSpPr>
          <p:cNvPr id="40" name="threshold 8"/>
          <p:cNvSpPr/>
          <p:nvPr/>
        </p:nvSpPr>
        <p:spPr>
          <a:xfrm>
            <a:off x="2834640" y="4517136"/>
            <a:ext cx="2148840" cy="1435608"/>
          </a:xfrm>
          <a:prstGeom prst="roundRect">
            <a:avLst>
              <a:gd name="adj" fmla="val 7643"/>
            </a:avLst>
          </a:prstGeom>
          <a:solidFill>
            <a:srgbClr val="F1F3F6"/>
          </a:solidFill>
          <a:ln w="12700">
            <a:solidFill>
              <a:srgbClr val="F1F3F6"/>
            </a:solidFill>
            <a:prstDash val="solid"/>
          </a:ln>
        </p:spPr>
      </p:sp>
      <p:pic>
        <p:nvPicPr>
          <p:cNvPr id="41" name="check" descr="preencoded.png">    </p:cNvPr>
          <p:cNvPicPr>
            <a:picLocks noChangeAspect="1"/>
          </p:cNvPicPr>
          <p:nvPr/>
        </p:nvPicPr>
        <p:blipFill>
          <a:blip r:embed="rId11"/>
          <a:stretch>
            <a:fillRect/>
          </a:stretch>
        </p:blipFill>
        <p:spPr>
          <a:xfrm>
            <a:off x="4599432" y="4654296"/>
            <a:ext cx="246888" cy="246888"/>
          </a:xfrm>
          <a:prstGeom prst="rect">
            <a:avLst/>
          </a:prstGeom>
        </p:spPr>
      </p:pic>
      <p:sp>
        <p:nvSpPr>
          <p:cNvPr id="42" name="Text 31"/>
          <p:cNvSpPr txBox="1"/>
          <p:nvPr/>
        </p:nvSpPr>
        <p:spPr>
          <a:xfrm>
            <a:off x="2999232" y="4626864"/>
            <a:ext cx="1600200" cy="365760"/>
          </a:xfrm>
          <a:prstGeom prst="rect">
            <a:avLst/>
          </a:prstGeom>
          <a:noFill/>
          <a:ln/>
        </p:spPr>
        <p:txBody>
          <a:bodyPr wrap="square" lIns="0" tIns="0" rIns="0" bIns="0" rtlCol="0" anchor="ctr"/>
          <a:lstStyle/>
          <a:p>
            <a:pPr indent="0" marL="0">
              <a:buNone/>
            </a:pPr>
            <a:r>
              <a:rPr lang="en-US" sz="1300" b="1" dirty="0">
                <a:solidFill>
                  <a:schemeClr val="tx1"/>
                </a:solidFill>
              </a:rPr>
              <a:t>Moon / Hill radius</a:t>
            </a:r>
            <a:endParaRPr lang="en-US" sz="1300" dirty="0"/>
          </a:p>
        </p:txBody>
      </p:sp>
      <p:sp>
        <p:nvSpPr>
          <p:cNvPr id="43" name="Text 32"/>
          <p:cNvSpPr txBox="1"/>
          <p:nvPr/>
        </p:nvSpPr>
        <p:spPr>
          <a:xfrm>
            <a:off x="2999232" y="5020056"/>
            <a:ext cx="18745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 0.256</a:t>
            </a:r>
            <a:endParaRPr lang="en-US" sz="1800" dirty="0"/>
          </a:p>
        </p:txBody>
      </p:sp>
      <p:sp>
        <p:nvSpPr>
          <p:cNvPr id="44" name="Text 33"/>
          <p:cNvSpPr txBox="1"/>
          <p:nvPr/>
        </p:nvSpPr>
        <p:spPr>
          <a:xfrm>
            <a:off x="2999232" y="5504688"/>
            <a:ext cx="1874520" cy="320040"/>
          </a:xfrm>
          <a:prstGeom prst="rect">
            <a:avLst/>
          </a:prstGeom>
          <a:noFill/>
          <a:ln/>
        </p:spPr>
        <p:txBody>
          <a:bodyPr wrap="square" lIns="0" tIns="0" rIns="0" bIns="0" rtlCol="0" anchor="ctr"/>
          <a:lstStyle/>
          <a:p>
            <a:pPr indent="0" marL="0">
              <a:buNone/>
            </a:pPr>
            <a:r>
              <a:rPr lang="en-US" sz="1200" dirty="0">
                <a:solidFill>
                  <a:srgbClr val="5F6B7A"/>
                </a:solidFill>
              </a:rPr>
              <a:t>limit &lt; 0.49</a:t>
            </a:r>
            <a:endParaRPr lang="en-US" sz="1200" dirty="0"/>
          </a:p>
        </p:txBody>
      </p:sp>
      <p:sp>
        <p:nvSpPr>
          <p:cNvPr id="45" name="threshold 9"/>
          <p:cNvSpPr/>
          <p:nvPr/>
        </p:nvSpPr>
        <p:spPr>
          <a:xfrm>
            <a:off x="5120640" y="4517136"/>
            <a:ext cx="2148840" cy="1435608"/>
          </a:xfrm>
          <a:prstGeom prst="roundRect">
            <a:avLst>
              <a:gd name="adj" fmla="val 7643"/>
            </a:avLst>
          </a:prstGeom>
          <a:solidFill>
            <a:srgbClr val="F1F3F6"/>
          </a:solidFill>
          <a:ln w="12700">
            <a:solidFill>
              <a:srgbClr val="F1F3F6"/>
            </a:solidFill>
            <a:prstDash val="solid"/>
          </a:ln>
        </p:spPr>
      </p:sp>
      <p:pic>
        <p:nvPicPr>
          <p:cNvPr id="46" name="check" descr="preencoded.png">    </p:cNvPr>
          <p:cNvPicPr>
            <a:picLocks noChangeAspect="1"/>
          </p:cNvPicPr>
          <p:nvPr/>
        </p:nvPicPr>
        <p:blipFill>
          <a:blip r:embed="rId12"/>
          <a:stretch>
            <a:fillRect/>
          </a:stretch>
        </p:blipFill>
        <p:spPr>
          <a:xfrm>
            <a:off x="6885432" y="4654296"/>
            <a:ext cx="246888" cy="246888"/>
          </a:xfrm>
          <a:prstGeom prst="rect">
            <a:avLst/>
          </a:prstGeom>
        </p:spPr>
      </p:pic>
      <p:sp>
        <p:nvSpPr>
          <p:cNvPr id="47" name="Text 35"/>
          <p:cNvSpPr txBox="1"/>
          <p:nvPr/>
        </p:nvSpPr>
        <p:spPr>
          <a:xfrm>
            <a:off x="5285232" y="4626864"/>
            <a:ext cx="1600200" cy="365760"/>
          </a:xfrm>
          <a:prstGeom prst="rect">
            <a:avLst/>
          </a:prstGeom>
          <a:noFill/>
          <a:ln/>
        </p:spPr>
        <p:txBody>
          <a:bodyPr wrap="square" lIns="0" tIns="0" rIns="0" bIns="0" rtlCol="0" anchor="ctr"/>
          <a:lstStyle/>
          <a:p>
            <a:pPr indent="0" marL="0">
              <a:buNone/>
            </a:pPr>
            <a:r>
              <a:rPr lang="en-US" sz="1300" b="1" dirty="0">
                <a:solidFill>
                  <a:schemeClr val="tx1"/>
                </a:solidFill>
              </a:rPr>
              <a:t>Thrust / pull on Moon</a:t>
            </a:r>
            <a:endParaRPr lang="en-US" sz="1300" dirty="0"/>
          </a:p>
        </p:txBody>
      </p:sp>
      <p:sp>
        <p:nvSpPr>
          <p:cNvPr id="48" name="Text 36"/>
          <p:cNvSpPr txBox="1"/>
          <p:nvPr/>
        </p:nvSpPr>
        <p:spPr>
          <a:xfrm>
            <a:off x="5285232" y="5020056"/>
            <a:ext cx="1874520"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 0.0020</a:t>
            </a:r>
            <a:endParaRPr lang="en-US" sz="1800" dirty="0"/>
          </a:p>
        </p:txBody>
      </p:sp>
      <p:sp>
        <p:nvSpPr>
          <p:cNvPr id="49" name="Text 37"/>
          <p:cNvSpPr txBox="1"/>
          <p:nvPr/>
        </p:nvSpPr>
        <p:spPr>
          <a:xfrm>
            <a:off x="5285232" y="5504688"/>
            <a:ext cx="1874520" cy="320040"/>
          </a:xfrm>
          <a:prstGeom prst="rect">
            <a:avLst/>
          </a:prstGeom>
          <a:noFill/>
          <a:ln/>
        </p:spPr>
        <p:txBody>
          <a:bodyPr wrap="square" lIns="0" tIns="0" rIns="0" bIns="0" rtlCol="0" anchor="ctr"/>
          <a:lstStyle/>
          <a:p>
            <a:pPr indent="0" marL="0">
              <a:buNone/>
            </a:pPr>
            <a:r>
              <a:rPr lang="en-US" sz="1200" dirty="0">
                <a:solidFill>
                  <a:srgbClr val="5F6B7A"/>
                </a:solidFill>
              </a:rPr>
              <a:t>limit &lt; 0.01</a:t>
            </a:r>
            <a:endParaRPr lang="en-US" sz="1200" dirty="0"/>
          </a:p>
        </p:txBody>
      </p:sp>
      <p:sp>
        <p:nvSpPr>
          <p:cNvPr id="50" name="climate card"/>
          <p:cNvSpPr/>
          <p:nvPr/>
        </p:nvSpPr>
        <p:spPr>
          <a:xfrm>
            <a:off x="7543800" y="1371600"/>
            <a:ext cx="4114800" cy="4544568"/>
          </a:xfrm>
          <a:prstGeom prst="roundRect">
            <a:avLst>
              <a:gd name="adj" fmla="val 2667"/>
            </a:avLst>
          </a:prstGeom>
          <a:solidFill>
            <a:srgbClr val="FDF3DC"/>
          </a:solidFill>
          <a:ln w="12700">
            <a:solidFill>
              <a:srgbClr val="FDF3DC"/>
            </a:solidFill>
            <a:prstDash val="solid"/>
          </a:ln>
        </p:spPr>
      </p:sp>
      <p:sp>
        <p:nvSpPr>
          <p:cNvPr id="51" name="Text 39"/>
          <p:cNvSpPr txBox="1"/>
          <p:nvPr/>
        </p:nvSpPr>
        <p:spPr>
          <a:xfrm>
            <a:off x="7772400" y="1554480"/>
            <a:ext cx="3657600" cy="411480"/>
          </a:xfrm>
          <a:prstGeom prst="rect">
            <a:avLst/>
          </a:prstGeom>
          <a:noFill/>
          <a:ln/>
        </p:spPr>
        <p:txBody>
          <a:bodyPr wrap="square" lIns="0" tIns="0" rIns="0" bIns="0" rtlCol="0" anchor="ctr"/>
          <a:lstStyle/>
          <a:p>
            <a:pPr indent="0" marL="0">
              <a:buNone/>
            </a:pPr>
            <a:r>
              <a:rPr lang="en-US" sz="1800" b="1" dirty="0">
                <a:solidFill>
                  <a:schemeClr val="tx1"/>
                </a:solidFill>
              </a:rPr>
              <a:t>Sunlight at 2.7 AU</a:t>
            </a:r>
            <a:endParaRPr lang="en-US" sz="1800" dirty="0"/>
          </a:p>
        </p:txBody>
      </p:sp>
      <p:sp>
        <p:nvSpPr>
          <p:cNvPr id="52" name="Text 40"/>
          <p:cNvSpPr txBox="1"/>
          <p:nvPr/>
        </p:nvSpPr>
        <p:spPr>
          <a:xfrm>
            <a:off x="7772400" y="2057400"/>
            <a:ext cx="3657600" cy="384048"/>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13.7%</a:t>
            </a:r>
            <a:endParaRPr lang="en-US" sz="2000" dirty="0"/>
          </a:p>
        </p:txBody>
      </p:sp>
      <p:sp>
        <p:nvSpPr>
          <p:cNvPr id="53" name="Text 41"/>
          <p:cNvSpPr txBox="1"/>
          <p:nvPr/>
        </p:nvSpPr>
        <p:spPr>
          <a:xfrm>
            <a:off x="7772400" y="2441448"/>
            <a:ext cx="3657600" cy="502920"/>
          </a:xfrm>
          <a:prstGeom prst="rect">
            <a:avLst/>
          </a:prstGeom>
          <a:noFill/>
          <a:ln/>
        </p:spPr>
        <p:txBody>
          <a:bodyPr wrap="square" lIns="0" tIns="0" rIns="0" bIns="0" rtlCol="0" anchor="t"/>
          <a:lstStyle/>
          <a:p>
            <a:pPr indent="0" marL="0">
              <a:buNone/>
            </a:pPr>
            <a:r>
              <a:rPr lang="en-US" sz="1200" dirty="0">
                <a:solidFill>
                  <a:schemeClr val="tx1"/>
                </a:solidFill>
              </a:rPr>
              <a:t>of today's sunlight reaches Earth at 2.7 AU</a:t>
            </a:r>
            <a:endParaRPr lang="en-US" sz="1200" dirty="0"/>
          </a:p>
        </p:txBody>
      </p:sp>
      <p:sp>
        <p:nvSpPr>
          <p:cNvPr id="54" name="Text 42"/>
          <p:cNvSpPr txBox="1"/>
          <p:nvPr/>
        </p:nvSpPr>
        <p:spPr>
          <a:xfrm>
            <a:off x="7772400" y="2999232"/>
            <a:ext cx="3657600" cy="384048"/>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150 K</a:t>
            </a:r>
            <a:endParaRPr lang="en-US" sz="2000" dirty="0"/>
          </a:p>
        </p:txBody>
      </p:sp>
      <p:sp>
        <p:nvSpPr>
          <p:cNvPr id="55" name="Text 43"/>
          <p:cNvSpPr txBox="1"/>
          <p:nvPr/>
        </p:nvSpPr>
        <p:spPr>
          <a:xfrm>
            <a:off x="7772400" y="3383280"/>
            <a:ext cx="3657600" cy="502920"/>
          </a:xfrm>
          <a:prstGeom prst="rect">
            <a:avLst/>
          </a:prstGeom>
          <a:noFill/>
          <a:ln/>
        </p:spPr>
        <p:txBody>
          <a:bodyPr wrap="square" lIns="0" tIns="0" rIns="0" bIns="0" rtlCol="0" anchor="t"/>
          <a:lstStyle/>
          <a:p>
            <a:pPr indent="0" marL="0">
              <a:buNone/>
            </a:pPr>
            <a:r>
              <a:rPr lang="en-US" sz="1200" dirty="0">
                <a:solidFill>
                  <a:schemeClr val="tx1"/>
                </a:solidFill>
              </a:rPr>
              <a:t>frozen, no liquid water, without help</a:t>
            </a:r>
            <a:endParaRPr lang="en-US" sz="1200" dirty="0"/>
          </a:p>
        </p:txBody>
      </p:sp>
      <p:sp>
        <p:nvSpPr>
          <p:cNvPr id="56" name="Text 44"/>
          <p:cNvSpPr txBox="1"/>
          <p:nvPr/>
        </p:nvSpPr>
        <p:spPr>
          <a:xfrm>
            <a:off x="7772400" y="3941064"/>
            <a:ext cx="3657600" cy="384048"/>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287.8–288.8 K</a:t>
            </a:r>
            <a:endParaRPr lang="en-US" sz="2000" dirty="0"/>
          </a:p>
        </p:txBody>
      </p:sp>
      <p:sp>
        <p:nvSpPr>
          <p:cNvPr id="57" name="Text 45"/>
          <p:cNvSpPr txBox="1"/>
          <p:nvPr/>
        </p:nvSpPr>
        <p:spPr>
          <a:xfrm>
            <a:off x="7772400" y="4325112"/>
            <a:ext cx="3657600" cy="502920"/>
          </a:xfrm>
          <a:prstGeom prst="rect">
            <a:avLst/>
          </a:prstGeom>
          <a:noFill/>
          <a:ln/>
        </p:spPr>
        <p:txBody>
          <a:bodyPr wrap="square" lIns="0" tIns="0" rIns="0" bIns="0" rtlCol="0" anchor="t"/>
          <a:lstStyle/>
          <a:p>
            <a:pPr indent="0" marL="0">
              <a:buNone/>
            </a:pPr>
            <a:r>
              <a:rPr lang="en-US" sz="1200" dirty="0">
                <a:solidFill>
                  <a:schemeClr val="tx1"/>
                </a:solidFill>
              </a:rPr>
              <a:t>with E3's sunlight optics, up to 8.5×10</a:t>
            </a:r>
            <a:pPr indent="0" marL="0">
              <a:buNone/>
            </a:pPr>
            <a:r>
              <a:rPr lang="en-US" sz="1200" baseline="30000" dirty="0">
                <a:solidFill>
                  <a:schemeClr val="tx1"/>
                </a:solidFill>
              </a:rPr>
              <a:t>8</a:t>
            </a:r>
            <a:pPr indent="0" marL="0">
              <a:buNone/>
            </a:pPr>
            <a:r>
              <a:rPr lang="en-US" sz="1200" dirty="0">
                <a:solidFill>
                  <a:schemeClr val="tx1"/>
                </a:solidFill>
              </a:rPr>
              <a:t> km</a:t>
            </a:r>
            <a:pPr indent="0" marL="0">
              <a:buNone/>
            </a:pPr>
            <a:r>
              <a:rPr lang="en-US" sz="1200" baseline="30000" dirty="0">
                <a:solidFill>
                  <a:schemeClr val="tx1"/>
                </a:solidFill>
              </a:rPr>
              <a:t>2</a:t>
            </a:r>
            <a:pPr indent="0" marL="0">
              <a:buNone/>
            </a:pPr>
            <a:r>
              <a:rPr lang="en-US" sz="1200" dirty="0">
                <a:solidFill>
                  <a:schemeClr val="tx1"/>
                </a:solidFill>
              </a:rPr>
              <a:t>, counted face on</a:t>
            </a:r>
            <a:endParaRPr lang="en-US" sz="1200" dirty="0"/>
          </a:p>
        </p:txBody>
      </p:sp>
      <p:sp>
        <p:nvSpPr>
          <p:cNvPr id="58" name="Text 46"/>
          <p:cNvSpPr txBox="1"/>
          <p:nvPr/>
        </p:nvSpPr>
        <p:spPr>
          <a:xfrm>
            <a:off x="7772400" y="4882896"/>
            <a:ext cx="3657600" cy="384048"/>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97%, 286 K</a:t>
            </a:r>
            <a:endParaRPr lang="en-US" sz="2000" dirty="0"/>
          </a:p>
        </p:txBody>
      </p:sp>
      <p:sp>
        <p:nvSpPr>
          <p:cNvPr id="59" name="Text 47"/>
          <p:cNvSpPr txBox="1"/>
          <p:nvPr/>
        </p:nvSpPr>
        <p:spPr>
          <a:xfrm>
            <a:off x="7772400" y="5266944"/>
            <a:ext cx="3657600" cy="502920"/>
          </a:xfrm>
          <a:prstGeom prst="rect">
            <a:avLst/>
          </a:prstGeom>
          <a:noFill/>
          <a:ln/>
        </p:spPr>
        <p:txBody>
          <a:bodyPr wrap="square" lIns="0" tIns="0" rIns="0" bIns="0" rtlCol="0" anchor="t"/>
          <a:lstStyle/>
          <a:p>
            <a:pPr indent="0" marL="0">
              <a:buNone/>
            </a:pPr>
            <a:r>
              <a:rPr lang="en-US" sz="1200" dirty="0">
                <a:solidFill>
                  <a:schemeClr val="tx1"/>
                </a:solidFill>
              </a:rPr>
              <a:t>placed for real: a refracting ring near L1, held to E3's bound</a:t>
            </a:r>
            <a:endParaRPr lang="en-US" sz="1200" dirty="0"/>
          </a:p>
        </p:txBody>
      </p:sp>
      <p:sp>
        <p:nvSpPr>
          <p:cNvPr id="60" name="source"/>
          <p:cNvSpPr txBox="1"/>
          <p:nvPr/>
        </p:nvSpPr>
        <p:spPr>
          <a:xfrm>
            <a:off x="548640" y="6126480"/>
            <a:ext cx="9692640" cy="274320"/>
          </a:xfrm>
          <a:prstGeom prst="rect">
            <a:avLst/>
          </a:prstGeom>
          <a:noFill/>
          <a:ln/>
        </p:spPr>
        <p:txBody>
          <a:bodyPr wrap="square" lIns="0" tIns="0" rIns="0" bIns="0" rtlCol="0" anchor="ctr"/>
          <a:lstStyle/>
          <a:p>
            <a:pPr indent="0" marL="0">
              <a:buNone/>
            </a:pPr>
            <a:r>
              <a:rPr lang="en-US" sz="1000" dirty="0">
                <a:solidFill>
                  <a:srgbClr val="5F6B7A"/>
                </a:solidFill>
              </a:rPr>
              <a:t>Source: results/summary.json (climate), results/mirrors.json; thresholds from the company's reference demo. Checked every 100 days.</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600" b="1" dirty="0">
                <a:solidFill>
                  <a:schemeClr val="tx1"/>
                </a:solidFill>
              </a:rPr>
              <a:t>What if…? The tests that shaped the design</a:t>
            </a:r>
            <a:endParaRPr lang="en-US" sz="3600" dirty="0"/>
          </a:p>
        </p:txBody>
      </p:sp>
      <p:sp>
        <p:nvSpPr>
          <p:cNvPr id="3" name="Map button">
            <a:hlinkClick r:id="rId1"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1"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4" name="Map icon" descr="preencoded.png">
            <a:hlinkClick r:id="rId3" tooltip="Back to the map" action="ppaction://hlinksldjump"/>
          </p:cNvPr>
          <p:cNvPicPr>
            <a:picLocks noChangeAspect="1"/>
          </p:cNvPicPr>
          <p:nvPr/>
        </p:nvPicPr>
        <p:blipFill>
          <a:blip r:embed="rId2"/>
          <a:stretch>
            <a:fillRect/>
          </a:stretch>
        </p:blipFill>
        <p:spPr>
          <a:xfrm>
            <a:off x="10972800" y="475488"/>
            <a:ext cx="201168" cy="201168"/>
          </a:xfrm>
          <a:prstGeom prst="rect">
            <a:avLst/>
          </a:prstGeom>
        </p:spPr>
      </p:pic>
      <p:sp>
        <p:nvSpPr>
          <p:cNvPr id="5" name="what-if 1">
            <a:hlinkClick r:id="rId4" tooltip="Open the details" action="ppaction://hlinksldjump"/>
          </p:cNvPr>
          <p:cNvSpPr/>
          <p:nvPr/>
        </p:nvSpPr>
        <p:spPr>
          <a:xfrm>
            <a:off x="548640" y="1371600"/>
            <a:ext cx="3520440" cy="2212848"/>
          </a:xfrm>
          <a:prstGeom prst="roundRect">
            <a:avLst>
              <a:gd name="adj" fmla="val 4959"/>
            </a:avLst>
          </a:prstGeom>
          <a:solidFill>
            <a:srgbClr val="F1F3F6"/>
          </a:solidFill>
          <a:ln w="12700">
            <a:solidFill>
              <a:srgbClr val="F1F3F6"/>
            </a:solidFill>
            <a:prstDash val="solid"/>
          </a:ln>
        </p:spPr>
      </p:sp>
      <p:sp>
        <p:nvSpPr>
          <p:cNvPr id="6" name="badge FaMeteor">
            <a:hlinkClick r:id="rId5" tooltip="Open" action="ppaction://hlinksldjump"/>
          </p:cNvPr>
          <p:cNvSpPr/>
          <p:nvPr/>
        </p:nvSpPr>
        <p:spPr>
          <a:xfrm>
            <a:off x="749808" y="1554480"/>
            <a:ext cx="502920" cy="502920"/>
          </a:xfrm>
          <a:prstGeom prst="ellipse">
            <a:avLst/>
          </a:prstGeom>
          <a:solidFill>
            <a:srgbClr val="EB6834"/>
          </a:solidFill>
          <a:ln w="12700">
            <a:solidFill>
              <a:srgbClr val="EB6834"/>
            </a:solidFill>
            <a:prstDash val="solid"/>
          </a:ln>
        </p:spPr>
      </p:sp>
      <p:pic>
        <p:nvPicPr>
          <p:cNvPr id="7" name="icon FaMeteor" descr="preencoded.png">
            <a:hlinkClick r:id="rId7" tooltip="Open" action="ppaction://hlinksldjump"/>
          </p:cNvPr>
          <p:cNvPicPr>
            <a:picLocks noChangeAspect="1"/>
          </p:cNvPicPr>
          <p:nvPr/>
        </p:nvPicPr>
        <p:blipFill>
          <a:blip r:embed="rId6"/>
          <a:stretch>
            <a:fillRect/>
          </a:stretch>
        </p:blipFill>
        <p:spPr>
          <a:xfrm>
            <a:off x="870509" y="1675181"/>
            <a:ext cx="261518" cy="261518"/>
          </a:xfrm>
          <a:prstGeom prst="rect">
            <a:avLst/>
          </a:prstGeom>
        </p:spPr>
      </p:pic>
      <p:sp>
        <p:nvSpPr>
          <p:cNvPr id="8" name="Text 4"/>
          <p:cNvSpPr txBox="1"/>
          <p:nvPr/>
        </p:nvSpPr>
        <p:spPr>
          <a:xfrm>
            <a:off x="1371600" y="1554480"/>
            <a:ext cx="2560320" cy="502920"/>
          </a:xfrm>
          <a:prstGeom prst="rect">
            <a:avLst/>
          </a:prstGeom>
          <a:noFill/>
          <a:ln/>
        </p:spPr>
        <p:txBody>
          <a:bodyPr wrap="square" lIns="0" tIns="0" rIns="0" bIns="0" rtlCol="0" anchor="ctr"/>
          <a:lstStyle/>
          <a:p>
            <a:pPr indent="0" marL="0">
              <a:buNone/>
            </a:pPr>
            <a:r>
              <a:rPr lang="en-US" sz="1600" b="1" dirty="0">
                <a:solidFill>
                  <a:schemeClr val="tx1"/>
                </a:solidFill>
              </a:rPr>
              <a:t>No Mars tow?</a:t>
            </a:r>
            <a:endParaRPr lang="en-US" sz="1600" dirty="0"/>
          </a:p>
        </p:txBody>
      </p:sp>
      <p:sp>
        <p:nvSpPr>
          <p:cNvPr id="9" name="Text 5"/>
          <p:cNvSpPr txBox="1"/>
          <p:nvPr/>
        </p:nvSpPr>
        <p:spPr>
          <a:xfrm>
            <a:off x="749808" y="2176272"/>
            <a:ext cx="3154680" cy="105156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Earth passes Mars at about 33,000 km.</a:t>
            </a:r>
            <a:endParaRPr lang="en-US" sz="1300" dirty="0"/>
          </a:p>
          <a:p>
            <a:pPr indent="0" marL="0">
              <a:spcAft>
                <a:spcPts val="500"/>
              </a:spcAft>
              <a:buNone/>
            </a:pPr>
            <a:r>
              <a:rPr lang="en-US" sz="1300" b="1" dirty="0">
                <a:solidFill>
                  <a:schemeClr val="tx1"/>
                </a:solidFill>
              </a:rPr>
              <a:t>Tow Mars out first, to 3.64 AU.</a:t>
            </a:r>
            <a:endParaRPr lang="en-US" sz="1300" dirty="0"/>
          </a:p>
        </p:txBody>
      </p:sp>
      <p:sp>
        <p:nvSpPr>
          <p:cNvPr id="10" name="Text 6">
            <a:hlinkClick r:id="rId8" tooltip="Open the details" action="ppaction://hlinksldjump"/>
          </p:cNvPr>
          <p:cNvSpPr/>
          <p:nvPr/>
        </p:nvSpPr>
        <p:spPr>
          <a:xfrm>
            <a:off x="2743200" y="3218688"/>
            <a:ext cx="1188720" cy="274320"/>
          </a:xfrm>
          <a:prstGeom prst="rect">
            <a:avLst/>
          </a:prstGeom>
          <a:noFill/>
          <a:ln/>
        </p:spPr>
        <p:txBody>
          <a:bodyPr wrap="square" lIns="0" tIns="0" rIns="0" bIns="0" rtlCol="0" anchor="ctr"/>
          <a:lstStyle/>
          <a:p>
            <a:pPr algn="r" indent="0" marL="0">
              <a:buNone/>
            </a:pPr>
            <a:r>
              <a:rPr lang="en-US" sz="1200" b="1" u="sng" dirty="0">
                <a:solidFill>
                  <a:schemeClr val="accent2"/>
                </a:solidFill>
                <a:hlinkClick r:id="rId8" action="ppaction://hlinksldjump" tooltip="Open the details">
                  <a:extLst>
                    <a:ext uri="{A12FA001-AC4F-418D-AE19-62706E023703}">
                      <ahyp:hlinkClr xmlns:ahyp="http://schemas.microsoft.com/office/drawing/2018/hyperlinkcolor" val="tx"/>
                    </a:ext>
                  </a:extLst>
                </a:hlinkClick>
              </a:rPr>
              <a:t>Details →</a:t>
            </a:r>
            <a:endParaRPr lang="en-US" sz="1200" dirty="0"/>
          </a:p>
        </p:txBody>
      </p:sp>
      <p:sp>
        <p:nvSpPr>
          <p:cNvPr id="11" name="what-if 2">
            <a:hlinkClick r:id="rId9" tooltip="Open the details" action="ppaction://hlinksldjump"/>
          </p:cNvPr>
          <p:cNvSpPr/>
          <p:nvPr/>
        </p:nvSpPr>
        <p:spPr>
          <a:xfrm>
            <a:off x="4297680" y="1371600"/>
            <a:ext cx="3520440" cy="2212848"/>
          </a:xfrm>
          <a:prstGeom prst="roundRect">
            <a:avLst>
              <a:gd name="adj" fmla="val 4959"/>
            </a:avLst>
          </a:prstGeom>
          <a:solidFill>
            <a:srgbClr val="F1F3F6"/>
          </a:solidFill>
          <a:ln w="12700">
            <a:solidFill>
              <a:srgbClr val="F1F3F6"/>
            </a:solidFill>
            <a:prstDash val="solid"/>
          </a:ln>
        </p:spPr>
      </p:sp>
      <p:sp>
        <p:nvSpPr>
          <p:cNvPr id="12" name="badge FaArrowsRotate">
            <a:hlinkClick r:id="rId10" tooltip="Open" action="ppaction://hlinksldjump"/>
          </p:cNvPr>
          <p:cNvSpPr/>
          <p:nvPr/>
        </p:nvSpPr>
        <p:spPr>
          <a:xfrm>
            <a:off x="4498848" y="1554480"/>
            <a:ext cx="502920" cy="502920"/>
          </a:xfrm>
          <a:prstGeom prst="ellipse">
            <a:avLst/>
          </a:prstGeom>
          <a:solidFill>
            <a:srgbClr val="EB6834"/>
          </a:solidFill>
          <a:ln w="12700">
            <a:solidFill>
              <a:srgbClr val="EB6834"/>
            </a:solidFill>
            <a:prstDash val="solid"/>
          </a:ln>
        </p:spPr>
      </p:sp>
      <p:pic>
        <p:nvPicPr>
          <p:cNvPr id="13" name="icon FaArrowsRotate" descr="preencoded.png">
            <a:hlinkClick r:id="rId12" tooltip="Open" action="ppaction://hlinksldjump"/>
          </p:cNvPr>
          <p:cNvPicPr>
            <a:picLocks noChangeAspect="1"/>
          </p:cNvPicPr>
          <p:nvPr/>
        </p:nvPicPr>
        <p:blipFill>
          <a:blip r:embed="rId11"/>
          <a:stretch>
            <a:fillRect/>
          </a:stretch>
        </p:blipFill>
        <p:spPr>
          <a:xfrm>
            <a:off x="4619549" y="1675181"/>
            <a:ext cx="261518" cy="261518"/>
          </a:xfrm>
          <a:prstGeom prst="rect">
            <a:avLst/>
          </a:prstGeom>
        </p:spPr>
      </p:pic>
      <p:sp>
        <p:nvSpPr>
          <p:cNvPr id="14" name="Text 9"/>
          <p:cNvSpPr txBox="1"/>
          <p:nvPr/>
        </p:nvSpPr>
        <p:spPr>
          <a:xfrm>
            <a:off x="5120640" y="1554480"/>
            <a:ext cx="2560320" cy="502920"/>
          </a:xfrm>
          <a:prstGeom prst="rect">
            <a:avLst/>
          </a:prstGeom>
          <a:noFill/>
          <a:ln/>
        </p:spPr>
        <p:txBody>
          <a:bodyPr wrap="square" lIns="0" tIns="0" rIns="0" bIns="0" rtlCol="0" anchor="ctr"/>
          <a:lstStyle/>
          <a:p>
            <a:pPr indent="0" marL="0">
              <a:buNone/>
            </a:pPr>
            <a:r>
              <a:rPr lang="en-US" sz="1600" b="1" dirty="0">
                <a:solidFill>
                  <a:schemeClr val="tx1"/>
                </a:solidFill>
              </a:rPr>
              <a:t>Cross Jupiter's 2:1 slowly?</a:t>
            </a:r>
            <a:endParaRPr lang="en-US" sz="1600" dirty="0"/>
          </a:p>
        </p:txBody>
      </p:sp>
      <p:sp>
        <p:nvSpPr>
          <p:cNvPr id="15" name="Text 10"/>
          <p:cNvSpPr txBox="1"/>
          <p:nvPr/>
        </p:nvSpPr>
        <p:spPr>
          <a:xfrm>
            <a:off x="4498848" y="2176272"/>
            <a:ext cx="3154680" cy="105156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Mars was caught in 6 of 8 trials.</a:t>
            </a:r>
            <a:endParaRPr lang="en-US" sz="1300" dirty="0"/>
          </a:p>
          <a:p>
            <a:pPr indent="0" marL="0">
              <a:spcAft>
                <a:spcPts val="500"/>
              </a:spcAft>
              <a:buNone/>
            </a:pPr>
            <a:r>
              <a:rPr lang="en-US" sz="1300" b="1" dirty="0">
                <a:solidFill>
                  <a:schemeClr val="tx1"/>
                </a:solidFill>
              </a:rPr>
              <a:t>Sprint at 4× the pull: caught 0 of 8.</a:t>
            </a:r>
            <a:endParaRPr lang="en-US" sz="1300" dirty="0"/>
          </a:p>
        </p:txBody>
      </p:sp>
      <p:sp>
        <p:nvSpPr>
          <p:cNvPr id="16" name="Text 11">
            <a:hlinkClick r:id="rId13" tooltip="Open the details" action="ppaction://hlinksldjump"/>
          </p:cNvPr>
          <p:cNvSpPr/>
          <p:nvPr/>
        </p:nvSpPr>
        <p:spPr>
          <a:xfrm>
            <a:off x="6492240" y="3218688"/>
            <a:ext cx="1188720" cy="274320"/>
          </a:xfrm>
          <a:prstGeom prst="rect">
            <a:avLst/>
          </a:prstGeom>
          <a:noFill/>
          <a:ln/>
        </p:spPr>
        <p:txBody>
          <a:bodyPr wrap="square" lIns="0" tIns="0" rIns="0" bIns="0" rtlCol="0" anchor="ctr"/>
          <a:lstStyle/>
          <a:p>
            <a:pPr algn="r" indent="0" marL="0">
              <a:buNone/>
            </a:pPr>
            <a:r>
              <a:rPr lang="en-US" sz="1200" b="1" u="sng" dirty="0">
                <a:solidFill>
                  <a:schemeClr val="accent2"/>
                </a:solidFill>
                <a:hlinkClick r:id="rId13" action="ppaction://hlinksldjump" tooltip="Open the details">
                  <a:extLst>
                    <a:ext uri="{A12FA001-AC4F-418D-AE19-62706E023703}">
                      <ahyp:hlinkClr xmlns:ahyp="http://schemas.microsoft.com/office/drawing/2018/hyperlinkcolor" val="tx"/>
                    </a:ext>
                  </a:extLst>
                </a:hlinkClick>
              </a:rPr>
              <a:t>Details →</a:t>
            </a:r>
            <a:endParaRPr lang="en-US" sz="1200" dirty="0"/>
          </a:p>
        </p:txBody>
      </p:sp>
      <p:sp>
        <p:nvSpPr>
          <p:cNvPr id="17" name="what-if 3">
            <a:hlinkClick r:id="rId14" tooltip="Open the details" action="ppaction://hlinksldjump"/>
          </p:cNvPr>
          <p:cNvSpPr/>
          <p:nvPr/>
        </p:nvSpPr>
        <p:spPr>
          <a:xfrm>
            <a:off x="8046720" y="1371600"/>
            <a:ext cx="3520440" cy="2212848"/>
          </a:xfrm>
          <a:prstGeom prst="roundRect">
            <a:avLst>
              <a:gd name="adj" fmla="val 4959"/>
            </a:avLst>
          </a:prstGeom>
          <a:solidFill>
            <a:srgbClr val="F1F3F6"/>
          </a:solidFill>
          <a:ln w="12700">
            <a:solidFill>
              <a:srgbClr val="F1F3F6"/>
            </a:solidFill>
            <a:prstDash val="solid"/>
          </a:ln>
        </p:spPr>
      </p:sp>
      <p:sp>
        <p:nvSpPr>
          <p:cNvPr id="18" name="badge FaPowerOff">
            <a:hlinkClick r:id="rId15" tooltip="Open" action="ppaction://hlinksldjump"/>
          </p:cNvPr>
          <p:cNvSpPr/>
          <p:nvPr/>
        </p:nvSpPr>
        <p:spPr>
          <a:xfrm>
            <a:off x="8247888" y="1554480"/>
            <a:ext cx="502920" cy="502920"/>
          </a:xfrm>
          <a:prstGeom prst="ellipse">
            <a:avLst/>
          </a:prstGeom>
          <a:solidFill>
            <a:srgbClr val="E8A317"/>
          </a:solidFill>
          <a:ln w="12700">
            <a:solidFill>
              <a:srgbClr val="E8A317"/>
            </a:solidFill>
            <a:prstDash val="solid"/>
          </a:ln>
        </p:spPr>
      </p:sp>
      <p:pic>
        <p:nvPicPr>
          <p:cNvPr id="19" name="icon FaPowerOff" descr="preencoded.png">
            <a:hlinkClick r:id="rId17" tooltip="Open" action="ppaction://hlinksldjump"/>
          </p:cNvPr>
          <p:cNvPicPr>
            <a:picLocks noChangeAspect="1"/>
          </p:cNvPicPr>
          <p:nvPr/>
        </p:nvPicPr>
        <p:blipFill>
          <a:blip r:embed="rId16"/>
          <a:stretch>
            <a:fillRect/>
          </a:stretch>
        </p:blipFill>
        <p:spPr>
          <a:xfrm>
            <a:off x="8368589" y="1675181"/>
            <a:ext cx="261518" cy="261518"/>
          </a:xfrm>
          <a:prstGeom prst="rect">
            <a:avLst/>
          </a:prstGeom>
        </p:spPr>
      </p:pic>
      <p:sp>
        <p:nvSpPr>
          <p:cNvPr id="20" name="Text 14"/>
          <p:cNvSpPr txBox="1"/>
          <p:nvPr/>
        </p:nvSpPr>
        <p:spPr>
          <a:xfrm>
            <a:off x="8869680" y="1554480"/>
            <a:ext cx="2560320" cy="502920"/>
          </a:xfrm>
          <a:prstGeom prst="rect">
            <a:avLst/>
          </a:prstGeom>
          <a:noFill/>
          <a:ln/>
        </p:spPr>
        <p:txBody>
          <a:bodyPr wrap="square" lIns="0" tIns="0" rIns="0" bIns="0" rtlCol="0" anchor="ctr"/>
          <a:lstStyle/>
          <a:p>
            <a:pPr indent="0" marL="0">
              <a:buNone/>
            </a:pPr>
            <a:r>
              <a:rPr lang="en-US" sz="1600" b="1" dirty="0">
                <a:solidFill>
                  <a:schemeClr val="tx1"/>
                </a:solidFill>
              </a:rPr>
              <a:t>Beams go dark?</a:t>
            </a:r>
            <a:endParaRPr lang="en-US" sz="1600" dirty="0"/>
          </a:p>
        </p:txBody>
      </p:sp>
      <p:sp>
        <p:nvSpPr>
          <p:cNvPr id="21" name="Text 15"/>
          <p:cNvSpPr txBox="1"/>
          <p:nvPr/>
        </p:nvSpPr>
        <p:spPr>
          <a:xfrm>
            <a:off x="8247888" y="2176272"/>
            <a:ext cx="3154680" cy="105156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The first design lost its asteroid after 3 hours.</a:t>
            </a:r>
            <a:endParaRPr lang="en-US" sz="1300" dirty="0"/>
          </a:p>
          <a:p>
            <a:pPr indent="0" marL="0">
              <a:spcAft>
                <a:spcPts val="500"/>
              </a:spcAft>
              <a:buNone/>
            </a:pPr>
            <a:r>
              <a:rPr lang="en-US" sz="1300" b="1" dirty="0">
                <a:solidFill>
                  <a:schemeClr val="tx1"/>
                </a:solidFill>
              </a:rPr>
              <a:t>Shared power, many stations: safe 15 h with every station off.</a:t>
            </a:r>
            <a:endParaRPr lang="en-US" sz="1300" dirty="0"/>
          </a:p>
        </p:txBody>
      </p:sp>
      <p:sp>
        <p:nvSpPr>
          <p:cNvPr id="22" name="Text 16">
            <a:hlinkClick r:id="rId18" tooltip="Open the details" action="ppaction://hlinksldjump"/>
          </p:cNvPr>
          <p:cNvSpPr/>
          <p:nvPr/>
        </p:nvSpPr>
        <p:spPr>
          <a:xfrm>
            <a:off x="10241280" y="3218688"/>
            <a:ext cx="1188720" cy="274320"/>
          </a:xfrm>
          <a:prstGeom prst="rect">
            <a:avLst/>
          </a:prstGeom>
          <a:noFill/>
          <a:ln/>
        </p:spPr>
        <p:txBody>
          <a:bodyPr wrap="square" lIns="0" tIns="0" rIns="0" bIns="0" rtlCol="0" anchor="ctr"/>
          <a:lstStyle/>
          <a:p>
            <a:pPr algn="r" indent="0" marL="0">
              <a:buNone/>
            </a:pPr>
            <a:r>
              <a:rPr lang="en-US" sz="1200" b="1" u="sng" dirty="0">
                <a:solidFill>
                  <a:schemeClr val="accent2"/>
                </a:solidFill>
                <a:hlinkClick r:id="rId18" action="ppaction://hlinksldjump" tooltip="Open the details">
                  <a:extLst>
                    <a:ext uri="{A12FA001-AC4F-418D-AE19-62706E023703}">
                      <ahyp:hlinkClr xmlns:ahyp="http://schemas.microsoft.com/office/drawing/2018/hyperlinkcolor" val="tx"/>
                    </a:ext>
                  </a:extLst>
                </a:hlinkClick>
              </a:rPr>
              <a:t>Details →</a:t>
            </a:r>
            <a:endParaRPr lang="en-US" sz="1200" dirty="0"/>
          </a:p>
        </p:txBody>
      </p:sp>
      <p:sp>
        <p:nvSpPr>
          <p:cNvPr id="23" name="what-if 4">
            <a:hlinkClick r:id="rId19" tooltip="Open the details" action="ppaction://hlinksldjump"/>
          </p:cNvPr>
          <p:cNvSpPr/>
          <p:nvPr/>
        </p:nvSpPr>
        <p:spPr>
          <a:xfrm>
            <a:off x="548640" y="3749040"/>
            <a:ext cx="3520440" cy="2212848"/>
          </a:xfrm>
          <a:prstGeom prst="roundRect">
            <a:avLst>
              <a:gd name="adj" fmla="val 4959"/>
            </a:avLst>
          </a:prstGeom>
          <a:solidFill>
            <a:srgbClr val="F1F3F6"/>
          </a:solidFill>
          <a:ln w="12700">
            <a:solidFill>
              <a:srgbClr val="F1F3F6"/>
            </a:solidFill>
            <a:prstDash val="solid"/>
          </a:ln>
        </p:spPr>
      </p:sp>
      <p:sp>
        <p:nvSpPr>
          <p:cNvPr id="24" name="badge FaRightLeft">
            <a:hlinkClick r:id="rId20" tooltip="Open" action="ppaction://hlinksldjump"/>
          </p:cNvPr>
          <p:cNvSpPr/>
          <p:nvPr/>
        </p:nvSpPr>
        <p:spPr>
          <a:xfrm>
            <a:off x="749808" y="3931920"/>
            <a:ext cx="502920" cy="502920"/>
          </a:xfrm>
          <a:prstGeom prst="ellipse">
            <a:avLst/>
          </a:prstGeom>
          <a:solidFill>
            <a:srgbClr val="5B6B85"/>
          </a:solidFill>
          <a:ln w="12700">
            <a:solidFill>
              <a:srgbClr val="5B6B85"/>
            </a:solidFill>
            <a:prstDash val="solid"/>
          </a:ln>
        </p:spPr>
      </p:sp>
      <p:pic>
        <p:nvPicPr>
          <p:cNvPr id="25" name="icon FaRightLeft" descr="preencoded.png">
            <a:hlinkClick r:id="rId22" tooltip="Open" action="ppaction://hlinksldjump"/>
          </p:cNvPr>
          <p:cNvPicPr>
            <a:picLocks noChangeAspect="1"/>
          </p:cNvPicPr>
          <p:nvPr/>
        </p:nvPicPr>
        <p:blipFill>
          <a:blip r:embed="rId21"/>
          <a:stretch>
            <a:fillRect/>
          </a:stretch>
        </p:blipFill>
        <p:spPr>
          <a:xfrm>
            <a:off x="870509" y="4052621"/>
            <a:ext cx="261518" cy="261518"/>
          </a:xfrm>
          <a:prstGeom prst="rect">
            <a:avLst/>
          </a:prstGeom>
        </p:spPr>
      </p:pic>
      <p:sp>
        <p:nvSpPr>
          <p:cNvPr id="26" name="Text 19"/>
          <p:cNvSpPr txBox="1"/>
          <p:nvPr/>
        </p:nvSpPr>
        <p:spPr>
          <a:xfrm>
            <a:off x="1371600" y="3931920"/>
            <a:ext cx="2560320" cy="502920"/>
          </a:xfrm>
          <a:prstGeom prst="rect">
            <a:avLst/>
          </a:prstGeom>
          <a:noFill/>
          <a:ln/>
        </p:spPr>
        <p:txBody>
          <a:bodyPr wrap="square" lIns="0" tIns="0" rIns="0" bIns="0" rtlCol="0" anchor="ctr"/>
          <a:lstStyle/>
          <a:p>
            <a:pPr indent="0" marL="0">
              <a:buNone/>
            </a:pPr>
            <a:r>
              <a:rPr lang="en-US" sz="1600" b="1" dirty="0">
                <a:solidFill>
                  <a:schemeClr val="tx1"/>
                </a:solidFill>
              </a:rPr>
              <a:t>Swap Earth and Mars?</a:t>
            </a:r>
            <a:endParaRPr lang="en-US" sz="1600" dirty="0"/>
          </a:p>
        </p:txBody>
      </p:sp>
      <p:sp>
        <p:nvSpPr>
          <p:cNvPr id="27" name="Text 20"/>
          <p:cNvSpPr txBox="1"/>
          <p:nvPr/>
        </p:nvSpPr>
        <p:spPr>
          <a:xfrm>
            <a:off x="749808" y="4553712"/>
            <a:ext cx="3154680" cy="105156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The orbits must cross: 48 of 48 runs passed inside 0.05 AU.</a:t>
            </a:r>
            <a:endParaRPr lang="en-US" sz="1300" dirty="0"/>
          </a:p>
          <a:p>
            <a:pPr indent="0" marL="0">
              <a:spcAft>
                <a:spcPts val="500"/>
              </a:spcAft>
              <a:buNone/>
            </a:pPr>
            <a:r>
              <a:rPr lang="en-US" sz="1300" b="1" dirty="0">
                <a:solidFill>
                  <a:schemeClr val="tx1"/>
                </a:solidFill>
              </a:rPr>
              <a:t>Rejected; kept as a studied Plan S.</a:t>
            </a:r>
            <a:endParaRPr lang="en-US" sz="1300" dirty="0"/>
          </a:p>
        </p:txBody>
      </p:sp>
      <p:sp>
        <p:nvSpPr>
          <p:cNvPr id="28" name="Text 21">
            <a:hlinkClick r:id="rId23" tooltip="Open the details" action="ppaction://hlinksldjump"/>
          </p:cNvPr>
          <p:cNvSpPr/>
          <p:nvPr/>
        </p:nvSpPr>
        <p:spPr>
          <a:xfrm>
            <a:off x="2743200" y="5596128"/>
            <a:ext cx="1188720" cy="274320"/>
          </a:xfrm>
          <a:prstGeom prst="rect">
            <a:avLst/>
          </a:prstGeom>
          <a:noFill/>
          <a:ln/>
        </p:spPr>
        <p:txBody>
          <a:bodyPr wrap="square" lIns="0" tIns="0" rIns="0" bIns="0" rtlCol="0" anchor="ctr"/>
          <a:lstStyle/>
          <a:p>
            <a:pPr algn="r" indent="0" marL="0">
              <a:buNone/>
            </a:pPr>
            <a:r>
              <a:rPr lang="en-US" sz="1200" b="1" u="sng" dirty="0">
                <a:solidFill>
                  <a:schemeClr val="accent2"/>
                </a:solidFill>
                <a:hlinkClick r:id="rId23" action="ppaction://hlinksldjump" tooltip="Open the details">
                  <a:extLst>
                    <a:ext uri="{A12FA001-AC4F-418D-AE19-62706E023703}">
                      <ahyp:hlinkClr xmlns:ahyp="http://schemas.microsoft.com/office/drawing/2018/hyperlinkcolor" val="tx"/>
                    </a:ext>
                  </a:extLst>
                </a:hlinkClick>
              </a:rPr>
              <a:t>Details →</a:t>
            </a:r>
            <a:endParaRPr lang="en-US" sz="1200" dirty="0"/>
          </a:p>
        </p:txBody>
      </p:sp>
      <p:sp>
        <p:nvSpPr>
          <p:cNvPr id="29" name="what-if 5">
            <a:hlinkClick r:id="rId24" tooltip="Open the details" action="ppaction://hlinksldjump"/>
          </p:cNvPr>
          <p:cNvSpPr/>
          <p:nvPr/>
        </p:nvSpPr>
        <p:spPr>
          <a:xfrm>
            <a:off x="4297680" y="3749040"/>
            <a:ext cx="3520440" cy="2212848"/>
          </a:xfrm>
          <a:prstGeom prst="roundRect">
            <a:avLst>
              <a:gd name="adj" fmla="val 4959"/>
            </a:avLst>
          </a:prstGeom>
          <a:solidFill>
            <a:srgbClr val="F1F3F6"/>
          </a:solidFill>
          <a:ln w="12700">
            <a:solidFill>
              <a:srgbClr val="F1F3F6"/>
            </a:solidFill>
            <a:prstDash val="solid"/>
          </a:ln>
        </p:spPr>
      </p:sp>
      <p:sp>
        <p:nvSpPr>
          <p:cNvPr id="30" name="badge FaSatellite">
            <a:hlinkClick r:id="rId25" tooltip="Open" action="ppaction://hlinksldjump"/>
          </p:cNvPr>
          <p:cNvSpPr/>
          <p:nvPr/>
        </p:nvSpPr>
        <p:spPr>
          <a:xfrm>
            <a:off x="4498848" y="3931920"/>
            <a:ext cx="502920" cy="502920"/>
          </a:xfrm>
          <a:prstGeom prst="ellipse">
            <a:avLst/>
          </a:prstGeom>
          <a:solidFill>
            <a:srgbClr val="6250D6"/>
          </a:solidFill>
          <a:ln w="12700">
            <a:solidFill>
              <a:srgbClr val="6250D6"/>
            </a:solidFill>
            <a:prstDash val="solid"/>
          </a:ln>
        </p:spPr>
      </p:sp>
      <p:pic>
        <p:nvPicPr>
          <p:cNvPr id="31" name="icon FaSatellite" descr="preencoded.png">
            <a:hlinkClick r:id="rId27" tooltip="Open" action="ppaction://hlinksldjump"/>
          </p:cNvPr>
          <p:cNvPicPr>
            <a:picLocks noChangeAspect="1"/>
          </p:cNvPicPr>
          <p:nvPr/>
        </p:nvPicPr>
        <p:blipFill>
          <a:blip r:embed="rId26"/>
          <a:stretch>
            <a:fillRect/>
          </a:stretch>
        </p:blipFill>
        <p:spPr>
          <a:xfrm>
            <a:off x="4619549" y="4052621"/>
            <a:ext cx="261518" cy="261518"/>
          </a:xfrm>
          <a:prstGeom prst="rect">
            <a:avLst/>
          </a:prstGeom>
        </p:spPr>
      </p:pic>
      <p:sp>
        <p:nvSpPr>
          <p:cNvPr id="32" name="Text 24"/>
          <p:cNvSpPr txBox="1"/>
          <p:nvPr/>
        </p:nvSpPr>
        <p:spPr>
          <a:xfrm>
            <a:off x="5120640" y="3931920"/>
            <a:ext cx="2560320" cy="502920"/>
          </a:xfrm>
          <a:prstGeom prst="rect">
            <a:avLst/>
          </a:prstGeom>
          <a:noFill/>
          <a:ln/>
        </p:spPr>
        <p:txBody>
          <a:bodyPr wrap="square" lIns="0" tIns="0" rIns="0" bIns="0" rtlCol="0" anchor="ctr"/>
          <a:lstStyle/>
          <a:p>
            <a:pPr indent="0" marL="0">
              <a:buNone/>
            </a:pPr>
            <a:r>
              <a:rPr lang="en-US" sz="1600" b="1" dirty="0">
                <a:solidFill>
                  <a:schemeClr val="tx1"/>
                </a:solidFill>
              </a:rPr>
              <a:t>Rocks at 2.7 AU?</a:t>
            </a:r>
            <a:endParaRPr lang="en-US" sz="1600" dirty="0"/>
          </a:p>
        </p:txBody>
      </p:sp>
      <p:sp>
        <p:nvSpPr>
          <p:cNvPr id="33" name="Text 25"/>
          <p:cNvSpPr txBox="1"/>
          <p:nvPr/>
        </p:nvSpPr>
        <p:spPr>
          <a:xfrm>
            <a:off x="4498848" y="4553712"/>
            <a:ext cx="3154680" cy="105156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A 20 m rock about 8 times a year; 1 km once per 87 years.</a:t>
            </a:r>
            <a:endParaRPr lang="en-US" sz="1300" dirty="0"/>
          </a:p>
          <a:p>
            <a:pPr indent="0" marL="0">
              <a:spcAft>
                <a:spcPts val="500"/>
              </a:spcAft>
              <a:buNone/>
            </a:pPr>
            <a:r>
              <a:rPr lang="en-US" sz="1300" b="1" dirty="0">
                <a:solidFill>
                  <a:schemeClr val="tx1"/>
                </a:solidFill>
              </a:rPr>
              <a:t>Infrared survey, then E1 pushes each away with 2% of its spare power.</a:t>
            </a:r>
            <a:endParaRPr lang="en-US" sz="1300" dirty="0"/>
          </a:p>
        </p:txBody>
      </p:sp>
      <p:sp>
        <p:nvSpPr>
          <p:cNvPr id="34" name="Text 26">
            <a:hlinkClick r:id="rId28" tooltip="Open the details" action="ppaction://hlinksldjump"/>
          </p:cNvPr>
          <p:cNvSpPr/>
          <p:nvPr/>
        </p:nvSpPr>
        <p:spPr>
          <a:xfrm>
            <a:off x="6492240" y="5596128"/>
            <a:ext cx="1188720" cy="274320"/>
          </a:xfrm>
          <a:prstGeom prst="rect">
            <a:avLst/>
          </a:prstGeom>
          <a:noFill/>
          <a:ln/>
        </p:spPr>
        <p:txBody>
          <a:bodyPr wrap="square" lIns="0" tIns="0" rIns="0" bIns="0" rtlCol="0" anchor="ctr"/>
          <a:lstStyle/>
          <a:p>
            <a:pPr algn="r" indent="0" marL="0">
              <a:buNone/>
            </a:pPr>
            <a:r>
              <a:rPr lang="en-US" sz="1200" b="1" u="sng" dirty="0">
                <a:solidFill>
                  <a:schemeClr val="accent2"/>
                </a:solidFill>
                <a:hlinkClick r:id="rId28" action="ppaction://hlinksldjump" tooltip="Open the details">
                  <a:extLst>
                    <a:ext uri="{A12FA001-AC4F-418D-AE19-62706E023703}">
                      <ahyp:hlinkClr xmlns:ahyp="http://schemas.microsoft.com/office/drawing/2018/hyperlinkcolor" val="tx"/>
                    </a:ext>
                  </a:extLst>
                </a:hlinkClick>
              </a:rPr>
              <a:t>Details →</a:t>
            </a:r>
            <a:endParaRPr lang="en-US" sz="1200" dirty="0"/>
          </a:p>
        </p:txBody>
      </p:sp>
      <p:sp>
        <p:nvSpPr>
          <p:cNvPr id="35" name="what-if 6">
            <a:hlinkClick r:id="rId29" tooltip="Open the details" action="ppaction://hlinksldjump"/>
          </p:cNvPr>
          <p:cNvSpPr/>
          <p:nvPr/>
        </p:nvSpPr>
        <p:spPr>
          <a:xfrm>
            <a:off x="8046720" y="3749040"/>
            <a:ext cx="3520440" cy="2212848"/>
          </a:xfrm>
          <a:prstGeom prst="roundRect">
            <a:avLst>
              <a:gd name="adj" fmla="val 4959"/>
            </a:avLst>
          </a:prstGeom>
          <a:solidFill>
            <a:srgbClr val="F1F3F6"/>
          </a:solidFill>
          <a:ln w="12700">
            <a:solidFill>
              <a:srgbClr val="F1F3F6"/>
            </a:solidFill>
            <a:prstDash val="solid"/>
          </a:ln>
        </p:spPr>
      </p:sp>
      <p:sp>
        <p:nvSpPr>
          <p:cNvPr id="36" name="badge FaHourglassHalf">
            <a:hlinkClick r:id="rId30" tooltip="Open" action="ppaction://hlinksldjump"/>
          </p:cNvPr>
          <p:cNvSpPr/>
          <p:nvPr/>
        </p:nvSpPr>
        <p:spPr>
          <a:xfrm>
            <a:off x="8247888" y="3931920"/>
            <a:ext cx="502920" cy="502920"/>
          </a:xfrm>
          <a:prstGeom prst="ellipse">
            <a:avLst/>
          </a:prstGeom>
          <a:solidFill>
            <a:srgbClr val="2A78D6"/>
          </a:solidFill>
          <a:ln w="12700">
            <a:solidFill>
              <a:srgbClr val="2A78D6"/>
            </a:solidFill>
            <a:prstDash val="solid"/>
          </a:ln>
        </p:spPr>
      </p:sp>
      <p:pic>
        <p:nvPicPr>
          <p:cNvPr id="37" name="icon FaHourglassHalf" descr="preencoded.png">
            <a:hlinkClick r:id="rId32" tooltip="Open" action="ppaction://hlinksldjump"/>
          </p:cNvPr>
          <p:cNvPicPr>
            <a:picLocks noChangeAspect="1"/>
          </p:cNvPicPr>
          <p:nvPr/>
        </p:nvPicPr>
        <p:blipFill>
          <a:blip r:embed="rId31"/>
          <a:stretch>
            <a:fillRect/>
          </a:stretch>
        </p:blipFill>
        <p:spPr>
          <a:xfrm>
            <a:off x="8368589" y="4052621"/>
            <a:ext cx="261518" cy="261518"/>
          </a:xfrm>
          <a:prstGeom prst="rect">
            <a:avLst/>
          </a:prstGeom>
        </p:spPr>
      </p:pic>
      <p:sp>
        <p:nvSpPr>
          <p:cNvPr id="38" name="Text 29"/>
          <p:cNvSpPr txBox="1"/>
          <p:nvPr/>
        </p:nvSpPr>
        <p:spPr>
          <a:xfrm>
            <a:off x="8869680" y="3931920"/>
            <a:ext cx="2560320" cy="502920"/>
          </a:xfrm>
          <a:prstGeom prst="rect">
            <a:avLst/>
          </a:prstGeom>
          <a:noFill/>
          <a:ln/>
        </p:spPr>
        <p:txBody>
          <a:bodyPr wrap="square" lIns="0" tIns="0" rIns="0" bIns="0" rtlCol="0" anchor="ctr"/>
          <a:lstStyle/>
          <a:p>
            <a:pPr indent="0" marL="0">
              <a:buNone/>
            </a:pPr>
            <a:r>
              <a:rPr lang="en-US" sz="1600" b="1" dirty="0">
                <a:solidFill>
                  <a:schemeClr val="tx1"/>
                </a:solidFill>
              </a:rPr>
              <a:t>A million years later?</a:t>
            </a:r>
            <a:endParaRPr lang="en-US" sz="1600" dirty="0"/>
          </a:p>
        </p:txBody>
      </p:sp>
      <p:sp>
        <p:nvSpPr>
          <p:cNvPr id="39" name="Text 30"/>
          <p:cNvSpPr txBox="1"/>
          <p:nvPr/>
        </p:nvSpPr>
        <p:spPr>
          <a:xfrm>
            <a:off x="8247888" y="4553712"/>
            <a:ext cx="3154680" cy="1051560"/>
          </a:xfrm>
          <a:prstGeom prst="rect">
            <a:avLst/>
          </a:prstGeom>
          <a:noFill/>
          <a:ln/>
        </p:spPr>
        <p:txBody>
          <a:bodyPr wrap="square" lIns="0" tIns="0" rIns="0" bIns="0" rtlCol="0" anchor="t"/>
          <a:lstStyle/>
          <a:p>
            <a:pPr indent="0" marL="0">
              <a:spcAft>
                <a:spcPts val="500"/>
              </a:spcAft>
              <a:buNone/>
            </a:pPr>
            <a:r>
              <a:rPr lang="en-US" sz="1300" dirty="0">
                <a:solidFill>
                  <a:schemeClr val="tx1"/>
                </a:solidFill>
              </a:rPr>
              <a:t>Nothing is thrown out; Earth stays at 2.698–2.702 AU.</a:t>
            </a:r>
            <a:endParaRPr lang="en-US" sz="1300" dirty="0"/>
          </a:p>
          <a:p>
            <a:pPr indent="0" marL="0">
              <a:spcAft>
                <a:spcPts val="500"/>
              </a:spcAft>
              <a:buNone/>
            </a:pPr>
            <a:r>
              <a:rPr lang="en-US" sz="1300" b="1" dirty="0">
                <a:solidFill>
                  <a:schemeClr val="tx1"/>
                </a:solidFill>
              </a:rPr>
              <a:t>Tilt swings 21.7°–26.1°: E3 re-aims 1.4% of the sunlight.</a:t>
            </a:r>
            <a:endParaRPr lang="en-US" sz="1300" dirty="0"/>
          </a:p>
        </p:txBody>
      </p:sp>
      <p:sp>
        <p:nvSpPr>
          <p:cNvPr id="40" name="Text 31">
            <a:hlinkClick r:id="rId33" tooltip="Open the details" action="ppaction://hlinksldjump"/>
          </p:cNvPr>
          <p:cNvSpPr/>
          <p:nvPr/>
        </p:nvSpPr>
        <p:spPr>
          <a:xfrm>
            <a:off x="10241280" y="5596128"/>
            <a:ext cx="1188720" cy="274320"/>
          </a:xfrm>
          <a:prstGeom prst="rect">
            <a:avLst/>
          </a:prstGeom>
          <a:noFill/>
          <a:ln/>
        </p:spPr>
        <p:txBody>
          <a:bodyPr wrap="square" lIns="0" tIns="0" rIns="0" bIns="0" rtlCol="0" anchor="ctr"/>
          <a:lstStyle/>
          <a:p>
            <a:pPr algn="r" indent="0" marL="0">
              <a:buNone/>
            </a:pPr>
            <a:r>
              <a:rPr lang="en-US" sz="1200" b="1" u="sng" dirty="0">
                <a:solidFill>
                  <a:schemeClr val="accent2"/>
                </a:solidFill>
                <a:hlinkClick r:id="rId33" action="ppaction://hlinksldjump" tooltip="Open the details">
                  <a:extLst>
                    <a:ext uri="{A12FA001-AC4F-418D-AE19-62706E023703}">
                      <ahyp:hlinkClr xmlns:ahyp="http://schemas.microsoft.com/office/drawing/2018/hyperlinkcolor" val="tx"/>
                    </a:ext>
                  </a:extLst>
                </a:hlinkClick>
              </a:rPr>
              <a:t>Details →</a:t>
            </a:r>
            <a:endParaRPr lang="en-US" sz="1200" dirty="0"/>
          </a:p>
        </p:txBody>
      </p:sp>
      <p:sp>
        <p:nvSpPr>
          <p:cNvPr id="41" name="source"/>
          <p:cNvSpPr txBox="1"/>
          <p:nvPr/>
        </p:nvSpPr>
        <p:spPr>
          <a:xfrm>
            <a:off x="548640" y="6126480"/>
            <a:ext cx="9692640" cy="274320"/>
          </a:xfrm>
          <a:prstGeom prst="rect">
            <a:avLst/>
          </a:prstGeom>
          <a:noFill/>
          <a:ln/>
        </p:spPr>
        <p:txBody>
          <a:bodyPr wrap="square" lIns="0" tIns="0" rIns="0" bIns="0" rtlCol="0" anchor="ctr"/>
          <a:lstStyle/>
          <a:p>
            <a:pPr indent="0" marL="0">
              <a:buNone/>
            </a:pPr>
            <a:r>
              <a:rPr lang="en-US" sz="1000" dirty="0">
                <a:solidFill>
                  <a:srgbClr val="5F6B7A"/>
                </a:solidFill>
              </a:rPr>
              <a:t>Source: results/crossing.json, outage.json, small_asteroids.json, longterm.json; sim/scenarios/swap.py (Plan S).</a:t>
            </a:r>
            <a:endParaRPr lang="en-US" sz="10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9966960" cy="868680"/>
          </a:xfrm>
          <a:prstGeom prst="rect">
            <a:avLst/>
          </a:prstGeom>
          <a:noFill/>
          <a:ln/>
        </p:spPr>
        <p:txBody>
          <a:bodyPr wrap="square" lIns="0" tIns="0" rIns="0" bIns="0" rtlCol="0" anchor="ctr"/>
          <a:lstStyle/>
          <a:p>
            <a:pPr algn="l" indent="0" marL="0">
              <a:buNone/>
            </a:pPr>
            <a:r>
              <a:rPr lang="en-US" sz="3600" b="1" dirty="0">
                <a:solidFill>
                  <a:schemeClr val="bg1"/>
                </a:solidFill>
              </a:rPr>
              <a:t>Verdict: the physics closes</a:t>
            </a:r>
            <a:endParaRPr lang="en-US" sz="3600" dirty="0"/>
          </a:p>
        </p:txBody>
      </p:sp>
      <p:sp>
        <p:nvSpPr>
          <p:cNvPr id="3" name="Map button">
            <a:hlinkClick r:id="rId1" tooltip="Back to the map" action="ppaction://hlinksldjump"/>
          </p:cNvPr>
          <p:cNvSpPr/>
          <p:nvPr/>
        </p:nvSpPr>
        <p:spPr>
          <a:xfrm>
            <a:off x="10835640" y="384048"/>
            <a:ext cx="914400" cy="384048"/>
          </a:xfrm>
          <a:prstGeom prst="roundRect">
            <a:avLst>
              <a:gd name="adj" fmla="val 50000"/>
            </a:avLst>
          </a:prstGeom>
          <a:solidFill>
            <a:srgbClr val="1D2B45"/>
          </a:solidFill>
          <a:ln>
            <a:solidFill>
              <a:srgbClr val="1D2B45"/>
            </a:solidFill>
          </a:ln>
        </p:spPr>
        <p:txBody>
          <a:bodyPr wrap="square" lIns="0" tIns="0" rIns="152400" bIns="0" rtlCol="0" anchor="ctr"/>
          <a:lstStyle/>
          <a:p>
            <a:pPr algn="r" indent="0" marL="0">
              <a:buNone/>
            </a:pPr>
            <a:r>
              <a:rPr lang="en-US" sz="1200" b="1" u="sng" dirty="0">
                <a:solidFill>
                  <a:schemeClr val="bg1"/>
                </a:solidFill>
                <a:hlinkClick r:id="rId1"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4" name="Map icon" descr="preencoded.png">
            <a:hlinkClick r:id="rId3" tooltip="Back to the map" action="ppaction://hlinksldjump"/>
          </p:cNvPr>
          <p:cNvPicPr>
            <a:picLocks noChangeAspect="1"/>
          </p:cNvPicPr>
          <p:nvPr/>
        </p:nvPicPr>
        <p:blipFill>
          <a:blip r:embed="rId2"/>
          <a:stretch>
            <a:fillRect/>
          </a:stretch>
        </p:blipFill>
        <p:spPr>
          <a:xfrm>
            <a:off x="10972800" y="475488"/>
            <a:ext cx="201168" cy="201168"/>
          </a:xfrm>
          <a:prstGeom prst="rect">
            <a:avLst/>
          </a:prstGeom>
        </p:spPr>
      </p:pic>
      <p:pic>
        <p:nvPicPr>
          <p:cNvPr id="5" name="check" descr="preencoded.png">    </p:cNvPr>
          <p:cNvPicPr>
            <a:picLocks noChangeAspect="1"/>
          </p:cNvPicPr>
          <p:nvPr/>
        </p:nvPicPr>
        <p:blipFill>
          <a:blip r:embed="rId4"/>
          <a:stretch>
            <a:fillRect/>
          </a:stretch>
        </p:blipFill>
        <p:spPr>
          <a:xfrm>
            <a:off x="548640" y="1463040"/>
            <a:ext cx="347472" cy="347472"/>
          </a:xfrm>
          <a:prstGeom prst="rect">
            <a:avLst/>
          </a:prstGeom>
        </p:spPr>
      </p:pic>
      <p:sp>
        <p:nvSpPr>
          <p:cNvPr id="6" name="Text 2"/>
          <p:cNvSpPr txBox="1"/>
          <p:nvPr/>
        </p:nvSpPr>
        <p:spPr>
          <a:xfrm>
            <a:off x="1051560" y="1417320"/>
            <a:ext cx="5212080" cy="457200"/>
          </a:xfrm>
          <a:prstGeom prst="rect">
            <a:avLst/>
          </a:prstGeom>
          <a:noFill/>
          <a:ln/>
        </p:spPr>
        <p:txBody>
          <a:bodyPr wrap="square" lIns="0" tIns="0" rIns="0" bIns="0" rtlCol="0" anchor="ctr"/>
          <a:lstStyle/>
          <a:p>
            <a:pPr indent="0" marL="0">
              <a:buNone/>
            </a:pPr>
            <a:r>
              <a:rPr lang="en-US" sz="1700" dirty="0">
                <a:solidFill>
                  <a:schemeClr val="bg1"/>
                </a:solidFill>
              </a:rPr>
              <a:t>Target in year 8,758 of 10,000 (2.7006 AU)</a:t>
            </a:r>
            <a:endParaRPr lang="en-US" sz="1700" dirty="0"/>
          </a:p>
        </p:txBody>
      </p:sp>
      <p:pic>
        <p:nvPicPr>
          <p:cNvPr id="7" name="check" descr="preencoded.png">    </p:cNvPr>
          <p:cNvPicPr>
            <a:picLocks noChangeAspect="1"/>
          </p:cNvPicPr>
          <p:nvPr/>
        </p:nvPicPr>
        <p:blipFill>
          <a:blip r:embed="rId5"/>
          <a:stretch>
            <a:fillRect/>
          </a:stretch>
        </p:blipFill>
        <p:spPr>
          <a:xfrm>
            <a:off x="548640" y="2176272"/>
            <a:ext cx="347472" cy="347472"/>
          </a:xfrm>
          <a:prstGeom prst="rect">
            <a:avLst/>
          </a:prstGeom>
        </p:spPr>
      </p:pic>
      <p:sp>
        <p:nvSpPr>
          <p:cNvPr id="8" name="Text 3"/>
          <p:cNvSpPr txBox="1"/>
          <p:nvPr/>
        </p:nvSpPr>
        <p:spPr>
          <a:xfrm>
            <a:off x="1051560" y="2130552"/>
            <a:ext cx="5212080" cy="457200"/>
          </a:xfrm>
          <a:prstGeom prst="rect">
            <a:avLst/>
          </a:prstGeom>
          <a:noFill/>
          <a:ln/>
        </p:spPr>
        <p:txBody>
          <a:bodyPr wrap="square" lIns="0" tIns="0" rIns="0" bIns="0" rtlCol="0" anchor="ctr"/>
          <a:lstStyle/>
          <a:p>
            <a:pPr indent="0" marL="0">
              <a:buNone/>
            </a:pPr>
            <a:r>
              <a:rPr lang="en-US" sz="1700" dirty="0">
                <a:solidFill>
                  <a:schemeClr val="bg1"/>
                </a:solidFill>
              </a:rPr>
              <a:t>Ten Earth-safety thresholds held at every check</a:t>
            </a:r>
            <a:endParaRPr lang="en-US" sz="1700" dirty="0"/>
          </a:p>
        </p:txBody>
      </p:sp>
      <p:pic>
        <p:nvPicPr>
          <p:cNvPr id="9" name="check" descr="preencoded.png">    </p:cNvPr>
          <p:cNvPicPr>
            <a:picLocks noChangeAspect="1"/>
          </p:cNvPicPr>
          <p:nvPr/>
        </p:nvPicPr>
        <p:blipFill>
          <a:blip r:embed="rId6"/>
          <a:stretch>
            <a:fillRect/>
          </a:stretch>
        </p:blipFill>
        <p:spPr>
          <a:xfrm>
            <a:off x="548640" y="2889504"/>
            <a:ext cx="347472" cy="347472"/>
          </a:xfrm>
          <a:prstGeom prst="rect">
            <a:avLst/>
          </a:prstGeom>
        </p:spPr>
      </p:pic>
      <p:sp>
        <p:nvSpPr>
          <p:cNvPr id="10" name="Text 4"/>
          <p:cNvSpPr txBox="1"/>
          <p:nvPr/>
        </p:nvSpPr>
        <p:spPr>
          <a:xfrm>
            <a:off x="1051560" y="2843784"/>
            <a:ext cx="5212080" cy="457200"/>
          </a:xfrm>
          <a:prstGeom prst="rect">
            <a:avLst/>
          </a:prstGeom>
          <a:noFill/>
          <a:ln/>
        </p:spPr>
        <p:txBody>
          <a:bodyPr wrap="square" lIns="0" tIns="0" rIns="0" bIns="0" rtlCol="0" anchor="ctr"/>
          <a:lstStyle/>
          <a:p>
            <a:pPr indent="0" marL="0">
              <a:buNone/>
            </a:pPr>
            <a:r>
              <a:rPr lang="en-US" sz="1700" dirty="0">
                <a:solidFill>
                  <a:schemeClr val="bg1"/>
                </a:solidFill>
              </a:rPr>
              <a:t>Every structure at a safety factor of 1.57 or more</a:t>
            </a:r>
            <a:endParaRPr lang="en-US" sz="1700" dirty="0"/>
          </a:p>
        </p:txBody>
      </p:sp>
      <p:pic>
        <p:nvPicPr>
          <p:cNvPr id="11" name="check" descr="preencoded.png">    </p:cNvPr>
          <p:cNvPicPr>
            <a:picLocks noChangeAspect="1"/>
          </p:cNvPicPr>
          <p:nvPr/>
        </p:nvPicPr>
        <p:blipFill>
          <a:blip r:embed="rId7"/>
          <a:stretch>
            <a:fillRect/>
          </a:stretch>
        </p:blipFill>
        <p:spPr>
          <a:xfrm>
            <a:off x="548640" y="3602736"/>
            <a:ext cx="347472" cy="347472"/>
          </a:xfrm>
          <a:prstGeom prst="rect">
            <a:avLst/>
          </a:prstGeom>
        </p:spPr>
      </p:pic>
      <p:sp>
        <p:nvSpPr>
          <p:cNvPr id="12" name="Text 5"/>
          <p:cNvSpPr txBox="1"/>
          <p:nvPr/>
        </p:nvSpPr>
        <p:spPr>
          <a:xfrm>
            <a:off x="1051560" y="3557016"/>
            <a:ext cx="5212080" cy="457200"/>
          </a:xfrm>
          <a:prstGeom prst="rect">
            <a:avLst/>
          </a:prstGeom>
          <a:noFill/>
          <a:ln/>
        </p:spPr>
        <p:txBody>
          <a:bodyPr wrap="square" lIns="0" tIns="0" rIns="0" bIns="0" rtlCol="0" anchor="ctr"/>
          <a:lstStyle/>
          <a:p>
            <a:pPr indent="0" marL="0">
              <a:buNone/>
            </a:pPr>
            <a:r>
              <a:rPr lang="en-US" sz="1700" dirty="0">
                <a:solidFill>
                  <a:schemeClr val="bg1"/>
                </a:solidFill>
              </a:rPr>
              <a:t>10 of 10 official benchmarks pass</a:t>
            </a:r>
            <a:endParaRPr lang="en-US" sz="1700" dirty="0"/>
          </a:p>
        </p:txBody>
      </p:sp>
      <p:pic>
        <p:nvPicPr>
          <p:cNvPr id="13" name="check" descr="preencoded.png">    </p:cNvPr>
          <p:cNvPicPr>
            <a:picLocks noChangeAspect="1"/>
          </p:cNvPicPr>
          <p:nvPr/>
        </p:nvPicPr>
        <p:blipFill>
          <a:blip r:embed="rId8"/>
          <a:stretch>
            <a:fillRect/>
          </a:stretch>
        </p:blipFill>
        <p:spPr>
          <a:xfrm>
            <a:off x="548640" y="4315968"/>
            <a:ext cx="347472" cy="347472"/>
          </a:xfrm>
          <a:prstGeom prst="rect">
            <a:avLst/>
          </a:prstGeom>
        </p:spPr>
      </p:pic>
      <p:sp>
        <p:nvSpPr>
          <p:cNvPr id="14" name="Text 6"/>
          <p:cNvSpPr txBox="1"/>
          <p:nvPr/>
        </p:nvSpPr>
        <p:spPr>
          <a:xfrm>
            <a:off x="1051560" y="4270248"/>
            <a:ext cx="5212080" cy="457200"/>
          </a:xfrm>
          <a:prstGeom prst="rect">
            <a:avLst/>
          </a:prstGeom>
          <a:noFill/>
          <a:ln/>
        </p:spPr>
        <p:txBody>
          <a:bodyPr wrap="square" lIns="0" tIns="0" rIns="0" bIns="0" rtlCol="0" anchor="ctr"/>
          <a:lstStyle/>
          <a:p>
            <a:pPr indent="0" marL="0">
              <a:buNone/>
            </a:pPr>
            <a:r>
              <a:rPr lang="en-US" sz="1700" dirty="0">
                <a:solidFill>
                  <a:schemeClr val="bg1"/>
                </a:solidFill>
              </a:rPr>
              <a:t>Ledger closes to 5.6×10</a:t>
            </a:r>
            <a:pPr indent="0" marL="0">
              <a:buNone/>
            </a:pPr>
            <a:r>
              <a:rPr lang="en-US" sz="1700" baseline="30000" dirty="0">
                <a:solidFill>
                  <a:schemeClr val="bg1"/>
                </a:solidFill>
              </a:rPr>
              <a:t>−16</a:t>
            </a:r>
            <a:pPr indent="0" marL="0">
              <a:buNone/>
            </a:pPr>
            <a:r>
              <a:rPr lang="en-US" sz="1700" dirty="0">
                <a:solidFill>
                  <a:schemeClr val="bg1"/>
                </a:solidFill>
              </a:rPr>
              <a:t> (limit 10</a:t>
            </a:r>
            <a:pPr indent="0" marL="0">
              <a:buNone/>
            </a:pPr>
            <a:r>
              <a:rPr lang="en-US" sz="1700" baseline="30000" dirty="0">
                <a:solidFill>
                  <a:schemeClr val="bg1"/>
                </a:solidFill>
              </a:rPr>
              <a:t>−9</a:t>
            </a:r>
            <a:pPr indent="0" marL="0">
              <a:buNone/>
            </a:pPr>
            <a:r>
              <a:rPr lang="en-US" sz="1700" dirty="0">
                <a:solidFill>
                  <a:schemeClr val="bg1"/>
                </a:solidFill>
              </a:rPr>
              <a:t>)</a:t>
            </a:r>
            <a:endParaRPr lang="en-US" sz="1700" dirty="0"/>
          </a:p>
        </p:txBody>
      </p:sp>
      <p:pic>
        <p:nvPicPr>
          <p:cNvPr id="15" name="check" descr="preencoded.png">    </p:cNvPr>
          <p:cNvPicPr>
            <a:picLocks noChangeAspect="1"/>
          </p:cNvPicPr>
          <p:nvPr/>
        </p:nvPicPr>
        <p:blipFill>
          <a:blip r:embed="rId9"/>
          <a:stretch>
            <a:fillRect/>
          </a:stretch>
        </p:blipFill>
        <p:spPr>
          <a:xfrm>
            <a:off x="548640" y="5029200"/>
            <a:ext cx="347472" cy="347472"/>
          </a:xfrm>
          <a:prstGeom prst="rect">
            <a:avLst/>
          </a:prstGeom>
        </p:spPr>
      </p:pic>
      <p:sp>
        <p:nvSpPr>
          <p:cNvPr id="16" name="Text 7"/>
          <p:cNvSpPr txBox="1"/>
          <p:nvPr/>
        </p:nvSpPr>
        <p:spPr>
          <a:xfrm>
            <a:off x="1051560" y="4983480"/>
            <a:ext cx="5212080" cy="457200"/>
          </a:xfrm>
          <a:prstGeom prst="rect">
            <a:avLst/>
          </a:prstGeom>
          <a:noFill/>
          <a:ln/>
        </p:spPr>
        <p:txBody>
          <a:bodyPr wrap="square" lIns="0" tIns="0" rIns="0" bIns="0" rtlCol="0" anchor="ctr"/>
          <a:lstStyle/>
          <a:p>
            <a:pPr indent="0" marL="0">
              <a:buNone/>
            </a:pPr>
            <a:r>
              <a:rPr lang="en-US" sz="1700" dirty="0">
                <a:solidFill>
                  <a:schemeClr val="bg1"/>
                </a:solidFill>
              </a:rPr>
              <a:t>0 unresolved flags; 6 covered by E1–E3</a:t>
            </a:r>
            <a:endParaRPr lang="en-US" sz="1700" dirty="0"/>
          </a:p>
        </p:txBody>
      </p:sp>
      <p:sp>
        <p:nvSpPr>
          <p:cNvPr id="17" name="limits card"/>
          <p:cNvSpPr/>
          <p:nvPr/>
        </p:nvSpPr>
        <p:spPr>
          <a:xfrm>
            <a:off x="6583680" y="1371600"/>
            <a:ext cx="5074920" cy="4343400"/>
          </a:xfrm>
          <a:prstGeom prst="roundRect">
            <a:avLst>
              <a:gd name="adj" fmla="val 2526"/>
            </a:avLst>
          </a:prstGeom>
          <a:solidFill>
            <a:srgbClr val="1D2B45"/>
          </a:solidFill>
          <a:ln w="12700">
            <a:solidFill>
              <a:srgbClr val="1D2B45"/>
            </a:solidFill>
            <a:prstDash val="solid"/>
          </a:ln>
        </p:spPr>
      </p:sp>
      <p:sp>
        <p:nvSpPr>
          <p:cNvPr id="18" name="Text 9"/>
          <p:cNvSpPr txBox="1"/>
          <p:nvPr/>
        </p:nvSpPr>
        <p:spPr>
          <a:xfrm>
            <a:off x="6812280" y="1536192"/>
            <a:ext cx="4663440" cy="411480"/>
          </a:xfrm>
          <a:prstGeom prst="rect">
            <a:avLst/>
          </a:prstGeom>
          <a:noFill/>
          <a:ln/>
        </p:spPr>
        <p:txBody>
          <a:bodyPr wrap="square" lIns="0" tIns="0" rIns="0" bIns="0" rtlCol="0" anchor="ctr"/>
          <a:lstStyle/>
          <a:p>
            <a:pPr indent="0" marL="0">
              <a:buNone/>
            </a:pPr>
            <a:r>
              <a:rPr lang="en-US" sz="1700" b="1" dirty="0">
                <a:solidFill>
                  <a:schemeClr val="accent1"/>
                </a:solidFill>
              </a:rPr>
              <a:t>What we assume, and what we don't claim</a:t>
            </a:r>
            <a:endParaRPr lang="en-US" sz="1700" dirty="0"/>
          </a:p>
        </p:txBody>
      </p:sp>
      <p:sp>
        <p:nvSpPr>
          <p:cNvPr id="19" name="Text 10"/>
          <p:cNvSpPr txBox="1"/>
          <p:nvPr/>
        </p:nvSpPr>
        <p:spPr>
          <a:xfrm>
            <a:off x="6812280" y="2057400"/>
            <a:ext cx="4663440" cy="35204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chemeClr val="bg1"/>
                </a:solidFill>
              </a:rPr>
              <a:t>E1 is 26% of the Sun's output: our largest assumption, bounded and booked</a:t>
            </a:r>
            <a:endParaRPr lang="en-US" sz="1400" dirty="0"/>
          </a:p>
          <a:p>
            <a:pPr marL="342900" indent="-342900">
              <a:spcAft>
                <a:spcPts val="900"/>
              </a:spcAft>
              <a:buSzPct val="100000"/>
              <a:buChar char="•"/>
            </a:pPr>
            <a:r>
              <a:rPr lang="en-US" sz="1400" dirty="0">
                <a:solidFill>
                  <a:schemeClr val="bg1"/>
                </a:solidFill>
              </a:rPr>
              <a:t>Climate is a global, yearly model: no weather, oceans or seasons (13 months long at 2.7 AU)</a:t>
            </a:r>
            <a:endParaRPr lang="en-US" sz="1400" dirty="0"/>
          </a:p>
          <a:p>
            <a:pPr marL="342900" indent="-342900">
              <a:spcAft>
                <a:spcPts val="900"/>
              </a:spcAft>
              <a:buSzPct val="100000"/>
              <a:buChar char="•"/>
            </a:pPr>
            <a:r>
              <a:rPr lang="en-US" sz="1400" dirty="0">
                <a:solidFill>
                  <a:schemeClr val="bg1"/>
                </a:solidFill>
              </a:rPr>
              <a:t>The run counts the optics face on; placed at L1 they give 97% of today's sunlight (286 K)</a:t>
            </a:r>
            <a:endParaRPr lang="en-US" sz="1400" dirty="0"/>
          </a:p>
          <a:p>
            <a:pPr marL="342900" indent="-342900">
              <a:spcAft>
                <a:spcPts val="900"/>
              </a:spcAft>
              <a:buSzPct val="100000"/>
              <a:buChar char="•"/>
            </a:pPr>
            <a:r>
              <a:rPr lang="en-US" sz="1400" dirty="0">
                <a:solidFill>
                  <a:schemeClr val="bg1"/>
                </a:solidFill>
              </a:rPr>
              <a:t>The tow mirror's scattered light must stay below 3.4×10⁻¹¹: no enabler bounds it</a:t>
            </a:r>
            <a:endParaRPr lang="en-US" sz="1400" dirty="0"/>
          </a:p>
          <a:p>
            <a:pPr marL="342900" indent="-342900">
              <a:spcAft>
                <a:spcPts val="900"/>
              </a:spcAft>
              <a:buSzPct val="100000"/>
              <a:buChar char="•"/>
            </a:pPr>
            <a:r>
              <a:rPr lang="en-US" sz="1400" dirty="0">
                <a:solidFill>
                  <a:schemeClr val="bg1"/>
                </a:solidFill>
              </a:rPr>
              <a:t>Our runs reach a million years; beyond a few million the inner solar system is chaotic</a:t>
            </a:r>
            <a:endParaRPr lang="en-US" sz="1400" dirty="0"/>
          </a:p>
        </p:txBody>
      </p:sp>
      <p:sp>
        <p:nvSpPr>
          <p:cNvPr id="20" name="Text 11"/>
          <p:cNvSpPr txBox="1"/>
          <p:nvPr/>
        </p:nvSpPr>
        <p:spPr>
          <a:xfrm>
            <a:off x="548640" y="5760720"/>
            <a:ext cx="8229600" cy="777240"/>
          </a:xfrm>
          <a:prstGeom prst="rect">
            <a:avLst/>
          </a:prstGeom>
          <a:noFill/>
          <a:ln/>
        </p:spPr>
        <p:txBody>
          <a:bodyPr wrap="square" lIns="0" tIns="0" rIns="0" bIns="0" rtlCol="0" anchor="ctr"/>
          <a:lstStyle/>
          <a:p>
            <a:pPr indent="0" marL="0">
              <a:buNone/>
            </a:pPr>
            <a:r>
              <a:rPr lang="en-US" sz="1200" u="sng" dirty="0">
                <a:solidFill>
                  <a:srgbClr val="CADCFC"/>
                </a:solidFill>
                <a:hlinkClick r:id="rId10" invalidUrl="" action="" tgtFrame="" tooltip="" history="1" highlightClick="0" endSnd="0">
                  <a:extLst>
                    <a:ext uri="{A12FA001-AC4F-418D-AE19-62706E023703}">
                      <ahyp:hlinkClr xmlns:ahyp="http://schemas.microsoft.com/office/drawing/2018/hyperlinkcolor" val="tx"/>
                    </a:ext>
                  </a:extLst>
                </a:hlinkClick>
              </a:rPr>
              <a:t>Code and runs: github.com/Ashish000011/black-ant</a:t>
            </a:r>
            <a:endParaRPr lang="en-US" sz="1200" dirty="0"/>
          </a:p>
          <a:p>
            <a:pPr indent="0" marL="0">
              <a:buNone/>
            </a:pPr>
            <a:r>
              <a:rPr lang="en-US" sz="1200" u="sng" dirty="0">
                <a:solidFill>
                  <a:srgbClr val="CADCFC"/>
                </a:solidFill>
                <a:hlinkClick r:id="rId11" invalidUrl="" action="" tgtFrame="" tooltip="" history="1" highlightClick="0" endSnd="0">
                  <a:extLst>
                    <a:ext uri="{A12FA001-AC4F-418D-AE19-62706E023703}">
                      <ahyp:hlinkClr xmlns:ahyp="http://schemas.microsoft.com/office/drawing/2018/hyperlinkcolor" val="tx"/>
                    </a:ext>
                  </a:extLst>
                </a:hlinkClick>
              </a:rPr>
              <a:t>3D test bench: ashish000011.github.io/black-ant</a:t>
            </a:r>
            <a:endParaRPr lang="en-US" sz="1200" dirty="0"/>
          </a:p>
          <a:p>
            <a:pPr indent="0" marL="0">
              <a:buNone/>
            </a:pPr>
            <a:r>
              <a:rPr lang="en-US" sz="1200" dirty="0">
                <a:solidFill>
                  <a:srgbClr val="AEB9CC"/>
                </a:solidFill>
              </a:rPr>
              <a:t>Physics paper: docs/physics/black-ant-physics-paper.pdf</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7132320" cy="868680"/>
          </a:xfrm>
          <a:prstGeom prst="rect">
            <a:avLst/>
          </a:prstGeom>
          <a:noFill/>
          <a:ln/>
        </p:spPr>
        <p:txBody>
          <a:bodyPr wrap="square" lIns="0" tIns="0" rIns="0" bIns="0" rtlCol="0" anchor="ctr"/>
          <a:lstStyle/>
          <a:p>
            <a:pPr algn="l" indent="0" marL="0">
              <a:buNone/>
            </a:pPr>
            <a:r>
              <a:rPr lang="en-US" sz="3400" b="1" dirty="0">
                <a:solidFill>
                  <a:schemeClr val="tx1"/>
                </a:solidFill>
              </a:rPr>
              <a:t>E1 · Focused light, up to 10</a:t>
            </a:r>
            <a:pPr algn="l" indent="0" marL="0">
              <a:buNone/>
            </a:pPr>
            <a:r>
              <a:rPr lang="en-US" sz="3400" b="1" baseline="30000" dirty="0">
                <a:solidFill>
                  <a:schemeClr val="tx1"/>
                </a:solidFill>
              </a:rPr>
              <a:t>26</a:t>
            </a:r>
            <a:pPr algn="l" indent="0" marL="0">
              <a:buNone/>
            </a:pPr>
            <a:r>
              <a:rPr lang="en-US" sz="3400" b="1" dirty="0">
                <a:solidFill>
                  <a:schemeClr val="tx1"/>
                </a:solidFill>
              </a:rPr>
              <a:t> W</a:t>
            </a:r>
            <a:endParaRPr lang="en-US" sz="3400" dirty="0"/>
          </a:p>
        </p:txBody>
      </p:sp>
      <p:sp>
        <p:nvSpPr>
          <p:cNvPr id="3" name="Back button">
            <a:hlinkClick r:id="rId1" tooltip="Back to the enablers" action="ppaction://hlinksldjump"/>
          </p:cNvPr>
          <p:cNvSpPr/>
          <p:nvPr/>
        </p:nvSpPr>
        <p:spPr>
          <a:xfrm>
            <a:off x="7818120" y="384048"/>
            <a:ext cx="2880360" cy="384048"/>
          </a:xfrm>
          <a:prstGeom prst="roundRect">
            <a:avLst>
              <a:gd name="adj" fmla="val 50000"/>
            </a:avLst>
          </a:prstGeom>
          <a:solidFill>
            <a:srgbClr val="0E1726"/>
          </a:solidFill>
          <a:ln>
            <a:solidFill>
              <a:srgbClr val="0E1726"/>
            </a:solidFill>
          </a:ln>
        </p:spPr>
        <p:txBody>
          <a:bodyPr wrap="square" lIns="0" tIns="0" rIns="152400" bIns="0" rtlCol="0" anchor="ctr"/>
          <a:lstStyle/>
          <a:p>
            <a:pPr algn="r" indent="0" marL="0">
              <a:buNone/>
            </a:pPr>
            <a:r>
              <a:rPr lang="en-US" sz="1200" b="1" u="sng" dirty="0">
                <a:solidFill>
                  <a:schemeClr val="bg1"/>
                </a:solidFill>
                <a:hlinkClick r:id="rId1" action="ppaction://hlinksldjump" tooltip="Back to the enablers">
                  <a:extLst>
                    <a:ext uri="{A12FA001-AC4F-418D-AE19-62706E023703}">
                      <ahyp:hlinkClr xmlns:ahyp="http://schemas.microsoft.com/office/drawing/2018/hyperlinkcolor" val="tx"/>
                    </a:ext>
                  </a:extLst>
                </a:hlinkClick>
              </a:rPr>
              <a:t>Back to the enablers</a:t>
            </a:r>
            <a:endParaRPr lang="en-US" sz="1200" dirty="0"/>
          </a:p>
        </p:txBody>
      </p:sp>
      <p:pic>
        <p:nvPicPr>
          <p:cNvPr id="4" name="Back icon" descr="preencoded.png">
            <a:hlinkClick r:id="rId3" tooltip="Back to the enablers" action="ppaction://hlinksldjump"/>
          </p:cNvPr>
          <p:cNvPicPr>
            <a:picLocks noChangeAspect="1"/>
          </p:cNvPicPr>
          <p:nvPr/>
        </p:nvPicPr>
        <p:blipFill>
          <a:blip r:embed="rId2"/>
          <a:stretch>
            <a:fillRect/>
          </a:stretch>
        </p:blipFill>
        <p:spPr>
          <a:xfrm>
            <a:off x="7973568" y="475488"/>
            <a:ext cx="201168" cy="201168"/>
          </a:xfrm>
          <a:prstGeom prst="rect">
            <a:avLst/>
          </a:prstGeom>
        </p:spPr>
      </p:pic>
      <p:sp>
        <p:nvSpPr>
          <p:cNvPr id="5" name="Map button">
            <a:hlinkClick r:id="rId4"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4"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6" name="Map icon" descr="preencoded.png">
            <a:hlinkClick r:id="rId6" tooltip="Back to the map" action="ppaction://hlinksldjump"/>
          </p:cNvPr>
          <p:cNvPicPr>
            <a:picLocks noChangeAspect="1"/>
          </p:cNvPicPr>
          <p:nvPr/>
        </p:nvPicPr>
        <p:blipFill>
          <a:blip r:embed="rId5"/>
          <a:stretch>
            <a:fillRect/>
          </a:stretch>
        </p:blipFill>
        <p:spPr>
          <a:xfrm>
            <a:off x="10972800" y="475488"/>
            <a:ext cx="201168" cy="201168"/>
          </a:xfrm>
          <a:prstGeom prst="rect">
            <a:avLst/>
          </a:prstGeom>
        </p:spPr>
      </p:pic>
      <p:graphicFrame>
        <p:nvGraphicFramePr>
          <p:cNvPr id="7" name="Chart 0" descr=""/>
          <p:cNvGraphicFramePr/>
          <p:nvPr/>
        </p:nvGraphicFramePr>
        <p:xfrm>
          <a:off x="548640" y="1325880"/>
          <a:ext cx="6035040" cy="4663440"/>
        </p:xfrm>
        <a:graphic xmlns:a="http://schemas.openxmlformats.org/drawingml/2006/main">
          <a:graphicData uri="http://schemas.openxmlformats.org/drawingml/2006/chart">
            <c:chart xmlns:c="http://schemas.openxmlformats.org/drawingml/2006/chart" r:id="rId7"/>
          </a:graphicData>
        </a:graphic>
      </p:graphicFrame>
      <p:sp>
        <p:nvSpPr>
          <p:cNvPr id="8" name="E1 text card"/>
          <p:cNvSpPr/>
          <p:nvPr/>
        </p:nvSpPr>
        <p:spPr>
          <a:xfrm>
            <a:off x="6858000" y="1325880"/>
            <a:ext cx="4800600" cy="4663440"/>
          </a:xfrm>
          <a:prstGeom prst="roundRect">
            <a:avLst>
              <a:gd name="adj" fmla="val 2353"/>
            </a:avLst>
          </a:prstGeom>
          <a:solidFill>
            <a:srgbClr val="FFFFFF"/>
          </a:solidFill>
          <a:ln w="12700">
            <a:solidFill>
              <a:srgbClr val="FFFFFF"/>
            </a:solidFill>
            <a:prstDash val="solid"/>
          </a:ln>
        </p:spPr>
      </p:sp>
      <p:sp>
        <p:nvSpPr>
          <p:cNvPr id="9" name="Text 4"/>
          <p:cNvSpPr txBox="1"/>
          <p:nvPr/>
        </p:nvSpPr>
        <p:spPr>
          <a:xfrm>
            <a:off x="7086600" y="1463040"/>
            <a:ext cx="4389120" cy="4434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What it does</a:t>
            </a:r>
            <a:endParaRPr lang="en-US" sz="1400" dirty="0"/>
          </a:p>
          <a:p>
            <a:pPr indent="0" marL="0">
              <a:spcAft>
                <a:spcPts val="300"/>
              </a:spcAft>
              <a:buNone/>
            </a:pPr>
            <a:r>
              <a:rPr lang="en-US" sz="1300" dirty="0">
                <a:solidFill>
                  <a:schemeClr val="tx1"/>
                </a:solidFill>
              </a:rPr>
              <a:t>Lights both tow mirrors from the Sun's side; nudges dangerous asteroids (a 20 m rock: 2% of its spare power).</a:t>
            </a:r>
            <a:endParaRPr lang="en-US" sz="1400" dirty="0"/>
          </a:p>
          <a:p>
            <a:pPr indent="0" marL="0">
              <a:spcAft>
                <a:spcPts val="300"/>
              </a:spcAft>
              <a:buNone/>
            </a:pPr>
            <a:r>
              <a:rPr lang="en-US" sz="1400" b="1" dirty="0">
                <a:solidFill>
                  <a:schemeClr val="tx1"/>
                </a:solidFill>
              </a:rPr>
              <a:t>How it's built</a:t>
            </a:r>
            <a:endParaRPr lang="en-US" sz="1400" dirty="0"/>
          </a:p>
          <a:p>
            <a:pPr indent="0" marL="0">
              <a:spcAft>
                <a:spcPts val="300"/>
              </a:spcAft>
              <a:buNone/>
            </a:pPr>
            <a:r>
              <a:rPr lang="en-US" sz="1300" dirty="0">
                <a:solidFill>
                  <a:schemeClr val="tx1"/>
                </a:solidFill>
              </a:rPr>
              <a:t>Many independent stations: no single fault takes out more than a quarter of the power, and a fault is answered within 12 hours.</a:t>
            </a:r>
            <a:endParaRPr lang="en-US" sz="1400" dirty="0"/>
          </a:p>
          <a:p>
            <a:pPr indent="0" marL="0">
              <a:spcAft>
                <a:spcPts val="300"/>
              </a:spcAft>
              <a:buNone/>
            </a:pPr>
            <a:r>
              <a:rPr lang="en-US" sz="1400" b="1" dirty="0">
                <a:solidFill>
                  <a:schemeClr val="tx1"/>
                </a:solidFill>
              </a:rPr>
              <a:t>Its reaction partners</a:t>
            </a:r>
            <a:endParaRPr lang="en-US" sz="1400" dirty="0"/>
          </a:p>
          <a:p>
            <a:pPr indent="0" marL="0">
              <a:spcAft>
                <a:spcPts val="300"/>
              </a:spcAft>
              <a:buNone/>
            </a:pPr>
            <a:r>
              <a:rPr lang="en-US" sz="1300" dirty="0">
                <a:solidFill>
                  <a:schemeClr val="tx1"/>
                </a:solidFill>
              </a:rPr>
              <a:t>Each station's recoil and the bounced light are booked in the ledger. No energy bonus is claimed.</a:t>
            </a:r>
            <a:endParaRPr lang="en-US" sz="1400" dirty="0"/>
          </a:p>
          <a:p>
            <a:pPr indent="0" marL="0">
              <a:spcAft>
                <a:spcPts val="300"/>
              </a:spcAft>
              <a:buNone/>
            </a:pPr>
            <a:r>
              <a:rPr lang="en-US" sz="1400" b="1" dirty="0">
                <a:solidFill>
                  <a:schemeClr val="tx1"/>
                </a:solidFill>
              </a:rPr>
              <a:t>Precedents</a:t>
            </a:r>
            <a:endParaRPr lang="en-US" sz="1400" dirty="0"/>
          </a:p>
          <a:p>
            <a:pPr indent="0" marL="0">
              <a:spcAft>
                <a:spcPts val="300"/>
              </a:spcAft>
              <a:buNone/>
            </a:pPr>
            <a:r>
              <a:rPr lang="en-US" sz="1300" dirty="0">
                <a:solidFill>
                  <a:schemeClr val="tx1"/>
                </a:solidFill>
              </a:rPr>
              <a:t>10</a:t>
            </a:r>
            <a:pPr indent="0" marL="0">
              <a:spcAft>
                <a:spcPts val="300"/>
              </a:spcAft>
              <a:buNone/>
            </a:pPr>
            <a:r>
              <a:rPr lang="en-US" sz="1300" baseline="30000" dirty="0">
                <a:solidFill>
                  <a:schemeClr val="tx1"/>
                </a:solidFill>
              </a:rPr>
              <a:t>26</a:t>
            </a:r>
            <a:pPr indent="0" marL="0">
              <a:spcAft>
                <a:spcPts val="300"/>
              </a:spcAft>
              <a:buNone/>
            </a:pPr>
            <a:r>
              <a:rPr lang="en-US" sz="1300" dirty="0">
                <a:solidFill>
                  <a:schemeClr val="tx1"/>
                </a:solidFill>
              </a:rPr>
              <a:t> W is 26% of the Sun's 3.83×10</a:t>
            </a:r>
            <a:pPr indent="0" marL="0">
              <a:spcAft>
                <a:spcPts val="300"/>
              </a:spcAft>
              <a:buNone/>
            </a:pPr>
            <a:r>
              <a:rPr lang="en-US" sz="1300" baseline="30000" dirty="0">
                <a:solidFill>
                  <a:schemeClr val="tx1"/>
                </a:solidFill>
              </a:rPr>
              <a:t>26</a:t>
            </a:r>
            <a:pPr indent="0" marL="0">
              <a:spcAft>
                <a:spcPts val="300"/>
              </a:spcAft>
              <a:buNone/>
            </a:pPr>
            <a:r>
              <a:rPr lang="en-US" sz="1300" dirty="0">
                <a:solidFill>
                  <a:schemeClr val="tx1"/>
                </a:solidFill>
              </a:rPr>
              <a:t> W (IAU 2015). IKAROS measured 1.12 mN of sunlight push (JAXA 2010); LightSail 2 flew on sunlight (2019). Starshot plans 100 GW lasers; DE-STAR proposes pushing asteroids with sunlight-powered lasers (Lubin et al. 2014). E1 is 10</a:t>
            </a:r>
            <a:pPr indent="0" marL="0">
              <a:spcAft>
                <a:spcPts val="300"/>
              </a:spcAft>
              <a:buNone/>
            </a:pPr>
            <a:r>
              <a:rPr lang="en-US" sz="1300" baseline="30000" dirty="0">
                <a:solidFill>
                  <a:schemeClr val="tx1"/>
                </a:solidFill>
              </a:rPr>
              <a:t>15</a:t>
            </a:r>
            <a:pPr indent="0" marL="0">
              <a:spcAft>
                <a:spcPts val="300"/>
              </a:spcAft>
              <a:buNone/>
            </a:pPr>
            <a:r>
              <a:rPr lang="en-US" sz="1300" dirty="0">
                <a:solidFill>
                  <a:schemeClr val="tx1"/>
                </a:solidFill>
              </a:rPr>
              <a:t> times Starshot: proven physics, assumed scale.</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7132320" cy="868680"/>
          </a:xfrm>
          <a:prstGeom prst="rect">
            <a:avLst/>
          </a:prstGeom>
          <a:noFill/>
          <a:ln/>
        </p:spPr>
        <p:txBody>
          <a:bodyPr wrap="square" lIns="0" tIns="0" rIns="0" bIns="0" rtlCol="0" anchor="ctr"/>
          <a:lstStyle/>
          <a:p>
            <a:pPr algn="l" indent="0" marL="0">
              <a:buNone/>
            </a:pPr>
            <a:r>
              <a:rPr lang="en-US" sz="3400" b="1" dirty="0">
                <a:solidFill>
                  <a:schemeClr val="tx1"/>
                </a:solidFill>
              </a:rPr>
              <a:t>E2 · Super-mirror material</a:t>
            </a:r>
            <a:endParaRPr lang="en-US" sz="3400" dirty="0"/>
          </a:p>
        </p:txBody>
      </p:sp>
      <p:sp>
        <p:nvSpPr>
          <p:cNvPr id="3" name="Back button">
            <a:hlinkClick r:id="rId1" tooltip="Back to the enablers" action="ppaction://hlinksldjump"/>
          </p:cNvPr>
          <p:cNvSpPr/>
          <p:nvPr/>
        </p:nvSpPr>
        <p:spPr>
          <a:xfrm>
            <a:off x="7818120" y="384048"/>
            <a:ext cx="2880360" cy="384048"/>
          </a:xfrm>
          <a:prstGeom prst="roundRect">
            <a:avLst>
              <a:gd name="adj" fmla="val 50000"/>
            </a:avLst>
          </a:prstGeom>
          <a:solidFill>
            <a:srgbClr val="0E1726"/>
          </a:solidFill>
          <a:ln>
            <a:solidFill>
              <a:srgbClr val="0E1726"/>
            </a:solidFill>
          </a:ln>
        </p:spPr>
        <p:txBody>
          <a:bodyPr wrap="square" lIns="0" tIns="0" rIns="152400" bIns="0" rtlCol="0" anchor="ctr"/>
          <a:lstStyle/>
          <a:p>
            <a:pPr algn="r" indent="0" marL="0">
              <a:buNone/>
            </a:pPr>
            <a:r>
              <a:rPr lang="en-US" sz="1200" b="1" u="sng" dirty="0">
                <a:solidFill>
                  <a:schemeClr val="bg1"/>
                </a:solidFill>
                <a:hlinkClick r:id="rId1" action="ppaction://hlinksldjump" tooltip="Back to the enablers">
                  <a:extLst>
                    <a:ext uri="{A12FA001-AC4F-418D-AE19-62706E023703}">
                      <ahyp:hlinkClr xmlns:ahyp="http://schemas.microsoft.com/office/drawing/2018/hyperlinkcolor" val="tx"/>
                    </a:ext>
                  </a:extLst>
                </a:hlinkClick>
              </a:rPr>
              <a:t>Back to the enablers</a:t>
            </a:r>
            <a:endParaRPr lang="en-US" sz="1200" dirty="0"/>
          </a:p>
        </p:txBody>
      </p:sp>
      <p:pic>
        <p:nvPicPr>
          <p:cNvPr id="4" name="Back icon" descr="preencoded.png">
            <a:hlinkClick r:id="rId3" tooltip="Back to the enablers" action="ppaction://hlinksldjump"/>
          </p:cNvPr>
          <p:cNvPicPr>
            <a:picLocks noChangeAspect="1"/>
          </p:cNvPicPr>
          <p:nvPr/>
        </p:nvPicPr>
        <p:blipFill>
          <a:blip r:embed="rId2"/>
          <a:stretch>
            <a:fillRect/>
          </a:stretch>
        </p:blipFill>
        <p:spPr>
          <a:xfrm>
            <a:off x="7973568" y="475488"/>
            <a:ext cx="201168" cy="201168"/>
          </a:xfrm>
          <a:prstGeom prst="rect">
            <a:avLst/>
          </a:prstGeom>
        </p:spPr>
      </p:pic>
      <p:sp>
        <p:nvSpPr>
          <p:cNvPr id="5" name="Map button">
            <a:hlinkClick r:id="rId4"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4"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6" name="Map icon" descr="preencoded.png">
            <a:hlinkClick r:id="rId6" tooltip="Back to the map" action="ppaction://hlinksldjump"/>
          </p:cNvPr>
          <p:cNvPicPr>
            <a:picLocks noChangeAspect="1"/>
          </p:cNvPicPr>
          <p:nvPr/>
        </p:nvPicPr>
        <p:blipFill>
          <a:blip r:embed="rId5"/>
          <a:stretch>
            <a:fillRect/>
          </a:stretch>
        </p:blipFill>
        <p:spPr>
          <a:xfrm>
            <a:off x="10972800" y="475488"/>
            <a:ext cx="201168" cy="201168"/>
          </a:xfrm>
          <a:prstGeom prst="rect">
            <a:avLst/>
          </a:prstGeom>
        </p:spPr>
      </p:pic>
      <p:graphicFrame>
        <p:nvGraphicFramePr>
          <p:cNvPr id="7" name="Chart 0" descr=""/>
          <p:cNvGraphicFramePr/>
          <p:nvPr/>
        </p:nvGraphicFramePr>
        <p:xfrm>
          <a:off x="548640" y="1325880"/>
          <a:ext cx="6035040" cy="4663440"/>
        </p:xfrm>
        <a:graphic xmlns:a="http://schemas.openxmlformats.org/drawingml/2006/main">
          <a:graphicData uri="http://schemas.openxmlformats.org/drawingml/2006/chart">
            <c:chart xmlns:c="http://schemas.openxmlformats.org/drawingml/2006/chart" r:id="rId7"/>
          </a:graphicData>
        </a:graphic>
      </p:graphicFrame>
      <p:sp>
        <p:nvSpPr>
          <p:cNvPr id="8" name="E2 text card"/>
          <p:cNvSpPr/>
          <p:nvPr/>
        </p:nvSpPr>
        <p:spPr>
          <a:xfrm>
            <a:off x="6858000" y="1325880"/>
            <a:ext cx="4800600" cy="4663440"/>
          </a:xfrm>
          <a:prstGeom prst="roundRect">
            <a:avLst>
              <a:gd name="adj" fmla="val 2353"/>
            </a:avLst>
          </a:prstGeom>
          <a:solidFill>
            <a:srgbClr val="FFFFFF"/>
          </a:solidFill>
          <a:ln w="12700">
            <a:solidFill>
              <a:srgbClr val="FFFFFF"/>
            </a:solidFill>
            <a:prstDash val="solid"/>
          </a:ln>
        </p:spPr>
      </p:sp>
      <p:sp>
        <p:nvSpPr>
          <p:cNvPr id="9" name="Text 4"/>
          <p:cNvSpPr txBox="1"/>
          <p:nvPr/>
        </p:nvSpPr>
        <p:spPr>
          <a:xfrm>
            <a:off x="7086600" y="1463040"/>
            <a:ext cx="4389120" cy="4434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Bound</a:t>
            </a:r>
            <a:endParaRPr lang="en-US" sz="1400" dirty="0"/>
          </a:p>
          <a:p>
            <a:pPr indent="0" marL="0">
              <a:spcAft>
                <a:spcPts val="300"/>
              </a:spcAft>
              <a:buNone/>
            </a:pPr>
            <a:r>
              <a:rPr lang="en-US" sz="1300" dirty="0">
                <a:solidFill>
                  <a:schemeClr val="tx1"/>
                </a:solidFill>
              </a:rPr>
              <a:t>100 GPa strength · absorbs 10</a:t>
            </a:r>
            <a:pPr indent="0" marL="0">
              <a:spcAft>
                <a:spcPts val="300"/>
              </a:spcAft>
              <a:buNone/>
            </a:pPr>
            <a:r>
              <a:rPr lang="en-US" sz="1300" baseline="30000" dirty="0">
                <a:solidFill>
                  <a:schemeClr val="tx1"/>
                </a:solidFill>
              </a:rPr>
              <a:t>−7</a:t>
            </a:r>
            <a:pPr indent="0" marL="0">
              <a:spcAft>
                <a:spcPts val="300"/>
              </a:spcAft>
              <a:buNone/>
            </a:pPr>
            <a:r>
              <a:rPr lang="en-US" sz="1300" dirty="0">
                <a:solidFill>
                  <a:schemeClr val="tx1"/>
                </a:solidFill>
              </a:rPr>
              <a:t> of the light · 2,000 kg/m</a:t>
            </a:r>
            <a:pPr indent="0" marL="0">
              <a:spcAft>
                <a:spcPts val="300"/>
              </a:spcAft>
              <a:buNone/>
            </a:pPr>
            <a:r>
              <a:rPr lang="en-US" sz="1300" baseline="30000" dirty="0">
                <a:solidFill>
                  <a:schemeClr val="tx1"/>
                </a:solidFill>
              </a:rPr>
              <a:t>3</a:t>
            </a:r>
            <a:pPr indent="0" marL="0">
              <a:spcAft>
                <a:spcPts val="300"/>
              </a:spcAft>
              <a:buNone/>
            </a:pPr>
            <a:r>
              <a:rPr lang="en-US" sz="1300" dirty="0">
                <a:solidFill>
                  <a:schemeClr val="tx1"/>
                </a:solidFill>
              </a:rPr>
              <a:t> · works up to 1,500 K.</a:t>
            </a:r>
            <a:endParaRPr lang="en-US" sz="1400" dirty="0"/>
          </a:p>
          <a:p>
            <a:pPr indent="0" marL="0">
              <a:spcAft>
                <a:spcPts val="300"/>
              </a:spcAft>
              <a:buNone/>
            </a:pPr>
            <a:r>
              <a:rPr lang="en-US" sz="1400" b="1" dirty="0">
                <a:solidFill>
                  <a:schemeClr val="tx1"/>
                </a:solidFill>
              </a:rPr>
              <a:t>What it does, and how close it runs</a:t>
            </a:r>
            <a:endParaRPr lang="en-US" sz="1400" dirty="0"/>
          </a:p>
          <a:p>
            <a:pPr indent="0" marL="0">
              <a:spcAft>
                <a:spcPts val="300"/>
              </a:spcAft>
              <a:buNone/>
            </a:pPr>
            <a:r>
              <a:rPr lang="en-US" sz="1300" dirty="0">
                <a:solidFill>
                  <a:schemeClr val="tx1"/>
                </a:solidFill>
              </a:rPr>
              <a:t>Tow mirrors and cables, sized for the most a beam can push (2P/c at the power cap). Cable safety factor 1.57 (needs 1.5); mirror 1,466 K (limit 1,500 K).</a:t>
            </a:r>
            <a:endParaRPr lang="en-US" sz="1400" dirty="0"/>
          </a:p>
          <a:p>
            <a:pPr indent="0" marL="0">
              <a:spcAft>
                <a:spcPts val="300"/>
              </a:spcAft>
              <a:buNone/>
            </a:pPr>
            <a:r>
              <a:rPr lang="en-US" sz="1300" i="1" dirty="0">
                <a:solidFill>
                  <a:schemeClr val="tx1"/>
                </a:solidFill>
              </a:rPr>
              <a:t>T = (αP / 2εσπR</a:t>
            </a:r>
            <a:pPr indent="0" marL="0">
              <a:spcAft>
                <a:spcPts val="300"/>
              </a:spcAft>
              <a:buNone/>
            </a:pPr>
            <a:r>
              <a:rPr lang="en-US" sz="1300" i="1" baseline="30000" dirty="0">
                <a:solidFill>
                  <a:schemeClr val="tx1"/>
                </a:solidFill>
              </a:rPr>
              <a:t>2</a:t>
            </a:r>
            <a:pPr indent="0" marL="0">
              <a:spcAft>
                <a:spcPts val="300"/>
              </a:spcAft>
              <a:buNone/>
            </a:pPr>
            <a:r>
              <a:rPr lang="en-US" sz="1300" i="1" dirty="0">
                <a:solidFill>
                  <a:schemeClr val="tx1"/>
                </a:solidFill>
              </a:rPr>
              <a:t>)</a:t>
            </a:r>
            <a:pPr indent="0" marL="0">
              <a:spcAft>
                <a:spcPts val="300"/>
              </a:spcAft>
              <a:buNone/>
            </a:pPr>
            <a:r>
              <a:rPr lang="en-US" sz="1300" i="1" baseline="30000" dirty="0">
                <a:solidFill>
                  <a:schemeClr val="tx1"/>
                </a:solidFill>
              </a:rPr>
              <a:t>1/4</a:t>
            </a:r>
            <a:pPr indent="0" marL="0">
              <a:spcAft>
                <a:spcPts val="300"/>
              </a:spcAft>
              <a:buNone/>
            </a:pPr>
            <a:r>
              <a:rPr lang="en-US" sz="1300" i="1" dirty="0">
                <a:solidFill>
                  <a:schemeClr val="tx1"/>
                </a:solidFill>
              </a:rPr>
              <a:t>: the absorbed share is radiated from both faces.</a:t>
            </a:r>
            <a:endParaRPr lang="en-US" sz="1400" dirty="0"/>
          </a:p>
          <a:p>
            <a:pPr indent="0" marL="0">
              <a:spcAft>
                <a:spcPts val="300"/>
              </a:spcAft>
              <a:buNone/>
            </a:pPr>
            <a:r>
              <a:rPr lang="en-US" sz="1400" b="1" dirty="0">
                <a:solidFill>
                  <a:schemeClr val="tx1"/>
                </a:solidFill>
              </a:rPr>
              <a:t>Precedents</a:t>
            </a:r>
            <a:endParaRPr lang="en-US" sz="1400" dirty="0"/>
          </a:p>
          <a:p>
            <a:pPr indent="0" marL="0">
              <a:spcAft>
                <a:spcPts val="300"/>
              </a:spcAft>
              <a:buNone/>
            </a:pPr>
            <a:r>
              <a:rPr lang="en-US" sz="1300" dirty="0">
                <a:solidFill>
                  <a:schemeClr val="tx1"/>
                </a:solidFill>
              </a:rPr>
              <a:t>Strongest single nanotube measured: 63 GPa (Yu et al., Science 2000). Monolayer graphene: 130 GPa (Lee et al., Science 2008). The guide allows 50–130 GPa. LIGO's mirror coatings absorb under 10</a:t>
            </a:r>
            <a:pPr indent="0" marL="0">
              <a:spcAft>
                <a:spcPts val="300"/>
              </a:spcAft>
              <a:buNone/>
            </a:pPr>
            <a:r>
              <a:rPr lang="en-US" sz="1300" baseline="30000" dirty="0">
                <a:solidFill>
                  <a:schemeClr val="tx1"/>
                </a:solidFill>
              </a:rPr>
              <a:t>−6</a:t>
            </a:r>
            <a:pPr indent="0" marL="0">
              <a:spcAft>
                <a:spcPts val="300"/>
              </a:spcAft>
              <a:buNone/>
            </a:pPr>
            <a:r>
              <a:rPr lang="en-US" sz="1300" dirty="0">
                <a:solidFill>
                  <a:schemeClr val="tx1"/>
                </a:solidFill>
              </a:rPr>
              <a:t> (Pinard et al. 2017); E2 asks for ten times better.</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7132320" cy="868680"/>
          </a:xfrm>
          <a:prstGeom prst="rect">
            <a:avLst/>
          </a:prstGeom>
          <a:noFill/>
          <a:ln/>
        </p:spPr>
        <p:txBody>
          <a:bodyPr wrap="square" lIns="0" tIns="0" rIns="0" bIns="0" rtlCol="0" anchor="ctr"/>
          <a:lstStyle/>
          <a:p>
            <a:pPr algn="l" indent="0" marL="0">
              <a:buNone/>
            </a:pPr>
            <a:r>
              <a:rPr lang="en-US" sz="3400" b="1" dirty="0">
                <a:solidFill>
                  <a:schemeClr val="tx1"/>
                </a:solidFill>
              </a:rPr>
              <a:t>E3 · Planet-scale manufacturing</a:t>
            </a:r>
            <a:endParaRPr lang="en-US" sz="3400" dirty="0"/>
          </a:p>
        </p:txBody>
      </p:sp>
      <p:sp>
        <p:nvSpPr>
          <p:cNvPr id="3" name="Back button">
            <a:hlinkClick r:id="rId1" tooltip="Back to the enablers" action="ppaction://hlinksldjump"/>
          </p:cNvPr>
          <p:cNvSpPr/>
          <p:nvPr/>
        </p:nvSpPr>
        <p:spPr>
          <a:xfrm>
            <a:off x="7818120" y="384048"/>
            <a:ext cx="2880360" cy="384048"/>
          </a:xfrm>
          <a:prstGeom prst="roundRect">
            <a:avLst>
              <a:gd name="adj" fmla="val 50000"/>
            </a:avLst>
          </a:prstGeom>
          <a:solidFill>
            <a:srgbClr val="0E1726"/>
          </a:solidFill>
          <a:ln>
            <a:solidFill>
              <a:srgbClr val="0E1726"/>
            </a:solidFill>
          </a:ln>
        </p:spPr>
        <p:txBody>
          <a:bodyPr wrap="square" lIns="0" tIns="0" rIns="152400" bIns="0" rtlCol="0" anchor="ctr"/>
          <a:lstStyle/>
          <a:p>
            <a:pPr algn="r" indent="0" marL="0">
              <a:buNone/>
            </a:pPr>
            <a:r>
              <a:rPr lang="en-US" sz="1200" b="1" u="sng" dirty="0">
                <a:solidFill>
                  <a:schemeClr val="bg1"/>
                </a:solidFill>
                <a:hlinkClick r:id="rId1" action="ppaction://hlinksldjump" tooltip="Back to the enablers">
                  <a:extLst>
                    <a:ext uri="{A12FA001-AC4F-418D-AE19-62706E023703}">
                      <ahyp:hlinkClr xmlns:ahyp="http://schemas.microsoft.com/office/drawing/2018/hyperlinkcolor" val="tx"/>
                    </a:ext>
                  </a:extLst>
                </a:hlinkClick>
              </a:rPr>
              <a:t>Back to the enablers</a:t>
            </a:r>
            <a:endParaRPr lang="en-US" sz="1200" dirty="0"/>
          </a:p>
        </p:txBody>
      </p:sp>
      <p:pic>
        <p:nvPicPr>
          <p:cNvPr id="4" name="Back icon" descr="preencoded.png">
            <a:hlinkClick r:id="rId3" tooltip="Back to the enablers" action="ppaction://hlinksldjump"/>
          </p:cNvPr>
          <p:cNvPicPr>
            <a:picLocks noChangeAspect="1"/>
          </p:cNvPicPr>
          <p:nvPr/>
        </p:nvPicPr>
        <p:blipFill>
          <a:blip r:embed="rId2"/>
          <a:stretch>
            <a:fillRect/>
          </a:stretch>
        </p:blipFill>
        <p:spPr>
          <a:xfrm>
            <a:off x="7973568" y="475488"/>
            <a:ext cx="201168" cy="201168"/>
          </a:xfrm>
          <a:prstGeom prst="rect">
            <a:avLst/>
          </a:prstGeom>
        </p:spPr>
      </p:pic>
      <p:sp>
        <p:nvSpPr>
          <p:cNvPr id="5" name="Map button">
            <a:hlinkClick r:id="rId4"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4"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6" name="Map icon" descr="preencoded.png">
            <a:hlinkClick r:id="rId6" tooltip="Back to the map" action="ppaction://hlinksldjump"/>
          </p:cNvPr>
          <p:cNvPicPr>
            <a:picLocks noChangeAspect="1"/>
          </p:cNvPicPr>
          <p:nvPr/>
        </p:nvPicPr>
        <p:blipFill>
          <a:blip r:embed="rId5"/>
          <a:stretch>
            <a:fillRect/>
          </a:stretch>
        </p:blipFill>
        <p:spPr>
          <a:xfrm>
            <a:off x="10972800" y="475488"/>
            <a:ext cx="201168" cy="201168"/>
          </a:xfrm>
          <a:prstGeom prst="rect">
            <a:avLst/>
          </a:prstGeom>
        </p:spPr>
      </p:pic>
      <p:graphicFrame>
        <p:nvGraphicFramePr>
          <p:cNvPr id="7" name="Chart 0" descr=""/>
          <p:cNvGraphicFramePr/>
          <p:nvPr/>
        </p:nvGraphicFramePr>
        <p:xfrm>
          <a:off x="548640" y="1325880"/>
          <a:ext cx="6035040" cy="4663440"/>
        </p:xfrm>
        <a:graphic xmlns:a="http://schemas.openxmlformats.org/drawingml/2006/main">
          <a:graphicData uri="http://schemas.openxmlformats.org/drawingml/2006/chart">
            <c:chart xmlns:c="http://schemas.openxmlformats.org/drawingml/2006/chart" r:id="rId7"/>
          </a:graphicData>
        </a:graphic>
      </p:graphicFrame>
      <p:sp>
        <p:nvSpPr>
          <p:cNvPr id="8" name="E3 text card"/>
          <p:cNvSpPr/>
          <p:nvPr/>
        </p:nvSpPr>
        <p:spPr>
          <a:xfrm>
            <a:off x="6858000" y="1325880"/>
            <a:ext cx="4800600" cy="4663440"/>
          </a:xfrm>
          <a:prstGeom prst="roundRect">
            <a:avLst>
              <a:gd name="adj" fmla="val 2353"/>
            </a:avLst>
          </a:prstGeom>
          <a:solidFill>
            <a:srgbClr val="FFFFFF"/>
          </a:solidFill>
          <a:ln w="12700">
            <a:solidFill>
              <a:srgbClr val="FFFFFF"/>
            </a:solidFill>
            <a:prstDash val="solid"/>
          </a:ln>
        </p:spPr>
      </p:sp>
      <p:sp>
        <p:nvSpPr>
          <p:cNvPr id="9" name="Text 4"/>
          <p:cNvSpPr txBox="1"/>
          <p:nvPr/>
        </p:nvSpPr>
        <p:spPr>
          <a:xfrm>
            <a:off x="7086600" y="1463040"/>
            <a:ext cx="4389120" cy="4434840"/>
          </a:xfrm>
          <a:prstGeom prst="rect">
            <a:avLst/>
          </a:prstGeom>
          <a:noFill/>
          <a:ln/>
        </p:spPr>
        <p:txBody>
          <a:bodyPr wrap="square" lIns="0" tIns="0" rIns="0" bIns="0" rtlCol="0" anchor="t"/>
          <a:lstStyle/>
          <a:p>
            <a:pPr indent="0" marL="0">
              <a:spcAft>
                <a:spcPts val="300"/>
              </a:spcAft>
              <a:buNone/>
            </a:pPr>
            <a:r>
              <a:rPr lang="en-US" sz="1400" b="1" dirty="0">
                <a:solidFill>
                  <a:schemeClr val="tx1"/>
                </a:solidFill>
              </a:rPr>
              <a:t>What it places and builds</a:t>
            </a:r>
            <a:endParaRPr lang="en-US" sz="1400" dirty="0"/>
          </a:p>
          <a:p>
            <a:pPr indent="0" marL="0">
              <a:spcAft>
                <a:spcPts val="300"/>
              </a:spcAft>
              <a:buNone/>
            </a:pPr>
            <a:r>
              <a:rPr lang="en-US" sz="1300" dirty="0">
                <a:solidFill>
                  <a:schemeClr val="tx1"/>
                </a:solidFill>
              </a:rPr>
              <a:t>Two tow asteroids (5.53×10</a:t>
            </a:r>
            <a:pPr indent="0" marL="0">
              <a:spcAft>
                <a:spcPts val="300"/>
              </a:spcAft>
              <a:buNone/>
            </a:pPr>
            <a:r>
              <a:rPr lang="en-US" sz="1300" baseline="30000" dirty="0">
                <a:solidFill>
                  <a:schemeClr val="tx1"/>
                </a:solidFill>
              </a:rPr>
              <a:t>20</a:t>
            </a:r>
            <a:pPr indent="0" marL="0">
              <a:spcAft>
                <a:spcPts val="300"/>
              </a:spcAft>
              <a:buNone/>
            </a:pPr>
            <a:r>
              <a:rPr lang="en-US" sz="1300" dirty="0">
                <a:solidFill>
                  <a:schemeClr val="tx1"/>
                </a:solidFill>
              </a:rPr>
              <a:t> kg in all), the tow mirrors, cables and anchors, and the sunlight optics: up to 10</a:t>
            </a:r>
            <a:pPr indent="0" marL="0">
              <a:spcAft>
                <a:spcPts val="300"/>
              </a:spcAft>
              <a:buNone/>
            </a:pPr>
            <a:r>
              <a:rPr lang="en-US" sz="1300" baseline="30000" dirty="0">
                <a:solidFill>
                  <a:schemeClr val="tx1"/>
                </a:solidFill>
              </a:rPr>
              <a:t>9</a:t>
            </a:r>
            <a:pPr indent="0" marL="0">
              <a:spcAft>
                <a:spcPts val="300"/>
              </a:spcAft>
              <a:buNone/>
            </a:pPr>
            <a:r>
              <a:rPr lang="en-US" sz="1300" dirty="0">
                <a:solidFill>
                  <a:schemeClr val="tx1"/>
                </a:solidFill>
              </a:rPr>
              <a:t> km</a:t>
            </a:r>
            <a:pPr indent="0" marL="0">
              <a:spcAft>
                <a:spcPts val="300"/>
              </a:spcAft>
              <a:buNone/>
            </a:pPr>
            <a:r>
              <a:rPr lang="en-US" sz="1300" baseline="30000" dirty="0">
                <a:solidFill>
                  <a:schemeClr val="tx1"/>
                </a:solidFill>
              </a:rPr>
              <a:t>2</a:t>
            </a:r>
            <a:pPr indent="0" marL="0">
              <a:spcAft>
                <a:spcPts val="300"/>
              </a:spcAft>
              <a:buNone/>
            </a:pPr>
            <a:r>
              <a:rPr lang="en-US" sz="1300" dirty="0">
                <a:solidFill>
                  <a:schemeClr val="tx1"/>
                </a:solidFill>
              </a:rPr>
              <a:t>; the run used 8.5×10</a:t>
            </a:r>
            <a:pPr indent="0" marL="0">
              <a:spcAft>
                <a:spcPts val="300"/>
              </a:spcAft>
              <a:buNone/>
            </a:pPr>
            <a:r>
              <a:rPr lang="en-US" sz="1300" baseline="30000" dirty="0">
                <a:solidFill>
                  <a:schemeClr val="tx1"/>
                </a:solidFill>
              </a:rPr>
              <a:t>8</a:t>
            </a:r>
            <a:pPr indent="0" marL="0">
              <a:spcAft>
                <a:spcPts val="300"/>
              </a:spcAft>
              <a:buNone/>
            </a:pPr>
            <a:r>
              <a:rPr lang="en-US" sz="1300" dirty="0">
                <a:solidFill>
                  <a:schemeClr val="tx1"/>
                </a:solidFill>
              </a:rPr>
              <a:t> km</a:t>
            </a:r>
            <a:pPr indent="0" marL="0">
              <a:spcAft>
                <a:spcPts val="300"/>
              </a:spcAft>
              <a:buNone/>
            </a:pPr>
            <a:r>
              <a:rPr lang="en-US" sz="1300" baseline="30000" dirty="0">
                <a:solidFill>
                  <a:schemeClr val="tx1"/>
                </a:solidFill>
              </a:rPr>
              <a:t>2</a:t>
            </a:r>
            <a:pPr indent="0" marL="0">
              <a:spcAft>
                <a:spcPts val="300"/>
              </a:spcAft>
              <a:buNone/>
            </a:pPr>
            <a:r>
              <a:rPr lang="en-US" sz="1300" dirty="0">
                <a:solidFill>
                  <a:schemeClr val="tx1"/>
                </a:solidFill>
              </a:rPr>
              <a:t> counted face on.</a:t>
            </a:r>
            <a:endParaRPr lang="en-US" sz="1400" dirty="0"/>
          </a:p>
          <a:p>
            <a:pPr indent="0" marL="0">
              <a:spcAft>
                <a:spcPts val="300"/>
              </a:spcAft>
              <a:buNone/>
            </a:pPr>
            <a:r>
              <a:rPr lang="en-US" sz="1400" b="1" dirty="0">
                <a:solidFill>
                  <a:schemeClr val="tx1"/>
                </a:solidFill>
              </a:rPr>
              <a:t>Placed for real</a:t>
            </a:r>
            <a:endParaRPr lang="en-US" sz="1400" dirty="0"/>
          </a:p>
          <a:p>
            <a:pPr indent="0" marL="0">
              <a:spcAft>
                <a:spcPts val="300"/>
              </a:spcAft>
              <a:buNone/>
            </a:pPr>
            <a:r>
              <a:rPr lang="en-US" sz="1300" dirty="0">
                <a:solidFill>
                  <a:schemeClr val="tx1"/>
                </a:solidFill>
              </a:rPr>
              <a:t>A ring of refracting film near the Sun–Earth L1 point bends extra sunlight onto Earth, so noon and night stay natural. Held to E3's bound it gives 97.3% of today's sunlight and 286 K at 95% transmission. At 100 g/m</a:t>
            </a:r>
            <a:pPr indent="0" marL="0">
              <a:spcAft>
                <a:spcPts val="300"/>
              </a:spcAft>
              <a:buNone/>
            </a:pPr>
            <a:r>
              <a:rPr lang="en-US" sz="1300" baseline="30000" dirty="0">
                <a:solidFill>
                  <a:schemeClr val="tx1"/>
                </a:solidFill>
              </a:rPr>
              <a:t>2</a:t>
            </a:r>
            <a:pPr indent="0" marL="0">
              <a:spcAft>
                <a:spcPts val="300"/>
              </a:spcAft>
              <a:buNone/>
            </a:pPr>
            <a:r>
              <a:rPr lang="en-US" sz="1300" dirty="0">
                <a:solidFill>
                  <a:schemeClr val="tx1"/>
                </a:solidFill>
              </a:rPr>
              <a:t> it weighs 10</a:t>
            </a:r>
            <a:pPr indent="0" marL="0">
              <a:spcAft>
                <a:spcPts val="300"/>
              </a:spcAft>
              <a:buNone/>
            </a:pPr>
            <a:r>
              <a:rPr lang="en-US" sz="1300" baseline="30000" dirty="0">
                <a:solidFill>
                  <a:schemeClr val="tx1"/>
                </a:solidFill>
              </a:rPr>
              <a:t>14</a:t>
            </a:r>
            <a:pPr indent="0" marL="0">
              <a:spcAft>
                <a:spcPts val="300"/>
              </a:spcAft>
              <a:buNone/>
            </a:pPr>
            <a:r>
              <a:rPr lang="en-US" sz="1300" dirty="0">
                <a:solidFill>
                  <a:schemeClr val="tx1"/>
                </a:solidFill>
              </a:rPr>
              <a:t> kg.</a:t>
            </a:r>
            <a:endParaRPr lang="en-US" sz="1400" dirty="0"/>
          </a:p>
          <a:p>
            <a:pPr indent="0" marL="0">
              <a:spcAft>
                <a:spcPts val="300"/>
              </a:spcAft>
              <a:buNone/>
            </a:pPr>
            <a:r>
              <a:rPr lang="en-US" sz="1400" b="1" dirty="0">
                <a:solidFill>
                  <a:schemeClr val="tx1"/>
                </a:solidFill>
              </a:rPr>
              <a:t>Precedents</a:t>
            </a:r>
            <a:endParaRPr lang="en-US" sz="1400" dirty="0"/>
          </a:p>
          <a:p>
            <a:pPr indent="0" marL="0">
              <a:spcAft>
                <a:spcPts val="300"/>
              </a:spcAft>
              <a:buNone/>
            </a:pPr>
            <a:r>
              <a:rPr lang="en-US" sz="1300" dirty="0">
                <a:solidFill>
                  <a:schemeClr val="tx1"/>
                </a:solidFill>
              </a:rPr>
              <a:t>Angel's L1 sunshade (PNAS 2006), used the other way round. Vesta's mass from Dawn (Russell et al., Science 2012). Fallback if E3 means mirrors only: a ring held 120° from the Sun by sunlight.</a:t>
            </a:r>
            <a:endParaRPr lang="en-US" sz="14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7132320" cy="868680"/>
          </a:xfrm>
          <a:prstGeom prst="rect">
            <a:avLst/>
          </a:prstGeom>
          <a:noFill/>
          <a:ln/>
        </p:spPr>
        <p:txBody>
          <a:bodyPr wrap="square" lIns="0" tIns="0" rIns="0" bIns="0" rtlCol="0" anchor="ctr"/>
          <a:lstStyle/>
          <a:p>
            <a:pPr algn="l" indent="0" marL="0">
              <a:buNone/>
            </a:pPr>
            <a:r>
              <a:rPr lang="en-US" sz="3400" b="1" dirty="0">
                <a:solidFill>
                  <a:schemeClr val="tx1"/>
                </a:solidFill>
              </a:rPr>
              <a:t>What broke, and the fix</a:t>
            </a:r>
            <a:endParaRPr lang="en-US" sz="3400" dirty="0"/>
          </a:p>
        </p:txBody>
      </p:sp>
      <p:sp>
        <p:nvSpPr>
          <p:cNvPr id="3" name="Back button">
            <a:hlinkClick r:id="rId1" tooltip="Back to What if…?" action="ppaction://hlinksldjump"/>
          </p:cNvPr>
          <p:cNvSpPr/>
          <p:nvPr/>
        </p:nvSpPr>
        <p:spPr>
          <a:xfrm>
            <a:off x="7818120" y="384048"/>
            <a:ext cx="2880360" cy="384048"/>
          </a:xfrm>
          <a:prstGeom prst="roundRect">
            <a:avLst>
              <a:gd name="adj" fmla="val 50000"/>
            </a:avLst>
          </a:prstGeom>
          <a:solidFill>
            <a:srgbClr val="0E1726"/>
          </a:solidFill>
          <a:ln>
            <a:solidFill>
              <a:srgbClr val="0E1726"/>
            </a:solidFill>
          </a:ln>
        </p:spPr>
        <p:txBody>
          <a:bodyPr wrap="square" lIns="0" tIns="0" rIns="152400" bIns="0" rtlCol="0" anchor="ctr"/>
          <a:lstStyle/>
          <a:p>
            <a:pPr algn="r" indent="0" marL="0">
              <a:buNone/>
            </a:pPr>
            <a:r>
              <a:rPr lang="en-US" sz="1200" b="1" u="sng" dirty="0">
                <a:solidFill>
                  <a:schemeClr val="bg1"/>
                </a:solidFill>
                <a:hlinkClick r:id="rId1" action="ppaction://hlinksldjump" tooltip="Back to What if…?">
                  <a:extLst>
                    <a:ext uri="{A12FA001-AC4F-418D-AE19-62706E023703}">
                      <ahyp:hlinkClr xmlns:ahyp="http://schemas.microsoft.com/office/drawing/2018/hyperlinkcolor" val="tx"/>
                    </a:ext>
                  </a:extLst>
                </a:hlinkClick>
              </a:rPr>
              <a:t>Back to What if…?</a:t>
            </a:r>
            <a:endParaRPr lang="en-US" sz="1200" dirty="0"/>
          </a:p>
        </p:txBody>
      </p:sp>
      <p:pic>
        <p:nvPicPr>
          <p:cNvPr id="4" name="Back icon" descr="preencoded.png">
            <a:hlinkClick r:id="rId3" tooltip="Back to What if…?" action="ppaction://hlinksldjump"/>
          </p:cNvPr>
          <p:cNvPicPr>
            <a:picLocks noChangeAspect="1"/>
          </p:cNvPicPr>
          <p:nvPr/>
        </p:nvPicPr>
        <p:blipFill>
          <a:blip r:embed="rId2"/>
          <a:stretch>
            <a:fillRect/>
          </a:stretch>
        </p:blipFill>
        <p:spPr>
          <a:xfrm>
            <a:off x="7973568" y="475488"/>
            <a:ext cx="201168" cy="201168"/>
          </a:xfrm>
          <a:prstGeom prst="rect">
            <a:avLst/>
          </a:prstGeom>
        </p:spPr>
      </p:pic>
      <p:sp>
        <p:nvSpPr>
          <p:cNvPr id="5" name="Map button">
            <a:hlinkClick r:id="rId4"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4"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6" name="Map icon" descr="preencoded.png">
            <a:hlinkClick r:id="rId6" tooltip="Back to the map" action="ppaction://hlinksldjump"/>
          </p:cNvPr>
          <p:cNvPicPr>
            <a:picLocks noChangeAspect="1"/>
          </p:cNvPicPr>
          <p:nvPr/>
        </p:nvPicPr>
        <p:blipFill>
          <a:blip r:embed="rId5"/>
          <a:stretch>
            <a:fillRect/>
          </a:stretch>
        </p:blipFill>
        <p:spPr>
          <a:xfrm>
            <a:off x="10972800" y="475488"/>
            <a:ext cx="201168" cy="201168"/>
          </a:xfrm>
          <a:prstGeom prst="rect">
            <a:avLst/>
          </a:prstGeom>
        </p:spPr>
      </p:pic>
      <p:graphicFrame>
        <p:nvGraphicFramePr>
          <p:cNvPr id="7" name="Chart 0" descr=""/>
          <p:cNvGraphicFramePr/>
          <p:nvPr/>
        </p:nvGraphicFramePr>
        <p:xfrm>
          <a:off x="548640" y="1325880"/>
          <a:ext cx="5394960" cy="3383280"/>
        </p:xfrm>
        <a:graphic xmlns:a="http://schemas.openxmlformats.org/drawingml/2006/main">
          <a:graphicData uri="http://schemas.openxmlformats.org/drawingml/2006/chart">
            <c:chart xmlns:c="http://schemas.openxmlformats.org/drawingml/2006/chart" r:id="rId7"/>
          </a:graphicData>
        </a:graphic>
      </p:graphicFrame>
      <p:graphicFrame>
        <p:nvGraphicFramePr>
          <p:cNvPr id="8" name="Chart 1" descr=""/>
          <p:cNvGraphicFramePr/>
          <p:nvPr/>
        </p:nvGraphicFramePr>
        <p:xfrm>
          <a:off x="6263640" y="1325880"/>
          <a:ext cx="5394960" cy="3383280"/>
        </p:xfrm>
        <a:graphic xmlns:a="http://schemas.openxmlformats.org/drawingml/2006/main">
          <a:graphicData uri="http://schemas.openxmlformats.org/drawingml/2006/chart">
            <c:chart xmlns:c="http://schemas.openxmlformats.org/drawingml/2006/chart" r:id="rId8"/>
          </a:graphicData>
        </a:graphic>
      </p:graphicFrame>
      <p:sp>
        <p:nvSpPr>
          <p:cNvPr id="9" name="stress note 1"/>
          <p:cNvSpPr/>
          <p:nvPr/>
        </p:nvSpPr>
        <p:spPr>
          <a:xfrm>
            <a:off x="548640" y="4892040"/>
            <a:ext cx="5394960" cy="1143000"/>
          </a:xfrm>
          <a:prstGeom prst="roundRect">
            <a:avLst>
              <a:gd name="adj" fmla="val 9600"/>
            </a:avLst>
          </a:prstGeom>
          <a:solidFill>
            <a:srgbClr val="FFFFFF"/>
          </a:solidFill>
          <a:ln w="12700">
            <a:solidFill>
              <a:srgbClr val="FFFFFF"/>
            </a:solidFill>
            <a:prstDash val="solid"/>
          </a:ln>
        </p:spPr>
      </p:sp>
      <p:sp>
        <p:nvSpPr>
          <p:cNvPr id="10" name="Text 4"/>
          <p:cNvSpPr txBox="1"/>
          <p:nvPr/>
        </p:nvSpPr>
        <p:spPr>
          <a:xfrm>
            <a:off x="731520" y="4956048"/>
            <a:ext cx="5029200" cy="1005840"/>
          </a:xfrm>
          <a:prstGeom prst="rect">
            <a:avLst/>
          </a:prstGeom>
          <a:noFill/>
          <a:ln/>
        </p:spPr>
        <p:txBody>
          <a:bodyPr wrap="square" lIns="0" tIns="0" rIns="0" bIns="0" rtlCol="0" anchor="ctr"/>
          <a:lstStyle/>
          <a:p>
            <a:pPr indent="0" marL="0">
              <a:buNone/>
            </a:pPr>
            <a:r>
              <a:rPr lang="en-US" sz="1300" b="1" dirty="0">
                <a:solidFill>
                  <a:schemeClr val="tx1"/>
                </a:solidFill>
              </a:rPr>
              <a:t>No Mars tow. </a:t>
            </a:r>
            <a:pPr indent="0" marL="0">
              <a:buNone/>
            </a:pPr>
            <a:r>
              <a:rPr lang="en-US" sz="1300" dirty="0">
                <a:solidFill>
                  <a:schemeClr val="tx1"/>
                </a:solidFill>
              </a:rPr>
              <a:t>Earth passes Mars at about 33,000 km. Mars goes first, to 3.64 AU, between the resonances with Jupiter and with the moved Earth.</a:t>
            </a:r>
            <a:endParaRPr lang="en-US" sz="1300" dirty="0"/>
          </a:p>
        </p:txBody>
      </p:sp>
      <p:sp>
        <p:nvSpPr>
          <p:cNvPr id="11" name="stress note 2"/>
          <p:cNvSpPr/>
          <p:nvPr/>
        </p:nvSpPr>
        <p:spPr>
          <a:xfrm>
            <a:off x="6263640" y="4892040"/>
            <a:ext cx="5394960" cy="1143000"/>
          </a:xfrm>
          <a:prstGeom prst="roundRect">
            <a:avLst>
              <a:gd name="adj" fmla="val 9600"/>
            </a:avLst>
          </a:prstGeom>
          <a:solidFill>
            <a:srgbClr val="FFFFFF"/>
          </a:solidFill>
          <a:ln w="12700">
            <a:solidFill>
              <a:srgbClr val="FFFFFF"/>
            </a:solidFill>
            <a:prstDash val="solid"/>
          </a:ln>
        </p:spPr>
      </p:sp>
      <p:sp>
        <p:nvSpPr>
          <p:cNvPr id="12" name="Text 6"/>
          <p:cNvSpPr txBox="1"/>
          <p:nvPr/>
        </p:nvSpPr>
        <p:spPr>
          <a:xfrm>
            <a:off x="6446520" y="4956048"/>
            <a:ext cx="5029200" cy="1005840"/>
          </a:xfrm>
          <a:prstGeom prst="rect">
            <a:avLst/>
          </a:prstGeom>
          <a:noFill/>
          <a:ln/>
        </p:spPr>
        <p:txBody>
          <a:bodyPr wrap="square" lIns="0" tIns="0" rIns="0" bIns="0" rtlCol="0" anchor="ctr"/>
          <a:lstStyle/>
          <a:p>
            <a:pPr indent="0" marL="0">
              <a:buNone/>
            </a:pPr>
            <a:r>
              <a:rPr lang="en-US" sz="1300" b="1" dirty="0">
                <a:solidFill>
                  <a:schemeClr val="tx1"/>
                </a:solidFill>
              </a:rPr>
              <a:t>Swap Earth and Mars (Plan S). </a:t>
            </a:r>
            <a:pPr indent="0" marL="0">
              <a:buNone/>
            </a:pPr>
            <a:r>
              <a:rPr lang="en-US" sz="1300" dirty="0">
                <a:solidFill>
                  <a:schemeClr val="tx1"/>
                </a:solidFill>
              </a:rPr>
              <a:t>Cheaper for Mars (5.66 vs 8.52 km/s), but the orbits must cross: in 48 of 48 runs the planets came inside 0.05 AU, twice inside the Moon's distance. Not adopted.</a:t>
            </a:r>
            <a:endParaRPr lang="en-US" sz="13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7132320" cy="868680"/>
          </a:xfrm>
          <a:prstGeom prst="rect">
            <a:avLst/>
          </a:prstGeom>
          <a:noFill/>
          <a:ln/>
        </p:spPr>
        <p:txBody>
          <a:bodyPr wrap="square" lIns="0" tIns="0" rIns="0" bIns="0" rtlCol="0" anchor="ctr"/>
          <a:lstStyle/>
          <a:p>
            <a:pPr algn="l" indent="0" marL="0">
              <a:buNone/>
            </a:pPr>
            <a:r>
              <a:rPr lang="en-US" sz="3400" b="1" dirty="0">
                <a:solidFill>
                  <a:schemeClr val="tx1"/>
                </a:solidFill>
              </a:rPr>
              <a:t>A million years after arrival</a:t>
            </a:r>
            <a:endParaRPr lang="en-US" sz="3400" dirty="0"/>
          </a:p>
        </p:txBody>
      </p:sp>
      <p:sp>
        <p:nvSpPr>
          <p:cNvPr id="3" name="Back button">
            <a:hlinkClick r:id="rId1" tooltip="Back to What if…?" action="ppaction://hlinksldjump"/>
          </p:cNvPr>
          <p:cNvSpPr/>
          <p:nvPr/>
        </p:nvSpPr>
        <p:spPr>
          <a:xfrm>
            <a:off x="7818120" y="384048"/>
            <a:ext cx="2880360" cy="384048"/>
          </a:xfrm>
          <a:prstGeom prst="roundRect">
            <a:avLst>
              <a:gd name="adj" fmla="val 50000"/>
            </a:avLst>
          </a:prstGeom>
          <a:solidFill>
            <a:srgbClr val="0E1726"/>
          </a:solidFill>
          <a:ln>
            <a:solidFill>
              <a:srgbClr val="0E1726"/>
            </a:solidFill>
          </a:ln>
        </p:spPr>
        <p:txBody>
          <a:bodyPr wrap="square" lIns="0" tIns="0" rIns="152400" bIns="0" rtlCol="0" anchor="ctr"/>
          <a:lstStyle/>
          <a:p>
            <a:pPr algn="r" indent="0" marL="0">
              <a:buNone/>
            </a:pPr>
            <a:r>
              <a:rPr lang="en-US" sz="1200" b="1" u="sng" dirty="0">
                <a:solidFill>
                  <a:schemeClr val="bg1"/>
                </a:solidFill>
                <a:hlinkClick r:id="rId1" action="ppaction://hlinksldjump" tooltip="Back to What if…?">
                  <a:extLst>
                    <a:ext uri="{A12FA001-AC4F-418D-AE19-62706E023703}">
                      <ahyp:hlinkClr xmlns:ahyp="http://schemas.microsoft.com/office/drawing/2018/hyperlinkcolor" val="tx"/>
                    </a:ext>
                  </a:extLst>
                </a:hlinkClick>
              </a:rPr>
              <a:t>Back to What if…?</a:t>
            </a:r>
            <a:endParaRPr lang="en-US" sz="1200" dirty="0"/>
          </a:p>
        </p:txBody>
      </p:sp>
      <p:pic>
        <p:nvPicPr>
          <p:cNvPr id="4" name="Back icon" descr="preencoded.png">
            <a:hlinkClick r:id="rId3" tooltip="Back to What if…?" action="ppaction://hlinksldjump"/>
          </p:cNvPr>
          <p:cNvPicPr>
            <a:picLocks noChangeAspect="1"/>
          </p:cNvPicPr>
          <p:nvPr/>
        </p:nvPicPr>
        <p:blipFill>
          <a:blip r:embed="rId2"/>
          <a:stretch>
            <a:fillRect/>
          </a:stretch>
        </p:blipFill>
        <p:spPr>
          <a:xfrm>
            <a:off x="7973568" y="475488"/>
            <a:ext cx="201168" cy="201168"/>
          </a:xfrm>
          <a:prstGeom prst="rect">
            <a:avLst/>
          </a:prstGeom>
        </p:spPr>
      </p:pic>
      <p:sp>
        <p:nvSpPr>
          <p:cNvPr id="5" name="Map button">
            <a:hlinkClick r:id="rId4" tooltip="Back to the map" action="ppaction://hlinksldjump"/>
          </p:cNvPr>
          <p:cNvSpPr/>
          <p:nvPr/>
        </p:nvSpPr>
        <p:spPr>
          <a:xfrm>
            <a:off x="10835640" y="384048"/>
            <a:ext cx="914400" cy="384048"/>
          </a:xfrm>
          <a:prstGeom prst="roundRect">
            <a:avLst>
              <a:gd name="adj" fmla="val 50000"/>
            </a:avLst>
          </a:prstGeom>
          <a:solidFill>
            <a:srgbClr val="F1F3F6"/>
          </a:solidFill>
          <a:ln>
            <a:solidFill>
              <a:srgbClr val="F1F3F6"/>
            </a:solidFill>
          </a:ln>
        </p:spPr>
        <p:txBody>
          <a:bodyPr wrap="square" lIns="0" tIns="0" rIns="152400" bIns="0" rtlCol="0" anchor="ctr"/>
          <a:lstStyle/>
          <a:p>
            <a:pPr algn="r" indent="0" marL="0">
              <a:buNone/>
            </a:pPr>
            <a:r>
              <a:rPr lang="en-US" sz="1200" b="1" u="sng" dirty="0">
                <a:solidFill>
                  <a:schemeClr val="tx1"/>
                </a:solidFill>
                <a:hlinkClick r:id="rId4" action="ppaction://hlinksldjump" tooltip="Back to the map">
                  <a:extLst>
                    <a:ext uri="{A12FA001-AC4F-418D-AE19-62706E023703}">
                      <ahyp:hlinkClr xmlns:ahyp="http://schemas.microsoft.com/office/drawing/2018/hyperlinkcolor" val="tx"/>
                    </a:ext>
                  </a:extLst>
                </a:hlinkClick>
              </a:rPr>
              <a:t>Map</a:t>
            </a:r>
            <a:endParaRPr lang="en-US" sz="1200" dirty="0"/>
          </a:p>
        </p:txBody>
      </p:sp>
      <p:pic>
        <p:nvPicPr>
          <p:cNvPr id="6" name="Map icon" descr="preencoded.png">
            <a:hlinkClick r:id="rId6" tooltip="Back to the map" action="ppaction://hlinksldjump"/>
          </p:cNvPr>
          <p:cNvPicPr>
            <a:picLocks noChangeAspect="1"/>
          </p:cNvPicPr>
          <p:nvPr/>
        </p:nvPicPr>
        <p:blipFill>
          <a:blip r:embed="rId5"/>
          <a:stretch>
            <a:fillRect/>
          </a:stretch>
        </p:blipFill>
        <p:spPr>
          <a:xfrm>
            <a:off x="10972800" y="475488"/>
            <a:ext cx="201168" cy="201168"/>
          </a:xfrm>
          <a:prstGeom prst="rect">
            <a:avLst/>
          </a:prstGeom>
        </p:spPr>
      </p:pic>
      <p:graphicFrame>
        <p:nvGraphicFramePr>
          <p:cNvPr id="7" name="Chart 0" descr=""/>
          <p:cNvGraphicFramePr/>
          <p:nvPr/>
        </p:nvGraphicFramePr>
        <p:xfrm>
          <a:off x="548640" y="1325880"/>
          <a:ext cx="6766560" cy="4663440"/>
        </p:xfrm>
        <a:graphic xmlns:a="http://schemas.openxmlformats.org/drawingml/2006/main">
          <a:graphicData uri="http://schemas.openxmlformats.org/drawingml/2006/chart">
            <c:chart xmlns:c="http://schemas.openxmlformats.org/drawingml/2006/chart" r:id="rId7"/>
          </a:graphicData>
        </a:graphic>
      </p:graphicFrame>
      <p:sp>
        <p:nvSpPr>
          <p:cNvPr id="8" name="long stat 1"/>
          <p:cNvSpPr/>
          <p:nvPr/>
        </p:nvSpPr>
        <p:spPr>
          <a:xfrm>
            <a:off x="7589520" y="1371600"/>
            <a:ext cx="4069080" cy="1024128"/>
          </a:xfrm>
          <a:prstGeom prst="roundRect">
            <a:avLst>
              <a:gd name="adj" fmla="val 10714"/>
            </a:avLst>
          </a:prstGeom>
          <a:solidFill>
            <a:srgbClr val="FFFFFF"/>
          </a:solidFill>
          <a:ln w="12700">
            <a:solidFill>
              <a:srgbClr val="FFFFFF"/>
            </a:solidFill>
            <a:prstDash val="solid"/>
          </a:ln>
        </p:spPr>
      </p:sp>
      <p:sp>
        <p:nvSpPr>
          <p:cNvPr id="9" name="Text 4"/>
          <p:cNvSpPr txBox="1"/>
          <p:nvPr/>
        </p:nvSpPr>
        <p:spPr>
          <a:xfrm>
            <a:off x="7772400" y="1444752"/>
            <a:ext cx="37490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2.698–2.702 AU</a:t>
            </a:r>
            <a:endParaRPr lang="en-US" sz="2000" dirty="0"/>
          </a:p>
        </p:txBody>
      </p:sp>
      <p:sp>
        <p:nvSpPr>
          <p:cNvPr id="10" name="Text 5"/>
          <p:cNvSpPr txBox="1"/>
          <p:nvPr/>
        </p:nvSpPr>
        <p:spPr>
          <a:xfrm>
            <a:off x="7772400" y="1847088"/>
            <a:ext cx="3749040" cy="502920"/>
          </a:xfrm>
          <a:prstGeom prst="rect">
            <a:avLst/>
          </a:prstGeom>
          <a:noFill/>
          <a:ln/>
        </p:spPr>
        <p:txBody>
          <a:bodyPr wrap="square" lIns="0" tIns="0" rIns="0" bIns="0" rtlCol="0" anchor="t"/>
          <a:lstStyle/>
          <a:p>
            <a:pPr indent="0" marL="0">
              <a:buNone/>
            </a:pPr>
            <a:r>
              <a:rPr lang="en-US" sz="1200" dirty="0">
                <a:solidFill>
                  <a:schemeClr val="tx1"/>
                </a:solidFill>
              </a:rPr>
              <a:t>Earth's orbit size: it stays put</a:t>
            </a:r>
            <a:endParaRPr lang="en-US" sz="1200" dirty="0"/>
          </a:p>
        </p:txBody>
      </p:sp>
      <p:sp>
        <p:nvSpPr>
          <p:cNvPr id="11" name="long stat 2"/>
          <p:cNvSpPr/>
          <p:nvPr/>
        </p:nvSpPr>
        <p:spPr>
          <a:xfrm>
            <a:off x="7589520" y="2532888"/>
            <a:ext cx="4069080" cy="1024128"/>
          </a:xfrm>
          <a:prstGeom prst="roundRect">
            <a:avLst>
              <a:gd name="adj" fmla="val 10714"/>
            </a:avLst>
          </a:prstGeom>
          <a:solidFill>
            <a:srgbClr val="FFFFFF"/>
          </a:solidFill>
          <a:ln w="12700">
            <a:solidFill>
              <a:srgbClr val="FFFFFF"/>
            </a:solidFill>
            <a:prstDash val="solid"/>
          </a:ln>
        </p:spPr>
      </p:sp>
      <p:sp>
        <p:nvSpPr>
          <p:cNvPr id="12" name="Text 7"/>
          <p:cNvSpPr txBox="1"/>
          <p:nvPr/>
        </p:nvSpPr>
        <p:spPr>
          <a:xfrm>
            <a:off x="7772400" y="2606040"/>
            <a:ext cx="37490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e ≤ 0.060</a:t>
            </a:r>
            <a:endParaRPr lang="en-US" sz="2000" dirty="0"/>
          </a:p>
        </p:txBody>
      </p:sp>
      <p:sp>
        <p:nvSpPr>
          <p:cNvPr id="13" name="Text 8"/>
          <p:cNvSpPr txBox="1"/>
          <p:nvPr/>
        </p:nvSpPr>
        <p:spPr>
          <a:xfrm>
            <a:off x="7772400" y="3008376"/>
            <a:ext cx="3749040" cy="502920"/>
          </a:xfrm>
          <a:prstGeom prst="rect">
            <a:avLst/>
          </a:prstGeom>
          <a:noFill/>
          <a:ln/>
        </p:spPr>
        <p:txBody>
          <a:bodyPr wrap="square" lIns="0" tIns="0" rIns="0" bIns="0" rtlCol="0" anchor="t"/>
          <a:lstStyle/>
          <a:p>
            <a:pPr indent="0" marL="0">
              <a:buNone/>
            </a:pPr>
            <a:r>
              <a:rPr lang="en-US" sz="1200" dirty="0">
                <a:solidFill>
                  <a:schemeClr val="tx1"/>
                </a:solidFill>
              </a:rPr>
              <a:t>Earth's eccentricity (the real Earth: ≤ 0.051)</a:t>
            </a:r>
            <a:endParaRPr lang="en-US" sz="1200" dirty="0"/>
          </a:p>
        </p:txBody>
      </p:sp>
      <p:sp>
        <p:nvSpPr>
          <p:cNvPr id="14" name="long stat 3"/>
          <p:cNvSpPr/>
          <p:nvPr/>
        </p:nvSpPr>
        <p:spPr>
          <a:xfrm>
            <a:off x="7589520" y="3694176"/>
            <a:ext cx="4069080" cy="1024128"/>
          </a:xfrm>
          <a:prstGeom prst="roundRect">
            <a:avLst>
              <a:gd name="adj" fmla="val 10714"/>
            </a:avLst>
          </a:prstGeom>
          <a:solidFill>
            <a:srgbClr val="FFFFFF"/>
          </a:solidFill>
          <a:ln w="12700">
            <a:solidFill>
              <a:srgbClr val="FFFFFF"/>
            </a:solidFill>
            <a:prstDash val="solid"/>
          </a:ln>
        </p:spPr>
      </p:sp>
      <p:sp>
        <p:nvSpPr>
          <p:cNvPr id="15" name="Text 10"/>
          <p:cNvSpPr txBox="1"/>
          <p:nvPr/>
        </p:nvSpPr>
        <p:spPr>
          <a:xfrm>
            <a:off x="7772400" y="3767328"/>
            <a:ext cx="37490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0.362 AU</a:t>
            </a:r>
            <a:endParaRPr lang="en-US" sz="2000" dirty="0"/>
          </a:p>
        </p:txBody>
      </p:sp>
      <p:sp>
        <p:nvSpPr>
          <p:cNvPr id="16" name="Text 11"/>
          <p:cNvSpPr txBox="1"/>
          <p:nvPr/>
        </p:nvSpPr>
        <p:spPr>
          <a:xfrm>
            <a:off x="7772400" y="4169664"/>
            <a:ext cx="3749040" cy="502920"/>
          </a:xfrm>
          <a:prstGeom prst="rect">
            <a:avLst/>
          </a:prstGeom>
          <a:noFill/>
          <a:ln/>
        </p:spPr>
        <p:txBody>
          <a:bodyPr wrap="square" lIns="0" tIns="0" rIns="0" bIns="0" rtlCol="0" anchor="t"/>
          <a:lstStyle/>
          <a:p>
            <a:pPr indent="0" marL="0">
              <a:buNone/>
            </a:pPr>
            <a:r>
              <a:rPr lang="en-US" sz="1200" dirty="0">
                <a:solidFill>
                  <a:schemeClr val="tx1"/>
                </a:solidFill>
              </a:rPr>
              <a:t>closest the Mars and Earth orbits come; nothing thrown out</a:t>
            </a:r>
            <a:endParaRPr lang="en-US" sz="1200" dirty="0"/>
          </a:p>
        </p:txBody>
      </p:sp>
      <p:sp>
        <p:nvSpPr>
          <p:cNvPr id="17" name="long stat 4"/>
          <p:cNvSpPr/>
          <p:nvPr/>
        </p:nvSpPr>
        <p:spPr>
          <a:xfrm>
            <a:off x="7589520" y="4855464"/>
            <a:ext cx="4069080" cy="1024128"/>
          </a:xfrm>
          <a:prstGeom prst="roundRect">
            <a:avLst>
              <a:gd name="adj" fmla="val 10714"/>
            </a:avLst>
          </a:prstGeom>
          <a:solidFill>
            <a:srgbClr val="FFFFFF"/>
          </a:solidFill>
          <a:ln w="12700">
            <a:solidFill>
              <a:srgbClr val="FFFFFF"/>
            </a:solidFill>
            <a:prstDash val="solid"/>
          </a:ln>
        </p:spPr>
      </p:sp>
      <p:sp>
        <p:nvSpPr>
          <p:cNvPr id="18" name="Text 13"/>
          <p:cNvSpPr txBox="1"/>
          <p:nvPr/>
        </p:nvSpPr>
        <p:spPr>
          <a:xfrm>
            <a:off x="7772400" y="4928616"/>
            <a:ext cx="3749040" cy="41148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45 passes</a:t>
            </a:r>
            <a:endParaRPr lang="en-US" sz="2000" dirty="0"/>
          </a:p>
        </p:txBody>
      </p:sp>
      <p:sp>
        <p:nvSpPr>
          <p:cNvPr id="19" name="Text 14"/>
          <p:cNvSpPr txBox="1"/>
          <p:nvPr/>
        </p:nvSpPr>
        <p:spPr>
          <a:xfrm>
            <a:off x="7772400" y="5330952"/>
            <a:ext cx="3749040" cy="502920"/>
          </a:xfrm>
          <a:prstGeom prst="rect">
            <a:avLst/>
          </a:prstGeom>
          <a:noFill/>
          <a:ln/>
        </p:spPr>
        <p:txBody>
          <a:bodyPr wrap="square" lIns="0" tIns="0" rIns="0" bIns="0" rtlCol="0" anchor="t"/>
          <a:lstStyle/>
          <a:p>
            <a:pPr indent="0" marL="0">
              <a:buNone/>
            </a:pPr>
            <a:r>
              <a:rPr lang="en-US" sz="1200" dirty="0">
                <a:solidFill>
                  <a:schemeClr val="tx1"/>
                </a:solidFill>
              </a:rPr>
              <a:t>of big asteroids within 0.01 AU, each nudged by ≤ 0.6 h of a 10</a:t>
            </a:r>
            <a:pPr indent="0" marL="0">
              <a:buNone/>
            </a:pPr>
            <a:r>
              <a:rPr lang="en-US" sz="1200" baseline="30000" dirty="0">
                <a:solidFill>
                  <a:schemeClr val="tx1"/>
                </a:solidFill>
              </a:rPr>
              <a:t>25</a:t>
            </a:r>
            <a:pPr indent="0" marL="0">
              <a:buNone/>
            </a:pPr>
            <a:r>
              <a:rPr lang="en-US" sz="1200" dirty="0">
                <a:solidFill>
                  <a:schemeClr val="tx1"/>
                </a:solidFill>
              </a:rPr>
              <a:t> W beam</a:t>
            </a:r>
            <a:endParaRPr lang="en-US" sz="1200" dirty="0"/>
          </a:p>
        </p:txBody>
      </p:sp>
      <p:sp>
        <p:nvSpPr>
          <p:cNvPr id="25" name="Slide Number Placeholder 0"/>
          <p:cNvSpPr>
            <a:spLocks noGrp="1"/>
          </p:cNvSpPr>
          <p:nvPr>
            <p:ph type="sldNum" sz="quarter" idx="4294967295"/>
          </p:nvPr>
        </p:nvSpPr>
        <p:spPr>
          <a:xfrm>
            <a:off x="1120140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F6B7A"/>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Black Ant physics">
  <a:themeElements>
    <a:clrScheme name="Black Ant physics">
      <a:dk1>
        <a:srgbClr val="0E1726"/>
      </a:dk1>
      <a:lt1>
        <a:srgbClr val="FFFFFF"/>
      </a:lt1>
      <a:dk2>
        <a:srgbClr val="1D2B45"/>
      </a:dk2>
      <a:lt2>
        <a:srgbClr val="F1F3F6"/>
      </a:lt2>
      <a:accent1>
        <a:srgbClr val="E8A317"/>
      </a:accent1>
      <a:accent2>
        <a:srgbClr val="2A78D6"/>
      </a:accent2>
      <a:accent3>
        <a:srgbClr val="EB6834"/>
      </a:accent3>
      <a:accent4>
        <a:srgbClr val="15936A"/>
      </a:accent4>
      <a:accent5>
        <a:srgbClr val="6250D6"/>
      </a:accent5>
      <a:accent6>
        <a:srgbClr val="5B6B85"/>
      </a:accent6>
      <a:hlink>
        <a:srgbClr val="2A78D6"/>
      </a:hlink>
      <a:folHlink>
        <a:srgbClr val="6250D6"/>
      </a:folHlink>
    </a:clrScheme>
    <a:fontScheme name="Black Ant physic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Team Black Ant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Towing Earth to 2.7 AU: the physics</dc:title>
  <dc:subject>PptxGenJS Presentation</dc:subject>
  <dc:creator>Team Black Ant</dc:creator>
  <cp:lastModifiedBy>Team Black Ant</cp:lastModifiedBy>
  <cp:revision>1</cp:revision>
  <dcterms:created xsi:type="dcterms:W3CDTF">2026-10-25T08:05:04Z</dcterms:created>
  <dcterms:modified xsi:type="dcterms:W3CDTF">2026-10-25T08:05:04Z</dcterms:modified>
</cp:coreProperties>
</file>